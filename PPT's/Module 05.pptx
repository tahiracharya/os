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95" r:id="rId3"/>
    <p:sldId id="496" r:id="rId4"/>
    <p:sldId id="497" r:id="rId5"/>
    <p:sldId id="498" r:id="rId6"/>
    <p:sldId id="499" r:id="rId7"/>
    <p:sldId id="500" r:id="rId8"/>
    <p:sldId id="501" r:id="rId9"/>
    <p:sldId id="502" r:id="rId10"/>
    <p:sldId id="503" r:id="rId11"/>
    <p:sldId id="504" r:id="rId12"/>
    <p:sldId id="505" r:id="rId13"/>
    <p:sldId id="506" r:id="rId14"/>
    <p:sldId id="507" r:id="rId15"/>
    <p:sldId id="508" r:id="rId16"/>
    <p:sldId id="509" r:id="rId17"/>
    <p:sldId id="484" r:id="rId18"/>
    <p:sldId id="485" r:id="rId19"/>
    <p:sldId id="486" r:id="rId20"/>
    <p:sldId id="487" r:id="rId21"/>
    <p:sldId id="490" r:id="rId22"/>
    <p:sldId id="488" r:id="rId23"/>
    <p:sldId id="491" r:id="rId24"/>
    <p:sldId id="489" r:id="rId25"/>
    <p:sldId id="49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45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88EDA-63FA-4CB1-AEB8-75EB06E3605E}" type="datetimeFigureOut">
              <a:rPr lang="en-IN" smtClean="0"/>
              <a:t>13-06-2025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8675E-17A9-40F0-B3C4-9015B8CA482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87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A9AD-8AB0-53A8-7503-DF63612AA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3938" y="3144437"/>
            <a:ext cx="9355016" cy="874072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A5646-AF1F-C796-1EFA-2C85B6EED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938" y="4190045"/>
            <a:ext cx="9355016" cy="646270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8395F-362B-EB48-BCB3-3C841837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68918-76B0-A58B-7820-D7DECE71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1D063-FF08-D10D-1980-E7C7D446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228A596A-BC55-C449-4791-889E71F413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7256" y="513406"/>
            <a:ext cx="2628380" cy="2071383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Rectangle">
            <a:extLst>
              <a:ext uri="{FF2B5EF4-FFF2-40B4-BE49-F238E27FC236}">
                <a16:creationId xmlns:a16="http://schemas.microsoft.com/office/drawing/2014/main" id="{10EFAA05-A1B0-A7CB-0FC7-D76AA6240F12}"/>
              </a:ext>
            </a:extLst>
          </p:cNvPr>
          <p:cNvSpPr/>
          <p:nvPr userDrawn="1"/>
        </p:nvSpPr>
        <p:spPr>
          <a:xfrm>
            <a:off x="381000" y="0"/>
            <a:ext cx="1620010" cy="6858000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B4118B8F-C90A-E00B-61B6-4DD4FCB168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03522" y="4836315"/>
            <a:ext cx="13631195" cy="287747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ECEDA9-33CC-F4DE-F765-571B27216D86}"/>
              </a:ext>
            </a:extLst>
          </p:cNvPr>
          <p:cNvSpPr txBox="1"/>
          <p:nvPr userDrawn="1"/>
        </p:nvSpPr>
        <p:spPr>
          <a:xfrm>
            <a:off x="5750719" y="2694582"/>
            <a:ext cx="2261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spc="300" dirty="0">
                <a:solidFill>
                  <a:srgbClr val="2F4582"/>
                </a:solidFill>
              </a:rPr>
              <a:t>www.acharya.ac.in</a:t>
            </a:r>
          </a:p>
        </p:txBody>
      </p:sp>
    </p:spTree>
    <p:extLst>
      <p:ext uri="{BB962C8B-B14F-4D97-AF65-F5344CB8AC3E}">
        <p14:creationId xmlns:p14="http://schemas.microsoft.com/office/powerpoint/2010/main" val="141815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2FB0-B5FC-9572-B61F-A5B03163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94" y="365125"/>
            <a:ext cx="8645106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A48F-025C-EEC3-CD50-95F27AD33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694" y="1825625"/>
            <a:ext cx="8645106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D2A3-5032-59CD-FC63-8BD3D97A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93842" y="6356350"/>
            <a:ext cx="1487557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14F5-ECAF-F68A-D8CF-16F888E1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1EB0D-8B37-EC14-F18C-F154A2B7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95D159E8-3C12-986E-9B3D-6292FBA9EF49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AA9E17D-DB6B-1304-ECD6-9722D3933AB7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4A3B64CA-F9DE-7184-0D30-67447A27BA8F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33C2FB71-FCD4-E979-6E5C-D21562471E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OUR GENESIS…">
            <a:extLst>
              <a:ext uri="{FF2B5EF4-FFF2-40B4-BE49-F238E27FC236}">
                <a16:creationId xmlns:a16="http://schemas.microsoft.com/office/drawing/2014/main" id="{A1D32595-8DE0-E352-3529-0F50B2E81531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6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AE4C-E311-4592-1803-EFE7FA27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550" y="1709738"/>
            <a:ext cx="8683899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DA9E-819E-F607-F9AB-3BCE19672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3550" y="4589463"/>
            <a:ext cx="86839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3D0BA-15E5-BA67-D76A-CB0CC9C2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7635A-FD62-FC02-B351-91AA69E8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6232F-B86A-C803-3B1F-0D4D076E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A7231D79-FF72-6C49-781F-E411A8803CD4}"/>
              </a:ext>
            </a:extLst>
          </p:cNvPr>
          <p:cNvSpPr/>
          <p:nvPr userDrawn="1"/>
        </p:nvSpPr>
        <p:spPr>
          <a:xfrm>
            <a:off x="381000" y="-6252"/>
            <a:ext cx="1620010" cy="6844316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9D4DBE89-DF35-908B-2520-A1366008BE79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CD63D42C-B9D8-4E47-C556-1611CD98EE8B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6780493C-32F2-0E7F-6C72-FE0CFA5CD5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OUR GENESIS…">
            <a:extLst>
              <a:ext uri="{FF2B5EF4-FFF2-40B4-BE49-F238E27FC236}">
                <a16:creationId xmlns:a16="http://schemas.microsoft.com/office/drawing/2014/main" id="{F3F42328-7DDC-79B9-FFFD-6C2EBD746F03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23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ED3-56A5-442B-C066-007F13A1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938" y="365125"/>
            <a:ext cx="8676861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CCA50-3812-FFF1-EB7A-03D423FA7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76939" y="1825625"/>
            <a:ext cx="4412492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59AD4-D150-EFC9-224A-C97DFE884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8999" y="1825625"/>
            <a:ext cx="41148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65DC9-6F11-BB7F-B943-4B2D6555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93842" y="6356350"/>
            <a:ext cx="1487557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E57B1-CD54-2BE1-49D7-BB3E7AD7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F7E4D-8601-1883-1DF7-E73E2F31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97F7C531-EC8F-8B30-C3FD-E9E7E84F636D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FF3D75C3-C069-1E70-A592-E087BBB3EDB7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945FE18E-40FD-DA15-2BB9-D2A9BCDBF5D2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6923A6F5-31A9-079B-3709-88250D645D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OUR GENESIS…">
            <a:extLst>
              <a:ext uri="{FF2B5EF4-FFF2-40B4-BE49-F238E27FC236}">
                <a16:creationId xmlns:a16="http://schemas.microsoft.com/office/drawing/2014/main" id="{F7F7AD1E-6F98-2E30-8301-6A943134FB24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AAA4-CB57-5B26-3D64-CAD0C02B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434" y="365125"/>
            <a:ext cx="8703365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103F8-D6DA-E763-DD15-3224B40B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73356" y="6356350"/>
            <a:ext cx="1408043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AEF93-9051-4B8C-D270-60096079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F6140-DD3C-BC39-0438-978A3DBA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8E6A86E1-E443-0540-B8E1-1EF4DC93AD1E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A3BFD8F3-C30E-3216-7157-EF41B3C29BDB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D2781AB7-73A7-B40B-FDDF-E7EDBEAC5AE5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6E70B815-ECC6-FAC9-D2A9-37E07E40F2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OUR GENESIS…">
            <a:extLst>
              <a:ext uri="{FF2B5EF4-FFF2-40B4-BE49-F238E27FC236}">
                <a16:creationId xmlns:a16="http://schemas.microsoft.com/office/drawing/2014/main" id="{9FAB537E-5EEF-47E4-C75F-E6FDBA616CA3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54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E0A97-5127-0F29-2E93-64460BCC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73356" y="6356350"/>
            <a:ext cx="1408043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0494C-FF74-7466-732D-F558EF37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98635-8ABD-76D6-1A43-DDFC7824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5AA4C898-B97B-083A-6927-6CF2D9BC6358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B93C58-7265-8F3C-BD90-CB73F3F28D73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9D8E4AD2-EC33-894C-B08B-16FD8393942E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DC573C7D-BC2E-B571-761E-F7BC7510D9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OUR GENESIS…">
            <a:extLst>
              <a:ext uri="{FF2B5EF4-FFF2-40B4-BE49-F238E27FC236}">
                <a16:creationId xmlns:a16="http://schemas.microsoft.com/office/drawing/2014/main" id="{8E257C3D-F57A-6C7F-8602-3A6268933696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44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E7BB-5046-E80D-681F-75954FB7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425" y="435245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6A9FA-A003-7209-E4B0-92F3DB19B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1103" y="987425"/>
            <a:ext cx="4434284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3790C-4CC7-B3AB-E453-F5C9F71E0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51425" y="2035445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F7246-3BAA-1C83-4FFF-FC8105B6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20348" y="6356350"/>
            <a:ext cx="1461052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5E4B7-8EA7-61C5-7994-38809FD3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0E203-AA03-81FE-3203-297A8AE0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420924C-B352-F707-729E-5C59B20F9B44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F4492321-CB0D-C5BA-BE10-1800BDE3DCB9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2FBD94BD-DB83-6A66-5B92-8596D53F0316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285FAFE-971A-17D4-8433-31AC855F3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OUR GENESIS…">
            <a:extLst>
              <a:ext uri="{FF2B5EF4-FFF2-40B4-BE49-F238E27FC236}">
                <a16:creationId xmlns:a16="http://schemas.microsoft.com/office/drawing/2014/main" id="{ECA8647A-7ECF-4999-480F-5C0C12DA1F38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2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701A-31DC-BDA1-4336-5A1AF25E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551" y="567882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39278-9809-A53F-2804-30EB89D4A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45355" y="987425"/>
            <a:ext cx="4610033" cy="4873625"/>
          </a:xfr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6CFE8-05F7-4F45-9D92-B1F28BA2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3551" y="2168082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75B33-67AB-E782-2EC1-8E9925BA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07096" y="6356350"/>
            <a:ext cx="1474304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08D79-222D-B649-B880-86AB77FF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665E-69D3-3A49-22E5-28216DFC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746F9696-1554-BC4D-E65F-2CB0220DE25C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260FB36E-EE09-765A-8BCC-D8FEE8EBDD9C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BC70C9D0-B65A-89C6-CF15-CACFD91EB0ED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2B1F0579-5169-282C-2AEB-7451A83B05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OUR GENESIS…">
            <a:extLst>
              <a:ext uri="{FF2B5EF4-FFF2-40B4-BE49-F238E27FC236}">
                <a16:creationId xmlns:a16="http://schemas.microsoft.com/office/drawing/2014/main" id="{7ED74C92-A597-3E01-BAA3-134431B4DB26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03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546-9B2F-228E-9B1B-AB781215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280" y="365125"/>
            <a:ext cx="849751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1CF99-28CC-256D-4B28-D684863CA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51424" y="1838878"/>
            <a:ext cx="8497519" cy="43513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8D82-7176-C355-F19B-7C3DD7C8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07096" y="6356350"/>
            <a:ext cx="1474304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078B5-31A7-A2F0-D0AA-227121C4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2BC2-65C7-51EC-974B-7BD00349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C56B763D-5A27-9E16-002D-205F4D3B00B2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5D5E0DED-EB4C-55DC-0771-91935AB437FC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3E04FD5D-E7B8-7000-D89E-52E2399F7CF2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AE6C84DB-9C1B-B877-FFC3-F9BCA094BD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OUR GENESIS…">
            <a:extLst>
              <a:ext uri="{FF2B5EF4-FFF2-40B4-BE49-F238E27FC236}">
                <a16:creationId xmlns:a16="http://schemas.microsoft.com/office/drawing/2014/main" id="{8E41F788-59D9-1A9E-9872-C6A569FDE4AF}"/>
              </a:ext>
            </a:extLst>
          </p:cNvPr>
          <p:cNvSpPr txBox="1"/>
          <p:nvPr userDrawn="1"/>
        </p:nvSpPr>
        <p:spPr>
          <a:xfrm>
            <a:off x="530567" y="3429000"/>
            <a:ext cx="1320874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36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4CBF-F0C0-15A9-1878-2B47AC0EF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970F1-C399-C4A1-8EB1-A335E8CA4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51424" y="365125"/>
            <a:ext cx="5821075" cy="5811838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97987-64E1-CFA5-0909-9665BFE4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33600" y="6356350"/>
            <a:ext cx="1447800" cy="365125"/>
          </a:xfrm>
        </p:spPr>
        <p:txBody>
          <a:bodyPr/>
          <a:lstStyle/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27013-D0AE-4E43-F8CE-735CFA63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C21F-EAF1-AB0C-42D9-BA322EE9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C1A9EC7C-C6A7-1A5A-5F0A-C7E94B0C887B}"/>
              </a:ext>
            </a:extLst>
          </p:cNvPr>
          <p:cNvSpPr/>
          <p:nvPr userDrawn="1"/>
        </p:nvSpPr>
        <p:spPr>
          <a:xfrm>
            <a:off x="381000" y="-6252"/>
            <a:ext cx="1620010" cy="6864252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40392908-B2CB-5366-691D-93298F80A8A1}"/>
              </a:ext>
            </a:extLst>
          </p:cNvPr>
          <p:cNvSpPr/>
          <p:nvPr userDrawn="1"/>
        </p:nvSpPr>
        <p:spPr>
          <a:xfrm>
            <a:off x="-19498" y="2035445"/>
            <a:ext cx="2533482" cy="304088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DCC39432-F9CA-90B7-856C-DC11BB902EC2}"/>
              </a:ext>
            </a:extLst>
          </p:cNvPr>
          <p:cNvSpPr/>
          <p:nvPr userDrawn="1"/>
        </p:nvSpPr>
        <p:spPr>
          <a:xfrm>
            <a:off x="943056" y="4709179"/>
            <a:ext cx="495897" cy="94934"/>
          </a:xfrm>
          <a:prstGeom prst="rect">
            <a:avLst/>
          </a:prstGeom>
          <a:solidFill>
            <a:srgbClr val="E88B3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B69E04C1-4C43-0B0E-7E4E-843877325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008" y="2389152"/>
            <a:ext cx="845994" cy="104669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OUR GENESIS…">
            <a:extLst>
              <a:ext uri="{FF2B5EF4-FFF2-40B4-BE49-F238E27FC236}">
                <a16:creationId xmlns:a16="http://schemas.microsoft.com/office/drawing/2014/main" id="{3157D2AB-0040-0FCA-9E0E-7441A71F0EBD}"/>
              </a:ext>
            </a:extLst>
          </p:cNvPr>
          <p:cNvSpPr txBox="1"/>
          <p:nvPr userDrawn="1"/>
        </p:nvSpPr>
        <p:spPr>
          <a:xfrm>
            <a:off x="143560" y="3429000"/>
            <a:ext cx="2215327" cy="780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57200">
              <a:lnSpc>
                <a:spcPts val="6500"/>
              </a:lnSpc>
              <a:spcBef>
                <a:spcPts val="200"/>
              </a:spcBef>
              <a:defRPr sz="650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to Edit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26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DBC8A-0F4C-0B9D-C6C8-029025F89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8885F-A8B5-9A35-A23D-1860C5322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813D-D86D-63F9-B518-B8AF94CB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7EE4A-0837-B941-A614-D698F8CCA12B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63364-A40D-F842-A0B8-41C11BB01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E44CF-821C-9FBC-7150-AD8868314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E1D0F-AB40-B84A-BEFC-40059FDC5F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0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4937-20AC-1FDC-A528-B0D805B9B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6989" y="4394382"/>
            <a:ext cx="9355016" cy="736829"/>
          </a:xfrm>
        </p:spPr>
        <p:txBody>
          <a:bodyPr>
            <a:normAutofit fontScale="90000"/>
          </a:bodyPr>
          <a:lstStyle/>
          <a:p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</a:b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OPERATING SYSTEMS(</a:t>
            </a:r>
            <a:r>
              <a:rPr lang="en-US" b="1" kern="0" dirty="0">
                <a:solidFill>
                  <a:srgbClr val="1581AA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BCS303</a:t>
            </a: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)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</a:b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581AA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Module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2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AA75-22D0-1C26-A266-FCB59309C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120" y="121920"/>
            <a:ext cx="9357360" cy="64617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Magnetic disks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Magnetic disks provide the bulk of secondary  for modern computer systems.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Each disk platter has a flat circular shape.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Common platter diameters range from 1.8 to 5.25 inches.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two surfaces of a platter are covered with a magnetic material.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We share information by recording it magnetically on the platters.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A read write head file just above each surface of every platter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heads are attached to a disk arm that moves all the heads as a unit.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E3F705A-CEBC-3B57-28AE-F412CABC4BB0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90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9581DF-9D9E-E6ED-BAAE-DCCCE145F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680" y="339028"/>
            <a:ext cx="7274560" cy="55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015069-EF2D-4B2E-7D95-8FBD57C70CD4}"/>
              </a:ext>
            </a:extLst>
          </p:cNvPr>
          <p:cNvSpPr txBox="1"/>
          <p:nvPr/>
        </p:nvSpPr>
        <p:spPr>
          <a:xfrm>
            <a:off x="3434080" y="6179262"/>
            <a:ext cx="610616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Moving head disk mechanism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4EFD9AF0-5E6F-1427-B469-FAF46838352B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673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477D-8160-7B80-C0EC-CE49B9A5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62560"/>
            <a:ext cx="9458960" cy="65836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Different parts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surface of a platter is logically divided into circular tracks.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circular tracks are subdivided into sectors.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set of tracks that are at one arm position makes up a cylinder.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There may be thousands of concentric cylinders in a disk drive, and each track may contain hundreds of sectors.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storage capacity of common disk drives is measured in GB.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FF1E00A2-2F22-51CA-0BAF-3D1FE8281BED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658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477D-8160-7B80-C0EC-CE49B9A5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62560"/>
            <a:ext cx="9458960" cy="65836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Disk speeds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When the disk is in use, a drive motor spins it at high speed. Most drives rotate 60 to 200 times per second.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Transfer rate: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rate at which data flow between the drive and the computer.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Positioning time/Random access time: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time to move the disk arm to the desired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cyclinder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(seek time) + the time for the desired sector to rotate to the disk  head (rotational latency)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Typical disks can transfer several megabytes of data per second, and they have seek times and rotational latencies of several </a:t>
            </a:r>
            <a:r>
              <a:rPr lang="en-IN" sz="2400" dirty="0" err="1">
                <a:latin typeface="+mn-lt"/>
              </a:rPr>
              <a:t>ms</a:t>
            </a:r>
            <a:r>
              <a:rPr lang="en-IN" sz="2400" dirty="0">
                <a:latin typeface="+mn-lt"/>
              </a:rPr>
              <a:t>.</a:t>
            </a:r>
          </a:p>
          <a:p>
            <a:endParaRPr lang="en-IN" sz="20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9C849564-6D00-6A71-5434-7CB8E6D7FEA7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599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Head crash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disk head flies on an extremely thin cushion of air(measured in microns)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There is a danger that the head will make contact with the disk surface.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Although the disk platters are coated with a thin protection layer, sometime the head will damage the magnetic surface.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This accident is called a head crash.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A head crash normally cannot be repaired, the entire disk must be replaced.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7" name="Google Shape;98;g2eff20282af_0_123">
            <a:extLst>
              <a:ext uri="{FF2B5EF4-FFF2-40B4-BE49-F238E27FC236}">
                <a16:creationId xmlns:a16="http://schemas.microsoft.com/office/drawing/2014/main" id="{7321AC36-1FBA-1B67-89FC-11D2D61F13A5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901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39" y="112521"/>
            <a:ext cx="9448800" cy="65024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FF0000"/>
                </a:solidFill>
                <a:latin typeface="+mn-lt"/>
              </a:rPr>
              <a:t>Attachments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A disk is attached to a computer by a set of wires called an I/O bus.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Some buses include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Enhanced integrated drive electronics(EIDE)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Advanced technology attachment(ATA)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Serial ATA(SATA)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Universal serial bus(USB)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Fiber channel (FC)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Small Computer System Interface(SCSI)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The data transfers on a bus are carried out by special electronic processors called controllers. 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1166531C-4F74-9CEB-73E4-25A6435D9A84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751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108" y="186727"/>
            <a:ext cx="9448800" cy="537957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Magnetic Tapes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Magnetic tape was used as an early secondary storage medium.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It is relatively permanent and can hold large quantities of data, its access time is slow compared with that of main memory and magnetic disk.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Random access to magnetic tape is about a thousand times slower than random access to magnetic disk, so tapes are not very useful for secondary storage.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Why?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A tape is kept in a spool and is wound or rewound past a red write head.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Moving to the correct spot on a tape can take minutes.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Once positioned tape drives can write data at speeds comparable to disk drives.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441E371D-ED8B-9035-966D-5529398A5E0C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510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Tapes capacities vary greatly, depending on the particular kind of tape drive.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Typically, they store from 20 GB to 200 GB.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Tape categories: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Based on width: 4, 8 and 19 mm and ¼ and ½ inch.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Based on technology: LTO – 2 and SDLT.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Tapes are used mainly for backup, for storage of infrequently used information, and as a medium for transferring information from one </a:t>
            </a:r>
            <a:r>
              <a:rPr lang="en-IN" sz="2400" dirty="0" err="1">
                <a:latin typeface="+mn-lt"/>
              </a:rPr>
              <a:t>syetm</a:t>
            </a:r>
            <a:r>
              <a:rPr lang="en-IN" sz="2400" dirty="0">
                <a:latin typeface="+mn-lt"/>
              </a:rPr>
              <a:t> to another.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+mn-lt"/>
            </a:endParaRP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6B64A655-012D-27E8-C6BE-95C815C35E5C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129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Disk Structure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Modern disk drives are addressed as large one dimensional arrays of logical blocks.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Logical blocks are smallest unit of transfer.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Its usually 512bytes.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one dimensional array of logical blocks is mapped onto the sectors of the disk sequentially.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Sector 0 is the first sector of the first track on the outermost cylinder.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mapping proceeds in order through that track, then through the rest of the tracks in that cylinder and then through the rest of the cylinders from outermost </a:t>
            </a:r>
            <a:r>
              <a:rPr lang="en-IN" sz="2400" dirty="0" err="1">
                <a:latin typeface="+mn-lt"/>
              </a:rPr>
              <a:t>ti</a:t>
            </a:r>
            <a:r>
              <a:rPr lang="en-IN" sz="2400" dirty="0">
                <a:latin typeface="+mn-lt"/>
              </a:rPr>
              <a:t> innermost.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19B671F1-AA63-4AED-90BD-CD519E12A5A5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003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By using mapping, we can: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Convert a logical block number into an old style disk address that consists of a cylinder number, a track number within that cylinder, and a sector number within that track.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But in practice, it is difficult to perform, this translation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Why?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Most disks have some defective sectors, but the mapping hides this by substituting spare sectors from elsewhere on the disk.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number of sectors per track is not a constant on some drives.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1802F966-AF84-4A2B-F839-1DCEFD02AACE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0352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Constant linear velocity(CLV)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On media that use CLV, the density of bits per track is uniform.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farther a track is from the </a:t>
            </a:r>
            <a:r>
              <a:rPr lang="en-IN" sz="2400" dirty="0" err="1">
                <a:latin typeface="+mn-lt"/>
              </a:rPr>
              <a:t>center</a:t>
            </a:r>
            <a:r>
              <a:rPr lang="en-IN" sz="2400" dirty="0">
                <a:latin typeface="+mn-lt"/>
              </a:rPr>
              <a:t> of the disk, the greater its length, so the more sectors it can hold.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As we move from outer zones to inner zones, the number of sectors per track decreases.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Tracks in the outermost zone typically hold 40% more sectors than tracks in the innermost zone.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drive increases its rotation speed as the head moves from the outer to the inner tracks to keep the same rate of data moving under the head.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This method is used in CD ROM and DVD ROM drives.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617541DA-4E7A-980F-C715-7FA8BE706D96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156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120" y="177800"/>
            <a:ext cx="9448800" cy="65024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Constant angular velocity(CAV)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disk rotation speed can stay constant.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density of bits decreases from inner tracks to outer tracks to keep the data rate constant.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The number of sectors per track has been increasing as disk technology improves, and the outer zone of a disk usually has several hundred  sectors per track.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Similarly, the number of cylinders per disk has been increasing large disks have tens of thousands of cylinders.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B44F0E84-87A5-B453-FA3E-2D6EAF8AA714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4152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Disk Attachment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Disk storage can be accessed by computers in 2 ways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1. Via I/O ports (Host Attached storage)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2. Via a remote host in a distributed file system(Network Attached storage)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Host Attached Storage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Host attached storage is storage accessed through local I/O ports(which use several technologies)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The typical desktop PC uses an I/O bus architecture called: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IDE (Integrated Drive Electronics) or ATA (Advanced Technology Attachment)</a:t>
            </a:r>
          </a:p>
          <a:p>
            <a:pPr marL="0" indent="0">
              <a:lnSpc>
                <a:spcPct val="160000"/>
              </a:lnSpc>
              <a:buNone/>
            </a:pPr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199A2373-0B12-8867-9133-810CCD6B0E0D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446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Supports a maximum of two drives per I/O bus.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A newer, similar protocol that has simplified cabling is SATA (serial ATA)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High end workstations and servers use more sophisticated I/O architectures, such as: SCSI (small computer system interface) and FC(Fiber channel)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The SCSI protocol supports a maximum of 16 devices on the bus.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400" dirty="0">
                <a:latin typeface="+mn-lt"/>
              </a:rPr>
              <a:t>Physical medium – usually a ribbon cable having a large number of conductors.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B600F2FB-6AA0-A8AF-50F5-4D50FD7BAF1E}"/>
              </a:ext>
            </a:extLst>
          </p:cNvPr>
          <p:cNvSpPr txBox="1"/>
          <p:nvPr/>
        </p:nvSpPr>
        <p:spPr>
          <a:xfrm>
            <a:off x="524064" y="3883021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755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7BD4-AC46-D8E2-BF22-F11F99CB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13360"/>
            <a:ext cx="9448800" cy="650240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+mn-lt"/>
              </a:rPr>
              <a:t>FC – high speed serial architecture that can operate over optical </a:t>
            </a:r>
            <a:r>
              <a:rPr lang="en-IN" sz="2400" dirty="0" err="1">
                <a:latin typeface="+mn-lt"/>
              </a:rPr>
              <a:t>fiber</a:t>
            </a:r>
            <a:r>
              <a:rPr lang="en-IN" sz="2400" dirty="0">
                <a:latin typeface="+mn-lt"/>
              </a:rPr>
              <a:t> or</a:t>
            </a:r>
          </a:p>
          <a:p>
            <a:pPr marL="0" indent="0">
              <a:buNone/>
            </a:pPr>
            <a:r>
              <a:rPr lang="en-IN" sz="2400" dirty="0">
                <a:latin typeface="+mn-lt"/>
              </a:rPr>
              <a:t>Over a four conductor </a:t>
            </a:r>
            <a:r>
              <a:rPr lang="en-IN" sz="2400">
                <a:latin typeface="+mn-lt"/>
              </a:rPr>
              <a:t>copper cable  </a:t>
            </a:r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AC61A78-7471-B62E-A8B6-36A7A4C0D29F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1686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0A23-D02B-159E-5273-62E549A1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64160"/>
            <a:ext cx="9387840" cy="64109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Boot block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For a computer to start running when it is powered up or rebooted it must have an initial program to run.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bootstrap program it initializes all aspects of the system , from CPU registers to device controllers and the contents of main memory, and then starts the OS.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bootstrap program finds the OS kernel on disk, loads that kernel into memory, and jumps to an initial address to begin the OS execution. </a:t>
            </a:r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3137A6EC-A684-1776-C9C6-16415F7254BD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5728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0A23-D02B-159E-5273-62E549A1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64160"/>
            <a:ext cx="9387840" cy="64109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Boot disk or system disk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Most computers store the bootstrap in the read only memory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ROM needs no initialization and is at a fixed location that the processer can start executing when powered up or reset.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ROM cannot be infected by a computer virus.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Problem: changing this bootstrap code requires changing the ROM, hardware chips.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To avoid this problem: Most systems store a tiny bootstrap loader program in the boot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ROM whose only job is to bring in a full bootstrap program from the disk. </a:t>
            </a:r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6311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0A23-D02B-159E-5273-62E549A1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64160"/>
            <a:ext cx="9387840" cy="64109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full bootstrap program can be changed easily: A new version is simply written onto the disk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full bootstrap program is stored in “ the boot blocks” at the fixed location on the disk.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A disk that has a boot partition is called a boot disk  or system disk.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Booting from disk in windows 2000 </a:t>
            </a:r>
            <a:endParaRPr lang="en-IN" sz="2400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49D233-0B8B-22A0-13E4-2351A29D10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2" y="4319904"/>
            <a:ext cx="3980498" cy="23552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8;g2eff20282af_0_123">
            <a:extLst>
              <a:ext uri="{FF2B5EF4-FFF2-40B4-BE49-F238E27FC236}">
                <a16:creationId xmlns:a16="http://schemas.microsoft.com/office/drawing/2014/main" id="{D964440E-37AA-FA11-5F49-FA9CD886F251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6600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0A23-D02B-159E-5273-62E549A1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0640" y="264160"/>
            <a:ext cx="9387840" cy="64109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Bad blocks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Disks are prone to failure because they have moving parts and small tolerance.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Sometimes the failure is complete – the disk needs to be replaced and its contents restored from backup media to the new disk.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More frequently one or more sectors becomes defective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Most disks even come from the factory with bad blocks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Depending on the disk and controller in use, these blocks are handled in a variety of ways.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59282443-4A15-5674-8B91-3CA56214FB28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0791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FD2F-3B5B-C9DC-99D5-B2A10561A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82880"/>
            <a:ext cx="9377680" cy="65328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+mn-lt"/>
              </a:rPr>
              <a:t>Handling Bad blocks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Manual handling – used in simple blocks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Sector sparing or forwarding – used in more sophisticated disks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+mn-lt"/>
              </a:rPr>
              <a:t>Sector slipping – used in more sophisticated disks</a:t>
            </a:r>
          </a:p>
          <a:p>
            <a:endParaRPr lang="en-IN" sz="20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373286C7-44C1-5B0F-B781-259C2F3F681C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394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39FE-8211-975A-9455-C22EB8CB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0" y="254000"/>
            <a:ext cx="9387840" cy="64312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Handling bad blocks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Manual handling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MS-DOS format command performs logical formatting and , as a part of the process, scans the disk to find the bad blocks.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If format finds a bad block, it writes a special value into the corresponding FAT only to tell the allocation routines not to use that block.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If blocks go bad during normal operation, a special program must be run manually to search for bad blocks and to lock them away as before.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Data that resided on bad blocks are usually lost.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72F4132-4373-7DF3-8E49-92B06DD598DD}"/>
              </a:ext>
            </a:extLst>
          </p:cNvPr>
          <p:cNvSpPr txBox="1"/>
          <p:nvPr/>
        </p:nvSpPr>
        <p:spPr>
          <a:xfrm>
            <a:off x="524064" y="3891899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1491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39FE-8211-975A-9455-C22EB8CB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0" y="254000"/>
            <a:ext cx="9387840" cy="64312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Sector sparing or forwarding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controller maintains a list of bad blocks on the disk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list is initialized during the low level formatting at the factory and is updated over the life of the disk.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Low level formatting also sets aside spare sectors not visible to OS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controller cab be told to replace each bad sector logically with one of the spare sectors.</a:t>
            </a: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</a:t>
            </a:r>
          </a:p>
          <a:p>
            <a:endParaRPr lang="en-IN" sz="2400" dirty="0">
              <a:latin typeface="+mn-lt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A5AF9E2D-7EB4-A846-E3B2-054515FDF56D}"/>
              </a:ext>
            </a:extLst>
          </p:cNvPr>
          <p:cNvSpPr txBox="1"/>
          <p:nvPr/>
        </p:nvSpPr>
        <p:spPr>
          <a:xfrm>
            <a:off x="524064" y="3900777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3201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39FE-8211-975A-9455-C22EB8CB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0" y="254000"/>
            <a:ext cx="9387840" cy="64312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Example of Sector sparing or forwarding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OS tries to read logical block 87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controller calculates the ECC and finds that the sector is bad. It reports this finding to OS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 next time the system is rebooted, a special command is run to tell the SCSI controller to replace the bad sector with a spare.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After that, whenever the system requests logical block 87, the request is translated into the replacement sector’s address by the controller.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 </a:t>
            </a:r>
          </a:p>
          <a:p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8823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39FE-8211-975A-9455-C22EB8CB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0" y="254000"/>
            <a:ext cx="9387840" cy="64312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Sector Slipping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Suppose that logical block 17 becomes defective and the first available spare follows sector 202.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Then, sector slipping remaps all the sectors from 17 to 202, moving them all down one spot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That is, sector 202 is copied into the spare, then sector 201 into 202, and then 201, and so on, until sector 18 is copied into sector 19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Slipping the sectors in this way frees up the space of sector 18, so sector 17 can be mapped to it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+mn-lt"/>
              </a:rPr>
              <a:t>Sequential order is maintained </a:t>
            </a:r>
          </a:p>
          <a:p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974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harya PPT Template" id="{F32223B2-C3C8-F144-A857-BD2D82060C45}" vid="{F59ECE15-8611-754C-A2F3-240551081C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Acharya PPT Template</Template>
  <TotalTime>9010</TotalTime>
  <Words>1966</Words>
  <Application>Microsoft Office PowerPoint</Application>
  <PresentationFormat>Widescreen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  OPERATING SYSTEMS(BCS303) Module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SYSTEMS(21CS44)</dc:title>
  <dc:creator>Rajeev Bilagi</dc:creator>
  <cp:lastModifiedBy>Usha venkappa</cp:lastModifiedBy>
  <cp:revision>447</cp:revision>
  <dcterms:created xsi:type="dcterms:W3CDTF">2023-04-27T06:36:45Z</dcterms:created>
  <dcterms:modified xsi:type="dcterms:W3CDTF">2025-06-13T05:30:59Z</dcterms:modified>
</cp:coreProperties>
</file>