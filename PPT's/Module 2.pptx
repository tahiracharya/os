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62"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2" roundtripDataSignature="AMtx7miF3XGczEMaJl5zDuxlKotjz7fg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02F722-2B6A-463A-8AD6-FEE97B21EBB0}">
  <a:tblStyle styleId="{3C02F722-2B6A-463A-8AD6-FEE97B21EBB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9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customschemas.google.com/relationships/presentationmetadata" Target="meta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a4541092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a45410924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g3a4541092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2" name="Google Shape;572;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7" name="Google Shape;597;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2" name="Google Shape;652;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1" name="Google Shape;66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6" name="Google Shape;666;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1" name="Google Shape;671;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7" name="Google Shape;697;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7" name="Google Shape;707;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2" name="Google Shape;712;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2" name="Google Shape;722;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0" name="Google Shape;730;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2" name="Google Shape;742;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9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9" name="Google Shape;749;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9" name="Google Shape;759;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9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0" name="Google Shape;770;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10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5" name="Google Shape;775;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1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1" name="Google Shape;781;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10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6" name="Google Shape;786;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2" name="Google Shape;792;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2" name="Google Shape;802;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7"/>
          <p:cNvSpPr txBox="1">
            <a:spLocks noGrp="1"/>
          </p:cNvSpPr>
          <p:nvPr>
            <p:ph type="ctrTitle"/>
          </p:nvPr>
        </p:nvSpPr>
        <p:spPr>
          <a:xfrm>
            <a:off x="2203938" y="3144437"/>
            <a:ext cx="9355016" cy="87407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7"/>
          <p:cNvSpPr txBox="1">
            <a:spLocks noGrp="1"/>
          </p:cNvSpPr>
          <p:nvPr>
            <p:ph type="subTitle" idx="1"/>
          </p:nvPr>
        </p:nvSpPr>
        <p:spPr>
          <a:xfrm>
            <a:off x="2203938" y="4190045"/>
            <a:ext cx="9355016" cy="64627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107" descr="Image"/>
          <p:cNvPicPr preferRelativeResize="0"/>
          <p:nvPr/>
        </p:nvPicPr>
        <p:blipFill rotWithShape="1">
          <a:blip r:embed="rId2">
            <a:alphaModFix/>
          </a:blip>
          <a:srcRect/>
          <a:stretch/>
        </p:blipFill>
        <p:spPr>
          <a:xfrm>
            <a:off x="5567256" y="513406"/>
            <a:ext cx="2628380" cy="2071383"/>
          </a:xfrm>
          <a:prstGeom prst="rect">
            <a:avLst/>
          </a:prstGeom>
          <a:noFill/>
          <a:ln>
            <a:noFill/>
          </a:ln>
        </p:spPr>
      </p:pic>
      <p:sp>
        <p:nvSpPr>
          <p:cNvPr id="22" name="Google Shape;22;p107"/>
          <p:cNvSpPr/>
          <p:nvPr/>
        </p:nvSpPr>
        <p:spPr>
          <a:xfrm>
            <a:off x="381000" y="0"/>
            <a:ext cx="1620010" cy="6858000"/>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 name="Google Shape;23;p107" descr="Image"/>
          <p:cNvPicPr preferRelativeResize="0"/>
          <p:nvPr/>
        </p:nvPicPr>
        <p:blipFill rotWithShape="1">
          <a:blip r:embed="rId3">
            <a:alphaModFix/>
          </a:blip>
          <a:srcRect/>
          <a:stretch/>
        </p:blipFill>
        <p:spPr>
          <a:xfrm>
            <a:off x="-303522" y="4836315"/>
            <a:ext cx="13631195" cy="2877470"/>
          </a:xfrm>
          <a:prstGeom prst="rect">
            <a:avLst/>
          </a:prstGeom>
          <a:noFill/>
          <a:ln>
            <a:noFill/>
          </a:ln>
        </p:spPr>
      </p:pic>
      <p:sp>
        <p:nvSpPr>
          <p:cNvPr id="24" name="Google Shape;24;p107"/>
          <p:cNvSpPr txBox="1"/>
          <p:nvPr/>
        </p:nvSpPr>
        <p:spPr>
          <a:xfrm>
            <a:off x="5750719" y="2694582"/>
            <a:ext cx="226145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2F4582"/>
                </a:solidFill>
                <a:latin typeface="Calibri"/>
                <a:ea typeface="Calibri"/>
                <a:cs typeface="Calibri"/>
                <a:sym typeface="Calibri"/>
              </a:rPr>
              <a:t>www.acharya.ac.in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08"/>
          <p:cNvSpPr txBox="1">
            <a:spLocks noGrp="1"/>
          </p:cNvSpPr>
          <p:nvPr>
            <p:ph type="title"/>
          </p:nvPr>
        </p:nvSpPr>
        <p:spPr>
          <a:xfrm>
            <a:off x="2708694" y="365125"/>
            <a:ext cx="8645106"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08"/>
          <p:cNvSpPr txBox="1">
            <a:spLocks noGrp="1"/>
          </p:cNvSpPr>
          <p:nvPr>
            <p:ph type="body" idx="1"/>
          </p:nvPr>
        </p:nvSpPr>
        <p:spPr>
          <a:xfrm>
            <a:off x="2708694" y="1825625"/>
            <a:ext cx="8645106"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08"/>
          <p:cNvSpPr txBox="1">
            <a:spLocks noGrp="1"/>
          </p:cNvSpPr>
          <p:nvPr>
            <p:ph type="dt" idx="10"/>
          </p:nvPr>
        </p:nvSpPr>
        <p:spPr>
          <a:xfrm>
            <a:off x="2093842" y="6356350"/>
            <a:ext cx="148755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0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1" name="Google Shape;31;p108"/>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 name="Google Shape;32;p108"/>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33;p108"/>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4" name="Google Shape;34;p108"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35" name="Google Shape;35;p108"/>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09"/>
          <p:cNvSpPr txBox="1">
            <a:spLocks noGrp="1"/>
          </p:cNvSpPr>
          <p:nvPr>
            <p:ph type="title"/>
          </p:nvPr>
        </p:nvSpPr>
        <p:spPr>
          <a:xfrm>
            <a:off x="2663550" y="1709738"/>
            <a:ext cx="8683899"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09"/>
          <p:cNvSpPr txBox="1">
            <a:spLocks noGrp="1"/>
          </p:cNvSpPr>
          <p:nvPr>
            <p:ph type="body" idx="1"/>
          </p:nvPr>
        </p:nvSpPr>
        <p:spPr>
          <a:xfrm>
            <a:off x="2663550" y="4589463"/>
            <a:ext cx="86839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0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2" name="Google Shape;42;p109"/>
          <p:cNvSpPr/>
          <p:nvPr/>
        </p:nvSpPr>
        <p:spPr>
          <a:xfrm>
            <a:off x="381000" y="-6252"/>
            <a:ext cx="1620010" cy="6844316"/>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 name="Google Shape;43;p109"/>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109"/>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 name="Google Shape;45;p109"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46" name="Google Shape;46;p109"/>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10"/>
          <p:cNvSpPr txBox="1">
            <a:spLocks noGrp="1"/>
          </p:cNvSpPr>
          <p:nvPr>
            <p:ph type="title"/>
          </p:nvPr>
        </p:nvSpPr>
        <p:spPr>
          <a:xfrm>
            <a:off x="2676938" y="365125"/>
            <a:ext cx="867686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10"/>
          <p:cNvSpPr txBox="1">
            <a:spLocks noGrp="1"/>
          </p:cNvSpPr>
          <p:nvPr>
            <p:ph type="body" idx="1"/>
          </p:nvPr>
        </p:nvSpPr>
        <p:spPr>
          <a:xfrm>
            <a:off x="2676939" y="1825625"/>
            <a:ext cx="4412492"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10"/>
          <p:cNvSpPr txBox="1">
            <a:spLocks noGrp="1"/>
          </p:cNvSpPr>
          <p:nvPr>
            <p:ph type="body" idx="2"/>
          </p:nvPr>
        </p:nvSpPr>
        <p:spPr>
          <a:xfrm>
            <a:off x="7238999" y="1825625"/>
            <a:ext cx="41148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10"/>
          <p:cNvSpPr txBox="1">
            <a:spLocks noGrp="1"/>
          </p:cNvSpPr>
          <p:nvPr>
            <p:ph type="dt" idx="10"/>
          </p:nvPr>
        </p:nvSpPr>
        <p:spPr>
          <a:xfrm>
            <a:off x="2093842" y="6356350"/>
            <a:ext cx="148755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4" name="Google Shape;54;p110"/>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 name="Google Shape;55;p110"/>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110"/>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7" name="Google Shape;57;p110"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58" name="Google Shape;58;p110"/>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111"/>
          <p:cNvSpPr txBox="1">
            <a:spLocks noGrp="1"/>
          </p:cNvSpPr>
          <p:nvPr>
            <p:ph type="title"/>
          </p:nvPr>
        </p:nvSpPr>
        <p:spPr>
          <a:xfrm>
            <a:off x="2650434" y="365125"/>
            <a:ext cx="870336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11"/>
          <p:cNvSpPr txBox="1">
            <a:spLocks noGrp="1"/>
          </p:cNvSpPr>
          <p:nvPr>
            <p:ph type="dt" idx="10"/>
          </p:nvPr>
        </p:nvSpPr>
        <p:spPr>
          <a:xfrm>
            <a:off x="2173356" y="6356350"/>
            <a:ext cx="140804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4" name="Google Shape;64;p111"/>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65;p111"/>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66" name="Google Shape;66;p111"/>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7" name="Google Shape;67;p111"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68" name="Google Shape;68;p111"/>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112"/>
          <p:cNvSpPr txBox="1">
            <a:spLocks noGrp="1"/>
          </p:cNvSpPr>
          <p:nvPr>
            <p:ph type="dt" idx="10"/>
          </p:nvPr>
        </p:nvSpPr>
        <p:spPr>
          <a:xfrm>
            <a:off x="2173356" y="6356350"/>
            <a:ext cx="140804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3" name="Google Shape;73;p112"/>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74;p112"/>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75" name="Google Shape;75;p112"/>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6" name="Google Shape;76;p112"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77" name="Google Shape;77;p112"/>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113"/>
          <p:cNvSpPr txBox="1">
            <a:spLocks noGrp="1"/>
          </p:cNvSpPr>
          <p:nvPr>
            <p:ph type="title"/>
          </p:nvPr>
        </p:nvSpPr>
        <p:spPr>
          <a:xfrm>
            <a:off x="2751425" y="435245"/>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13"/>
          <p:cNvSpPr txBox="1">
            <a:spLocks noGrp="1"/>
          </p:cNvSpPr>
          <p:nvPr>
            <p:ph type="body" idx="1"/>
          </p:nvPr>
        </p:nvSpPr>
        <p:spPr>
          <a:xfrm>
            <a:off x="6921103" y="987425"/>
            <a:ext cx="4434284"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atin typeface="Arial"/>
                <a:ea typeface="Arial"/>
                <a:cs typeface="Arial"/>
                <a:sym typeface="Arial"/>
              </a:defRPr>
            </a:lvl2pPr>
            <a:lvl3pPr marL="1371600" lvl="2" indent="-381000" algn="l">
              <a:lnSpc>
                <a:spcPct val="90000"/>
              </a:lnSpc>
              <a:spcBef>
                <a:spcPts val="500"/>
              </a:spcBef>
              <a:spcAft>
                <a:spcPts val="0"/>
              </a:spcAft>
              <a:buClr>
                <a:schemeClr val="dk1"/>
              </a:buClr>
              <a:buSzPts val="2400"/>
              <a:buChar char="•"/>
              <a:defRPr sz="2400">
                <a:latin typeface="Arial"/>
                <a:ea typeface="Arial"/>
                <a:cs typeface="Arial"/>
                <a:sym typeface="Arial"/>
              </a:defRPr>
            </a:lvl3pPr>
            <a:lvl4pPr marL="1828800" lvl="3" indent="-355600" algn="l">
              <a:lnSpc>
                <a:spcPct val="90000"/>
              </a:lnSpc>
              <a:spcBef>
                <a:spcPts val="500"/>
              </a:spcBef>
              <a:spcAft>
                <a:spcPts val="0"/>
              </a:spcAft>
              <a:buClr>
                <a:schemeClr val="dk1"/>
              </a:buClr>
              <a:buSzPts val="2000"/>
              <a:buChar char="•"/>
              <a:defRPr sz="2000">
                <a:latin typeface="Arial"/>
                <a:ea typeface="Arial"/>
                <a:cs typeface="Arial"/>
                <a:sym typeface="Arial"/>
              </a:defRPr>
            </a:lvl4pPr>
            <a:lvl5pPr marL="2286000" lvl="4" indent="-355600" algn="l">
              <a:lnSpc>
                <a:spcPct val="90000"/>
              </a:lnSpc>
              <a:spcBef>
                <a:spcPts val="500"/>
              </a:spcBef>
              <a:spcAft>
                <a:spcPts val="0"/>
              </a:spcAft>
              <a:buClr>
                <a:schemeClr val="dk1"/>
              </a:buClr>
              <a:buSzPts val="2000"/>
              <a:buChar char="•"/>
              <a:defRPr sz="2000">
                <a:latin typeface="Arial"/>
                <a:ea typeface="Arial"/>
                <a:cs typeface="Arial"/>
                <a:sym typeface="Aria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1" name="Google Shape;81;p113"/>
          <p:cNvSpPr txBox="1">
            <a:spLocks noGrp="1"/>
          </p:cNvSpPr>
          <p:nvPr>
            <p:ph type="body" idx="2"/>
          </p:nvPr>
        </p:nvSpPr>
        <p:spPr>
          <a:xfrm>
            <a:off x="2751425" y="2035445"/>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a:ea typeface="Arial"/>
                <a:cs typeface="Arial"/>
                <a:sym typeface="Aria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113"/>
          <p:cNvSpPr txBox="1">
            <a:spLocks noGrp="1"/>
          </p:cNvSpPr>
          <p:nvPr>
            <p:ph type="dt" idx="10"/>
          </p:nvPr>
        </p:nvSpPr>
        <p:spPr>
          <a:xfrm>
            <a:off x="2120348" y="6356350"/>
            <a:ext cx="146105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13"/>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113"/>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87" name="Google Shape;87;p113"/>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8" name="Google Shape;88;p113"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89" name="Google Shape;89;p113"/>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0"/>
        <p:cNvGrpSpPr/>
        <p:nvPr/>
      </p:nvGrpSpPr>
      <p:grpSpPr>
        <a:xfrm>
          <a:off x="0" y="0"/>
          <a:ext cx="0" cy="0"/>
          <a:chOff x="0" y="0"/>
          <a:chExt cx="0" cy="0"/>
        </a:xfrm>
      </p:grpSpPr>
      <p:sp>
        <p:nvSpPr>
          <p:cNvPr id="91" name="Google Shape;91;p114"/>
          <p:cNvSpPr txBox="1">
            <a:spLocks noGrp="1"/>
          </p:cNvSpPr>
          <p:nvPr>
            <p:ph type="title"/>
          </p:nvPr>
        </p:nvSpPr>
        <p:spPr>
          <a:xfrm>
            <a:off x="2663551" y="567882"/>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14"/>
          <p:cNvSpPr>
            <a:spLocks noGrp="1"/>
          </p:cNvSpPr>
          <p:nvPr>
            <p:ph type="pic" idx="2"/>
          </p:nvPr>
        </p:nvSpPr>
        <p:spPr>
          <a:xfrm>
            <a:off x="6745355" y="987425"/>
            <a:ext cx="4610033" cy="4873625"/>
          </a:xfrm>
          <a:prstGeom prst="rect">
            <a:avLst/>
          </a:prstGeom>
          <a:noFill/>
          <a:ln>
            <a:noFill/>
          </a:ln>
        </p:spPr>
      </p:sp>
      <p:sp>
        <p:nvSpPr>
          <p:cNvPr id="93" name="Google Shape;93;p114"/>
          <p:cNvSpPr txBox="1">
            <a:spLocks noGrp="1"/>
          </p:cNvSpPr>
          <p:nvPr>
            <p:ph type="body" idx="1"/>
          </p:nvPr>
        </p:nvSpPr>
        <p:spPr>
          <a:xfrm>
            <a:off x="2663551" y="2168082"/>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a:ea typeface="Arial"/>
                <a:cs typeface="Arial"/>
                <a:sym typeface="Aria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4" name="Google Shape;94;p114"/>
          <p:cNvSpPr txBox="1">
            <a:spLocks noGrp="1"/>
          </p:cNvSpPr>
          <p:nvPr>
            <p:ph type="dt" idx="10"/>
          </p:nvPr>
        </p:nvSpPr>
        <p:spPr>
          <a:xfrm>
            <a:off x="2107096" y="6356350"/>
            <a:ext cx="147430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14"/>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114"/>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114"/>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0" name="Google Shape;100;p114"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101" name="Google Shape;101;p114"/>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2"/>
        <p:cNvGrpSpPr/>
        <p:nvPr/>
      </p:nvGrpSpPr>
      <p:grpSpPr>
        <a:xfrm>
          <a:off x="0" y="0"/>
          <a:ext cx="0" cy="0"/>
          <a:chOff x="0" y="0"/>
          <a:chExt cx="0" cy="0"/>
        </a:xfrm>
      </p:grpSpPr>
      <p:sp>
        <p:nvSpPr>
          <p:cNvPr id="103" name="Google Shape;103;p115"/>
          <p:cNvSpPr txBox="1">
            <a:spLocks noGrp="1"/>
          </p:cNvSpPr>
          <p:nvPr>
            <p:ph type="title"/>
          </p:nvPr>
        </p:nvSpPr>
        <p:spPr>
          <a:xfrm>
            <a:off x="2856280" y="365125"/>
            <a:ext cx="849751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115"/>
          <p:cNvSpPr txBox="1">
            <a:spLocks noGrp="1"/>
          </p:cNvSpPr>
          <p:nvPr>
            <p:ph type="body" idx="1"/>
          </p:nvPr>
        </p:nvSpPr>
        <p:spPr>
          <a:xfrm rot="5400000">
            <a:off x="4824515" y="-234212"/>
            <a:ext cx="4351338" cy="8497519"/>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115"/>
          <p:cNvSpPr txBox="1">
            <a:spLocks noGrp="1"/>
          </p:cNvSpPr>
          <p:nvPr>
            <p:ph type="dt" idx="10"/>
          </p:nvPr>
        </p:nvSpPr>
        <p:spPr>
          <a:xfrm>
            <a:off x="2107096" y="6356350"/>
            <a:ext cx="147430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8" name="Google Shape;108;p115"/>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115"/>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115"/>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1" name="Google Shape;111;p115"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112" name="Google Shape;112;p115"/>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3"/>
        <p:cNvGrpSpPr/>
        <p:nvPr/>
      </p:nvGrpSpPr>
      <p:grpSpPr>
        <a:xfrm>
          <a:off x="0" y="0"/>
          <a:ext cx="0" cy="0"/>
          <a:chOff x="0" y="0"/>
          <a:chExt cx="0" cy="0"/>
        </a:xfrm>
      </p:grpSpPr>
      <p:sp>
        <p:nvSpPr>
          <p:cNvPr id="114" name="Google Shape;114;p11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16"/>
          <p:cNvSpPr txBox="1">
            <a:spLocks noGrp="1"/>
          </p:cNvSpPr>
          <p:nvPr>
            <p:ph type="body" idx="1"/>
          </p:nvPr>
        </p:nvSpPr>
        <p:spPr>
          <a:xfrm rot="5400000">
            <a:off x="2756043" y="360506"/>
            <a:ext cx="5811838" cy="5821075"/>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116"/>
          <p:cNvSpPr txBox="1">
            <a:spLocks noGrp="1"/>
          </p:cNvSpPr>
          <p:nvPr>
            <p:ph type="dt" idx="10"/>
          </p:nvPr>
        </p:nvSpPr>
        <p:spPr>
          <a:xfrm>
            <a:off x="2133600" y="6356350"/>
            <a:ext cx="1447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9" name="Google Shape;119;p116"/>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116"/>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 name="Google Shape;121;p116"/>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2" name="Google Shape;122;p116"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123" name="Google Shape;123;p116"/>
          <p:cNvSpPr txBox="1"/>
          <p:nvPr/>
        </p:nvSpPr>
        <p:spPr>
          <a:xfrm>
            <a:off x="143560" y="3429000"/>
            <a:ext cx="2215327" cy="780278"/>
          </a:xfrm>
          <a:prstGeom prst="rect">
            <a:avLst/>
          </a:prstGeom>
          <a:noFill/>
          <a:ln>
            <a:noFill/>
          </a:ln>
        </p:spPr>
        <p:txBody>
          <a:bodyPr spcFirstLastPara="1" wrap="square" lIns="50800" tIns="50800" rIns="50800" bIns="50800" anchor="ctr" anchorCtr="0">
            <a:spAutoFit/>
          </a:bodyPr>
          <a:lstStyle/>
          <a:p>
            <a:pPr marL="0" marR="0" lvl="0" indent="0" algn="ctr"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0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0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
          <p:cNvSpPr txBox="1">
            <a:spLocks noGrp="1"/>
          </p:cNvSpPr>
          <p:nvPr>
            <p:ph type="ctrTitle"/>
          </p:nvPr>
        </p:nvSpPr>
        <p:spPr>
          <a:xfrm>
            <a:off x="2236989" y="4394382"/>
            <a:ext cx="9355016" cy="736829"/>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1581AA"/>
              </a:buClr>
              <a:buSzPct val="100000"/>
              <a:buFont typeface="Times New Roman"/>
              <a:buNone/>
            </a:pPr>
            <a:br>
              <a:rPr lang="en-US" sz="4400" b="1" i="0" u="none" strike="noStrike" cap="none">
                <a:solidFill>
                  <a:srgbClr val="1581AA"/>
                </a:solidFill>
                <a:latin typeface="Times New Roman"/>
                <a:ea typeface="Times New Roman"/>
                <a:cs typeface="Times New Roman"/>
                <a:sym typeface="Times New Roman"/>
              </a:rPr>
            </a:br>
            <a:br>
              <a:rPr lang="en-US" sz="4400" b="1" i="0" u="none" strike="noStrike" cap="none">
                <a:solidFill>
                  <a:srgbClr val="1581AA"/>
                </a:solidFill>
                <a:latin typeface="Times New Roman"/>
                <a:ea typeface="Times New Roman"/>
                <a:cs typeface="Times New Roman"/>
                <a:sym typeface="Times New Roman"/>
              </a:rPr>
            </a:br>
            <a:r>
              <a:rPr lang="en-US" sz="4400" b="1" i="0" u="none" strike="noStrike" cap="none">
                <a:solidFill>
                  <a:srgbClr val="1581AA"/>
                </a:solidFill>
                <a:latin typeface="Times New Roman"/>
                <a:ea typeface="Times New Roman"/>
                <a:cs typeface="Times New Roman"/>
                <a:sym typeface="Times New Roman"/>
              </a:rPr>
              <a:t>OPERATING SYSTEMS(21CS44)</a:t>
            </a:r>
            <a:br>
              <a:rPr lang="en-US" sz="4400" b="1" i="0" u="none" strike="noStrike" cap="none">
                <a:solidFill>
                  <a:srgbClr val="1581AA"/>
                </a:solidFill>
                <a:latin typeface="Times New Roman"/>
                <a:ea typeface="Times New Roman"/>
                <a:cs typeface="Times New Roman"/>
                <a:sym typeface="Times New Roman"/>
              </a:rPr>
            </a:br>
            <a:r>
              <a:rPr lang="en-US" sz="4400" b="1" i="0" u="none" strike="noStrike" cap="none">
                <a:solidFill>
                  <a:srgbClr val="1581AA"/>
                </a:solidFill>
                <a:latin typeface="Times New Roman"/>
                <a:ea typeface="Times New Roman"/>
                <a:cs typeface="Times New Roman"/>
                <a:sym typeface="Times New Roman"/>
              </a:rPr>
              <a:t>Module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
          <p:cNvSpPr txBox="1">
            <a:spLocks noGrp="1"/>
          </p:cNvSpPr>
          <p:nvPr>
            <p:ph type="body" idx="1"/>
          </p:nvPr>
        </p:nvSpPr>
        <p:spPr>
          <a:xfrm>
            <a:off x="2477086" y="520261"/>
            <a:ext cx="9408405" cy="6122719"/>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rgbClr val="FF0000"/>
              </a:buClr>
              <a:buSzPts val="2400"/>
              <a:buNone/>
            </a:pPr>
            <a:r>
              <a:rPr lang="en-US" sz="2400" b="1" dirty="0">
                <a:solidFill>
                  <a:srgbClr val="FF0000"/>
                </a:solidFill>
                <a:latin typeface="Calibri"/>
                <a:ea typeface="Calibri"/>
                <a:cs typeface="Calibri"/>
                <a:sym typeface="Calibri"/>
              </a:rPr>
              <a:t>CPU Scheduling</a:t>
            </a:r>
            <a:endParaRPr dirty="0"/>
          </a:p>
          <a:p>
            <a:pPr marL="228600" lvl="0" indent="-228600" algn="just" rtl="0">
              <a:lnSpc>
                <a:spcPct val="150000"/>
              </a:lnSpc>
              <a:spcBef>
                <a:spcPts val="0"/>
              </a:spcBef>
              <a:spcAft>
                <a:spcPts val="0"/>
              </a:spcAft>
              <a:buClr>
                <a:schemeClr val="dk1"/>
              </a:buClr>
              <a:buSzPts val="2000"/>
              <a:buChar char="•"/>
            </a:pPr>
            <a:r>
              <a:rPr lang="en-US" sz="2000" dirty="0">
                <a:latin typeface="Calibri"/>
                <a:ea typeface="Calibri"/>
                <a:cs typeface="Calibri"/>
                <a:sym typeface="Calibri"/>
              </a:rPr>
              <a:t>CPU scheduling is the basis of multiprogramming  OS.</a:t>
            </a:r>
            <a:endParaRPr dirty="0"/>
          </a:p>
          <a:p>
            <a:pPr marL="228600" lvl="0" indent="-228600" algn="just" rtl="0">
              <a:lnSpc>
                <a:spcPct val="150000"/>
              </a:lnSpc>
              <a:spcBef>
                <a:spcPts val="0"/>
              </a:spcBef>
              <a:spcAft>
                <a:spcPts val="0"/>
              </a:spcAft>
              <a:buClr>
                <a:schemeClr val="dk1"/>
              </a:buClr>
              <a:buSzPts val="2000"/>
              <a:buChar char="•"/>
            </a:pPr>
            <a:r>
              <a:rPr lang="en-US" sz="2000" dirty="0">
                <a:latin typeface="Calibri"/>
                <a:ea typeface="Calibri"/>
                <a:cs typeface="Calibri"/>
                <a:sym typeface="Calibri"/>
              </a:rPr>
              <a:t>By switching the CPU among processes, the OS can make the computer more productive.</a:t>
            </a:r>
            <a:endParaRPr dirty="0"/>
          </a:p>
          <a:p>
            <a:pPr marL="228600" lvl="0" indent="-228600" algn="just" rtl="0">
              <a:lnSpc>
                <a:spcPct val="150000"/>
              </a:lnSpc>
              <a:spcBef>
                <a:spcPts val="0"/>
              </a:spcBef>
              <a:spcAft>
                <a:spcPts val="0"/>
              </a:spcAft>
              <a:buClr>
                <a:schemeClr val="dk1"/>
              </a:buClr>
              <a:buSzPts val="2000"/>
              <a:buChar char="•"/>
            </a:pPr>
            <a:r>
              <a:rPr lang="en-US" sz="2000" dirty="0">
                <a:latin typeface="Calibri"/>
                <a:ea typeface="Calibri"/>
                <a:cs typeface="Calibri"/>
                <a:sym typeface="Calibri"/>
              </a:rPr>
              <a:t>In a single processor system, only one process can run at a time.</a:t>
            </a:r>
            <a:endParaRPr dirty="0"/>
          </a:p>
          <a:p>
            <a:pPr marL="228600" lvl="0" indent="-228600" algn="just" rtl="0">
              <a:lnSpc>
                <a:spcPct val="150000"/>
              </a:lnSpc>
              <a:spcBef>
                <a:spcPts val="0"/>
              </a:spcBef>
              <a:spcAft>
                <a:spcPts val="0"/>
              </a:spcAft>
              <a:buClr>
                <a:schemeClr val="dk1"/>
              </a:buClr>
              <a:buSzPts val="2000"/>
              <a:buChar char="•"/>
            </a:pPr>
            <a:r>
              <a:rPr lang="en-US" sz="2000" dirty="0">
                <a:latin typeface="Calibri"/>
                <a:ea typeface="Calibri"/>
                <a:cs typeface="Calibri"/>
                <a:sym typeface="Calibri"/>
              </a:rPr>
              <a:t>Any other must wait until the CPU is free and can be rescheduled.</a:t>
            </a:r>
            <a:endParaRPr dirty="0"/>
          </a:p>
          <a:p>
            <a:pPr marL="228600" lvl="0" indent="-228600" algn="just" rtl="0">
              <a:lnSpc>
                <a:spcPct val="150000"/>
              </a:lnSpc>
              <a:spcBef>
                <a:spcPts val="0"/>
              </a:spcBef>
              <a:spcAft>
                <a:spcPts val="0"/>
              </a:spcAft>
              <a:buClr>
                <a:schemeClr val="dk1"/>
              </a:buClr>
              <a:buSzPts val="2000"/>
              <a:buFont typeface="Noto Sans Symbols"/>
              <a:buChar char="✔"/>
            </a:pPr>
            <a:r>
              <a:rPr lang="en-US" sz="2000" dirty="0">
                <a:latin typeface="Calibri"/>
                <a:ea typeface="Calibri"/>
                <a:cs typeface="Calibri"/>
                <a:sym typeface="Calibri"/>
              </a:rPr>
              <a:t>The objective of multiprogramming is to have some process running at all times, to maximize CPU utilization.</a:t>
            </a:r>
            <a:endParaRPr dirty="0"/>
          </a:p>
          <a:p>
            <a:pPr marL="228600" lvl="0" indent="-228600" algn="just" rtl="0">
              <a:lnSpc>
                <a:spcPct val="150000"/>
              </a:lnSpc>
              <a:spcBef>
                <a:spcPts val="0"/>
              </a:spcBef>
              <a:spcAft>
                <a:spcPts val="0"/>
              </a:spcAft>
              <a:buClr>
                <a:schemeClr val="dk1"/>
              </a:buClr>
              <a:buSzPts val="2000"/>
              <a:buFont typeface="Noto Sans Symbols"/>
              <a:buChar char="✔"/>
            </a:pPr>
            <a:r>
              <a:rPr lang="en-US" sz="2000" dirty="0">
                <a:latin typeface="Calibri"/>
                <a:ea typeface="Calibri"/>
                <a:cs typeface="Calibri"/>
                <a:sym typeface="Calibri"/>
              </a:rPr>
              <a:t>A process is executed until it must wait, typically for the completion of some I/O request.</a:t>
            </a:r>
            <a:endParaRPr dirty="0"/>
          </a:p>
          <a:p>
            <a:pPr marL="228600" lvl="0" indent="-228600" algn="just" rtl="0">
              <a:lnSpc>
                <a:spcPct val="150000"/>
              </a:lnSpc>
              <a:spcBef>
                <a:spcPts val="0"/>
              </a:spcBef>
              <a:spcAft>
                <a:spcPts val="0"/>
              </a:spcAft>
              <a:buClr>
                <a:schemeClr val="dk1"/>
              </a:buClr>
              <a:buSzPts val="2000"/>
              <a:buChar char="•"/>
            </a:pPr>
            <a:r>
              <a:rPr lang="en-US" sz="2000" dirty="0">
                <a:latin typeface="Calibri"/>
                <a:ea typeface="Calibri"/>
                <a:cs typeface="Calibri"/>
                <a:sym typeface="Calibri"/>
              </a:rPr>
              <a:t>In a simple computer system, the CPU then just sits idle.</a:t>
            </a:r>
            <a:endParaRPr dirty="0"/>
          </a:p>
          <a:p>
            <a:pPr marL="228600" lvl="0" indent="-228600" algn="just" rtl="0">
              <a:lnSpc>
                <a:spcPct val="150000"/>
              </a:lnSpc>
              <a:spcBef>
                <a:spcPts val="0"/>
              </a:spcBef>
              <a:spcAft>
                <a:spcPts val="0"/>
              </a:spcAft>
              <a:buClr>
                <a:schemeClr val="dk1"/>
              </a:buClr>
              <a:buSzPts val="2000"/>
              <a:buChar char="•"/>
            </a:pPr>
            <a:r>
              <a:rPr lang="en-US" sz="2000" dirty="0">
                <a:latin typeface="Calibri"/>
                <a:ea typeface="Calibri"/>
                <a:cs typeface="Calibri"/>
                <a:sym typeface="Calibri"/>
              </a:rPr>
              <a:t>All the waiting time is wasted, no useful work is accomplished.</a:t>
            </a:r>
            <a:endParaRPr dirty="0"/>
          </a:p>
          <a:p>
            <a:pPr marL="228600" lvl="0" indent="-228600" algn="just" rtl="0">
              <a:lnSpc>
                <a:spcPct val="150000"/>
              </a:lnSpc>
              <a:spcBef>
                <a:spcPts val="0"/>
              </a:spcBef>
              <a:spcAft>
                <a:spcPts val="0"/>
              </a:spcAft>
              <a:buClr>
                <a:schemeClr val="dk1"/>
              </a:buClr>
              <a:buSzPts val="2000"/>
              <a:buChar char="•"/>
            </a:pPr>
            <a:r>
              <a:rPr lang="en-US" sz="2000" dirty="0">
                <a:latin typeface="Calibri"/>
                <a:ea typeface="Calibri"/>
                <a:cs typeface="Calibri"/>
                <a:sym typeface="Calibri"/>
              </a:rPr>
              <a:t>With multiprogramming, we try to use this time productively.</a:t>
            </a:r>
            <a:endParaRPr dirty="0"/>
          </a:p>
          <a:p>
            <a:pPr marL="228600" lvl="0" indent="-101600" algn="just" rtl="0">
              <a:lnSpc>
                <a:spcPct val="150000"/>
              </a:lnSpc>
              <a:spcBef>
                <a:spcPts val="0"/>
              </a:spcBef>
              <a:spcAft>
                <a:spcPts val="0"/>
              </a:spcAft>
              <a:buClr>
                <a:schemeClr val="dk1"/>
              </a:buClr>
              <a:buSzPts val="2000"/>
              <a:buNone/>
            </a:pPr>
            <a:endParaRPr sz="2000" dirty="0">
              <a:latin typeface="Calibri"/>
              <a:ea typeface="Calibri"/>
              <a:cs typeface="Calibri"/>
              <a:sym typeface="Calibri"/>
            </a:endParaRPr>
          </a:p>
          <a:p>
            <a:pPr marL="0" lvl="0" indent="0" algn="just" rtl="0">
              <a:lnSpc>
                <a:spcPct val="150000"/>
              </a:lnSpc>
              <a:spcBef>
                <a:spcPts val="0"/>
              </a:spcBef>
              <a:spcAft>
                <a:spcPts val="0"/>
              </a:spcAft>
              <a:buClr>
                <a:schemeClr val="dk1"/>
              </a:buClr>
              <a:buSzPts val="2400"/>
              <a:buNone/>
            </a:pPr>
            <a:endParaRPr sz="2400" dirty="0">
              <a:latin typeface="Calibri"/>
              <a:ea typeface="Calibri"/>
              <a:cs typeface="Calibri"/>
              <a:sym typeface="Calibri"/>
            </a:endParaRPr>
          </a:p>
          <a:p>
            <a:pPr marL="0" lvl="0" indent="0" algn="just" rtl="0">
              <a:lnSpc>
                <a:spcPct val="170000"/>
              </a:lnSpc>
              <a:spcBef>
                <a:spcPts val="0"/>
              </a:spcBef>
              <a:spcAft>
                <a:spcPts val="0"/>
              </a:spcAft>
              <a:buClr>
                <a:schemeClr val="dk1"/>
              </a:buClr>
              <a:buSzPts val="2000"/>
              <a:buNone/>
            </a:pPr>
            <a:endParaRPr sz="2000" dirty="0">
              <a:latin typeface="Calibri"/>
              <a:ea typeface="Calibri"/>
              <a:cs typeface="Calibri"/>
              <a:sym typeface="Calibri"/>
            </a:endParaRPr>
          </a:p>
        </p:txBody>
      </p:sp>
      <p:sp>
        <p:nvSpPr>
          <p:cNvPr id="134" name="Google Shape;134;p2"/>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458D6126-6A32-B055-D651-1343480ACA65}"/>
              </a:ext>
            </a:extLst>
          </p:cNvPr>
          <p:cNvSpPr txBox="1"/>
          <p:nvPr/>
        </p:nvSpPr>
        <p:spPr>
          <a:xfrm>
            <a:off x="4130661" y="57186"/>
            <a:ext cx="6101254" cy="463075"/>
          </a:xfrm>
          <a:prstGeom prst="rect">
            <a:avLst/>
          </a:prstGeom>
          <a:noFill/>
        </p:spPr>
        <p:txBody>
          <a:bodyPr wrap="square">
            <a:spAutoFit/>
          </a:bodyPr>
          <a:lstStyle/>
          <a:p>
            <a:pPr marL="0" lvl="0" indent="0" algn="ctr" rtl="0">
              <a:lnSpc>
                <a:spcPct val="150000"/>
              </a:lnSpc>
              <a:spcBef>
                <a:spcPts val="0"/>
              </a:spcBef>
              <a:spcAft>
                <a:spcPts val="0"/>
              </a:spcAft>
              <a:buClr>
                <a:srgbClr val="FF0000"/>
              </a:buClr>
              <a:buSzPts val="2400"/>
              <a:buNone/>
            </a:pPr>
            <a:r>
              <a:rPr lang="en-US" sz="1800" b="1" dirty="0">
                <a:solidFill>
                  <a:srgbClr val="FF0000"/>
                </a:solidFill>
                <a:latin typeface="Calibri"/>
                <a:ea typeface="Calibri"/>
                <a:cs typeface="Calibri"/>
                <a:sym typeface="Calibri"/>
              </a:rPr>
              <a:t>Basic Concepts</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
          <p:cNvSpPr txBox="1">
            <a:spLocks noGrp="1"/>
          </p:cNvSpPr>
          <p:nvPr>
            <p:ph type="body" idx="1"/>
          </p:nvPr>
        </p:nvSpPr>
        <p:spPr>
          <a:xfrm>
            <a:off x="2555913" y="0"/>
            <a:ext cx="9408405" cy="6753340"/>
          </a:xfrm>
          <a:prstGeom prst="rect">
            <a:avLst/>
          </a:prstGeom>
          <a:noFill/>
          <a:ln>
            <a:noFill/>
          </a:ln>
        </p:spPr>
        <p:txBody>
          <a:bodyPr spcFirstLastPara="1" wrap="square" lIns="91425" tIns="45700" rIns="91425" bIns="45700" anchor="t" anchorCtr="0">
            <a:noAutofit/>
          </a:bodyPr>
          <a:lstStyle/>
          <a:p>
            <a:pPr marL="228600" lvl="0" indent="-228600" algn="just" rtl="0">
              <a:lnSpc>
                <a:spcPct val="170000"/>
              </a:lnSpc>
              <a:spcBef>
                <a:spcPts val="0"/>
              </a:spcBef>
              <a:spcAft>
                <a:spcPts val="0"/>
              </a:spcAft>
              <a:buClr>
                <a:schemeClr val="dk1"/>
              </a:buClr>
              <a:buSzPts val="2000"/>
              <a:buChar char="•"/>
            </a:pPr>
            <a:r>
              <a:rPr lang="en-US" sz="2000">
                <a:latin typeface="Calibri"/>
                <a:ea typeface="Calibri"/>
                <a:cs typeface="Calibri"/>
                <a:sym typeface="Calibri"/>
              </a:rPr>
              <a:t>Several processes  are kept in memory at one time.</a:t>
            </a:r>
            <a:endParaRPr/>
          </a:p>
          <a:p>
            <a:pPr marL="228600" lvl="0" indent="-228600" algn="just" rtl="0">
              <a:lnSpc>
                <a:spcPct val="170000"/>
              </a:lnSpc>
              <a:spcBef>
                <a:spcPts val="0"/>
              </a:spcBef>
              <a:spcAft>
                <a:spcPts val="0"/>
              </a:spcAft>
              <a:buClr>
                <a:schemeClr val="dk1"/>
              </a:buClr>
              <a:buSzPts val="2000"/>
              <a:buChar char="•"/>
            </a:pPr>
            <a:r>
              <a:rPr lang="en-US" sz="2000">
                <a:latin typeface="Calibri"/>
                <a:ea typeface="Calibri"/>
                <a:cs typeface="Calibri"/>
                <a:sym typeface="Calibri"/>
              </a:rPr>
              <a:t>When one process has to wait the OS takes the CPU away from that process and gives the CPU to another process and the pattern continues. </a:t>
            </a:r>
            <a:endParaRPr/>
          </a:p>
        </p:txBody>
      </p:sp>
      <p:sp>
        <p:nvSpPr>
          <p:cNvPr id="140" name="Google Shape;140;p3"/>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
          <p:cNvSpPr txBox="1">
            <a:spLocks noGrp="1"/>
          </p:cNvSpPr>
          <p:nvPr>
            <p:ph type="body" idx="1"/>
          </p:nvPr>
        </p:nvSpPr>
        <p:spPr>
          <a:xfrm>
            <a:off x="2555913" y="-1"/>
            <a:ext cx="9408405" cy="7348251"/>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rgbClr val="FF0000"/>
              </a:buClr>
              <a:buSzPts val="2400"/>
              <a:buNone/>
            </a:pPr>
            <a:r>
              <a:rPr lang="en-US" sz="2400" b="1" dirty="0">
                <a:solidFill>
                  <a:srgbClr val="FF0000"/>
                </a:solidFill>
                <a:latin typeface="Calibri"/>
                <a:ea typeface="Calibri"/>
                <a:cs typeface="Calibri"/>
                <a:sym typeface="Calibri"/>
              </a:rPr>
              <a:t>CPU and I/O Burst Cycles </a:t>
            </a:r>
            <a:endParaRPr sz="2400" b="1" dirty="0">
              <a:solidFill>
                <a:srgbClr val="FF0000"/>
              </a:solidFill>
              <a:latin typeface="Calibri"/>
              <a:ea typeface="Calibri"/>
              <a:cs typeface="Calibri"/>
              <a:sym typeface="Calibri"/>
            </a:endParaRPr>
          </a:p>
          <a:p>
            <a:pPr marL="228600" lvl="0" indent="-228600" algn="just" rtl="0">
              <a:lnSpc>
                <a:spcPct val="150000"/>
              </a:lnSpc>
              <a:spcBef>
                <a:spcPts val="1000"/>
              </a:spcBef>
              <a:spcAft>
                <a:spcPts val="0"/>
              </a:spcAft>
              <a:buClr>
                <a:srgbClr val="000000"/>
              </a:buClr>
              <a:buSzPts val="2000"/>
              <a:buChar char="•"/>
            </a:pPr>
            <a:r>
              <a:rPr lang="en-US" sz="2000" dirty="0">
                <a:solidFill>
                  <a:srgbClr val="000000"/>
                </a:solidFill>
                <a:latin typeface="Calibri"/>
                <a:ea typeface="Calibri"/>
                <a:cs typeface="Calibri"/>
                <a:sym typeface="Calibri"/>
              </a:rPr>
              <a:t>Process execution consists of a cycle of </a:t>
            </a:r>
            <a:r>
              <a:rPr lang="en-US" sz="2000" dirty="0">
                <a:solidFill>
                  <a:srgbClr val="0000FF"/>
                </a:solidFill>
                <a:latin typeface="Calibri"/>
                <a:ea typeface="Calibri"/>
                <a:cs typeface="Calibri"/>
                <a:sym typeface="Calibri"/>
              </a:rPr>
              <a:t>CPU execution </a:t>
            </a:r>
            <a:r>
              <a:rPr lang="en-US" sz="2000" dirty="0">
                <a:solidFill>
                  <a:srgbClr val="000000"/>
                </a:solidFill>
                <a:latin typeface="Calibri"/>
                <a:ea typeface="Calibri"/>
                <a:cs typeface="Calibri"/>
                <a:sym typeface="Calibri"/>
              </a:rPr>
              <a:t>and </a:t>
            </a:r>
            <a:r>
              <a:rPr lang="en-US" sz="2000" dirty="0">
                <a:solidFill>
                  <a:srgbClr val="0000FF"/>
                </a:solidFill>
                <a:latin typeface="Calibri"/>
                <a:ea typeface="Calibri"/>
                <a:cs typeface="Calibri"/>
                <a:sym typeface="Calibri"/>
              </a:rPr>
              <a:t>I/0 wait</a:t>
            </a:r>
            <a:r>
              <a:rPr lang="en-US" sz="2000" dirty="0">
                <a:solidFill>
                  <a:srgbClr val="000000"/>
                </a:solidFill>
                <a:latin typeface="Calibri"/>
                <a:ea typeface="Calibri"/>
                <a:cs typeface="Calibri"/>
                <a:sym typeface="Calibri"/>
              </a:rPr>
              <a:t>. </a:t>
            </a:r>
            <a:endParaRPr dirty="0"/>
          </a:p>
          <a:p>
            <a:pPr marL="228600" lvl="0" indent="-228600" algn="just" rtl="0">
              <a:lnSpc>
                <a:spcPct val="150000"/>
              </a:lnSpc>
              <a:spcBef>
                <a:spcPts val="1015"/>
              </a:spcBef>
              <a:spcAft>
                <a:spcPts val="0"/>
              </a:spcAft>
              <a:buClr>
                <a:srgbClr val="000000"/>
              </a:buClr>
              <a:buSzPts val="2000"/>
              <a:buChar char="•"/>
            </a:pPr>
            <a:r>
              <a:rPr lang="en-US" sz="2000" dirty="0">
                <a:solidFill>
                  <a:srgbClr val="000000"/>
                </a:solidFill>
                <a:latin typeface="Calibri"/>
                <a:ea typeface="Calibri"/>
                <a:cs typeface="Calibri"/>
                <a:sym typeface="Calibri"/>
              </a:rPr>
              <a:t>Processes alternating between these two states. </a:t>
            </a:r>
            <a:endParaRPr dirty="0"/>
          </a:p>
          <a:p>
            <a:pPr marL="0" lvl="0" indent="0" algn="just" rtl="0">
              <a:lnSpc>
                <a:spcPct val="150000"/>
              </a:lnSpc>
              <a:spcBef>
                <a:spcPts val="1015"/>
              </a:spcBef>
              <a:spcAft>
                <a:spcPts val="0"/>
              </a:spcAft>
              <a:buClr>
                <a:srgbClr val="000000"/>
              </a:buClr>
              <a:buSzPts val="2000"/>
              <a:buNone/>
            </a:pPr>
            <a:r>
              <a:rPr lang="en-US" sz="2000" dirty="0">
                <a:solidFill>
                  <a:srgbClr val="000000"/>
                </a:solidFill>
                <a:latin typeface="Calibri"/>
                <a:ea typeface="Calibri"/>
                <a:cs typeface="Calibri"/>
                <a:sym typeface="Calibri"/>
              </a:rPr>
              <a:t>            Process execution begins with a </a:t>
            </a:r>
            <a:endParaRPr dirty="0"/>
          </a:p>
          <a:p>
            <a:pPr marL="0" lvl="0" indent="0" algn="just" rtl="0">
              <a:lnSpc>
                <a:spcPct val="150000"/>
              </a:lnSpc>
              <a:spcBef>
                <a:spcPts val="1015"/>
              </a:spcBef>
              <a:spcAft>
                <a:spcPts val="0"/>
              </a:spcAft>
              <a:buClr>
                <a:srgbClr val="0000FF"/>
              </a:buClr>
              <a:buSzPts val="2000"/>
              <a:buNone/>
            </a:pPr>
            <a:r>
              <a:rPr lang="en-US" sz="2000" dirty="0">
                <a:solidFill>
                  <a:srgbClr val="0000FF"/>
                </a:solidFill>
                <a:latin typeface="Calibri"/>
                <a:ea typeface="Calibri"/>
                <a:cs typeface="Calibri"/>
                <a:sym typeface="Calibri"/>
              </a:rPr>
              <a:t>                      CPU burst</a:t>
            </a:r>
            <a:r>
              <a:rPr lang="en-US" sz="2000" dirty="0">
                <a:solidFill>
                  <a:srgbClr val="000000"/>
                </a:solidFill>
                <a:latin typeface="Calibri"/>
                <a:ea typeface="Calibri"/>
                <a:cs typeface="Calibri"/>
                <a:sym typeface="Calibri"/>
              </a:rPr>
              <a:t>. That is followed by an </a:t>
            </a:r>
            <a:endParaRPr dirty="0"/>
          </a:p>
          <a:p>
            <a:pPr marL="0" lvl="0" indent="0" algn="just" rtl="0">
              <a:lnSpc>
                <a:spcPct val="150000"/>
              </a:lnSpc>
              <a:spcBef>
                <a:spcPts val="1015"/>
              </a:spcBef>
              <a:spcAft>
                <a:spcPts val="0"/>
              </a:spcAft>
              <a:buClr>
                <a:srgbClr val="0000FF"/>
              </a:buClr>
              <a:buSzPts val="2000"/>
              <a:buNone/>
            </a:pPr>
            <a:r>
              <a:rPr lang="en-US" sz="2000" dirty="0">
                <a:solidFill>
                  <a:srgbClr val="0000FF"/>
                </a:solidFill>
                <a:latin typeface="Calibri"/>
                <a:ea typeface="Calibri"/>
                <a:cs typeface="Calibri"/>
                <a:sym typeface="Calibri"/>
              </a:rPr>
              <a:t>                              I/O burst</a:t>
            </a:r>
            <a:r>
              <a:rPr lang="en-US" sz="2000" dirty="0">
                <a:solidFill>
                  <a:srgbClr val="000000"/>
                </a:solidFill>
                <a:latin typeface="Calibri"/>
                <a:ea typeface="Calibri"/>
                <a:cs typeface="Calibri"/>
                <a:sym typeface="Calibri"/>
              </a:rPr>
              <a:t>, which is followed by another </a:t>
            </a:r>
            <a:endParaRPr dirty="0"/>
          </a:p>
          <a:p>
            <a:pPr marL="0" lvl="0" indent="0" algn="just" rtl="0">
              <a:lnSpc>
                <a:spcPct val="150000"/>
              </a:lnSpc>
              <a:spcBef>
                <a:spcPts val="1015"/>
              </a:spcBef>
              <a:spcAft>
                <a:spcPts val="0"/>
              </a:spcAft>
              <a:buClr>
                <a:srgbClr val="000000"/>
              </a:buClr>
              <a:buSzPts val="2000"/>
              <a:buNone/>
            </a:pPr>
            <a:r>
              <a:rPr lang="en-US" sz="2000" dirty="0">
                <a:solidFill>
                  <a:srgbClr val="000000"/>
                </a:solidFill>
                <a:latin typeface="Calibri"/>
                <a:ea typeface="Calibri"/>
                <a:cs typeface="Calibri"/>
                <a:sym typeface="Calibri"/>
              </a:rPr>
              <a:t>                                          </a:t>
            </a:r>
            <a:r>
              <a:rPr lang="en-US" sz="2000" dirty="0">
                <a:solidFill>
                  <a:srgbClr val="0000FF"/>
                </a:solidFill>
                <a:latin typeface="Calibri"/>
                <a:ea typeface="Calibri"/>
                <a:cs typeface="Calibri"/>
                <a:sym typeface="Calibri"/>
              </a:rPr>
              <a:t>CPU burst</a:t>
            </a:r>
            <a:r>
              <a:rPr lang="en-US" sz="2000" dirty="0">
                <a:solidFill>
                  <a:srgbClr val="000000"/>
                </a:solidFill>
                <a:latin typeface="Calibri"/>
                <a:ea typeface="Calibri"/>
                <a:cs typeface="Calibri"/>
                <a:sym typeface="Calibri"/>
              </a:rPr>
              <a:t>, then another </a:t>
            </a:r>
            <a:endParaRPr dirty="0"/>
          </a:p>
          <a:p>
            <a:pPr marL="0" lvl="0" indent="0" algn="just" rtl="0">
              <a:lnSpc>
                <a:spcPct val="150000"/>
              </a:lnSpc>
              <a:spcBef>
                <a:spcPts val="1015"/>
              </a:spcBef>
              <a:spcAft>
                <a:spcPts val="0"/>
              </a:spcAft>
              <a:buClr>
                <a:srgbClr val="000000"/>
              </a:buClr>
              <a:buSzPts val="2000"/>
              <a:buNone/>
            </a:pPr>
            <a:r>
              <a:rPr lang="en-US" sz="2000" dirty="0">
                <a:solidFill>
                  <a:srgbClr val="000000"/>
                </a:solidFill>
                <a:latin typeface="Calibri"/>
                <a:ea typeface="Calibri"/>
                <a:cs typeface="Calibri"/>
                <a:sym typeface="Calibri"/>
              </a:rPr>
              <a:t>                                                     </a:t>
            </a:r>
            <a:r>
              <a:rPr lang="en-US" sz="2000" dirty="0">
                <a:solidFill>
                  <a:srgbClr val="0000FF"/>
                </a:solidFill>
                <a:latin typeface="Calibri"/>
                <a:ea typeface="Calibri"/>
                <a:cs typeface="Calibri"/>
                <a:sym typeface="Calibri"/>
              </a:rPr>
              <a:t>I/0 burst, </a:t>
            </a:r>
            <a:endParaRPr dirty="0"/>
          </a:p>
          <a:p>
            <a:pPr marL="0" lvl="0" indent="0" algn="just" rtl="0">
              <a:lnSpc>
                <a:spcPct val="150000"/>
              </a:lnSpc>
              <a:spcBef>
                <a:spcPts val="1015"/>
              </a:spcBef>
              <a:spcAft>
                <a:spcPts val="0"/>
              </a:spcAft>
              <a:buClr>
                <a:srgbClr val="000000"/>
              </a:buClr>
              <a:buSzPts val="2000"/>
              <a:buNone/>
            </a:pPr>
            <a:r>
              <a:rPr lang="en-US" sz="2000" dirty="0">
                <a:solidFill>
                  <a:srgbClr val="000000"/>
                </a:solidFill>
                <a:latin typeface="Calibri"/>
                <a:ea typeface="Calibri"/>
                <a:cs typeface="Calibri"/>
                <a:sym typeface="Calibri"/>
              </a:rPr>
              <a:t>                                                                   </a:t>
            </a:r>
            <a:r>
              <a:rPr lang="en-US" sz="2000" dirty="0">
                <a:solidFill>
                  <a:srgbClr val="0000FF"/>
                </a:solidFill>
                <a:latin typeface="Calibri"/>
                <a:ea typeface="Calibri"/>
                <a:cs typeface="Calibri"/>
                <a:sym typeface="Calibri"/>
              </a:rPr>
              <a:t>and so on. </a:t>
            </a:r>
            <a:endParaRPr dirty="0"/>
          </a:p>
          <a:p>
            <a:pPr marL="0" lvl="0" indent="0" algn="just" rtl="0">
              <a:lnSpc>
                <a:spcPct val="150000"/>
              </a:lnSpc>
              <a:spcBef>
                <a:spcPts val="1015"/>
              </a:spcBef>
              <a:spcAft>
                <a:spcPts val="0"/>
              </a:spcAft>
              <a:buClr>
                <a:srgbClr val="0000FF"/>
              </a:buClr>
              <a:buSzPts val="2000"/>
              <a:buNone/>
            </a:pPr>
            <a:r>
              <a:rPr lang="en-US" sz="2000" dirty="0">
                <a:solidFill>
                  <a:srgbClr val="0000FF"/>
                </a:solidFill>
                <a:latin typeface="Calibri"/>
                <a:ea typeface="Calibri"/>
                <a:cs typeface="Calibri"/>
                <a:sym typeface="Calibri"/>
              </a:rPr>
              <a:t>CPU burst </a:t>
            </a:r>
            <a:r>
              <a:rPr lang="en-US" sz="2000" dirty="0">
                <a:solidFill>
                  <a:srgbClr val="000000"/>
                </a:solidFill>
                <a:latin typeface="Calibri"/>
                <a:ea typeface="Calibri"/>
                <a:cs typeface="Calibri"/>
                <a:sym typeface="Calibri"/>
              </a:rPr>
              <a:t>is when </a:t>
            </a:r>
            <a:r>
              <a:rPr lang="en-US" sz="2000" dirty="0">
                <a:solidFill>
                  <a:srgbClr val="0000FF"/>
                </a:solidFill>
                <a:latin typeface="Calibri"/>
                <a:ea typeface="Calibri"/>
                <a:cs typeface="Calibri"/>
                <a:sym typeface="Calibri"/>
              </a:rPr>
              <a:t>the process is being executed in the CPU.</a:t>
            </a:r>
            <a:endParaRPr dirty="0"/>
          </a:p>
          <a:p>
            <a:pPr marL="0" lvl="0" indent="0" algn="just" rtl="0">
              <a:lnSpc>
                <a:spcPct val="150000"/>
              </a:lnSpc>
              <a:spcBef>
                <a:spcPts val="1015"/>
              </a:spcBef>
              <a:spcAft>
                <a:spcPts val="0"/>
              </a:spcAft>
              <a:buClr>
                <a:srgbClr val="0000FF"/>
              </a:buClr>
              <a:buSzPts val="2000"/>
              <a:buNone/>
            </a:pPr>
            <a:r>
              <a:rPr lang="en-US" sz="2000" dirty="0">
                <a:solidFill>
                  <a:srgbClr val="0000FF"/>
                </a:solidFill>
                <a:latin typeface="Calibri"/>
                <a:ea typeface="Calibri"/>
                <a:cs typeface="Calibri"/>
                <a:sym typeface="Calibri"/>
              </a:rPr>
              <a:t>I/O burst </a:t>
            </a:r>
            <a:r>
              <a:rPr lang="en-US" sz="2000" dirty="0">
                <a:solidFill>
                  <a:srgbClr val="000000"/>
                </a:solidFill>
                <a:latin typeface="Calibri"/>
                <a:ea typeface="Calibri"/>
                <a:cs typeface="Calibri"/>
                <a:sym typeface="Calibri"/>
              </a:rPr>
              <a:t>is when the </a:t>
            </a:r>
            <a:r>
              <a:rPr lang="en-US" sz="2000" dirty="0">
                <a:solidFill>
                  <a:srgbClr val="0000FF"/>
                </a:solidFill>
                <a:latin typeface="Calibri"/>
                <a:ea typeface="Calibri"/>
                <a:cs typeface="Calibri"/>
                <a:sym typeface="Calibri"/>
              </a:rPr>
              <a:t>CPU is waiting for I/O for further execution.</a:t>
            </a:r>
            <a:endParaRPr sz="2000" dirty="0">
              <a:solidFill>
                <a:srgbClr val="0000FF"/>
              </a:solidFill>
              <a:latin typeface="Calibri"/>
              <a:ea typeface="Calibri"/>
              <a:cs typeface="Calibri"/>
              <a:sym typeface="Calibri"/>
            </a:endParaRPr>
          </a:p>
          <a:p>
            <a:pPr marL="0" lvl="0" indent="0" algn="just" rtl="0">
              <a:lnSpc>
                <a:spcPct val="170000"/>
              </a:lnSpc>
              <a:spcBef>
                <a:spcPts val="15"/>
              </a:spcBef>
              <a:spcAft>
                <a:spcPts val="0"/>
              </a:spcAft>
              <a:buClr>
                <a:schemeClr val="dk1"/>
              </a:buClr>
              <a:buSzPts val="2000"/>
              <a:buNone/>
            </a:pPr>
            <a:endParaRPr sz="2000" dirty="0">
              <a:latin typeface="Calibri"/>
              <a:ea typeface="Calibri"/>
              <a:cs typeface="Calibri"/>
              <a:sym typeface="Calibri"/>
            </a:endParaRPr>
          </a:p>
        </p:txBody>
      </p:sp>
      <p:sp>
        <p:nvSpPr>
          <p:cNvPr id="146" name="Google Shape;146;p4"/>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5"/>
          <p:cNvSpPr txBox="1">
            <a:spLocks noGrp="1"/>
          </p:cNvSpPr>
          <p:nvPr>
            <p:ph type="body" idx="1"/>
          </p:nvPr>
        </p:nvSpPr>
        <p:spPr>
          <a:xfrm>
            <a:off x="2555913" y="0"/>
            <a:ext cx="9408405" cy="6753340"/>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rgbClr val="000000"/>
              </a:buClr>
              <a:buSzPts val="2000"/>
              <a:buChar char="•"/>
            </a:pPr>
            <a:r>
              <a:rPr lang="en-US" sz="2000">
                <a:solidFill>
                  <a:srgbClr val="000000"/>
                </a:solidFill>
                <a:latin typeface="Calibri"/>
                <a:ea typeface="Calibri"/>
                <a:cs typeface="Calibri"/>
                <a:sym typeface="Calibri"/>
              </a:rPr>
              <a:t>Eventually, the final CPU burst ends with a system request to terminate execution </a:t>
            </a:r>
            <a:endParaRPr sz="2000">
              <a:solidFill>
                <a:srgbClr val="000000"/>
              </a:solidFill>
              <a:latin typeface="Calibri"/>
              <a:ea typeface="Calibri"/>
              <a:cs typeface="Calibri"/>
              <a:sym typeface="Calibri"/>
            </a:endParaRPr>
          </a:p>
          <a:p>
            <a:pPr marL="0" lvl="0" indent="0" algn="just" rtl="0">
              <a:lnSpc>
                <a:spcPct val="150000"/>
              </a:lnSpc>
              <a:spcBef>
                <a:spcPts val="1015"/>
              </a:spcBef>
              <a:spcAft>
                <a:spcPts val="0"/>
              </a:spcAft>
              <a:buClr>
                <a:schemeClr val="dk1"/>
              </a:buClr>
              <a:buSzPts val="2000"/>
              <a:buNone/>
            </a:pPr>
            <a:endParaRPr sz="2000">
              <a:solidFill>
                <a:srgbClr val="000000"/>
              </a:solidFill>
              <a:latin typeface="Calibri"/>
              <a:ea typeface="Calibri"/>
              <a:cs typeface="Calibri"/>
              <a:sym typeface="Calibri"/>
            </a:endParaRPr>
          </a:p>
          <a:p>
            <a:pPr marL="0" lvl="0" indent="0" algn="just" rtl="0">
              <a:lnSpc>
                <a:spcPct val="150000"/>
              </a:lnSpc>
              <a:spcBef>
                <a:spcPts val="1015"/>
              </a:spcBef>
              <a:spcAft>
                <a:spcPts val="0"/>
              </a:spcAft>
              <a:buClr>
                <a:schemeClr val="dk1"/>
              </a:buClr>
              <a:buSzPts val="2000"/>
              <a:buNone/>
            </a:pPr>
            <a:endParaRPr sz="2000">
              <a:solidFill>
                <a:srgbClr val="000000"/>
              </a:solidFill>
              <a:latin typeface="Calibri"/>
              <a:ea typeface="Calibri"/>
              <a:cs typeface="Calibri"/>
              <a:sym typeface="Calibri"/>
            </a:endParaRPr>
          </a:p>
          <a:p>
            <a:pPr marL="0" lvl="0" indent="0" algn="just" rtl="0">
              <a:lnSpc>
                <a:spcPct val="170000"/>
              </a:lnSpc>
              <a:spcBef>
                <a:spcPts val="15"/>
              </a:spcBef>
              <a:spcAft>
                <a:spcPts val="0"/>
              </a:spcAft>
              <a:buClr>
                <a:schemeClr val="dk1"/>
              </a:buClr>
              <a:buSzPts val="2000"/>
              <a:buNone/>
            </a:pPr>
            <a:endParaRPr sz="2000">
              <a:latin typeface="Calibri"/>
              <a:ea typeface="Calibri"/>
              <a:cs typeface="Calibri"/>
              <a:sym typeface="Calibri"/>
            </a:endParaRPr>
          </a:p>
        </p:txBody>
      </p:sp>
      <p:pic>
        <p:nvPicPr>
          <p:cNvPr id="152" name="Google Shape;152;p5"/>
          <p:cNvPicPr preferRelativeResize="0"/>
          <p:nvPr/>
        </p:nvPicPr>
        <p:blipFill rotWithShape="1">
          <a:blip r:embed="rId3">
            <a:alphaModFix/>
          </a:blip>
          <a:srcRect/>
          <a:stretch/>
        </p:blipFill>
        <p:spPr>
          <a:xfrm>
            <a:off x="3580482" y="517793"/>
            <a:ext cx="6309910" cy="5905041"/>
          </a:xfrm>
          <a:prstGeom prst="rect">
            <a:avLst/>
          </a:prstGeom>
          <a:noFill/>
          <a:ln>
            <a:noFill/>
          </a:ln>
        </p:spPr>
      </p:pic>
      <p:sp>
        <p:nvSpPr>
          <p:cNvPr id="153" name="Google Shape;153;p5"/>
          <p:cNvSpPr txBox="1"/>
          <p:nvPr/>
        </p:nvSpPr>
        <p:spPr>
          <a:xfrm>
            <a:off x="3781540" y="6365461"/>
            <a:ext cx="6108852" cy="407035"/>
          </a:xfrm>
          <a:prstGeom prst="rect">
            <a:avLst/>
          </a:prstGeom>
          <a:noFill/>
          <a:ln>
            <a:noFill/>
          </a:ln>
        </p:spPr>
        <p:txBody>
          <a:bodyPr spcFirstLastPara="1" wrap="square" lIns="91425" tIns="45700" rIns="91425" bIns="45700" anchor="t" anchorCtr="0">
            <a:spAutoFit/>
          </a:bodyPr>
          <a:lstStyle/>
          <a:p>
            <a:pPr marL="0" marR="7620" lvl="0" indent="0" algn="ctr" rtl="0">
              <a:lnSpc>
                <a:spcPct val="107000"/>
              </a:lnSpc>
              <a:spcBef>
                <a:spcPts val="0"/>
              </a:spcBef>
              <a:spcAft>
                <a:spcPts val="0"/>
              </a:spcAft>
              <a:buNone/>
            </a:pPr>
            <a:r>
              <a:rPr lang="en-US" sz="2000">
                <a:solidFill>
                  <a:srgbClr val="000000"/>
                </a:solidFill>
                <a:latin typeface="Calibri"/>
                <a:ea typeface="Calibri"/>
                <a:cs typeface="Calibri"/>
                <a:sym typeface="Calibri"/>
              </a:rPr>
              <a:t>Alternating sequences of CPU and I/O bursts.  </a:t>
            </a:r>
            <a:endParaRPr sz="2000">
              <a:solidFill>
                <a:schemeClr val="dk1"/>
              </a:solidFill>
              <a:latin typeface="Calibri"/>
              <a:ea typeface="Calibri"/>
              <a:cs typeface="Calibri"/>
              <a:sym typeface="Calibri"/>
            </a:endParaRPr>
          </a:p>
        </p:txBody>
      </p:sp>
      <p:sp>
        <p:nvSpPr>
          <p:cNvPr id="154" name="Google Shape;154;p5"/>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body" idx="1"/>
          </p:nvPr>
        </p:nvSpPr>
        <p:spPr>
          <a:xfrm>
            <a:off x="2544897" y="77118"/>
            <a:ext cx="9540607" cy="6698255"/>
          </a:xfrm>
          <a:prstGeom prst="rect">
            <a:avLst/>
          </a:prstGeom>
          <a:noFill/>
          <a:ln>
            <a:noFill/>
          </a:ln>
        </p:spPr>
        <p:txBody>
          <a:bodyPr spcFirstLastPara="1" wrap="square" lIns="91425" tIns="45700" rIns="91425" bIns="45700" anchor="t" anchorCtr="0">
            <a:noAutofit/>
          </a:bodyPr>
          <a:lstStyle/>
          <a:p>
            <a:pPr marL="0" lvl="0" indent="0" algn="ctr" rtl="0">
              <a:lnSpc>
                <a:spcPct val="17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Preemptive and Non-Preemptive Scheduling</a:t>
            </a:r>
            <a:endParaRPr/>
          </a:p>
          <a:p>
            <a:pPr marL="0" lvl="0" indent="0" algn="just" rtl="0">
              <a:lnSpc>
                <a:spcPct val="150000"/>
              </a:lnSpc>
              <a:spcBef>
                <a:spcPts val="0"/>
              </a:spcBef>
              <a:spcAft>
                <a:spcPts val="0"/>
              </a:spcAft>
              <a:buClr>
                <a:srgbClr val="0000FF"/>
              </a:buClr>
              <a:buSzPts val="2400"/>
              <a:buNone/>
            </a:pPr>
            <a:r>
              <a:rPr lang="en-US" sz="2400" b="1">
                <a:solidFill>
                  <a:srgbClr val="0000FF"/>
                </a:solidFill>
                <a:latin typeface="Calibri"/>
                <a:ea typeface="Calibri"/>
                <a:cs typeface="Calibri"/>
                <a:sym typeface="Calibri"/>
              </a:rPr>
              <a:t>CPU Scheduler</a:t>
            </a:r>
            <a:endParaRPr sz="2400" b="1">
              <a:solidFill>
                <a:srgbClr val="0000FF"/>
              </a:solidFill>
              <a:latin typeface="Calibri"/>
              <a:ea typeface="Calibri"/>
              <a:cs typeface="Calibri"/>
              <a:sym typeface="Calibri"/>
            </a:endParaRPr>
          </a:p>
          <a:p>
            <a:pPr marL="0" lvl="0" indent="0" algn="just" rtl="0">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Whenever the CPU becomes idle, the operating system must select one of the processes in the ready queue to be executed. The selection process is carried out by the short-term scheduler (CPU scheduler). The scheduler selects a process from the processes in memory that are ready to execute and allocates the CPU to that process.</a:t>
            </a:r>
            <a:endParaRPr/>
          </a:p>
          <a:p>
            <a:pPr marL="0" lvl="0" indent="0" algn="just" rtl="0">
              <a:lnSpc>
                <a:spcPct val="150000"/>
              </a:lnSpc>
              <a:spcBef>
                <a:spcPts val="0"/>
              </a:spcBef>
              <a:spcAft>
                <a:spcPts val="0"/>
              </a:spcAft>
              <a:buClr>
                <a:srgbClr val="0000FF"/>
              </a:buClr>
              <a:buSzPts val="2400"/>
              <a:buNone/>
            </a:pPr>
            <a:r>
              <a:rPr lang="en-US" sz="2400" b="1">
                <a:solidFill>
                  <a:srgbClr val="0000FF"/>
                </a:solidFill>
                <a:latin typeface="Calibri"/>
                <a:ea typeface="Calibri"/>
                <a:cs typeface="Calibri"/>
                <a:sym typeface="Calibri"/>
              </a:rPr>
              <a:t>Dispatcher</a:t>
            </a:r>
            <a:endParaRPr sz="2400" b="1">
              <a:solidFill>
                <a:srgbClr val="0000FF"/>
              </a:solidFill>
              <a:latin typeface="Calibri"/>
              <a:ea typeface="Calibri"/>
              <a:cs typeface="Calibri"/>
              <a:sym typeface="Calibri"/>
            </a:endParaRPr>
          </a:p>
          <a:p>
            <a:pPr marL="0" lvl="0" indent="0" algn="just" rtl="0">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The dispatcher is the module that gives control of the CPU to the process selected by the CPU scheduler. </a:t>
            </a:r>
            <a:endParaRPr sz="2400">
              <a:solidFill>
                <a:srgbClr val="000000"/>
              </a:solidFill>
              <a:latin typeface="Calibri"/>
              <a:ea typeface="Calibri"/>
              <a:cs typeface="Calibri"/>
              <a:sym typeface="Calibri"/>
            </a:endParaRPr>
          </a:p>
          <a:p>
            <a:pPr marL="0" lvl="0" indent="0" algn="just" rtl="0">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The time it takes for the dispatcher to stop one process and start another running is known as the </a:t>
            </a:r>
            <a:r>
              <a:rPr lang="en-US" sz="2400">
                <a:solidFill>
                  <a:srgbClr val="000000"/>
                </a:solidFill>
                <a:highlight>
                  <a:srgbClr val="FFFF00"/>
                </a:highlight>
                <a:latin typeface="Calibri"/>
                <a:ea typeface="Calibri"/>
                <a:cs typeface="Calibri"/>
                <a:sym typeface="Calibri"/>
              </a:rPr>
              <a:t>dispatch latency.  </a:t>
            </a:r>
            <a:endParaRPr sz="2400">
              <a:highlight>
                <a:srgbClr val="FFFF00"/>
              </a:highlight>
              <a:latin typeface="Calibri"/>
              <a:ea typeface="Calibri"/>
              <a:cs typeface="Calibri"/>
              <a:sym typeface="Calibri"/>
            </a:endParaRPr>
          </a:p>
          <a:p>
            <a:pPr marL="0" lvl="0" indent="0" algn="just" rtl="0">
              <a:lnSpc>
                <a:spcPct val="150000"/>
              </a:lnSpc>
              <a:spcBef>
                <a:spcPts val="0"/>
              </a:spcBef>
              <a:spcAft>
                <a:spcPts val="0"/>
              </a:spcAft>
              <a:buClr>
                <a:schemeClr val="dk1"/>
              </a:buClr>
              <a:buSzPts val="2000"/>
              <a:buNone/>
            </a:pPr>
            <a:endParaRPr sz="2000">
              <a:latin typeface="Calibri"/>
              <a:ea typeface="Calibri"/>
              <a:cs typeface="Calibri"/>
              <a:sym typeface="Calibri"/>
            </a:endParaRPr>
          </a:p>
        </p:txBody>
      </p:sp>
      <p:sp>
        <p:nvSpPr>
          <p:cNvPr id="160" name="Google Shape;160;p6"/>
          <p:cNvSpPr txBox="1"/>
          <p:nvPr/>
        </p:nvSpPr>
        <p:spPr>
          <a:xfrm>
            <a:off x="524064" y="390975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7"/>
          <p:cNvSpPr txBox="1">
            <a:spLocks noGrp="1"/>
          </p:cNvSpPr>
          <p:nvPr>
            <p:ph type="body" idx="1"/>
          </p:nvPr>
        </p:nvSpPr>
        <p:spPr>
          <a:xfrm>
            <a:off x="2555913" y="154236"/>
            <a:ext cx="9452473" cy="6703764"/>
          </a:xfrm>
          <a:prstGeom prst="rect">
            <a:avLst/>
          </a:prstGeom>
          <a:noFill/>
          <a:ln>
            <a:noFill/>
          </a:ln>
        </p:spPr>
        <p:txBody>
          <a:bodyPr spcFirstLastPara="1" wrap="square" lIns="91425" tIns="45700" rIns="91425" bIns="45700" anchor="t" anchorCtr="0">
            <a:normAutofit fontScale="85000"/>
          </a:bodyPr>
          <a:lstStyle/>
          <a:p>
            <a:pPr marL="0" lvl="0" indent="0" algn="just" rtl="0">
              <a:lnSpc>
                <a:spcPct val="100000"/>
              </a:lnSpc>
              <a:spcBef>
                <a:spcPts val="0"/>
              </a:spcBef>
              <a:spcAft>
                <a:spcPts val="0"/>
              </a:spcAft>
              <a:buClr>
                <a:srgbClr val="000000"/>
              </a:buClr>
              <a:buSzPct val="100000"/>
              <a:buNone/>
            </a:pPr>
            <a:r>
              <a:rPr lang="en-US" sz="2400" b="1">
                <a:solidFill>
                  <a:srgbClr val="000000"/>
                </a:solidFill>
                <a:latin typeface="Calibri"/>
                <a:ea typeface="Calibri"/>
                <a:cs typeface="Calibri"/>
                <a:sym typeface="Calibri"/>
              </a:rPr>
              <a:t>CPU-scheduling decisions may take place under the following four circumstances: </a:t>
            </a:r>
            <a:endParaRPr/>
          </a:p>
          <a:p>
            <a:pPr marL="0" lvl="0" indent="0" algn="just" rtl="0">
              <a:lnSpc>
                <a:spcPct val="100000"/>
              </a:lnSpc>
              <a:spcBef>
                <a:spcPts val="1015"/>
              </a:spcBef>
              <a:spcAft>
                <a:spcPts val="0"/>
              </a:spcAft>
              <a:buClr>
                <a:schemeClr val="dk1"/>
              </a:buClr>
              <a:buSzPct val="100000"/>
              <a:buNone/>
            </a:pPr>
            <a:endParaRPr sz="2400" b="1">
              <a:latin typeface="Calibri"/>
              <a:ea typeface="Calibri"/>
              <a:cs typeface="Calibri"/>
              <a:sym typeface="Calibri"/>
            </a:endParaRPr>
          </a:p>
          <a:p>
            <a:pPr marL="228600" lvl="0" indent="-217169" algn="just" rtl="0">
              <a:lnSpc>
                <a:spcPct val="100000"/>
              </a:lnSpc>
              <a:spcBef>
                <a:spcPts val="1015"/>
              </a:spcBef>
              <a:spcAft>
                <a:spcPts val="0"/>
              </a:spcAft>
              <a:buClr>
                <a:srgbClr val="000000"/>
              </a:buClr>
              <a:buSzPct val="100000"/>
              <a:buChar char="•"/>
            </a:pPr>
            <a:r>
              <a:rPr lang="en-US" sz="2400">
                <a:solidFill>
                  <a:srgbClr val="000000"/>
                </a:solidFill>
                <a:latin typeface="Calibri"/>
                <a:ea typeface="Calibri"/>
                <a:cs typeface="Calibri"/>
                <a:sym typeface="Calibri"/>
              </a:rPr>
              <a:t> </a:t>
            </a:r>
            <a:r>
              <a:rPr lang="en-US" sz="2400" u="none" strike="noStrike">
                <a:solidFill>
                  <a:srgbClr val="000000"/>
                </a:solidFill>
                <a:latin typeface="Calibri"/>
                <a:ea typeface="Calibri"/>
                <a:cs typeface="Calibri"/>
                <a:sym typeface="Calibri"/>
              </a:rPr>
              <a:t>When a process switches from the </a:t>
            </a:r>
            <a:r>
              <a:rPr lang="en-US" sz="2400" u="none" strike="noStrike">
                <a:solidFill>
                  <a:srgbClr val="0000FF"/>
                </a:solidFill>
                <a:latin typeface="Calibri"/>
                <a:ea typeface="Calibri"/>
                <a:cs typeface="Calibri"/>
                <a:sym typeface="Calibri"/>
              </a:rPr>
              <a:t>running state </a:t>
            </a:r>
            <a:r>
              <a:rPr lang="en-US" sz="2400" u="none" strike="noStrike">
                <a:solidFill>
                  <a:srgbClr val="000000"/>
                </a:solidFill>
                <a:latin typeface="Calibri"/>
                <a:ea typeface="Calibri"/>
                <a:cs typeface="Calibri"/>
                <a:sym typeface="Calibri"/>
              </a:rPr>
              <a:t>to </a:t>
            </a:r>
            <a:r>
              <a:rPr lang="en-US" sz="2400" u="none" strike="noStrike">
                <a:solidFill>
                  <a:srgbClr val="0000FF"/>
                </a:solidFill>
                <a:latin typeface="Calibri"/>
                <a:ea typeface="Calibri"/>
                <a:cs typeface="Calibri"/>
                <a:sym typeface="Calibri"/>
              </a:rPr>
              <a:t>the waiting state. </a:t>
            </a:r>
            <a:endParaRPr sz="2400" u="none" strike="noStrike">
              <a:solidFill>
                <a:srgbClr val="0000FF"/>
              </a:solidFill>
              <a:latin typeface="Calibri"/>
              <a:ea typeface="Calibri"/>
              <a:cs typeface="Calibri"/>
              <a:sym typeface="Calibri"/>
            </a:endParaRPr>
          </a:p>
          <a:p>
            <a:pPr marL="228600" lvl="0" indent="-217169" algn="just" rtl="0">
              <a:lnSpc>
                <a:spcPct val="100000"/>
              </a:lnSpc>
              <a:spcBef>
                <a:spcPts val="1175"/>
              </a:spcBef>
              <a:spcAft>
                <a:spcPts val="0"/>
              </a:spcAft>
              <a:buClr>
                <a:srgbClr val="000000"/>
              </a:buClr>
              <a:buSzPct val="100000"/>
              <a:buChar char="•"/>
            </a:pPr>
            <a:r>
              <a:rPr lang="en-US" sz="2400">
                <a:solidFill>
                  <a:srgbClr val="000000"/>
                </a:solidFill>
                <a:latin typeface="Calibri"/>
                <a:ea typeface="Calibri"/>
                <a:cs typeface="Calibri"/>
                <a:sym typeface="Calibri"/>
              </a:rPr>
              <a:t> </a:t>
            </a:r>
            <a:r>
              <a:rPr lang="en-US" sz="2400" u="none" strike="noStrike">
                <a:solidFill>
                  <a:srgbClr val="000000"/>
                </a:solidFill>
                <a:latin typeface="Calibri"/>
                <a:ea typeface="Calibri"/>
                <a:cs typeface="Calibri"/>
                <a:sym typeface="Calibri"/>
              </a:rPr>
              <a:t>When a process switches from the </a:t>
            </a:r>
            <a:r>
              <a:rPr lang="en-US" sz="2400" u="none" strike="noStrike">
                <a:solidFill>
                  <a:srgbClr val="0000FF"/>
                </a:solidFill>
                <a:latin typeface="Calibri"/>
                <a:ea typeface="Calibri"/>
                <a:cs typeface="Calibri"/>
                <a:sym typeface="Calibri"/>
              </a:rPr>
              <a:t>running state </a:t>
            </a:r>
            <a:r>
              <a:rPr lang="en-US" sz="2400" u="none" strike="noStrike">
                <a:solidFill>
                  <a:srgbClr val="000000"/>
                </a:solidFill>
                <a:latin typeface="Calibri"/>
                <a:ea typeface="Calibri"/>
                <a:cs typeface="Calibri"/>
                <a:sym typeface="Calibri"/>
              </a:rPr>
              <a:t>to the </a:t>
            </a:r>
            <a:r>
              <a:rPr lang="en-US" sz="2400" u="none" strike="noStrike">
                <a:solidFill>
                  <a:srgbClr val="0000FF"/>
                </a:solidFill>
                <a:latin typeface="Calibri"/>
                <a:ea typeface="Calibri"/>
                <a:cs typeface="Calibri"/>
                <a:sym typeface="Calibri"/>
              </a:rPr>
              <a:t>ready state</a:t>
            </a:r>
            <a:r>
              <a:rPr lang="en-US" sz="2400">
                <a:solidFill>
                  <a:srgbClr val="0000FF"/>
                </a:solidFill>
                <a:latin typeface="Calibri"/>
                <a:ea typeface="Calibri"/>
                <a:cs typeface="Calibri"/>
                <a:sym typeface="Calibri"/>
              </a:rPr>
              <a:t>(for ex. When interrupt occurs)</a:t>
            </a:r>
            <a:endParaRPr sz="2400" u="none" strike="noStrike">
              <a:solidFill>
                <a:srgbClr val="0000FF"/>
              </a:solidFill>
              <a:latin typeface="Calibri"/>
              <a:ea typeface="Calibri"/>
              <a:cs typeface="Calibri"/>
              <a:sym typeface="Calibri"/>
            </a:endParaRPr>
          </a:p>
          <a:p>
            <a:pPr marL="228600" lvl="0" indent="-217169" algn="just" rtl="0">
              <a:lnSpc>
                <a:spcPct val="100000"/>
              </a:lnSpc>
              <a:spcBef>
                <a:spcPts val="1800"/>
              </a:spcBef>
              <a:spcAft>
                <a:spcPts val="0"/>
              </a:spcAft>
              <a:buClr>
                <a:srgbClr val="000000"/>
              </a:buClr>
              <a:buSzPct val="100000"/>
              <a:buChar char="•"/>
            </a:pPr>
            <a:r>
              <a:rPr lang="en-US" sz="2400">
                <a:solidFill>
                  <a:srgbClr val="000000"/>
                </a:solidFill>
                <a:latin typeface="Calibri"/>
                <a:ea typeface="Calibri"/>
                <a:cs typeface="Calibri"/>
                <a:sym typeface="Calibri"/>
              </a:rPr>
              <a:t> </a:t>
            </a:r>
            <a:r>
              <a:rPr lang="en-US" sz="2400" u="none" strike="noStrike">
                <a:solidFill>
                  <a:srgbClr val="000000"/>
                </a:solidFill>
                <a:latin typeface="Calibri"/>
                <a:ea typeface="Calibri"/>
                <a:cs typeface="Calibri"/>
                <a:sym typeface="Calibri"/>
              </a:rPr>
              <a:t>When a process switches from the </a:t>
            </a:r>
            <a:r>
              <a:rPr lang="en-US" sz="2400" u="none" strike="noStrike">
                <a:solidFill>
                  <a:srgbClr val="0000FF"/>
                </a:solidFill>
                <a:latin typeface="Calibri"/>
                <a:ea typeface="Calibri"/>
                <a:cs typeface="Calibri"/>
                <a:sym typeface="Calibri"/>
              </a:rPr>
              <a:t>waiting state </a:t>
            </a:r>
            <a:r>
              <a:rPr lang="en-US" sz="2400" u="none" strike="noStrike">
                <a:solidFill>
                  <a:srgbClr val="000000"/>
                </a:solidFill>
                <a:latin typeface="Calibri"/>
                <a:ea typeface="Calibri"/>
                <a:cs typeface="Calibri"/>
                <a:sym typeface="Calibri"/>
              </a:rPr>
              <a:t>to the </a:t>
            </a:r>
            <a:r>
              <a:rPr lang="en-US" sz="2400" u="none" strike="noStrike">
                <a:solidFill>
                  <a:srgbClr val="0000FF"/>
                </a:solidFill>
                <a:latin typeface="Calibri"/>
                <a:ea typeface="Calibri"/>
                <a:cs typeface="Calibri"/>
                <a:sym typeface="Calibri"/>
              </a:rPr>
              <a:t>ready state.(for ex.at completion of I/O) </a:t>
            </a:r>
            <a:endParaRPr sz="2400" u="none" strike="noStrike">
              <a:solidFill>
                <a:srgbClr val="0000FF"/>
              </a:solidFill>
              <a:latin typeface="Calibri"/>
              <a:ea typeface="Calibri"/>
              <a:cs typeface="Calibri"/>
              <a:sym typeface="Calibri"/>
            </a:endParaRPr>
          </a:p>
          <a:p>
            <a:pPr marL="228600" lvl="0" indent="-217169" algn="just" rtl="0">
              <a:lnSpc>
                <a:spcPct val="100000"/>
              </a:lnSpc>
              <a:spcBef>
                <a:spcPts val="1800"/>
              </a:spcBef>
              <a:spcAft>
                <a:spcPts val="0"/>
              </a:spcAft>
              <a:buClr>
                <a:srgbClr val="000000"/>
              </a:buClr>
              <a:buSzPct val="100000"/>
              <a:buChar char="•"/>
            </a:pPr>
            <a:r>
              <a:rPr lang="en-US" sz="2400">
                <a:solidFill>
                  <a:srgbClr val="000000"/>
                </a:solidFill>
                <a:latin typeface="Calibri"/>
                <a:ea typeface="Calibri"/>
                <a:cs typeface="Calibri"/>
                <a:sym typeface="Calibri"/>
              </a:rPr>
              <a:t> </a:t>
            </a:r>
            <a:r>
              <a:rPr lang="en-US" sz="2400" u="none" strike="noStrike">
                <a:solidFill>
                  <a:srgbClr val="000000"/>
                </a:solidFill>
                <a:latin typeface="Calibri"/>
                <a:ea typeface="Calibri"/>
                <a:cs typeface="Calibri"/>
                <a:sym typeface="Calibri"/>
              </a:rPr>
              <a:t>When a process terminates. </a:t>
            </a:r>
            <a:endParaRPr/>
          </a:p>
          <a:p>
            <a:pPr marL="0" lvl="0" indent="0" algn="just" rtl="0">
              <a:lnSpc>
                <a:spcPct val="100000"/>
              </a:lnSpc>
              <a:spcBef>
                <a:spcPts val="1800"/>
              </a:spcBef>
              <a:spcAft>
                <a:spcPts val="0"/>
              </a:spcAft>
              <a:buClr>
                <a:srgbClr val="000000"/>
              </a:buClr>
              <a:buSzPct val="100000"/>
              <a:buNone/>
            </a:pPr>
            <a:r>
              <a:rPr lang="en-US" sz="2400">
                <a:solidFill>
                  <a:srgbClr val="000000"/>
                </a:solidFill>
                <a:latin typeface="Calibri"/>
                <a:ea typeface="Calibri"/>
                <a:cs typeface="Calibri"/>
                <a:sym typeface="Calibri"/>
              </a:rPr>
              <a:t>For situation 1 and 4, there is no choice in terms of scheduling.</a:t>
            </a:r>
            <a:endParaRPr/>
          </a:p>
          <a:p>
            <a:pPr marL="0" lvl="0" indent="0" algn="just" rtl="0">
              <a:lnSpc>
                <a:spcPct val="100000"/>
              </a:lnSpc>
              <a:spcBef>
                <a:spcPts val="1800"/>
              </a:spcBef>
              <a:spcAft>
                <a:spcPts val="0"/>
              </a:spcAft>
              <a:buClr>
                <a:srgbClr val="000000"/>
              </a:buClr>
              <a:buSzPct val="100000"/>
              <a:buNone/>
            </a:pPr>
            <a:r>
              <a:rPr lang="en-US" sz="2400" u="none" strike="noStrike">
                <a:solidFill>
                  <a:srgbClr val="000000"/>
                </a:solidFill>
                <a:latin typeface="Calibri"/>
                <a:ea typeface="Calibri"/>
                <a:cs typeface="Calibri"/>
                <a:sym typeface="Calibri"/>
              </a:rPr>
              <a:t>A </a:t>
            </a:r>
            <a:r>
              <a:rPr lang="en-US" sz="2400">
                <a:solidFill>
                  <a:srgbClr val="000000"/>
                </a:solidFill>
                <a:latin typeface="Calibri"/>
                <a:ea typeface="Calibri"/>
                <a:cs typeface="Calibri"/>
                <a:sym typeface="Calibri"/>
              </a:rPr>
              <a:t>new process(if one exits in the ready queue) must be selected for execution.</a:t>
            </a:r>
            <a:endParaRPr/>
          </a:p>
          <a:p>
            <a:pPr marL="0" lvl="0" indent="0" algn="just" rtl="0">
              <a:lnSpc>
                <a:spcPct val="100000"/>
              </a:lnSpc>
              <a:spcBef>
                <a:spcPts val="1800"/>
              </a:spcBef>
              <a:spcAft>
                <a:spcPts val="0"/>
              </a:spcAft>
              <a:buClr>
                <a:srgbClr val="000000"/>
              </a:buClr>
              <a:buSzPct val="100000"/>
              <a:buNone/>
            </a:pPr>
            <a:r>
              <a:rPr lang="en-US" sz="2400" u="none" strike="noStrike">
                <a:solidFill>
                  <a:srgbClr val="000000"/>
                </a:solidFill>
                <a:latin typeface="Calibri"/>
                <a:ea typeface="Calibri"/>
                <a:cs typeface="Calibri"/>
                <a:sym typeface="Calibri"/>
              </a:rPr>
              <a:t>However, there is a choice for situation 2 and 3.</a:t>
            </a:r>
            <a:endParaRPr/>
          </a:p>
          <a:p>
            <a:pPr marL="0" lvl="0" indent="0" algn="just" rtl="0">
              <a:lnSpc>
                <a:spcPct val="150000"/>
              </a:lnSpc>
              <a:spcBef>
                <a:spcPts val="1800"/>
              </a:spcBef>
              <a:spcAft>
                <a:spcPts val="0"/>
              </a:spcAft>
              <a:buClr>
                <a:srgbClr val="000000"/>
              </a:buClr>
              <a:buSzPct val="100000"/>
              <a:buNone/>
            </a:pPr>
            <a:r>
              <a:rPr lang="en-US" sz="2400">
                <a:solidFill>
                  <a:srgbClr val="000000"/>
                </a:solidFill>
                <a:latin typeface="Calibri"/>
                <a:ea typeface="Calibri"/>
                <a:cs typeface="Calibri"/>
                <a:sym typeface="Calibri"/>
              </a:rPr>
              <a:t>When scheduling takes place only under circumstances 1 and 4,  we say that  the scheduling scheme </a:t>
            </a:r>
            <a:r>
              <a:rPr lang="en-US" sz="2400">
                <a:solidFill>
                  <a:srgbClr val="0000FF"/>
                </a:solidFill>
                <a:latin typeface="Calibri"/>
                <a:ea typeface="Calibri"/>
                <a:cs typeface="Calibri"/>
                <a:sym typeface="Calibri"/>
              </a:rPr>
              <a:t>is nonpreemptive or cooperative, </a:t>
            </a:r>
            <a:r>
              <a:rPr lang="en-US" sz="2400">
                <a:solidFill>
                  <a:srgbClr val="000000"/>
                </a:solidFill>
                <a:latin typeface="Calibri"/>
                <a:ea typeface="Calibri"/>
                <a:cs typeface="Calibri"/>
                <a:sym typeface="Calibri"/>
              </a:rPr>
              <a:t>otherwAI&amp;ML, it is </a:t>
            </a:r>
            <a:r>
              <a:rPr lang="en-US" sz="2400">
                <a:solidFill>
                  <a:srgbClr val="0000FF"/>
                </a:solidFill>
                <a:latin typeface="Calibri"/>
                <a:ea typeface="Calibri"/>
                <a:cs typeface="Calibri"/>
                <a:sym typeface="Calibri"/>
              </a:rPr>
              <a:t>preemptive.  </a:t>
            </a:r>
            <a:endParaRPr sz="2400">
              <a:solidFill>
                <a:srgbClr val="0000FF"/>
              </a:solidFill>
              <a:latin typeface="Calibri"/>
              <a:ea typeface="Calibri"/>
              <a:cs typeface="Calibri"/>
              <a:sym typeface="Calibri"/>
            </a:endParaRPr>
          </a:p>
          <a:p>
            <a:pPr marL="0" lvl="0" indent="0" algn="l" rtl="0">
              <a:lnSpc>
                <a:spcPct val="90000"/>
              </a:lnSpc>
              <a:spcBef>
                <a:spcPts val="1000"/>
              </a:spcBef>
              <a:spcAft>
                <a:spcPts val="0"/>
              </a:spcAft>
              <a:buClr>
                <a:schemeClr val="dk1"/>
              </a:buClr>
              <a:buSzPct val="100000"/>
              <a:buNone/>
            </a:pPr>
            <a:endParaRPr/>
          </a:p>
        </p:txBody>
      </p:sp>
      <p:sp>
        <p:nvSpPr>
          <p:cNvPr id="166" name="Google Shape;166;p7"/>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8"/>
          <p:cNvSpPr txBox="1">
            <a:spLocks noGrp="1"/>
          </p:cNvSpPr>
          <p:nvPr>
            <p:ph type="body" idx="1"/>
          </p:nvPr>
        </p:nvSpPr>
        <p:spPr>
          <a:xfrm>
            <a:off x="2555913" y="154236"/>
            <a:ext cx="8978747" cy="6114362"/>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20000"/>
              </a:lnSpc>
              <a:spcBef>
                <a:spcPts val="0"/>
              </a:spcBef>
              <a:spcAft>
                <a:spcPts val="0"/>
              </a:spcAft>
              <a:buClr>
                <a:srgbClr val="FF0000"/>
              </a:buClr>
              <a:buSzPct val="100000"/>
              <a:buNone/>
            </a:pPr>
            <a:r>
              <a:rPr lang="en-US" sz="9600" b="1">
                <a:solidFill>
                  <a:srgbClr val="FF0000"/>
                </a:solidFill>
                <a:latin typeface="Calibri"/>
                <a:ea typeface="Calibri"/>
                <a:cs typeface="Calibri"/>
                <a:sym typeface="Calibri"/>
              </a:rPr>
              <a:t>Scheduling Criteria</a:t>
            </a:r>
            <a:endParaRPr sz="9600" b="1">
              <a:solidFill>
                <a:srgbClr val="FF0000"/>
              </a:solidFill>
              <a:latin typeface="Calibri"/>
              <a:ea typeface="Calibri"/>
              <a:cs typeface="Calibri"/>
              <a:sym typeface="Calibri"/>
            </a:endParaRPr>
          </a:p>
          <a:p>
            <a:pPr marL="0" lvl="0" indent="0" algn="just" rtl="0">
              <a:lnSpc>
                <a:spcPct val="170000"/>
              </a:lnSpc>
              <a:spcBef>
                <a:spcPts val="1800"/>
              </a:spcBef>
              <a:spcAft>
                <a:spcPts val="0"/>
              </a:spcAft>
              <a:buClr>
                <a:srgbClr val="000000"/>
              </a:buClr>
              <a:buSzPct val="100000"/>
              <a:buNone/>
            </a:pPr>
            <a:r>
              <a:rPr lang="en-US" sz="8000">
                <a:solidFill>
                  <a:srgbClr val="000000"/>
                </a:solidFill>
                <a:latin typeface="Calibri"/>
                <a:ea typeface="Calibri"/>
                <a:cs typeface="Calibri"/>
                <a:sym typeface="Calibri"/>
              </a:rPr>
              <a:t>Different CPU-scheduling algorithms have different properties, and the choice of a particular algorithm may favor one class of processes over another. In choosing which algorithm to use in a particular situation, we must consider the properties of the various algorithms.</a:t>
            </a:r>
            <a:endParaRPr/>
          </a:p>
          <a:p>
            <a:pPr marL="0" lvl="0" indent="0" algn="just" rtl="0">
              <a:lnSpc>
                <a:spcPct val="170000"/>
              </a:lnSpc>
              <a:spcBef>
                <a:spcPts val="1085"/>
              </a:spcBef>
              <a:spcAft>
                <a:spcPts val="0"/>
              </a:spcAft>
              <a:buClr>
                <a:srgbClr val="000000"/>
              </a:buClr>
              <a:buSzPct val="100000"/>
              <a:buNone/>
            </a:pPr>
            <a:r>
              <a:rPr lang="en-US" sz="8000">
                <a:solidFill>
                  <a:srgbClr val="000000"/>
                </a:solidFill>
                <a:latin typeface="Calibri"/>
                <a:ea typeface="Calibri"/>
                <a:cs typeface="Calibri"/>
                <a:sym typeface="Calibri"/>
              </a:rPr>
              <a:t> The criteria include the following: </a:t>
            </a:r>
            <a:endParaRPr sz="8000">
              <a:latin typeface="Calibri"/>
              <a:ea typeface="Calibri"/>
              <a:cs typeface="Calibri"/>
              <a:sym typeface="Calibri"/>
            </a:endParaRPr>
          </a:p>
          <a:p>
            <a:pPr marL="0" lvl="0" indent="0" algn="just" rtl="0">
              <a:lnSpc>
                <a:spcPct val="170000"/>
              </a:lnSpc>
              <a:spcBef>
                <a:spcPts val="1085"/>
              </a:spcBef>
              <a:spcAft>
                <a:spcPts val="0"/>
              </a:spcAft>
              <a:buClr>
                <a:srgbClr val="000000"/>
              </a:buClr>
              <a:buSzPct val="60000"/>
              <a:buNone/>
            </a:pPr>
            <a:r>
              <a:rPr lang="en-US" sz="8000" b="1" u="none" strike="noStrike">
                <a:solidFill>
                  <a:srgbClr val="000000"/>
                </a:solidFill>
                <a:latin typeface="Calibri"/>
                <a:ea typeface="Calibri"/>
                <a:cs typeface="Calibri"/>
                <a:sym typeface="Calibri"/>
              </a:rPr>
              <a:t>CPU utilization: </a:t>
            </a:r>
            <a:r>
              <a:rPr lang="en-US" sz="8000" u="none" strike="noStrike">
                <a:solidFill>
                  <a:srgbClr val="000000"/>
                </a:solidFill>
                <a:latin typeface="Calibri"/>
                <a:ea typeface="Calibri"/>
                <a:cs typeface="Calibri"/>
                <a:sym typeface="Calibri"/>
              </a:rPr>
              <a:t>We want to keep the CPU as busy as possible. Conceptually, CPU utilization can range from 0 to 100 percent. In a real system, it should range from 40 percent(for a lightly loaded system)  to 90 percent( for a heavily used system).</a:t>
            </a:r>
            <a:r>
              <a:rPr lang="en-US" sz="8000" b="1" u="none" strike="noStrike">
                <a:solidFill>
                  <a:srgbClr val="000000"/>
                </a:solidFill>
                <a:latin typeface="Calibri"/>
                <a:ea typeface="Calibri"/>
                <a:cs typeface="Calibri"/>
                <a:sym typeface="Calibri"/>
              </a:rPr>
              <a:t> </a:t>
            </a:r>
            <a:endParaRPr sz="8000" u="none" strike="noStrike">
              <a:latin typeface="Calibri"/>
              <a:ea typeface="Calibri"/>
              <a:cs typeface="Calibri"/>
              <a:sym typeface="Calibri"/>
            </a:endParaRPr>
          </a:p>
          <a:p>
            <a:pPr marL="0" lvl="0" indent="0" algn="just" rtl="0">
              <a:lnSpc>
                <a:spcPct val="170000"/>
              </a:lnSpc>
              <a:spcBef>
                <a:spcPts val="1015"/>
              </a:spcBef>
              <a:spcAft>
                <a:spcPts val="0"/>
              </a:spcAft>
              <a:buClr>
                <a:srgbClr val="000000"/>
              </a:buClr>
              <a:buSzPct val="100000"/>
              <a:buNone/>
            </a:pPr>
            <a:r>
              <a:rPr lang="en-US" sz="8000" b="1">
                <a:solidFill>
                  <a:srgbClr val="000000"/>
                </a:solidFill>
                <a:latin typeface="Calibri"/>
                <a:ea typeface="Calibri"/>
                <a:cs typeface="Calibri"/>
                <a:sym typeface="Calibri"/>
              </a:rPr>
              <a:t> </a:t>
            </a:r>
            <a:r>
              <a:rPr lang="en-US" sz="8000" b="1" u="none" strike="noStrike">
                <a:solidFill>
                  <a:srgbClr val="000000"/>
                </a:solidFill>
                <a:latin typeface="Calibri"/>
                <a:ea typeface="Calibri"/>
                <a:cs typeface="Calibri"/>
                <a:sym typeface="Calibri"/>
              </a:rPr>
              <a:t>Throughput: </a:t>
            </a:r>
            <a:r>
              <a:rPr lang="en-US" sz="8000" u="none" strike="noStrike">
                <a:solidFill>
                  <a:srgbClr val="000000"/>
                </a:solidFill>
                <a:latin typeface="Calibri"/>
                <a:ea typeface="Calibri"/>
                <a:cs typeface="Calibri"/>
                <a:sym typeface="Calibri"/>
              </a:rPr>
              <a:t>If the </a:t>
            </a:r>
            <a:r>
              <a:rPr lang="en-US" sz="8000">
                <a:solidFill>
                  <a:srgbClr val="000000"/>
                </a:solidFill>
                <a:latin typeface="Calibri"/>
                <a:ea typeface="Calibri"/>
                <a:cs typeface="Calibri"/>
                <a:sym typeface="Calibri"/>
              </a:rPr>
              <a:t>CPU is busy executing processes, then work is being done. One measure of work is the </a:t>
            </a:r>
            <a:r>
              <a:rPr lang="en-US" sz="8000" u="none" strike="noStrike">
                <a:solidFill>
                  <a:srgbClr val="000000"/>
                </a:solidFill>
                <a:latin typeface="Calibri"/>
                <a:ea typeface="Calibri"/>
                <a:cs typeface="Calibri"/>
                <a:sym typeface="Calibri"/>
              </a:rPr>
              <a:t>number of processes that are completed per time unit, called throughput</a:t>
            </a:r>
            <a:r>
              <a:rPr lang="en-US" sz="6200" u="none" strike="noStrike">
                <a:solidFill>
                  <a:srgbClr val="000000"/>
                </a:solidFill>
                <a:latin typeface="Calibri"/>
                <a:ea typeface="Calibri"/>
                <a:cs typeface="Calibri"/>
                <a:sym typeface="Calibri"/>
              </a:rPr>
              <a:t>. </a:t>
            </a:r>
            <a:endParaRPr sz="6200" u="none" strike="noStrike">
              <a:latin typeface="Calibri"/>
              <a:ea typeface="Calibri"/>
              <a:cs typeface="Calibri"/>
              <a:sym typeface="Calibri"/>
            </a:endParaRPr>
          </a:p>
          <a:p>
            <a:pPr marL="0" lvl="0" indent="0" algn="just" rtl="0">
              <a:lnSpc>
                <a:spcPct val="170000"/>
              </a:lnSpc>
              <a:spcBef>
                <a:spcPts val="1800"/>
              </a:spcBef>
              <a:spcAft>
                <a:spcPts val="0"/>
              </a:spcAft>
              <a:buClr>
                <a:srgbClr val="000000"/>
              </a:buClr>
              <a:buSzPct val="100000"/>
              <a:buNone/>
            </a:pPr>
            <a:r>
              <a:rPr lang="en-US" sz="6200" b="1">
                <a:solidFill>
                  <a:srgbClr val="000000"/>
                </a:solidFill>
                <a:latin typeface="Calibri"/>
                <a:ea typeface="Calibri"/>
                <a:cs typeface="Calibri"/>
                <a:sym typeface="Calibri"/>
              </a:rPr>
              <a:t> </a:t>
            </a:r>
            <a:endParaRPr sz="6200">
              <a:latin typeface="Calibri"/>
              <a:ea typeface="Calibri"/>
              <a:cs typeface="Calibri"/>
              <a:sym typeface="Calibri"/>
            </a:endParaRPr>
          </a:p>
          <a:p>
            <a:pPr marL="228600" lvl="0" indent="-184150" algn="l" rtl="0">
              <a:lnSpc>
                <a:spcPct val="90000"/>
              </a:lnSpc>
              <a:spcBef>
                <a:spcPts val="1800"/>
              </a:spcBef>
              <a:spcAft>
                <a:spcPts val="0"/>
              </a:spcAft>
              <a:buClr>
                <a:schemeClr val="dk1"/>
              </a:buClr>
              <a:buSzPct val="100000"/>
              <a:buNone/>
            </a:pPr>
            <a:endParaRPr/>
          </a:p>
        </p:txBody>
      </p:sp>
      <p:sp>
        <p:nvSpPr>
          <p:cNvPr id="172" name="Google Shape;172;p8"/>
          <p:cNvSpPr txBox="1"/>
          <p:nvPr/>
        </p:nvSpPr>
        <p:spPr>
          <a:xfrm>
            <a:off x="524064" y="390975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9"/>
          <p:cNvSpPr txBox="1">
            <a:spLocks noGrp="1"/>
          </p:cNvSpPr>
          <p:nvPr>
            <p:ph type="body" idx="1"/>
          </p:nvPr>
        </p:nvSpPr>
        <p:spPr>
          <a:xfrm>
            <a:off x="2555913" y="154236"/>
            <a:ext cx="9452473" cy="6599104"/>
          </a:xfrm>
          <a:prstGeom prst="rect">
            <a:avLst/>
          </a:prstGeom>
          <a:noFill/>
          <a:ln>
            <a:noFill/>
          </a:ln>
        </p:spPr>
        <p:txBody>
          <a:bodyPr spcFirstLastPara="1" wrap="square" lIns="91425" tIns="45700" rIns="91425" bIns="45700" anchor="t" anchorCtr="0">
            <a:normAutofit/>
          </a:bodyPr>
          <a:lstStyle/>
          <a:p>
            <a:pPr marL="0" lvl="0" indent="0" algn="just" rtl="0">
              <a:lnSpc>
                <a:spcPct val="160000"/>
              </a:lnSpc>
              <a:spcBef>
                <a:spcPts val="0"/>
              </a:spcBef>
              <a:spcAft>
                <a:spcPts val="0"/>
              </a:spcAft>
              <a:buClr>
                <a:srgbClr val="000000"/>
              </a:buClr>
              <a:buSzPts val="1200"/>
              <a:buNone/>
            </a:pPr>
            <a:r>
              <a:rPr lang="en-US" sz="2400" b="1" u="none" strike="noStrike">
                <a:solidFill>
                  <a:srgbClr val="000000"/>
                </a:solidFill>
                <a:latin typeface="Calibri"/>
                <a:ea typeface="Calibri"/>
                <a:cs typeface="Calibri"/>
                <a:sym typeface="Calibri"/>
              </a:rPr>
              <a:t>Turnaround Time (TAT): </a:t>
            </a:r>
            <a:r>
              <a:rPr lang="en-US" sz="2400" u="none" strike="noStrike">
                <a:solidFill>
                  <a:srgbClr val="000000"/>
                </a:solidFill>
                <a:latin typeface="Calibri"/>
                <a:ea typeface="Calibri"/>
                <a:cs typeface="Calibri"/>
                <a:sym typeface="Calibri"/>
              </a:rPr>
              <a:t>Form the point of view of a particular process, the important criteria is how long it takes to execute that process. The interval from the time of submission of a process to the time of completion is the turnaround time</a:t>
            </a:r>
            <a:r>
              <a:rPr lang="en-US" sz="2400" i="1" u="none" strike="noStrike">
                <a:solidFill>
                  <a:srgbClr val="000000"/>
                </a:solidFill>
                <a:latin typeface="Calibri"/>
                <a:ea typeface="Calibri"/>
                <a:cs typeface="Calibri"/>
                <a:sym typeface="Calibri"/>
              </a:rPr>
              <a:t>.</a:t>
            </a:r>
            <a:r>
              <a:rPr lang="en-US" sz="2400" u="none" strike="noStrike">
                <a:solidFill>
                  <a:srgbClr val="000000"/>
                </a:solidFill>
                <a:latin typeface="Calibri"/>
                <a:ea typeface="Calibri"/>
                <a:cs typeface="Calibri"/>
                <a:sym typeface="Calibri"/>
              </a:rPr>
              <a:t> Turnaround time is the sum of the periods spent waiting to get into memory, waiting in the ready queue, executing on the CPU, and doing I/O. </a:t>
            </a:r>
            <a:endParaRPr sz="2400" u="none" strike="noStrike">
              <a:latin typeface="Calibri"/>
              <a:ea typeface="Calibri"/>
              <a:cs typeface="Calibri"/>
              <a:sym typeface="Calibri"/>
            </a:endParaRPr>
          </a:p>
          <a:p>
            <a:pPr marL="0" lvl="0" indent="0" algn="just" rtl="0">
              <a:lnSpc>
                <a:spcPct val="160000"/>
              </a:lnSpc>
              <a:spcBef>
                <a:spcPts val="1015"/>
              </a:spcBef>
              <a:spcAft>
                <a:spcPts val="0"/>
              </a:spcAft>
              <a:buClr>
                <a:srgbClr val="000000"/>
              </a:buClr>
              <a:buSzPts val="1200"/>
              <a:buNone/>
            </a:pPr>
            <a:r>
              <a:rPr lang="en-US" sz="2400" b="1" u="none" strike="noStrike">
                <a:solidFill>
                  <a:srgbClr val="000000"/>
                </a:solidFill>
                <a:latin typeface="Calibri"/>
                <a:ea typeface="Calibri"/>
                <a:cs typeface="Calibri"/>
                <a:sym typeface="Calibri"/>
              </a:rPr>
              <a:t>Waiting time: </a:t>
            </a:r>
            <a:r>
              <a:rPr lang="en-US" sz="2400" u="none" strike="noStrike">
                <a:solidFill>
                  <a:srgbClr val="000000"/>
                </a:solidFill>
                <a:latin typeface="Calibri"/>
                <a:ea typeface="Calibri"/>
                <a:cs typeface="Calibri"/>
                <a:sym typeface="Calibri"/>
              </a:rPr>
              <a:t>The CPU scheduling algorithm does not affect the amount of time during which a process executes  or does I/O;it affects only the amount of time that a process spends waiting in the ready queue. Waiting time is the sum of the periods spent waiting in the ready queue. </a:t>
            </a:r>
            <a:endParaRPr sz="2400">
              <a:latin typeface="Calibri"/>
              <a:ea typeface="Calibri"/>
              <a:cs typeface="Calibri"/>
              <a:sym typeface="Calibri"/>
            </a:endParaRPr>
          </a:p>
          <a:p>
            <a:pPr marL="0" lvl="0" indent="0" algn="l" rtl="0">
              <a:lnSpc>
                <a:spcPct val="90000"/>
              </a:lnSpc>
              <a:spcBef>
                <a:spcPts val="1015"/>
              </a:spcBef>
              <a:spcAft>
                <a:spcPts val="0"/>
              </a:spcAft>
              <a:buClr>
                <a:schemeClr val="dk1"/>
              </a:buClr>
              <a:buSzPts val="2800"/>
              <a:buNone/>
            </a:pPr>
            <a:endParaRPr/>
          </a:p>
        </p:txBody>
      </p:sp>
      <p:sp>
        <p:nvSpPr>
          <p:cNvPr id="178" name="Google Shape;178;p9"/>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body" idx="1"/>
          </p:nvPr>
        </p:nvSpPr>
        <p:spPr>
          <a:xfrm>
            <a:off x="2555913" y="154236"/>
            <a:ext cx="9452473" cy="659910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400"/>
              <a:buNone/>
            </a:pPr>
            <a:r>
              <a:rPr lang="en-US" sz="2400" b="1">
                <a:latin typeface="Calibri"/>
                <a:ea typeface="Calibri"/>
                <a:cs typeface="Calibri"/>
                <a:sym typeface="Calibri"/>
              </a:rPr>
              <a:t>Response time:</a:t>
            </a:r>
            <a:r>
              <a:rPr lang="en-US" sz="2400">
                <a:latin typeface="Calibri"/>
                <a:ea typeface="Calibri"/>
                <a:cs typeface="Calibri"/>
                <a:sym typeface="Calibri"/>
              </a:rPr>
              <a:t> In an interactive system, turnaround time may not be the best criteria. Often, a process can produce some output fairly early and can continue computing new results while previous results are being output to the user. Thus, another measure is the time from the submission of a request until the first response is produced. This measure, called response time, is the time it takes to start responding, not the time it takes to output the response. The turnaround time is limited by the speed of the output device.</a:t>
            </a:r>
            <a:endParaRPr/>
          </a:p>
          <a:p>
            <a:pPr marL="0" lvl="0" indent="0" algn="just" rtl="0">
              <a:lnSpc>
                <a:spcPct val="150000"/>
              </a:lnSpc>
              <a:spcBef>
                <a:spcPts val="1000"/>
              </a:spcBef>
              <a:spcAft>
                <a:spcPts val="0"/>
              </a:spcAft>
              <a:buClr>
                <a:srgbClr val="000000"/>
              </a:buClr>
              <a:buSzPts val="2400"/>
              <a:buNone/>
            </a:pPr>
            <a:r>
              <a:rPr lang="en-US" sz="2400">
                <a:solidFill>
                  <a:srgbClr val="000000"/>
                </a:solidFill>
                <a:highlight>
                  <a:srgbClr val="FFFF00"/>
                </a:highlight>
                <a:latin typeface="Calibri"/>
                <a:ea typeface="Calibri"/>
                <a:cs typeface="Calibri"/>
                <a:sym typeface="Calibri"/>
              </a:rPr>
              <a:t>It is desirable to maximize CPU utilization and throughput and to minimize turnaround time, waiting time, and response time. </a:t>
            </a:r>
            <a:endParaRPr sz="2400">
              <a:highlight>
                <a:srgbClr val="FFFF00"/>
              </a:highlight>
              <a:latin typeface="Calibri"/>
              <a:ea typeface="Calibri"/>
              <a:cs typeface="Calibri"/>
              <a:sym typeface="Calibri"/>
            </a:endParaRPr>
          </a:p>
          <a:p>
            <a:pPr marL="0" lvl="0" indent="0" algn="l" rtl="0">
              <a:lnSpc>
                <a:spcPct val="150000"/>
              </a:lnSpc>
              <a:spcBef>
                <a:spcPts val="1015"/>
              </a:spcBef>
              <a:spcAft>
                <a:spcPts val="0"/>
              </a:spcAft>
              <a:buClr>
                <a:srgbClr val="000000"/>
              </a:buClr>
              <a:buSzPts val="2400"/>
              <a:buNone/>
            </a:pPr>
            <a:r>
              <a:rPr lang="en-US" sz="2400">
                <a:solidFill>
                  <a:srgbClr val="000000"/>
                </a:solidFill>
                <a:highlight>
                  <a:srgbClr val="FFFF00"/>
                </a:highlight>
                <a:latin typeface="Calibri"/>
                <a:ea typeface="Calibri"/>
                <a:cs typeface="Calibri"/>
                <a:sym typeface="Calibri"/>
              </a:rPr>
              <a:t> </a:t>
            </a:r>
            <a:endParaRPr sz="2400">
              <a:highlight>
                <a:srgbClr val="FFFF00"/>
              </a:highlight>
              <a:latin typeface="Calibri"/>
              <a:ea typeface="Calibri"/>
              <a:cs typeface="Calibri"/>
              <a:sym typeface="Calibri"/>
            </a:endParaRPr>
          </a:p>
          <a:p>
            <a:pPr marL="0" lvl="0" indent="0" algn="just" rtl="0">
              <a:lnSpc>
                <a:spcPct val="150000"/>
              </a:lnSpc>
              <a:spcBef>
                <a:spcPts val="1800"/>
              </a:spcBef>
              <a:spcAft>
                <a:spcPts val="0"/>
              </a:spcAft>
              <a:buClr>
                <a:schemeClr val="dk1"/>
              </a:buClr>
              <a:buSzPts val="2400"/>
              <a:buNone/>
            </a:pPr>
            <a:endParaRPr sz="2400">
              <a:latin typeface="Calibri"/>
              <a:ea typeface="Calibri"/>
              <a:cs typeface="Calibri"/>
              <a:sym typeface="Calibri"/>
            </a:endParaRPr>
          </a:p>
        </p:txBody>
      </p:sp>
      <p:sp>
        <p:nvSpPr>
          <p:cNvPr id="184" name="Google Shape;184;p10"/>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1"/>
          <p:cNvSpPr txBox="1">
            <a:spLocks noGrp="1"/>
          </p:cNvSpPr>
          <p:nvPr>
            <p:ph type="body" idx="1"/>
          </p:nvPr>
        </p:nvSpPr>
        <p:spPr>
          <a:xfrm>
            <a:off x="2555913" y="154236"/>
            <a:ext cx="9452473" cy="6599104"/>
          </a:xfrm>
          <a:prstGeom prst="rect">
            <a:avLst/>
          </a:prstGeom>
          <a:noFill/>
          <a:ln>
            <a:noFill/>
          </a:ln>
        </p:spPr>
        <p:txBody>
          <a:bodyPr spcFirstLastPara="1" wrap="square" lIns="91425" tIns="45700" rIns="91425" bIns="45700" anchor="t" anchorCtr="0">
            <a:normAutofit fontScale="92500"/>
          </a:bodyPr>
          <a:lstStyle/>
          <a:p>
            <a:pPr marL="0" lvl="0" indent="0" algn="ctr" rtl="0">
              <a:lnSpc>
                <a:spcPct val="107000"/>
              </a:lnSpc>
              <a:spcBef>
                <a:spcPts val="0"/>
              </a:spcBef>
              <a:spcAft>
                <a:spcPts val="0"/>
              </a:spcAft>
              <a:buClr>
                <a:srgbClr val="FF0000"/>
              </a:buClr>
              <a:buSzPct val="100000"/>
              <a:buNone/>
            </a:pPr>
            <a:r>
              <a:rPr lang="en-US" sz="2400" b="1">
                <a:solidFill>
                  <a:srgbClr val="FF0000"/>
                </a:solidFill>
                <a:latin typeface="Calibri"/>
                <a:ea typeface="Calibri"/>
                <a:cs typeface="Calibri"/>
                <a:sym typeface="Calibri"/>
              </a:rPr>
              <a:t>Scheduling Algorithms</a:t>
            </a:r>
            <a:r>
              <a:rPr lang="en-US" sz="2400">
                <a:solidFill>
                  <a:srgbClr val="FF0000"/>
                </a:solidFill>
                <a:latin typeface="Calibri"/>
                <a:ea typeface="Calibri"/>
                <a:cs typeface="Calibri"/>
                <a:sym typeface="Calibri"/>
              </a:rPr>
              <a:t> </a:t>
            </a:r>
            <a:endParaRPr sz="2400">
              <a:solidFill>
                <a:srgbClr val="FF0000"/>
              </a:solidFill>
              <a:latin typeface="Calibri"/>
              <a:ea typeface="Calibri"/>
              <a:cs typeface="Calibri"/>
              <a:sym typeface="Calibri"/>
            </a:endParaRPr>
          </a:p>
          <a:p>
            <a:pPr marL="0" lvl="0" indent="0" algn="l" rtl="0">
              <a:lnSpc>
                <a:spcPct val="107000"/>
              </a:lnSpc>
              <a:spcBef>
                <a:spcPts val="1800"/>
              </a:spcBef>
              <a:spcAft>
                <a:spcPts val="0"/>
              </a:spcAft>
              <a:buClr>
                <a:srgbClr val="000000"/>
              </a:buClr>
              <a:buSzPct val="100000"/>
              <a:buNone/>
            </a:pPr>
            <a:r>
              <a:rPr lang="en-US" sz="2400" b="1">
                <a:solidFill>
                  <a:srgbClr val="000000"/>
                </a:solidFill>
                <a:latin typeface="Calibri"/>
                <a:ea typeface="Calibri"/>
                <a:cs typeface="Calibri"/>
                <a:sym typeface="Calibri"/>
              </a:rPr>
              <a:t>First-Come, First-Served Scheduling (FCFS)</a:t>
            </a:r>
            <a:r>
              <a:rPr lang="en-US" sz="2400">
                <a:solidFill>
                  <a:srgbClr val="000000"/>
                </a:solidFill>
                <a:latin typeface="Calibri"/>
                <a:ea typeface="Calibri"/>
                <a:cs typeface="Calibri"/>
                <a:sym typeface="Calibri"/>
              </a:rPr>
              <a:t> </a:t>
            </a:r>
            <a:endParaRPr sz="2400">
              <a:latin typeface="Calibri"/>
              <a:ea typeface="Calibri"/>
              <a:cs typeface="Calibri"/>
              <a:sym typeface="Calibri"/>
            </a:endParaRPr>
          </a:p>
          <a:p>
            <a:pPr marL="228600" lvl="0" indent="-228600" algn="just" rtl="0">
              <a:lnSpc>
                <a:spcPct val="160000"/>
              </a:lnSpc>
              <a:spcBef>
                <a:spcPts val="1270"/>
              </a:spcBef>
              <a:spcAft>
                <a:spcPts val="0"/>
              </a:spcAft>
              <a:buClr>
                <a:srgbClr val="000000"/>
              </a:buClr>
              <a:buSzPct val="100000"/>
              <a:buChar char="•"/>
            </a:pPr>
            <a:r>
              <a:rPr lang="en-US" sz="2200">
                <a:solidFill>
                  <a:srgbClr val="000000"/>
                </a:solidFill>
                <a:latin typeface="Calibri"/>
                <a:ea typeface="Calibri"/>
                <a:cs typeface="Calibri"/>
                <a:sym typeface="Calibri"/>
              </a:rPr>
              <a:t>This is the simplest scheduling algorithm. </a:t>
            </a:r>
            <a:endParaRPr/>
          </a:p>
          <a:p>
            <a:pPr marL="228600" lvl="0" indent="-228600" algn="just" rtl="0">
              <a:lnSpc>
                <a:spcPct val="160000"/>
              </a:lnSpc>
              <a:spcBef>
                <a:spcPts val="1015"/>
              </a:spcBef>
              <a:spcAft>
                <a:spcPts val="0"/>
              </a:spcAft>
              <a:buClr>
                <a:srgbClr val="000000"/>
              </a:buClr>
              <a:buSzPct val="100000"/>
              <a:buChar char="•"/>
            </a:pPr>
            <a:r>
              <a:rPr lang="en-US" sz="2200">
                <a:solidFill>
                  <a:srgbClr val="000000"/>
                </a:solidFill>
                <a:latin typeface="Calibri"/>
                <a:ea typeface="Calibri"/>
                <a:cs typeface="Calibri"/>
                <a:sym typeface="Calibri"/>
              </a:rPr>
              <a:t>The process that requests the CPU first is allocated the CPU first. </a:t>
            </a:r>
            <a:endParaRPr/>
          </a:p>
          <a:p>
            <a:pPr marL="228600" lvl="0" indent="-228600" algn="just" rtl="0">
              <a:lnSpc>
                <a:spcPct val="160000"/>
              </a:lnSpc>
              <a:spcBef>
                <a:spcPts val="1015"/>
              </a:spcBef>
              <a:spcAft>
                <a:spcPts val="0"/>
              </a:spcAft>
              <a:buClr>
                <a:srgbClr val="000000"/>
              </a:buClr>
              <a:buSzPct val="100000"/>
              <a:buChar char="•"/>
            </a:pPr>
            <a:r>
              <a:rPr lang="en-US" sz="2200">
                <a:solidFill>
                  <a:srgbClr val="000000"/>
                </a:solidFill>
                <a:latin typeface="Calibri"/>
                <a:ea typeface="Calibri"/>
                <a:cs typeface="Calibri"/>
                <a:sym typeface="Calibri"/>
              </a:rPr>
              <a:t>The implementation of the FCFS scheduling is easily managed with a FIFO queue. </a:t>
            </a:r>
            <a:endParaRPr/>
          </a:p>
          <a:p>
            <a:pPr marL="228600" lvl="0" indent="-228600" algn="just" rtl="0">
              <a:lnSpc>
                <a:spcPct val="160000"/>
              </a:lnSpc>
              <a:spcBef>
                <a:spcPts val="1015"/>
              </a:spcBef>
              <a:spcAft>
                <a:spcPts val="0"/>
              </a:spcAft>
              <a:buClr>
                <a:srgbClr val="000000"/>
              </a:buClr>
              <a:buSzPct val="100000"/>
              <a:buChar char="•"/>
            </a:pPr>
            <a:r>
              <a:rPr lang="en-US" sz="2200">
                <a:solidFill>
                  <a:srgbClr val="000000"/>
                </a:solidFill>
                <a:latin typeface="Calibri"/>
                <a:ea typeface="Calibri"/>
                <a:cs typeface="Calibri"/>
                <a:sym typeface="Calibri"/>
              </a:rPr>
              <a:t>When a process enters the ready queue, its PCB is linked onto the tail of the queue. </a:t>
            </a:r>
            <a:endParaRPr/>
          </a:p>
          <a:p>
            <a:pPr marL="228600" lvl="0" indent="-228600" algn="just" rtl="0">
              <a:lnSpc>
                <a:spcPct val="160000"/>
              </a:lnSpc>
              <a:spcBef>
                <a:spcPts val="1015"/>
              </a:spcBef>
              <a:spcAft>
                <a:spcPts val="0"/>
              </a:spcAft>
              <a:buClr>
                <a:srgbClr val="000000"/>
              </a:buClr>
              <a:buSzPct val="100000"/>
              <a:buChar char="•"/>
            </a:pPr>
            <a:r>
              <a:rPr lang="en-US" sz="2200">
                <a:solidFill>
                  <a:srgbClr val="000000"/>
                </a:solidFill>
                <a:latin typeface="Calibri"/>
                <a:ea typeface="Calibri"/>
                <a:cs typeface="Calibri"/>
                <a:sym typeface="Calibri"/>
              </a:rPr>
              <a:t>When the CPU is free, it is allocated to the process at the head of the queue. </a:t>
            </a:r>
            <a:endParaRPr/>
          </a:p>
          <a:p>
            <a:pPr marL="228600" lvl="0" indent="-228600" algn="just" rtl="0">
              <a:lnSpc>
                <a:spcPct val="160000"/>
              </a:lnSpc>
              <a:spcBef>
                <a:spcPts val="1015"/>
              </a:spcBef>
              <a:spcAft>
                <a:spcPts val="0"/>
              </a:spcAft>
              <a:buClr>
                <a:srgbClr val="000000"/>
              </a:buClr>
              <a:buSzPct val="100000"/>
              <a:buChar char="•"/>
            </a:pPr>
            <a:r>
              <a:rPr lang="en-US" sz="2200">
                <a:solidFill>
                  <a:srgbClr val="000000"/>
                </a:solidFill>
                <a:latin typeface="Calibri"/>
                <a:ea typeface="Calibri"/>
                <a:cs typeface="Calibri"/>
                <a:sym typeface="Calibri"/>
              </a:rPr>
              <a:t>The running process is then removed from the queue. </a:t>
            </a:r>
            <a:endParaRPr sz="2200">
              <a:latin typeface="Calibri"/>
              <a:ea typeface="Calibri"/>
              <a:cs typeface="Calibri"/>
              <a:sym typeface="Calibri"/>
            </a:endParaRPr>
          </a:p>
          <a:p>
            <a:pPr marL="228600" lvl="0" indent="-228600" algn="l" rtl="0">
              <a:lnSpc>
                <a:spcPct val="160000"/>
              </a:lnSpc>
              <a:spcBef>
                <a:spcPts val="1015"/>
              </a:spcBef>
              <a:spcAft>
                <a:spcPts val="0"/>
              </a:spcAft>
              <a:buClr>
                <a:srgbClr val="000000"/>
              </a:buClr>
              <a:buSzPct val="100000"/>
              <a:buChar char="•"/>
            </a:pPr>
            <a:r>
              <a:rPr lang="en-US" sz="2200">
                <a:solidFill>
                  <a:srgbClr val="000000"/>
                </a:solidFill>
                <a:latin typeface="Calibri"/>
                <a:ea typeface="Calibri"/>
                <a:cs typeface="Calibri"/>
                <a:sym typeface="Calibri"/>
              </a:rPr>
              <a:t>The advantage of this algorithm is simple, it easy to write and understand the code. </a:t>
            </a:r>
            <a:endParaRPr sz="2200">
              <a:latin typeface="Calibri"/>
              <a:ea typeface="Calibri"/>
              <a:cs typeface="Calibri"/>
              <a:sym typeface="Calibri"/>
            </a:endParaRPr>
          </a:p>
          <a:p>
            <a:pPr marL="228600" lvl="0" indent="-228600" algn="just" rtl="0">
              <a:lnSpc>
                <a:spcPct val="160000"/>
              </a:lnSpc>
              <a:spcBef>
                <a:spcPts val="1800"/>
              </a:spcBef>
              <a:spcAft>
                <a:spcPts val="0"/>
              </a:spcAft>
              <a:buClr>
                <a:srgbClr val="000000"/>
              </a:buClr>
              <a:buSzPct val="100000"/>
              <a:buChar char="•"/>
            </a:pPr>
            <a:r>
              <a:rPr lang="en-US" sz="2200">
                <a:solidFill>
                  <a:srgbClr val="000000"/>
                </a:solidFill>
                <a:latin typeface="Calibri"/>
                <a:ea typeface="Calibri"/>
                <a:cs typeface="Calibri"/>
                <a:sym typeface="Calibri"/>
              </a:rPr>
              <a:t>The drawback is the average waiting time under the FCFS policy is quite long.</a:t>
            </a:r>
            <a:endParaRPr sz="2200">
              <a:latin typeface="Calibri"/>
              <a:ea typeface="Calibri"/>
              <a:cs typeface="Calibri"/>
              <a:sym typeface="Calibri"/>
            </a:endParaRPr>
          </a:p>
          <a:p>
            <a:pPr marL="0" lvl="0" indent="0" algn="just" rtl="0">
              <a:lnSpc>
                <a:spcPct val="150000"/>
              </a:lnSpc>
              <a:spcBef>
                <a:spcPts val="1015"/>
              </a:spcBef>
              <a:spcAft>
                <a:spcPts val="0"/>
              </a:spcAft>
              <a:buClr>
                <a:schemeClr val="dk1"/>
              </a:buClr>
              <a:buSzPct val="100000"/>
              <a:buNone/>
            </a:pPr>
            <a:endParaRPr sz="2400">
              <a:latin typeface="Calibri"/>
              <a:ea typeface="Calibri"/>
              <a:cs typeface="Calibri"/>
              <a:sym typeface="Calibri"/>
            </a:endParaRPr>
          </a:p>
        </p:txBody>
      </p:sp>
      <p:pic>
        <p:nvPicPr>
          <p:cNvPr id="190" name="Google Shape;190;p11" descr="FIFO (computing and electronics) - Wikipedia"/>
          <p:cNvPicPr preferRelativeResize="0"/>
          <p:nvPr/>
        </p:nvPicPr>
        <p:blipFill rotWithShape="1">
          <a:blip r:embed="rId3">
            <a:alphaModFix/>
          </a:blip>
          <a:srcRect/>
          <a:stretch/>
        </p:blipFill>
        <p:spPr>
          <a:xfrm>
            <a:off x="7899095" y="583894"/>
            <a:ext cx="4109292" cy="1531345"/>
          </a:xfrm>
          <a:prstGeom prst="rect">
            <a:avLst/>
          </a:prstGeom>
          <a:noFill/>
          <a:ln>
            <a:noFill/>
          </a:ln>
        </p:spPr>
      </p:pic>
      <p:sp>
        <p:nvSpPr>
          <p:cNvPr id="191" name="Google Shape;191;p11"/>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2"/>
          <p:cNvSpPr txBox="1">
            <a:spLocks noGrp="1"/>
          </p:cNvSpPr>
          <p:nvPr>
            <p:ph type="body" idx="1"/>
          </p:nvPr>
        </p:nvSpPr>
        <p:spPr>
          <a:xfrm>
            <a:off x="2577947" y="132202"/>
            <a:ext cx="9408405" cy="6510969"/>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Consider the following set of processes that arrive at time 0, with the length of the CPU burst given in millAI&amp;MLconds</a:t>
            </a:r>
            <a:endParaRPr sz="2000" b="1">
              <a:solidFill>
                <a:srgbClr val="000000"/>
              </a:solidFill>
              <a:latin typeface="Calibri"/>
              <a:ea typeface="Calibri"/>
              <a:cs typeface="Calibri"/>
              <a:sym typeface="Calibri"/>
            </a:endParaRPr>
          </a:p>
          <a:p>
            <a:pPr marL="0" lvl="0" indent="0" algn="ctr" rtl="0">
              <a:lnSpc>
                <a:spcPct val="150000"/>
              </a:lnSpc>
              <a:spcBef>
                <a:spcPts val="1000"/>
              </a:spcBef>
              <a:spcAft>
                <a:spcPts val="0"/>
              </a:spcAft>
              <a:buClr>
                <a:srgbClr val="000000"/>
              </a:buClr>
              <a:buSzPts val="2000"/>
              <a:buNone/>
            </a:pPr>
            <a:r>
              <a:rPr lang="en-US" sz="2000" b="1">
                <a:solidFill>
                  <a:srgbClr val="000000"/>
                </a:solidFill>
                <a:latin typeface="Calibri"/>
                <a:ea typeface="Calibri"/>
                <a:cs typeface="Calibri"/>
                <a:sym typeface="Calibri"/>
              </a:rPr>
              <a:t>CPU bursts in millAI&amp;MLconds</a:t>
            </a:r>
            <a:endParaRPr sz="2000">
              <a:latin typeface="Calibri"/>
              <a:ea typeface="Calibri"/>
              <a:cs typeface="Calibri"/>
              <a:sym typeface="Calibri"/>
            </a:endParaRPr>
          </a:p>
        </p:txBody>
      </p:sp>
      <p:graphicFrame>
        <p:nvGraphicFramePr>
          <p:cNvPr id="197" name="Google Shape;197;p12"/>
          <p:cNvGraphicFramePr/>
          <p:nvPr/>
        </p:nvGraphicFramePr>
        <p:xfrm>
          <a:off x="5221995" y="1602111"/>
          <a:ext cx="4087250" cy="2176675"/>
        </p:xfrm>
        <a:graphic>
          <a:graphicData uri="http://schemas.openxmlformats.org/drawingml/2006/table">
            <a:tbl>
              <a:tblPr firstRow="1" firstCol="1" bandRow="1">
                <a:noFill/>
                <a:tableStyleId>{3C02F722-2B6A-463A-8AD6-FEE97B21EBB0}</a:tableStyleId>
              </a:tblPr>
              <a:tblGrid>
                <a:gridCol w="1788950">
                  <a:extLst>
                    <a:ext uri="{9D8B030D-6E8A-4147-A177-3AD203B41FA5}">
                      <a16:colId xmlns:a16="http://schemas.microsoft.com/office/drawing/2014/main" val="20000"/>
                    </a:ext>
                  </a:extLst>
                </a:gridCol>
                <a:gridCol w="2298300">
                  <a:extLst>
                    <a:ext uri="{9D8B030D-6E8A-4147-A177-3AD203B41FA5}">
                      <a16:colId xmlns:a16="http://schemas.microsoft.com/office/drawing/2014/main" val="20001"/>
                    </a:ext>
                  </a:extLst>
                </a:gridCol>
              </a:tblGrid>
              <a:tr h="615550">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Process </a:t>
                      </a:r>
                      <a:endParaRPr sz="1400" u="none" strike="noStrike" cap="none">
                        <a:latin typeface="Calibri"/>
                        <a:ea typeface="Calibri"/>
                        <a:cs typeface="Calibri"/>
                        <a:sym typeface="Calibri"/>
                      </a:endParaRPr>
                    </a:p>
                  </a:txBody>
                  <a:tcPr marL="3800" marR="36825" marT="27300" marB="0"/>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Burst time </a:t>
                      </a:r>
                      <a:endParaRPr sz="14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400" u="none" strike="noStrike" cap="none">
                          <a:latin typeface="Calibri"/>
                          <a:ea typeface="Calibri"/>
                          <a:cs typeface="Calibri"/>
                          <a:sym typeface="Calibri"/>
                        </a:rPr>
                        <a:t> </a:t>
                      </a:r>
                      <a:endParaRPr sz="1400" u="none" strike="noStrike" cap="none">
                        <a:latin typeface="Calibri"/>
                        <a:ea typeface="Calibri"/>
                        <a:cs typeface="Calibri"/>
                        <a:sym typeface="Calibri"/>
                      </a:endParaRPr>
                    </a:p>
                  </a:txBody>
                  <a:tcPr marL="3800" marR="36825" marT="27300" marB="0"/>
                </a:tc>
                <a:extLst>
                  <a:ext uri="{0D108BD9-81ED-4DB2-BD59-A6C34878D82A}">
                    <a16:rowId xmlns:a16="http://schemas.microsoft.com/office/drawing/2014/main" val="10000"/>
                  </a:ext>
                </a:extLst>
              </a:tr>
              <a:tr h="615550">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P1 </a:t>
                      </a:r>
                      <a:endParaRPr sz="1400" u="none" strike="noStrike" cap="none">
                        <a:latin typeface="Calibri"/>
                        <a:ea typeface="Calibri"/>
                        <a:cs typeface="Calibri"/>
                        <a:sym typeface="Calibri"/>
                      </a:endParaRPr>
                    </a:p>
                  </a:txBody>
                  <a:tcPr marL="3800" marR="36825" marT="27300" marB="0"/>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24 </a:t>
                      </a:r>
                      <a:endParaRPr sz="14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400" u="none" strike="noStrike" cap="none">
                          <a:latin typeface="Calibri"/>
                          <a:ea typeface="Calibri"/>
                          <a:cs typeface="Calibri"/>
                          <a:sym typeface="Calibri"/>
                        </a:rPr>
                        <a:t> </a:t>
                      </a:r>
                      <a:endParaRPr sz="1400" u="none" strike="noStrike" cap="none">
                        <a:latin typeface="Calibri"/>
                        <a:ea typeface="Calibri"/>
                        <a:cs typeface="Calibri"/>
                        <a:sym typeface="Calibri"/>
                      </a:endParaRPr>
                    </a:p>
                  </a:txBody>
                  <a:tcPr marL="3800" marR="36825" marT="27300" marB="0"/>
                </a:tc>
                <a:extLst>
                  <a:ext uri="{0D108BD9-81ED-4DB2-BD59-A6C34878D82A}">
                    <a16:rowId xmlns:a16="http://schemas.microsoft.com/office/drawing/2014/main" val="10001"/>
                  </a:ext>
                </a:extLst>
              </a:tr>
              <a:tr h="615550">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P2 </a:t>
                      </a:r>
                      <a:endParaRPr sz="1400" u="none" strike="noStrike" cap="none">
                        <a:latin typeface="Calibri"/>
                        <a:ea typeface="Calibri"/>
                        <a:cs typeface="Calibri"/>
                        <a:sym typeface="Calibri"/>
                      </a:endParaRPr>
                    </a:p>
                  </a:txBody>
                  <a:tcPr marL="3800" marR="36825" marT="27300" marB="0"/>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3 </a:t>
                      </a:r>
                      <a:endParaRPr sz="14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400" u="none" strike="noStrike" cap="none">
                          <a:latin typeface="Calibri"/>
                          <a:ea typeface="Calibri"/>
                          <a:cs typeface="Calibri"/>
                          <a:sym typeface="Calibri"/>
                        </a:rPr>
                        <a:t> </a:t>
                      </a:r>
                      <a:endParaRPr sz="1400" u="none" strike="noStrike" cap="none">
                        <a:latin typeface="Calibri"/>
                        <a:ea typeface="Calibri"/>
                        <a:cs typeface="Calibri"/>
                        <a:sym typeface="Calibri"/>
                      </a:endParaRPr>
                    </a:p>
                  </a:txBody>
                  <a:tcPr marL="3800" marR="36825" marT="27300" marB="0"/>
                </a:tc>
                <a:extLst>
                  <a:ext uri="{0D108BD9-81ED-4DB2-BD59-A6C34878D82A}">
                    <a16:rowId xmlns:a16="http://schemas.microsoft.com/office/drawing/2014/main" val="10002"/>
                  </a:ext>
                </a:extLst>
              </a:tr>
              <a:tr h="330025">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P3 </a:t>
                      </a:r>
                      <a:endParaRPr sz="1400" u="none" strike="noStrike" cap="none">
                        <a:latin typeface="Calibri"/>
                        <a:ea typeface="Calibri"/>
                        <a:cs typeface="Calibri"/>
                        <a:sym typeface="Calibri"/>
                      </a:endParaRPr>
                    </a:p>
                  </a:txBody>
                  <a:tcPr marL="3800" marR="36825" marT="27300" marB="0"/>
                </a:tc>
                <a:tc>
                  <a:txBody>
                    <a:bodyPr/>
                    <a:lstStyle/>
                    <a:p>
                      <a:pPr marL="0" marR="0" lvl="0" indent="0" algn="ctr" rtl="0">
                        <a:lnSpc>
                          <a:spcPct val="107000"/>
                        </a:lnSpc>
                        <a:spcBef>
                          <a:spcPts val="0"/>
                        </a:spcBef>
                        <a:spcAft>
                          <a:spcPts val="0"/>
                        </a:spcAft>
                        <a:buNone/>
                      </a:pPr>
                      <a:r>
                        <a:rPr lang="en-US" sz="1400" u="none" strike="noStrike" cap="none">
                          <a:latin typeface="Calibri"/>
                          <a:ea typeface="Calibri"/>
                          <a:cs typeface="Calibri"/>
                          <a:sym typeface="Calibri"/>
                        </a:rPr>
                        <a:t>3 </a:t>
                      </a:r>
                      <a:endParaRPr sz="1400" u="none" strike="noStrike" cap="none">
                        <a:latin typeface="Calibri"/>
                        <a:ea typeface="Calibri"/>
                        <a:cs typeface="Calibri"/>
                        <a:sym typeface="Calibri"/>
                      </a:endParaRPr>
                    </a:p>
                  </a:txBody>
                  <a:tcPr marL="3800" marR="36825" marT="27300" marB="0"/>
                </a:tc>
                <a:extLst>
                  <a:ext uri="{0D108BD9-81ED-4DB2-BD59-A6C34878D82A}">
                    <a16:rowId xmlns:a16="http://schemas.microsoft.com/office/drawing/2014/main" val="10003"/>
                  </a:ext>
                </a:extLst>
              </a:tr>
            </a:tbl>
          </a:graphicData>
        </a:graphic>
      </p:graphicFrame>
      <p:sp>
        <p:nvSpPr>
          <p:cNvPr id="198" name="Google Shape;198;p12"/>
          <p:cNvSpPr txBox="1"/>
          <p:nvPr/>
        </p:nvSpPr>
        <p:spPr>
          <a:xfrm>
            <a:off x="2581619" y="3636706"/>
            <a:ext cx="9614054" cy="1868204"/>
          </a:xfrm>
          <a:prstGeom prst="rect">
            <a:avLst/>
          </a:prstGeom>
          <a:noFill/>
          <a:ln>
            <a:noFill/>
          </a:ln>
        </p:spPr>
        <p:txBody>
          <a:bodyPr spcFirstLastPara="1" wrap="square" lIns="91425" tIns="45700" rIns="91425" bIns="45700" anchor="t" anchorCtr="0">
            <a:spAutoFit/>
          </a:bodyPr>
          <a:lstStyle/>
          <a:p>
            <a:pPr marL="0" marR="0" lvl="0" indent="0" algn="just" rtl="0">
              <a:lnSpc>
                <a:spcPct val="148000"/>
              </a:lnSpc>
              <a:spcBef>
                <a:spcPts val="0"/>
              </a:spcBef>
              <a:spcAft>
                <a:spcPts val="0"/>
              </a:spcAft>
              <a:buNone/>
            </a:pPr>
            <a:r>
              <a:rPr lang="en-US" sz="2000">
                <a:solidFill>
                  <a:srgbClr val="000000"/>
                </a:solidFill>
                <a:latin typeface="Calibri"/>
                <a:ea typeface="Calibri"/>
                <a:cs typeface="Calibri"/>
                <a:sym typeface="Calibri"/>
              </a:rPr>
              <a:t>If the processes arrive in the order P</a:t>
            </a:r>
            <a:r>
              <a:rPr lang="en-US" sz="2000" baseline="-25000">
                <a:solidFill>
                  <a:srgbClr val="000000"/>
                </a:solidFill>
                <a:latin typeface="Calibri"/>
                <a:ea typeface="Calibri"/>
                <a:cs typeface="Calibri"/>
                <a:sym typeface="Calibri"/>
              </a:rPr>
              <a:t>1</a:t>
            </a:r>
            <a:r>
              <a:rPr lang="en-US" sz="2000">
                <a:solidFill>
                  <a:srgbClr val="000000"/>
                </a:solidFill>
                <a:latin typeface="Calibri"/>
                <a:ea typeface="Calibri"/>
                <a:cs typeface="Calibri"/>
                <a:sym typeface="Calibri"/>
              </a:rPr>
              <a:t>, P</a:t>
            </a:r>
            <a:r>
              <a:rPr lang="en-US" sz="2000" baseline="-25000">
                <a:solidFill>
                  <a:srgbClr val="000000"/>
                </a:solidFill>
                <a:latin typeface="Calibri"/>
                <a:ea typeface="Calibri"/>
                <a:cs typeface="Calibri"/>
                <a:sym typeface="Calibri"/>
              </a:rPr>
              <a:t>2</a:t>
            </a:r>
            <a:r>
              <a:rPr lang="en-US" sz="2000">
                <a:solidFill>
                  <a:srgbClr val="000000"/>
                </a:solidFill>
                <a:latin typeface="Calibri"/>
                <a:ea typeface="Calibri"/>
                <a:cs typeface="Calibri"/>
                <a:sym typeface="Calibri"/>
              </a:rPr>
              <a:t>, P</a:t>
            </a:r>
            <a:r>
              <a:rPr lang="en-US" sz="2000" baseline="-25000">
                <a:solidFill>
                  <a:srgbClr val="000000"/>
                </a:solidFill>
                <a:latin typeface="Calibri"/>
                <a:ea typeface="Calibri"/>
                <a:cs typeface="Calibri"/>
                <a:sym typeface="Calibri"/>
              </a:rPr>
              <a:t>3</a:t>
            </a:r>
            <a:r>
              <a:rPr lang="en-US" sz="2000" i="1">
                <a:solidFill>
                  <a:srgbClr val="000000"/>
                </a:solidFill>
                <a:latin typeface="Calibri"/>
                <a:ea typeface="Calibri"/>
                <a:cs typeface="Calibri"/>
                <a:sym typeface="Calibri"/>
              </a:rPr>
              <a:t>,</a:t>
            </a:r>
            <a:r>
              <a:rPr lang="en-US" sz="2000">
                <a:solidFill>
                  <a:srgbClr val="000000"/>
                </a:solidFill>
                <a:latin typeface="Calibri"/>
                <a:ea typeface="Calibri"/>
                <a:cs typeface="Calibri"/>
                <a:sym typeface="Calibri"/>
              </a:rPr>
              <a:t> and are served in FCFS order. Then the scheduling is as follows. The process scheduling can be illustrated with a bar chart called </a:t>
            </a:r>
            <a:r>
              <a:rPr lang="en-US" sz="2000" b="1">
                <a:solidFill>
                  <a:srgbClr val="000000"/>
                </a:solidFill>
                <a:latin typeface="Calibri"/>
                <a:ea typeface="Calibri"/>
                <a:cs typeface="Calibri"/>
                <a:sym typeface="Calibri"/>
              </a:rPr>
              <a:t>Gantt chart </a:t>
            </a:r>
            <a:r>
              <a:rPr lang="en-US" sz="2000">
                <a:solidFill>
                  <a:srgbClr val="000000"/>
                </a:solidFill>
                <a:latin typeface="Calibri"/>
                <a:ea typeface="Calibri"/>
                <a:cs typeface="Calibri"/>
                <a:sym typeface="Calibri"/>
              </a:rPr>
              <a:t>which illustrates a particular scheduling algorithm, with the start and finish times of each of the participating processes: the Gantt chart is shown below: </a:t>
            </a:r>
            <a:endParaRPr sz="2000">
              <a:solidFill>
                <a:schemeClr val="dk1"/>
              </a:solidFill>
              <a:latin typeface="Calibri"/>
              <a:ea typeface="Calibri"/>
              <a:cs typeface="Calibri"/>
              <a:sym typeface="Calibri"/>
            </a:endParaRPr>
          </a:p>
        </p:txBody>
      </p:sp>
      <p:pic>
        <p:nvPicPr>
          <p:cNvPr id="199" name="Google Shape;199;p12"/>
          <p:cNvPicPr preferRelativeResize="0"/>
          <p:nvPr/>
        </p:nvPicPr>
        <p:blipFill rotWithShape="1">
          <a:blip r:embed="rId3">
            <a:alphaModFix/>
          </a:blip>
          <a:srcRect/>
          <a:stretch/>
        </p:blipFill>
        <p:spPr>
          <a:xfrm>
            <a:off x="3628221" y="5737688"/>
            <a:ext cx="6108852" cy="988109"/>
          </a:xfrm>
          <a:prstGeom prst="rect">
            <a:avLst/>
          </a:prstGeom>
          <a:noFill/>
          <a:ln>
            <a:noFill/>
          </a:ln>
        </p:spPr>
      </p:pic>
      <p:sp>
        <p:nvSpPr>
          <p:cNvPr id="200" name="Google Shape;200;p12"/>
          <p:cNvSpPr txBox="1"/>
          <p:nvPr/>
        </p:nvSpPr>
        <p:spPr>
          <a:xfrm>
            <a:off x="4817126" y="6422213"/>
            <a:ext cx="61088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Times New Roman"/>
                <a:ea typeface="Times New Roman"/>
                <a:cs typeface="Times New Roman"/>
                <a:sym typeface="Times New Roman"/>
              </a:rPr>
              <a:t>Gantt chart</a:t>
            </a:r>
            <a:r>
              <a:rPr lang="en-US" sz="1200">
                <a:solidFill>
                  <a:srgbClr val="000000"/>
                </a:solidFill>
                <a:latin typeface="Times New Roman"/>
                <a:ea typeface="Times New Roman"/>
                <a:cs typeface="Times New Roman"/>
                <a:sym typeface="Times New Roman"/>
              </a:rPr>
              <a:t> </a:t>
            </a:r>
            <a:endParaRPr sz="1800">
              <a:solidFill>
                <a:schemeClr val="dk1"/>
              </a:solidFill>
              <a:latin typeface="Calibri"/>
              <a:ea typeface="Calibri"/>
              <a:cs typeface="Calibri"/>
              <a:sym typeface="Calibri"/>
            </a:endParaRPr>
          </a:p>
        </p:txBody>
      </p:sp>
      <p:sp>
        <p:nvSpPr>
          <p:cNvPr id="201" name="Google Shape;201;p12"/>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3"/>
          <p:cNvSpPr txBox="1">
            <a:spLocks noGrp="1"/>
          </p:cNvSpPr>
          <p:nvPr>
            <p:ph type="body" idx="1"/>
          </p:nvPr>
        </p:nvSpPr>
        <p:spPr>
          <a:xfrm>
            <a:off x="2555913" y="99152"/>
            <a:ext cx="9342304" cy="6599103"/>
          </a:xfrm>
          <a:prstGeom prst="rect">
            <a:avLst/>
          </a:prstGeom>
          <a:noFill/>
          <a:ln>
            <a:noFill/>
          </a:ln>
        </p:spPr>
        <p:txBody>
          <a:bodyPr spcFirstLastPara="1" wrap="square" lIns="91425" tIns="45700" rIns="91425" bIns="45700" anchor="t" anchorCtr="0">
            <a:normAutofit/>
          </a:bodyPr>
          <a:lstStyle/>
          <a:p>
            <a:pPr marL="0" lvl="0" indent="0" algn="just" rtl="0">
              <a:lnSpc>
                <a:spcPct val="107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Waiting time for P</a:t>
            </a:r>
            <a:r>
              <a:rPr lang="en-US" sz="2000" baseline="-25000">
                <a:solidFill>
                  <a:srgbClr val="000000"/>
                </a:solidFill>
                <a:latin typeface="Calibri"/>
                <a:ea typeface="Calibri"/>
                <a:cs typeface="Calibri"/>
                <a:sym typeface="Calibri"/>
              </a:rPr>
              <a:t>1</a:t>
            </a:r>
            <a:r>
              <a:rPr lang="en-US" sz="2000">
                <a:solidFill>
                  <a:srgbClr val="000000"/>
                </a:solidFill>
                <a:latin typeface="Calibri"/>
                <a:ea typeface="Calibri"/>
                <a:cs typeface="Calibri"/>
                <a:sym typeface="Calibri"/>
              </a:rPr>
              <a:t> = 0; P</a:t>
            </a:r>
            <a:r>
              <a:rPr lang="en-US" sz="2000" baseline="-25000">
                <a:solidFill>
                  <a:srgbClr val="000000"/>
                </a:solidFill>
                <a:latin typeface="Calibri"/>
                <a:ea typeface="Calibri"/>
                <a:cs typeface="Calibri"/>
                <a:sym typeface="Calibri"/>
              </a:rPr>
              <a:t>2</a:t>
            </a:r>
            <a:r>
              <a:rPr lang="en-US" sz="2000">
                <a:solidFill>
                  <a:srgbClr val="000000"/>
                </a:solidFill>
                <a:latin typeface="Calibri"/>
                <a:ea typeface="Calibri"/>
                <a:cs typeface="Calibri"/>
                <a:sym typeface="Calibri"/>
              </a:rPr>
              <a:t> = 24; P</a:t>
            </a:r>
            <a:r>
              <a:rPr lang="en-US" sz="2000" baseline="-25000">
                <a:solidFill>
                  <a:srgbClr val="000000"/>
                </a:solidFill>
                <a:latin typeface="Calibri"/>
                <a:ea typeface="Calibri"/>
                <a:cs typeface="Calibri"/>
                <a:sym typeface="Calibri"/>
              </a:rPr>
              <a:t>3</a:t>
            </a:r>
            <a:r>
              <a:rPr lang="en-US" sz="2000">
                <a:solidFill>
                  <a:srgbClr val="000000"/>
                </a:solidFill>
                <a:latin typeface="Calibri"/>
                <a:ea typeface="Calibri"/>
                <a:cs typeface="Calibri"/>
                <a:sym typeface="Calibri"/>
              </a:rPr>
              <a:t> = 27 </a:t>
            </a:r>
            <a:endParaRPr sz="2000">
              <a:latin typeface="Calibri"/>
              <a:ea typeface="Calibri"/>
              <a:cs typeface="Calibri"/>
              <a:sym typeface="Calibri"/>
            </a:endParaRPr>
          </a:p>
          <a:p>
            <a:pPr marL="0" lvl="0" indent="0" algn="l" rtl="0">
              <a:lnSpc>
                <a:spcPct val="107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 </a:t>
            </a:r>
            <a:endParaRPr/>
          </a:p>
          <a:p>
            <a:pPr marL="0" lvl="0" indent="0" algn="l" rtl="0">
              <a:lnSpc>
                <a:spcPct val="107000"/>
              </a:lnSpc>
              <a:spcBef>
                <a:spcPts val="1050"/>
              </a:spcBef>
              <a:spcAft>
                <a:spcPts val="0"/>
              </a:spcAft>
              <a:buClr>
                <a:srgbClr val="000000"/>
              </a:buClr>
              <a:buSzPts val="2000"/>
              <a:buNone/>
            </a:pPr>
            <a:r>
              <a:rPr lang="en-US" sz="2000">
                <a:solidFill>
                  <a:srgbClr val="000000"/>
                </a:solidFill>
                <a:latin typeface="Calibri"/>
                <a:ea typeface="Calibri"/>
                <a:cs typeface="Calibri"/>
                <a:sym typeface="Calibri"/>
              </a:rPr>
              <a:t>Average waiting time: (0 + 24 + 27)/3 = 17ms </a:t>
            </a:r>
            <a:endParaRPr sz="2000">
              <a:latin typeface="Calibri"/>
              <a:ea typeface="Calibri"/>
              <a:cs typeface="Calibri"/>
              <a:sym typeface="Calibri"/>
            </a:endParaRPr>
          </a:p>
          <a:p>
            <a:pPr marL="0" marR="5916295" lvl="0" indent="0" algn="l" rtl="0">
              <a:lnSpc>
                <a:spcPct val="100000"/>
              </a:lnSpc>
              <a:spcBef>
                <a:spcPts val="1050"/>
              </a:spcBef>
              <a:spcAft>
                <a:spcPts val="0"/>
              </a:spcAft>
              <a:buClr>
                <a:srgbClr val="000000"/>
              </a:buClr>
              <a:buSzPts val="2000"/>
              <a:buNone/>
            </a:pPr>
            <a:r>
              <a:rPr lang="en-US" sz="2000">
                <a:solidFill>
                  <a:srgbClr val="000000"/>
                </a:solidFill>
                <a:latin typeface="Calibri"/>
                <a:ea typeface="Calibri"/>
                <a:cs typeface="Calibri"/>
                <a:sym typeface="Calibri"/>
              </a:rPr>
              <a:t>       </a:t>
            </a:r>
            <a:endParaRPr sz="2000">
              <a:latin typeface="Calibri"/>
              <a:ea typeface="Calibri"/>
              <a:cs typeface="Calibri"/>
              <a:sym typeface="Calibri"/>
            </a:endParaRPr>
          </a:p>
          <a:p>
            <a:pPr marL="0" lvl="0" indent="0" algn="just" rtl="0">
              <a:lnSpc>
                <a:spcPct val="149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In the previous problem if the processes arrive in the order: </a:t>
            </a:r>
            <a:r>
              <a:rPr lang="en-US" sz="2000" b="1">
                <a:solidFill>
                  <a:srgbClr val="000000"/>
                </a:solidFill>
                <a:latin typeface="Calibri"/>
                <a:ea typeface="Calibri"/>
                <a:cs typeface="Calibri"/>
                <a:sym typeface="Calibri"/>
              </a:rPr>
              <a:t>P</a:t>
            </a:r>
            <a:r>
              <a:rPr lang="en-US" sz="2000" b="1" baseline="-25000">
                <a:solidFill>
                  <a:srgbClr val="000000"/>
                </a:solidFill>
                <a:latin typeface="Calibri"/>
                <a:ea typeface="Calibri"/>
                <a:cs typeface="Calibri"/>
                <a:sym typeface="Calibri"/>
              </a:rPr>
              <a:t>2</a:t>
            </a:r>
            <a:r>
              <a:rPr lang="en-US" sz="2000" b="1">
                <a:solidFill>
                  <a:srgbClr val="000000"/>
                </a:solidFill>
                <a:latin typeface="Calibri"/>
                <a:ea typeface="Calibri"/>
                <a:cs typeface="Calibri"/>
                <a:sym typeface="Calibri"/>
              </a:rPr>
              <a:t>, P</a:t>
            </a:r>
            <a:r>
              <a:rPr lang="en-US" sz="2000" b="1" baseline="-25000">
                <a:solidFill>
                  <a:srgbClr val="000000"/>
                </a:solidFill>
                <a:latin typeface="Calibri"/>
                <a:ea typeface="Calibri"/>
                <a:cs typeface="Calibri"/>
                <a:sym typeface="Calibri"/>
              </a:rPr>
              <a:t>3</a:t>
            </a:r>
            <a:r>
              <a:rPr lang="en-US" sz="2000" b="1">
                <a:solidFill>
                  <a:srgbClr val="000000"/>
                </a:solidFill>
                <a:latin typeface="Calibri"/>
                <a:ea typeface="Calibri"/>
                <a:cs typeface="Calibri"/>
                <a:sym typeface="Calibri"/>
              </a:rPr>
              <a:t>, P</a:t>
            </a:r>
            <a:r>
              <a:rPr lang="en-US" sz="2000" b="1" baseline="-25000">
                <a:solidFill>
                  <a:srgbClr val="000000"/>
                </a:solidFill>
                <a:latin typeface="Calibri"/>
                <a:ea typeface="Calibri"/>
                <a:cs typeface="Calibri"/>
                <a:sym typeface="Calibri"/>
              </a:rPr>
              <a:t>1</a:t>
            </a:r>
            <a:r>
              <a:rPr lang="en-US" sz="2000">
                <a:solidFill>
                  <a:srgbClr val="000000"/>
                </a:solidFill>
                <a:latin typeface="Calibri"/>
                <a:ea typeface="Calibri"/>
                <a:cs typeface="Calibri"/>
                <a:sym typeface="Calibri"/>
              </a:rPr>
              <a:t> then the scheduling is as follows: </a:t>
            </a:r>
            <a:endParaRPr/>
          </a:p>
          <a:p>
            <a:pPr marL="0" lvl="0" indent="0" algn="just" rtl="0">
              <a:lnSpc>
                <a:spcPct val="149000"/>
              </a:lnSpc>
              <a:spcBef>
                <a:spcPts val="1015"/>
              </a:spcBef>
              <a:spcAft>
                <a:spcPts val="0"/>
              </a:spcAft>
              <a:buClr>
                <a:schemeClr val="dk1"/>
              </a:buClr>
              <a:buSzPts val="1800"/>
              <a:buNone/>
            </a:pPr>
            <a:endParaRPr sz="1800">
              <a:latin typeface="Calibri"/>
              <a:ea typeface="Calibri"/>
              <a:cs typeface="Calibri"/>
              <a:sym typeface="Calibri"/>
            </a:endParaRPr>
          </a:p>
          <a:p>
            <a:pPr marL="0" lvl="0" indent="0" algn="l" rtl="0">
              <a:lnSpc>
                <a:spcPct val="90000"/>
              </a:lnSpc>
              <a:spcBef>
                <a:spcPts val="1015"/>
              </a:spcBef>
              <a:spcAft>
                <a:spcPts val="0"/>
              </a:spcAft>
              <a:buClr>
                <a:schemeClr val="dk1"/>
              </a:buClr>
              <a:buSzPts val="2800"/>
              <a:buNone/>
            </a:pPr>
            <a:endParaRPr/>
          </a:p>
        </p:txBody>
      </p:sp>
      <p:pic>
        <p:nvPicPr>
          <p:cNvPr id="207" name="Google Shape;207;p13"/>
          <p:cNvPicPr preferRelativeResize="0"/>
          <p:nvPr/>
        </p:nvPicPr>
        <p:blipFill rotWithShape="1">
          <a:blip r:embed="rId3">
            <a:alphaModFix/>
          </a:blip>
          <a:srcRect/>
          <a:stretch/>
        </p:blipFill>
        <p:spPr>
          <a:xfrm>
            <a:off x="3440504" y="3014066"/>
            <a:ext cx="6466271" cy="1293879"/>
          </a:xfrm>
          <a:prstGeom prst="rect">
            <a:avLst/>
          </a:prstGeom>
          <a:noFill/>
          <a:ln>
            <a:noFill/>
          </a:ln>
        </p:spPr>
      </p:pic>
      <p:sp>
        <p:nvSpPr>
          <p:cNvPr id="208" name="Google Shape;208;p13"/>
          <p:cNvSpPr txBox="1"/>
          <p:nvPr/>
        </p:nvSpPr>
        <p:spPr>
          <a:xfrm>
            <a:off x="3316996" y="4218012"/>
            <a:ext cx="6108852" cy="374077"/>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US" sz="1800" b="1">
                <a:solidFill>
                  <a:srgbClr val="000000"/>
                </a:solidFill>
                <a:latin typeface="Times New Roman"/>
                <a:ea typeface="Times New Roman"/>
                <a:cs typeface="Times New Roman"/>
                <a:sym typeface="Times New Roman"/>
              </a:rPr>
              <a:t>Waiting times</a:t>
            </a:r>
            <a:endParaRPr sz="1600">
              <a:solidFill>
                <a:schemeClr val="dk1"/>
              </a:solidFill>
              <a:latin typeface="Calibri"/>
              <a:ea typeface="Calibri"/>
              <a:cs typeface="Calibri"/>
              <a:sym typeface="Calibri"/>
            </a:endParaRPr>
          </a:p>
        </p:txBody>
      </p:sp>
      <p:sp>
        <p:nvSpPr>
          <p:cNvPr id="209" name="Google Shape;209;p13"/>
          <p:cNvSpPr txBox="1"/>
          <p:nvPr/>
        </p:nvSpPr>
        <p:spPr>
          <a:xfrm>
            <a:off x="2900191" y="4715782"/>
            <a:ext cx="8513284" cy="1293880"/>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2000">
                <a:solidFill>
                  <a:srgbClr val="000000"/>
                </a:solidFill>
                <a:latin typeface="Calibri"/>
                <a:ea typeface="Calibri"/>
                <a:cs typeface="Calibri"/>
                <a:sym typeface="Calibri"/>
              </a:rPr>
              <a:t>Waiting time for P</a:t>
            </a:r>
            <a:r>
              <a:rPr lang="en-US" sz="2000" baseline="-25000">
                <a:solidFill>
                  <a:srgbClr val="000000"/>
                </a:solidFill>
                <a:latin typeface="Calibri"/>
                <a:ea typeface="Calibri"/>
                <a:cs typeface="Calibri"/>
                <a:sym typeface="Calibri"/>
              </a:rPr>
              <a:t>1</a:t>
            </a:r>
            <a:r>
              <a:rPr lang="en-US" sz="2000">
                <a:solidFill>
                  <a:srgbClr val="000000"/>
                </a:solidFill>
                <a:latin typeface="Calibri"/>
                <a:ea typeface="Calibri"/>
                <a:cs typeface="Calibri"/>
                <a:sym typeface="Calibri"/>
              </a:rPr>
              <a:t> = 6; P</a:t>
            </a:r>
            <a:r>
              <a:rPr lang="en-US" sz="2000" baseline="-25000">
                <a:solidFill>
                  <a:srgbClr val="000000"/>
                </a:solidFill>
                <a:latin typeface="Calibri"/>
                <a:ea typeface="Calibri"/>
                <a:cs typeface="Calibri"/>
                <a:sym typeface="Calibri"/>
              </a:rPr>
              <a:t>2</a:t>
            </a:r>
            <a:r>
              <a:rPr lang="en-US" sz="2000">
                <a:solidFill>
                  <a:srgbClr val="000000"/>
                </a:solidFill>
                <a:latin typeface="Calibri"/>
                <a:ea typeface="Calibri"/>
                <a:cs typeface="Calibri"/>
                <a:sym typeface="Calibri"/>
              </a:rPr>
              <a:t> = 0; P</a:t>
            </a:r>
            <a:r>
              <a:rPr lang="en-US" sz="2000" baseline="-25000">
                <a:solidFill>
                  <a:srgbClr val="000000"/>
                </a:solidFill>
                <a:latin typeface="Calibri"/>
                <a:ea typeface="Calibri"/>
                <a:cs typeface="Calibri"/>
                <a:sym typeface="Calibri"/>
              </a:rPr>
              <a:t>3</a:t>
            </a:r>
            <a:r>
              <a:rPr lang="en-US" sz="2000">
                <a:solidFill>
                  <a:srgbClr val="000000"/>
                </a:solidFill>
                <a:latin typeface="Calibri"/>
                <a:ea typeface="Calibri"/>
                <a:cs typeface="Calibri"/>
                <a:sym typeface="Calibri"/>
              </a:rPr>
              <a:t> = 3 </a:t>
            </a:r>
            <a:endParaRPr sz="2000">
              <a:solidFill>
                <a:schemeClr val="dk1"/>
              </a:solidFill>
              <a:latin typeface="Calibri"/>
              <a:ea typeface="Calibri"/>
              <a:cs typeface="Calibri"/>
              <a:sym typeface="Calibri"/>
            </a:endParaRPr>
          </a:p>
          <a:p>
            <a:pPr marL="0" marR="0" lvl="0" indent="0" algn="l" rtl="0">
              <a:lnSpc>
                <a:spcPct val="107000"/>
              </a:lnSpc>
              <a:spcBef>
                <a:spcPts val="145"/>
              </a:spcBef>
              <a:spcAft>
                <a:spcPts val="0"/>
              </a:spcAft>
              <a:buNone/>
            </a:pPr>
            <a:r>
              <a:rPr lang="en-US" sz="2000">
                <a:solidFill>
                  <a:srgbClr val="000000"/>
                </a:solidFill>
                <a:latin typeface="Calibri"/>
                <a:ea typeface="Calibri"/>
                <a:cs typeface="Calibri"/>
                <a:sym typeface="Calibri"/>
              </a:rPr>
              <a:t> </a:t>
            </a:r>
            <a:endParaRPr sz="2000">
              <a:solidFill>
                <a:schemeClr val="dk1"/>
              </a:solidFill>
              <a:latin typeface="Calibri"/>
              <a:ea typeface="Calibri"/>
              <a:cs typeface="Calibri"/>
              <a:sym typeface="Calibri"/>
            </a:endParaRPr>
          </a:p>
          <a:p>
            <a:pPr marL="0" marR="0" lvl="0" indent="0" algn="just" rtl="0">
              <a:lnSpc>
                <a:spcPct val="107000"/>
              </a:lnSpc>
              <a:spcBef>
                <a:spcPts val="55"/>
              </a:spcBef>
              <a:spcAft>
                <a:spcPts val="0"/>
              </a:spcAft>
              <a:buNone/>
            </a:pPr>
            <a:r>
              <a:rPr lang="en-US" sz="2000">
                <a:solidFill>
                  <a:srgbClr val="000000"/>
                </a:solidFill>
                <a:latin typeface="Calibri"/>
                <a:ea typeface="Calibri"/>
                <a:cs typeface="Calibri"/>
                <a:sym typeface="Calibri"/>
              </a:rPr>
              <a:t>Average waiting time: (6 + 0 + 3)/3 = 3ms </a:t>
            </a:r>
            <a:endParaRPr sz="2000">
              <a:solidFill>
                <a:schemeClr val="dk1"/>
              </a:solidFill>
              <a:latin typeface="Calibri"/>
              <a:ea typeface="Calibri"/>
              <a:cs typeface="Calibri"/>
              <a:sym typeface="Calibri"/>
            </a:endParaRPr>
          </a:p>
          <a:p>
            <a:pPr marL="0" marR="0" lvl="0" indent="0" algn="l" rtl="0">
              <a:lnSpc>
                <a:spcPct val="107000"/>
              </a:lnSpc>
              <a:spcBef>
                <a:spcPts val="15"/>
              </a:spcBef>
              <a:spcAft>
                <a:spcPts val="0"/>
              </a:spcAft>
              <a:buNone/>
            </a:pPr>
            <a:r>
              <a:rPr lang="en-US" sz="1200">
                <a:solidFill>
                  <a:srgbClr val="000000"/>
                </a:solidFill>
                <a:latin typeface="Times New Roman"/>
                <a:ea typeface="Times New Roman"/>
                <a:cs typeface="Times New Roman"/>
                <a:sym typeface="Times New Roman"/>
              </a:rPr>
              <a:t> </a:t>
            </a:r>
            <a:endParaRPr sz="1600">
              <a:solidFill>
                <a:schemeClr val="dk1"/>
              </a:solidFill>
              <a:latin typeface="Calibri"/>
              <a:ea typeface="Calibri"/>
              <a:cs typeface="Calibri"/>
              <a:sym typeface="Calibri"/>
            </a:endParaRPr>
          </a:p>
        </p:txBody>
      </p:sp>
      <p:sp>
        <p:nvSpPr>
          <p:cNvPr id="210" name="Google Shape;210;p13"/>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4"/>
          <p:cNvSpPr txBox="1">
            <a:spLocks noGrp="1"/>
          </p:cNvSpPr>
          <p:nvPr>
            <p:ph type="body" idx="1"/>
          </p:nvPr>
        </p:nvSpPr>
        <p:spPr>
          <a:xfrm>
            <a:off x="2555913" y="154236"/>
            <a:ext cx="9452473" cy="6599104"/>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170000"/>
              </a:lnSpc>
              <a:spcBef>
                <a:spcPts val="0"/>
              </a:spcBef>
              <a:spcAft>
                <a:spcPts val="0"/>
              </a:spcAft>
              <a:buClr>
                <a:srgbClr val="000000"/>
              </a:buClr>
              <a:buSzPct val="100000"/>
              <a:buChar char="•"/>
            </a:pPr>
            <a:r>
              <a:rPr lang="en-US" sz="2000">
                <a:solidFill>
                  <a:srgbClr val="000000"/>
                </a:solidFill>
                <a:latin typeface="Calibri"/>
                <a:ea typeface="Calibri"/>
                <a:cs typeface="Calibri"/>
                <a:sym typeface="Calibri"/>
              </a:rPr>
              <a:t>This reduction is substantial. Thus. The average waiting time under an FCFS policy is generally not minimal and may vary substantially if the process ‘s CPU burst times vary greatly.</a:t>
            </a:r>
            <a:endParaRPr/>
          </a:p>
          <a:p>
            <a:pPr marL="228600" lvl="0" indent="-228600" algn="just" rtl="0">
              <a:lnSpc>
                <a:spcPct val="170000"/>
              </a:lnSpc>
              <a:spcBef>
                <a:spcPts val="1190"/>
              </a:spcBef>
              <a:spcAft>
                <a:spcPts val="0"/>
              </a:spcAft>
              <a:buClr>
                <a:srgbClr val="000000"/>
              </a:buClr>
              <a:buSzPct val="100000"/>
              <a:buChar char="•"/>
            </a:pPr>
            <a:r>
              <a:rPr lang="en-US" sz="2000">
                <a:solidFill>
                  <a:srgbClr val="000000"/>
                </a:solidFill>
                <a:latin typeface="Calibri"/>
                <a:ea typeface="Calibri"/>
                <a:cs typeface="Calibri"/>
                <a:sym typeface="Calibri"/>
              </a:rPr>
              <a:t>The FCFS scheduling algorithm is nonpreemptive. </a:t>
            </a:r>
            <a:endParaRPr/>
          </a:p>
          <a:p>
            <a:pPr marL="228600" lvl="0" indent="-228600" algn="just" rtl="0">
              <a:lnSpc>
                <a:spcPct val="170000"/>
              </a:lnSpc>
              <a:spcBef>
                <a:spcPts val="1190"/>
              </a:spcBef>
              <a:spcAft>
                <a:spcPts val="0"/>
              </a:spcAft>
              <a:buClr>
                <a:srgbClr val="000000"/>
              </a:buClr>
              <a:buSzPct val="100000"/>
              <a:buChar char="•"/>
            </a:pPr>
            <a:r>
              <a:rPr lang="en-US" sz="2000">
                <a:solidFill>
                  <a:srgbClr val="000000"/>
                </a:solidFill>
                <a:latin typeface="Calibri"/>
                <a:ea typeface="Calibri"/>
                <a:cs typeface="Calibri"/>
                <a:sym typeface="Calibri"/>
              </a:rPr>
              <a:t>Once the CPU has been allocated to a process, that process keeps the CPU until it releases the CPU, either by terminating or by requesting I/O.</a:t>
            </a:r>
            <a:endParaRPr/>
          </a:p>
          <a:p>
            <a:pPr marL="228600" lvl="0" indent="-228600" algn="just" rtl="0">
              <a:lnSpc>
                <a:spcPct val="170000"/>
              </a:lnSpc>
              <a:spcBef>
                <a:spcPts val="1190"/>
              </a:spcBef>
              <a:spcAft>
                <a:spcPts val="0"/>
              </a:spcAft>
              <a:buClr>
                <a:srgbClr val="000000"/>
              </a:buClr>
              <a:buSzPct val="100000"/>
              <a:buChar char="•"/>
            </a:pPr>
            <a:r>
              <a:rPr lang="en-US" sz="2000">
                <a:solidFill>
                  <a:srgbClr val="000000"/>
                </a:solidFill>
                <a:latin typeface="Calibri"/>
                <a:ea typeface="Calibri"/>
                <a:cs typeface="Calibri"/>
                <a:sym typeface="Calibri"/>
              </a:rPr>
              <a:t> The PCFS algorithm is thus particularly troublesome for time-sharing systems, where it is important that each user get a share of the CPU at regular intervals. </a:t>
            </a:r>
            <a:endParaRPr/>
          </a:p>
          <a:p>
            <a:pPr marL="228600" lvl="0" indent="-228600" algn="just" rtl="0">
              <a:lnSpc>
                <a:spcPct val="170000"/>
              </a:lnSpc>
              <a:spcBef>
                <a:spcPts val="1190"/>
              </a:spcBef>
              <a:spcAft>
                <a:spcPts val="0"/>
              </a:spcAft>
              <a:buClr>
                <a:srgbClr val="000000"/>
              </a:buClr>
              <a:buSzPct val="100000"/>
              <a:buChar char="•"/>
            </a:pPr>
            <a:r>
              <a:rPr lang="en-US" sz="2000">
                <a:solidFill>
                  <a:srgbClr val="000000"/>
                </a:solidFill>
                <a:latin typeface="Calibri"/>
                <a:ea typeface="Calibri"/>
                <a:cs typeface="Calibri"/>
                <a:sym typeface="Calibri"/>
              </a:rPr>
              <a:t>It would be disastrous to allow one process to keep the CPU for an extended period.  </a:t>
            </a:r>
            <a:endParaRPr/>
          </a:p>
          <a:p>
            <a:pPr marL="228600" lvl="0" indent="-228600" algn="just" rtl="0">
              <a:lnSpc>
                <a:spcPct val="170000"/>
              </a:lnSpc>
              <a:spcBef>
                <a:spcPts val="1190"/>
              </a:spcBef>
              <a:spcAft>
                <a:spcPts val="0"/>
              </a:spcAft>
              <a:buClr>
                <a:srgbClr val="FF0000"/>
              </a:buClr>
              <a:buSzPct val="100000"/>
              <a:buChar char="•"/>
            </a:pPr>
            <a:r>
              <a:rPr lang="en-US" sz="2000" b="1">
                <a:solidFill>
                  <a:srgbClr val="FF0000"/>
                </a:solidFill>
                <a:latin typeface="Calibri"/>
                <a:ea typeface="Calibri"/>
                <a:cs typeface="Calibri"/>
                <a:sym typeface="Calibri"/>
              </a:rPr>
              <a:t>Convoy effect:</a:t>
            </a:r>
            <a:r>
              <a:rPr lang="en-US" sz="2000">
                <a:solidFill>
                  <a:srgbClr val="000000"/>
                </a:solidFill>
                <a:latin typeface="Calibri"/>
                <a:ea typeface="Calibri"/>
                <a:cs typeface="Calibri"/>
                <a:sym typeface="Calibri"/>
              </a:rPr>
              <a:t> If the process with higher burst time arrived before the process with smaller burst time then smaller processes have to wait for a long time for larger processes to release CPU.</a:t>
            </a:r>
            <a:endParaRPr sz="2000">
              <a:latin typeface="Calibri"/>
              <a:ea typeface="Calibri"/>
              <a:cs typeface="Calibri"/>
              <a:sym typeface="Calibri"/>
            </a:endParaRPr>
          </a:p>
          <a:p>
            <a:pPr marL="0" lvl="0" indent="0" algn="just" rtl="0">
              <a:lnSpc>
                <a:spcPct val="150000"/>
              </a:lnSpc>
              <a:spcBef>
                <a:spcPts val="1190"/>
              </a:spcBef>
              <a:spcAft>
                <a:spcPts val="0"/>
              </a:spcAft>
              <a:buClr>
                <a:schemeClr val="dk1"/>
              </a:buClr>
              <a:buSzPct val="100000"/>
              <a:buNone/>
            </a:pPr>
            <a:endParaRPr sz="2400">
              <a:latin typeface="Calibri"/>
              <a:ea typeface="Calibri"/>
              <a:cs typeface="Calibri"/>
              <a:sym typeface="Calibri"/>
            </a:endParaRPr>
          </a:p>
        </p:txBody>
      </p:sp>
      <p:sp>
        <p:nvSpPr>
          <p:cNvPr id="216" name="Google Shape;216;p14"/>
          <p:cNvSpPr txBox="1"/>
          <p:nvPr/>
        </p:nvSpPr>
        <p:spPr>
          <a:xfrm>
            <a:off x="524064" y="390975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5"/>
          <p:cNvSpPr txBox="1">
            <a:spLocks noGrp="1"/>
          </p:cNvSpPr>
          <p:nvPr>
            <p:ph type="body" idx="1"/>
          </p:nvPr>
        </p:nvSpPr>
        <p:spPr>
          <a:xfrm>
            <a:off x="2555913" y="121186"/>
            <a:ext cx="9452473" cy="6643171"/>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000"/>
              <a:buNone/>
            </a:pPr>
            <a:r>
              <a:rPr lang="en-US" sz="2000" b="1">
                <a:solidFill>
                  <a:srgbClr val="FF0000"/>
                </a:solidFill>
                <a:latin typeface="Calibri"/>
                <a:ea typeface="Calibri"/>
                <a:cs typeface="Calibri"/>
                <a:sym typeface="Calibri"/>
              </a:rPr>
              <a:t>Shortest-Job-First Scheduling (SJFS)</a:t>
            </a:r>
            <a:r>
              <a:rPr lang="en-US" sz="2000">
                <a:solidFill>
                  <a:srgbClr val="FF0000"/>
                </a:solidFill>
                <a:latin typeface="Calibri"/>
                <a:ea typeface="Calibri"/>
                <a:cs typeface="Calibri"/>
                <a:sym typeface="Calibri"/>
              </a:rPr>
              <a:t> </a:t>
            </a:r>
            <a:endParaRPr sz="2000">
              <a:solidFill>
                <a:srgbClr val="FF0000"/>
              </a:solidFill>
              <a:latin typeface="Calibri"/>
              <a:ea typeface="Calibri"/>
              <a:cs typeface="Calibri"/>
              <a:sym typeface="Calibri"/>
            </a:endParaRPr>
          </a:p>
          <a:p>
            <a:pPr marL="228600" lvl="0" indent="-228600" algn="just" rtl="0">
              <a:lnSpc>
                <a:spcPct val="150000"/>
              </a:lnSpc>
              <a:spcBef>
                <a:spcPts val="1000"/>
              </a:spcBef>
              <a:spcAft>
                <a:spcPts val="0"/>
              </a:spcAft>
              <a:buClr>
                <a:srgbClr val="000000"/>
              </a:buClr>
              <a:buSzPts val="2400"/>
              <a:buChar char="•"/>
            </a:pPr>
            <a:r>
              <a:rPr lang="en-US" sz="2400">
                <a:solidFill>
                  <a:srgbClr val="000000"/>
                </a:solidFill>
                <a:latin typeface="Calibri"/>
                <a:ea typeface="Calibri"/>
                <a:cs typeface="Calibri"/>
                <a:sym typeface="Calibri"/>
              </a:rPr>
              <a:t>A different approach to CPU scheduling is the shortest-job-first (SJF) scheduling algorithm. </a:t>
            </a:r>
            <a:endParaRPr/>
          </a:p>
          <a:p>
            <a:pPr marL="228600" lvl="0" indent="-228600" algn="just" rtl="0">
              <a:lnSpc>
                <a:spcPct val="150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This algorithm associates with each process the length of the process's next CPU burst.</a:t>
            </a:r>
            <a:endParaRPr/>
          </a:p>
          <a:p>
            <a:pPr marL="228600" lvl="0" indent="-228600" algn="just" rtl="0">
              <a:lnSpc>
                <a:spcPct val="150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 When the CPU is available, it is assigned to the process that has the smallest next CPU burst.</a:t>
            </a:r>
            <a:endParaRPr sz="2400">
              <a:latin typeface="Calibri"/>
              <a:ea typeface="Calibri"/>
              <a:cs typeface="Calibri"/>
              <a:sym typeface="Calibri"/>
            </a:endParaRPr>
          </a:p>
          <a:p>
            <a:pPr marL="228600" lvl="0" indent="-228600" algn="just" rtl="0">
              <a:lnSpc>
                <a:spcPct val="150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 If the next CPU bursts of two processes are the same, FCFS scheduling is used to break the tie.  </a:t>
            </a:r>
            <a:endParaRPr/>
          </a:p>
          <a:p>
            <a:pPr marL="228600" lvl="0" indent="-228600" algn="just" rtl="0">
              <a:lnSpc>
                <a:spcPct val="150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The SJF algorithm can be either preemptive and non preemptive</a:t>
            </a:r>
            <a:endParaRPr sz="2400">
              <a:latin typeface="Calibri"/>
              <a:ea typeface="Calibri"/>
              <a:cs typeface="Calibri"/>
              <a:sym typeface="Calibri"/>
            </a:endParaRPr>
          </a:p>
          <a:p>
            <a:pPr marL="0" lvl="0" indent="0" algn="l" rtl="0">
              <a:lnSpc>
                <a:spcPct val="90000"/>
              </a:lnSpc>
              <a:spcBef>
                <a:spcPts val="1015"/>
              </a:spcBef>
              <a:spcAft>
                <a:spcPts val="0"/>
              </a:spcAft>
              <a:buClr>
                <a:schemeClr val="dk1"/>
              </a:buClr>
              <a:buSzPts val="2000"/>
              <a:buNone/>
            </a:pPr>
            <a:endParaRPr sz="2000">
              <a:latin typeface="Calibri"/>
              <a:ea typeface="Calibri"/>
              <a:cs typeface="Calibri"/>
              <a:sym typeface="Calibri"/>
            </a:endParaRPr>
          </a:p>
        </p:txBody>
      </p:sp>
      <p:sp>
        <p:nvSpPr>
          <p:cNvPr id="222" name="Google Shape;222;p15"/>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6"/>
          <p:cNvSpPr txBox="1">
            <a:spLocks noGrp="1"/>
          </p:cNvSpPr>
          <p:nvPr>
            <p:ph type="body" idx="1"/>
          </p:nvPr>
        </p:nvSpPr>
        <p:spPr>
          <a:xfrm>
            <a:off x="2522863" y="77118"/>
            <a:ext cx="9518573" cy="6599104"/>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400"/>
              <a:buChar char="•"/>
            </a:pPr>
            <a:r>
              <a:rPr lang="en-US" sz="2400">
                <a:latin typeface="Calibri"/>
                <a:ea typeface="Calibri"/>
                <a:cs typeface="Calibri"/>
                <a:sym typeface="Calibri"/>
              </a:rPr>
              <a:t>A more appropriate term for this scheduling method would be the </a:t>
            </a:r>
            <a:r>
              <a:rPr lang="en-US" sz="2400">
                <a:solidFill>
                  <a:srgbClr val="0000FF"/>
                </a:solidFill>
                <a:latin typeface="Calibri"/>
                <a:ea typeface="Calibri"/>
                <a:cs typeface="Calibri"/>
                <a:sym typeface="Calibri"/>
              </a:rPr>
              <a:t>Shortest – Next - CPU - Burst Algorithm </a:t>
            </a:r>
            <a:r>
              <a:rPr lang="en-US" sz="2400">
                <a:latin typeface="Calibri"/>
                <a:ea typeface="Calibri"/>
                <a:cs typeface="Calibri"/>
                <a:sym typeface="Calibri"/>
              </a:rPr>
              <a:t>because scheduling depends on the length of the next CPU burst of a process, rather than its total length.</a:t>
            </a:r>
            <a:endParaRPr/>
          </a:p>
        </p:txBody>
      </p:sp>
      <p:sp>
        <p:nvSpPr>
          <p:cNvPr id="228" name="Google Shape;228;p16"/>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7"/>
          <p:cNvSpPr txBox="1">
            <a:spLocks noGrp="1"/>
          </p:cNvSpPr>
          <p:nvPr>
            <p:ph type="body" idx="1"/>
          </p:nvPr>
        </p:nvSpPr>
        <p:spPr>
          <a:xfrm>
            <a:off x="2544896" y="187287"/>
            <a:ext cx="9441456" cy="6555036"/>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Example of SJF Scheduling (Non – Preemptive)</a:t>
            </a:r>
            <a:endParaRPr/>
          </a:p>
          <a:p>
            <a:pPr marL="0" lvl="0" indent="0" algn="l" rtl="0">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Consider the following set of processes, with the length of the CPU burst given in millAI&amp;MLconds </a:t>
            </a:r>
            <a:endParaRPr sz="2000">
              <a:latin typeface="Calibri"/>
              <a:ea typeface="Calibri"/>
              <a:cs typeface="Calibri"/>
              <a:sym typeface="Calibri"/>
            </a:endParaRPr>
          </a:p>
          <a:p>
            <a:pPr marL="228600" lvl="0" indent="-10160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graphicFrame>
        <p:nvGraphicFramePr>
          <p:cNvPr id="234" name="Google Shape;234;p17"/>
          <p:cNvGraphicFramePr/>
          <p:nvPr/>
        </p:nvGraphicFramePr>
        <p:xfrm>
          <a:off x="5552500" y="1384270"/>
          <a:ext cx="2941525" cy="3501760"/>
        </p:xfrm>
        <a:graphic>
          <a:graphicData uri="http://schemas.openxmlformats.org/drawingml/2006/table">
            <a:tbl>
              <a:tblPr firstRow="1" firstCol="1" bandRow="1">
                <a:noFill/>
                <a:tableStyleId>{3C02F722-2B6A-463A-8AD6-FEE97B21EBB0}</a:tableStyleId>
              </a:tblPr>
              <a:tblGrid>
                <a:gridCol w="1260125">
                  <a:extLst>
                    <a:ext uri="{9D8B030D-6E8A-4147-A177-3AD203B41FA5}">
                      <a16:colId xmlns:a16="http://schemas.microsoft.com/office/drawing/2014/main" val="20000"/>
                    </a:ext>
                  </a:extLst>
                </a:gridCol>
                <a:gridCol w="1681400">
                  <a:extLst>
                    <a:ext uri="{9D8B030D-6E8A-4147-A177-3AD203B41FA5}">
                      <a16:colId xmlns:a16="http://schemas.microsoft.com/office/drawing/2014/main" val="20001"/>
                    </a:ext>
                  </a:extLst>
                </a:gridCol>
              </a:tblGrid>
              <a:tr h="651375">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Process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Burst Time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extLst>
                  <a:ext uri="{0D108BD9-81ED-4DB2-BD59-A6C34878D82A}">
                    <a16:rowId xmlns:a16="http://schemas.microsoft.com/office/drawing/2014/main" val="10000"/>
                  </a:ext>
                </a:extLst>
              </a:tr>
              <a:tr h="651375">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P1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6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extLst>
                  <a:ext uri="{0D108BD9-81ED-4DB2-BD59-A6C34878D82A}">
                    <a16:rowId xmlns:a16="http://schemas.microsoft.com/office/drawing/2014/main" val="10001"/>
                  </a:ext>
                </a:extLst>
              </a:tr>
              <a:tr h="651375">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P2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8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extLst>
                  <a:ext uri="{0D108BD9-81ED-4DB2-BD59-A6C34878D82A}">
                    <a16:rowId xmlns:a16="http://schemas.microsoft.com/office/drawing/2014/main" val="10002"/>
                  </a:ext>
                </a:extLst>
              </a:tr>
              <a:tr h="651375">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P3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7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extLst>
                  <a:ext uri="{0D108BD9-81ED-4DB2-BD59-A6C34878D82A}">
                    <a16:rowId xmlns:a16="http://schemas.microsoft.com/office/drawing/2014/main" val="10003"/>
                  </a:ext>
                </a:extLst>
              </a:tr>
              <a:tr h="651375">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P4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tc>
                  <a:txBody>
                    <a:bodyPr/>
                    <a:lstStyle/>
                    <a:p>
                      <a:pPr marL="0" marR="0" lvl="0" indent="0" algn="ctr" rtl="0">
                        <a:lnSpc>
                          <a:spcPct val="107000"/>
                        </a:lnSpc>
                        <a:spcBef>
                          <a:spcPts val="0"/>
                        </a:spcBef>
                        <a:spcAft>
                          <a:spcPts val="0"/>
                        </a:spcAft>
                        <a:buNone/>
                      </a:pPr>
                      <a:r>
                        <a:rPr lang="en-US" sz="1800" u="none" strike="noStrike" cap="none">
                          <a:latin typeface="Calibri"/>
                          <a:ea typeface="Calibri"/>
                          <a:cs typeface="Calibri"/>
                          <a:sym typeface="Calibri"/>
                        </a:rPr>
                        <a:t>3 </a:t>
                      </a:r>
                      <a:endParaRPr sz="18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800"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40000" marT="24775" marB="0"/>
                </a:tc>
                <a:extLst>
                  <a:ext uri="{0D108BD9-81ED-4DB2-BD59-A6C34878D82A}">
                    <a16:rowId xmlns:a16="http://schemas.microsoft.com/office/drawing/2014/main" val="10004"/>
                  </a:ext>
                </a:extLst>
              </a:tr>
            </a:tbl>
          </a:graphicData>
        </a:graphic>
      </p:graphicFrame>
      <p:pic>
        <p:nvPicPr>
          <p:cNvPr id="235" name="Google Shape;235;p17"/>
          <p:cNvPicPr preferRelativeResize="0"/>
          <p:nvPr/>
        </p:nvPicPr>
        <p:blipFill rotWithShape="1">
          <a:blip r:embed="rId3">
            <a:alphaModFix/>
          </a:blip>
          <a:srcRect/>
          <a:stretch/>
        </p:blipFill>
        <p:spPr>
          <a:xfrm>
            <a:off x="3238959" y="4957590"/>
            <a:ext cx="7403335" cy="1713123"/>
          </a:xfrm>
          <a:prstGeom prst="rect">
            <a:avLst/>
          </a:prstGeom>
          <a:noFill/>
          <a:ln>
            <a:noFill/>
          </a:ln>
        </p:spPr>
      </p:pic>
      <p:sp>
        <p:nvSpPr>
          <p:cNvPr id="236" name="Google Shape;236;p17"/>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8"/>
          <p:cNvSpPr txBox="1">
            <a:spLocks noGrp="1"/>
          </p:cNvSpPr>
          <p:nvPr>
            <p:ph type="body" idx="1"/>
          </p:nvPr>
        </p:nvSpPr>
        <p:spPr>
          <a:xfrm>
            <a:off x="2533880" y="198304"/>
            <a:ext cx="9485522" cy="6577069"/>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Waiting Time: P</a:t>
            </a:r>
            <a:r>
              <a:rPr lang="en-US" sz="2400" baseline="-25000">
                <a:solidFill>
                  <a:srgbClr val="000000"/>
                </a:solidFill>
                <a:latin typeface="Calibri"/>
                <a:ea typeface="Calibri"/>
                <a:cs typeface="Calibri"/>
                <a:sym typeface="Calibri"/>
              </a:rPr>
              <a:t>1</a:t>
            </a:r>
            <a:r>
              <a:rPr lang="en-US" sz="2400">
                <a:solidFill>
                  <a:srgbClr val="000000"/>
                </a:solidFill>
                <a:latin typeface="Calibri"/>
                <a:ea typeface="Calibri"/>
                <a:cs typeface="Calibri"/>
                <a:sym typeface="Calibri"/>
              </a:rPr>
              <a:t>=3; P</a:t>
            </a:r>
            <a:r>
              <a:rPr lang="en-US" sz="2400" baseline="-25000">
                <a:solidFill>
                  <a:srgbClr val="000000"/>
                </a:solidFill>
                <a:latin typeface="Calibri"/>
                <a:ea typeface="Calibri"/>
                <a:cs typeface="Calibri"/>
                <a:sym typeface="Calibri"/>
              </a:rPr>
              <a:t>2</a:t>
            </a:r>
            <a:r>
              <a:rPr lang="en-US" sz="2400">
                <a:solidFill>
                  <a:srgbClr val="000000"/>
                </a:solidFill>
                <a:latin typeface="Calibri"/>
                <a:ea typeface="Calibri"/>
                <a:cs typeface="Calibri"/>
                <a:sym typeface="Calibri"/>
              </a:rPr>
              <a:t>=16; P</a:t>
            </a:r>
            <a:r>
              <a:rPr lang="en-US" sz="2400" baseline="-25000">
                <a:solidFill>
                  <a:srgbClr val="000000"/>
                </a:solidFill>
                <a:latin typeface="Calibri"/>
                <a:ea typeface="Calibri"/>
                <a:cs typeface="Calibri"/>
                <a:sym typeface="Calibri"/>
              </a:rPr>
              <a:t>3</a:t>
            </a:r>
            <a:r>
              <a:rPr lang="en-US" sz="2400">
                <a:solidFill>
                  <a:srgbClr val="000000"/>
                </a:solidFill>
                <a:latin typeface="Calibri"/>
                <a:ea typeface="Calibri"/>
                <a:cs typeface="Calibri"/>
                <a:sym typeface="Calibri"/>
              </a:rPr>
              <a:t>=9; P4=0. </a:t>
            </a:r>
            <a:endParaRPr sz="2400">
              <a:latin typeface="Calibri"/>
              <a:ea typeface="Calibri"/>
              <a:cs typeface="Calibri"/>
              <a:sym typeface="Calibri"/>
            </a:endParaRPr>
          </a:p>
          <a:p>
            <a:pPr marL="0" lvl="0" indent="0" algn="l" rtl="0">
              <a:lnSpc>
                <a:spcPct val="150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 Average waiting time = (3 + 16 + 9 + 0) / 4 = 7 </a:t>
            </a:r>
            <a:endParaRPr/>
          </a:p>
          <a:p>
            <a:pPr marL="0" lvl="0" indent="0" algn="just" rtl="0">
              <a:lnSpc>
                <a:spcPct val="150000"/>
              </a:lnSpc>
              <a:spcBef>
                <a:spcPts val="1050"/>
              </a:spcBef>
              <a:spcAft>
                <a:spcPts val="0"/>
              </a:spcAft>
              <a:buClr>
                <a:srgbClr val="000000"/>
              </a:buClr>
              <a:buSzPts val="2400"/>
              <a:buNone/>
            </a:pPr>
            <a:r>
              <a:rPr lang="en-US" sz="2400">
                <a:solidFill>
                  <a:srgbClr val="000000"/>
                </a:solidFill>
                <a:latin typeface="Calibri"/>
                <a:ea typeface="Calibri"/>
                <a:cs typeface="Calibri"/>
                <a:sym typeface="Calibri"/>
              </a:rPr>
              <a:t>By comparison, if we were using the FCFS scheduling scheme, the average waiting time would be 10.25 millAI&amp;MLconds.</a:t>
            </a:r>
            <a:endParaRPr sz="2400">
              <a:latin typeface="Calibri"/>
              <a:ea typeface="Calibri"/>
              <a:cs typeface="Calibri"/>
              <a:sym typeface="Calibri"/>
            </a:endParaRPr>
          </a:p>
          <a:p>
            <a:pPr marL="0" lvl="0" indent="0" algn="just" rtl="0">
              <a:lnSpc>
                <a:spcPct val="150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 </a:t>
            </a:r>
            <a:endParaRPr sz="2400">
              <a:latin typeface="Calibri"/>
              <a:ea typeface="Calibri"/>
              <a:cs typeface="Calibri"/>
              <a:sym typeface="Calibri"/>
            </a:endParaRPr>
          </a:p>
          <a:p>
            <a:pPr marL="228600" lvl="0" indent="-101600" algn="l" rtl="0">
              <a:lnSpc>
                <a:spcPct val="90000"/>
              </a:lnSpc>
              <a:spcBef>
                <a:spcPts val="1015"/>
              </a:spcBef>
              <a:spcAft>
                <a:spcPts val="0"/>
              </a:spcAft>
              <a:buClr>
                <a:schemeClr val="dk1"/>
              </a:buClr>
              <a:buSzPts val="2000"/>
              <a:buNone/>
            </a:pPr>
            <a:endParaRPr sz="2000">
              <a:latin typeface="Calibri"/>
              <a:ea typeface="Calibri"/>
              <a:cs typeface="Calibri"/>
              <a:sym typeface="Calibri"/>
            </a:endParaRPr>
          </a:p>
        </p:txBody>
      </p:sp>
      <p:sp>
        <p:nvSpPr>
          <p:cNvPr id="242" name="Google Shape;242;p18"/>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9"/>
          <p:cNvSpPr txBox="1">
            <a:spLocks noGrp="1"/>
          </p:cNvSpPr>
          <p:nvPr>
            <p:ph type="body" idx="1"/>
          </p:nvPr>
        </p:nvSpPr>
        <p:spPr>
          <a:xfrm>
            <a:off x="2577947" y="143219"/>
            <a:ext cx="9474506" cy="6599104"/>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Example of SRTF Scheduling (Preemptive)</a:t>
            </a:r>
            <a:endParaRPr/>
          </a:p>
          <a:p>
            <a:pPr marL="228600" lvl="0" indent="-10160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pic>
        <p:nvPicPr>
          <p:cNvPr id="248" name="Google Shape;248;p19" descr="CPU Scheduling Example-Shortest Job First Algorithm"/>
          <p:cNvPicPr preferRelativeResize="0"/>
          <p:nvPr/>
        </p:nvPicPr>
        <p:blipFill rotWithShape="1">
          <a:blip r:embed="rId3">
            <a:alphaModFix/>
          </a:blip>
          <a:srcRect/>
          <a:stretch/>
        </p:blipFill>
        <p:spPr>
          <a:xfrm>
            <a:off x="3872948" y="3517418"/>
            <a:ext cx="5668617" cy="2545452"/>
          </a:xfrm>
          <a:prstGeom prst="rect">
            <a:avLst/>
          </a:prstGeom>
          <a:noFill/>
          <a:ln>
            <a:noFill/>
          </a:ln>
        </p:spPr>
      </p:pic>
      <p:sp>
        <p:nvSpPr>
          <p:cNvPr id="249" name="Google Shape;249;p19"/>
          <p:cNvSpPr txBox="1"/>
          <p:nvPr/>
        </p:nvSpPr>
        <p:spPr>
          <a:xfrm>
            <a:off x="2861642" y="952745"/>
            <a:ext cx="8767141" cy="2308324"/>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rgbClr val="171616"/>
              </a:buClr>
              <a:buSzPts val="2400"/>
              <a:buFont typeface="Arial"/>
              <a:buChar char="•"/>
            </a:pPr>
            <a:r>
              <a:rPr lang="en-US" sz="2400" i="0" u="none" strike="noStrike">
                <a:solidFill>
                  <a:srgbClr val="171616"/>
                </a:solidFill>
                <a:latin typeface="Times New Roman"/>
                <a:ea typeface="Times New Roman"/>
                <a:cs typeface="Times New Roman"/>
                <a:sym typeface="Times New Roman"/>
              </a:rPr>
              <a:t> In Preemptive SJF Scheduling, jobs are put into the ready queue as they come.</a:t>
            </a:r>
            <a:endParaRPr/>
          </a:p>
          <a:p>
            <a:pPr marL="0" marR="0" lvl="0" indent="-152400" algn="l" rtl="0">
              <a:spcBef>
                <a:spcPts val="0"/>
              </a:spcBef>
              <a:spcAft>
                <a:spcPts val="0"/>
              </a:spcAft>
              <a:buClr>
                <a:srgbClr val="171616"/>
              </a:buClr>
              <a:buSzPts val="2400"/>
              <a:buFont typeface="Arial"/>
              <a:buChar char="•"/>
            </a:pPr>
            <a:r>
              <a:rPr lang="en-US" sz="2400" i="0" u="none" strike="noStrike">
                <a:solidFill>
                  <a:srgbClr val="171616"/>
                </a:solidFill>
                <a:latin typeface="Times New Roman"/>
                <a:ea typeface="Times New Roman"/>
                <a:cs typeface="Times New Roman"/>
                <a:sym typeface="Times New Roman"/>
              </a:rPr>
              <a:t> A process with shortest burst time begins execution.</a:t>
            </a:r>
            <a:endParaRPr/>
          </a:p>
          <a:p>
            <a:pPr marL="0" marR="0" lvl="0" indent="-152400" algn="just" rtl="0">
              <a:spcBef>
                <a:spcPts val="0"/>
              </a:spcBef>
              <a:spcAft>
                <a:spcPts val="0"/>
              </a:spcAft>
              <a:buClr>
                <a:srgbClr val="171616"/>
              </a:buClr>
              <a:buSzPts val="2400"/>
              <a:buFont typeface="Arial"/>
              <a:buChar char="•"/>
            </a:pPr>
            <a:r>
              <a:rPr lang="en-US" sz="2400" i="0" u="none" strike="noStrike">
                <a:solidFill>
                  <a:srgbClr val="171616"/>
                </a:solidFill>
                <a:latin typeface="Times New Roman"/>
                <a:ea typeface="Times New Roman"/>
                <a:cs typeface="Times New Roman"/>
                <a:sym typeface="Times New Roman"/>
              </a:rPr>
              <a:t> If a process with even a shorter burst time arrives, the current process is removed or preempted from execution, and the shorter job is allocated CPU cycle.</a:t>
            </a:r>
            <a:endParaRPr/>
          </a:p>
        </p:txBody>
      </p:sp>
      <p:sp>
        <p:nvSpPr>
          <p:cNvPr id="250" name="Google Shape;250;p19"/>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body" idx="1"/>
          </p:nvPr>
        </p:nvSpPr>
        <p:spPr>
          <a:xfrm>
            <a:off x="2544896" y="121186"/>
            <a:ext cx="9518574" cy="6621137"/>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rgbClr val="0000FF"/>
              </a:buClr>
              <a:buSzPts val="2400"/>
              <a:buChar char="•"/>
            </a:pPr>
            <a:r>
              <a:rPr lang="en-US" sz="2400">
                <a:solidFill>
                  <a:srgbClr val="0000FF"/>
                </a:solidFill>
                <a:latin typeface="Calibri"/>
                <a:ea typeface="Calibri"/>
                <a:cs typeface="Calibri"/>
                <a:sym typeface="Calibri"/>
              </a:rPr>
              <a:t>One approach is</a:t>
            </a:r>
            <a:endParaRPr/>
          </a:p>
          <a:p>
            <a:pPr marL="228600" lvl="0" indent="-228600" algn="l" rtl="0">
              <a:lnSpc>
                <a:spcPct val="150000"/>
              </a:lnSpc>
              <a:spcBef>
                <a:spcPts val="1000"/>
              </a:spcBef>
              <a:spcAft>
                <a:spcPts val="0"/>
              </a:spcAft>
              <a:buClr>
                <a:schemeClr val="dk1"/>
              </a:buClr>
              <a:buSzPts val="2400"/>
              <a:buFont typeface="Noto Sans Symbols"/>
              <a:buChar char="✔"/>
            </a:pPr>
            <a:r>
              <a:rPr lang="en-US" sz="2400">
                <a:latin typeface="Calibri"/>
                <a:ea typeface="Calibri"/>
                <a:cs typeface="Calibri"/>
                <a:sym typeface="Calibri"/>
              </a:rPr>
              <a:t>To try to approximate SJF scheduling.</a:t>
            </a:r>
            <a:endParaRPr/>
          </a:p>
          <a:p>
            <a:pPr marL="228600" lvl="0" indent="-228600" algn="l" rtl="0">
              <a:lnSpc>
                <a:spcPct val="150000"/>
              </a:lnSpc>
              <a:spcBef>
                <a:spcPts val="1000"/>
              </a:spcBef>
              <a:spcAft>
                <a:spcPts val="0"/>
              </a:spcAft>
              <a:buClr>
                <a:schemeClr val="dk1"/>
              </a:buClr>
              <a:buSzPts val="2400"/>
              <a:buFont typeface="Noto Sans Symbols"/>
              <a:buChar char="✔"/>
            </a:pPr>
            <a:r>
              <a:rPr lang="en-US" sz="2400">
                <a:latin typeface="Calibri"/>
                <a:ea typeface="Calibri"/>
                <a:cs typeface="Calibri"/>
                <a:sym typeface="Calibri"/>
              </a:rPr>
              <a:t>We may not know the length of the next CPU burst, but we may be able to predict its value.</a:t>
            </a:r>
            <a:endParaRPr/>
          </a:p>
          <a:p>
            <a:pPr marL="228600" lvl="0" indent="-228600" algn="just" rtl="0">
              <a:lnSpc>
                <a:spcPct val="150000"/>
              </a:lnSpc>
              <a:spcBef>
                <a:spcPts val="1000"/>
              </a:spcBef>
              <a:spcAft>
                <a:spcPts val="0"/>
              </a:spcAft>
              <a:buClr>
                <a:schemeClr val="dk1"/>
              </a:buClr>
              <a:buSzPts val="2400"/>
              <a:buChar char="•"/>
            </a:pPr>
            <a:r>
              <a:rPr lang="en-US" sz="2400">
                <a:latin typeface="Calibri"/>
                <a:ea typeface="Calibri"/>
                <a:cs typeface="Calibri"/>
                <a:sym typeface="Calibri"/>
              </a:rPr>
              <a:t>We expect that the next CPU burst will be similar in length to the previous one.</a:t>
            </a:r>
            <a:endParaRPr/>
          </a:p>
          <a:p>
            <a:pPr marL="228600" lvl="0" indent="-228600" algn="just" rtl="0">
              <a:lnSpc>
                <a:spcPct val="150000"/>
              </a:lnSpc>
              <a:spcBef>
                <a:spcPts val="1000"/>
              </a:spcBef>
              <a:spcAft>
                <a:spcPts val="0"/>
              </a:spcAft>
              <a:buClr>
                <a:schemeClr val="dk1"/>
              </a:buClr>
              <a:buSzPts val="2400"/>
              <a:buChar char="•"/>
            </a:pPr>
            <a:r>
              <a:rPr lang="en-US" sz="2400">
                <a:latin typeface="Calibri"/>
                <a:ea typeface="Calibri"/>
                <a:cs typeface="Calibri"/>
                <a:sym typeface="Calibri"/>
              </a:rPr>
              <a:t>Thus, by computing an approximation of the length of the next CPU burst, we can pick the process with the shortest predicted CPU burst.</a:t>
            </a:r>
            <a:endParaRPr/>
          </a:p>
        </p:txBody>
      </p:sp>
      <p:sp>
        <p:nvSpPr>
          <p:cNvPr id="256" name="Google Shape;256;p20"/>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1"/>
          <p:cNvSpPr txBox="1">
            <a:spLocks noGrp="1"/>
          </p:cNvSpPr>
          <p:nvPr>
            <p:ph type="body" idx="1"/>
          </p:nvPr>
        </p:nvSpPr>
        <p:spPr>
          <a:xfrm>
            <a:off x="2577947" y="143219"/>
            <a:ext cx="9474506" cy="6599104"/>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Priority Scheduling</a:t>
            </a:r>
            <a:r>
              <a:rPr lang="en-US" sz="2400">
                <a:solidFill>
                  <a:srgbClr val="FF0000"/>
                </a:solidFill>
                <a:latin typeface="Calibri"/>
                <a:ea typeface="Calibri"/>
                <a:cs typeface="Calibri"/>
                <a:sym typeface="Calibri"/>
              </a:rPr>
              <a:t> </a:t>
            </a:r>
            <a:endParaRPr sz="2400">
              <a:solidFill>
                <a:srgbClr val="FF0000"/>
              </a:solidFill>
              <a:latin typeface="Calibri"/>
              <a:ea typeface="Calibri"/>
              <a:cs typeface="Calibri"/>
              <a:sym typeface="Calibri"/>
            </a:endParaRPr>
          </a:p>
          <a:p>
            <a:pPr marL="228600" lvl="0" indent="-228600" algn="just" rtl="0">
              <a:lnSpc>
                <a:spcPct val="150000"/>
              </a:lnSpc>
              <a:spcBef>
                <a:spcPts val="1800"/>
              </a:spcBef>
              <a:spcAft>
                <a:spcPts val="0"/>
              </a:spcAft>
              <a:buClr>
                <a:srgbClr val="000000"/>
              </a:buClr>
              <a:buSzPts val="2400"/>
              <a:buChar char="•"/>
            </a:pPr>
            <a:r>
              <a:rPr lang="en-US" sz="2400">
                <a:solidFill>
                  <a:srgbClr val="000000"/>
                </a:solidFill>
                <a:latin typeface="Calibri"/>
                <a:ea typeface="Calibri"/>
                <a:cs typeface="Calibri"/>
                <a:sym typeface="Calibri"/>
              </a:rPr>
              <a:t>A priority is associated with each process, and the CPU is allocated to the process with the highest priority. </a:t>
            </a:r>
            <a:endParaRPr/>
          </a:p>
          <a:p>
            <a:pPr marL="228600" lvl="0" indent="-228600" algn="just" rtl="0">
              <a:lnSpc>
                <a:spcPct val="150000"/>
              </a:lnSpc>
              <a:spcBef>
                <a:spcPts val="1800"/>
              </a:spcBef>
              <a:spcAft>
                <a:spcPts val="0"/>
              </a:spcAft>
              <a:buClr>
                <a:srgbClr val="000000"/>
              </a:buClr>
              <a:buSzPts val="2400"/>
              <a:buChar char="•"/>
            </a:pPr>
            <a:r>
              <a:rPr lang="en-US" sz="2400">
                <a:solidFill>
                  <a:srgbClr val="000000"/>
                </a:solidFill>
                <a:latin typeface="Calibri"/>
                <a:ea typeface="Calibri"/>
                <a:cs typeface="Calibri"/>
                <a:sym typeface="Calibri"/>
              </a:rPr>
              <a:t>Equal-priority processes are scheduled in FCFS order. </a:t>
            </a:r>
            <a:endParaRPr/>
          </a:p>
          <a:p>
            <a:pPr marL="228600" lvl="0" indent="-228600" algn="just" rtl="0">
              <a:lnSpc>
                <a:spcPct val="150000"/>
              </a:lnSpc>
              <a:spcBef>
                <a:spcPts val="1800"/>
              </a:spcBef>
              <a:spcAft>
                <a:spcPts val="0"/>
              </a:spcAft>
              <a:buClr>
                <a:srgbClr val="000000"/>
              </a:buClr>
              <a:buSzPts val="2400"/>
              <a:buChar char="•"/>
            </a:pPr>
            <a:r>
              <a:rPr lang="en-US" sz="2400">
                <a:solidFill>
                  <a:srgbClr val="000000"/>
                </a:solidFill>
                <a:latin typeface="Calibri"/>
                <a:ea typeface="Calibri"/>
                <a:cs typeface="Calibri"/>
                <a:sym typeface="Calibri"/>
              </a:rPr>
              <a:t>An SJF algorithm is simply a priority algorithm where the priority (p) is the inverse of the (predicted) next CPU burst. </a:t>
            </a:r>
            <a:endParaRPr/>
          </a:p>
          <a:p>
            <a:pPr marL="228600" lvl="0" indent="-228600" algn="just" rtl="0">
              <a:lnSpc>
                <a:spcPct val="150000"/>
              </a:lnSpc>
              <a:spcBef>
                <a:spcPts val="1800"/>
              </a:spcBef>
              <a:spcAft>
                <a:spcPts val="0"/>
              </a:spcAft>
              <a:buClr>
                <a:srgbClr val="000000"/>
              </a:buClr>
              <a:buSzPts val="2400"/>
              <a:buChar char="•"/>
            </a:pPr>
            <a:r>
              <a:rPr lang="en-US" sz="2400">
                <a:solidFill>
                  <a:srgbClr val="000000"/>
                </a:solidFill>
                <a:latin typeface="Calibri"/>
                <a:ea typeface="Calibri"/>
                <a:cs typeface="Calibri"/>
                <a:sym typeface="Calibri"/>
              </a:rPr>
              <a:t>The larger the CPU burst, the lower the priority, and vice versa.</a:t>
            </a:r>
            <a:endParaRPr sz="2400">
              <a:latin typeface="Calibri"/>
              <a:ea typeface="Calibri"/>
              <a:cs typeface="Calibri"/>
              <a:sym typeface="Calibri"/>
            </a:endParaRPr>
          </a:p>
          <a:p>
            <a:pPr marL="228600" lvl="0" indent="-228600" algn="just" rtl="0">
              <a:lnSpc>
                <a:spcPct val="150000"/>
              </a:lnSpc>
              <a:spcBef>
                <a:spcPts val="1800"/>
              </a:spcBef>
              <a:spcAft>
                <a:spcPts val="0"/>
              </a:spcAft>
              <a:buClr>
                <a:schemeClr val="dk1"/>
              </a:buClr>
              <a:buSzPts val="2400"/>
              <a:buChar char="•"/>
            </a:pPr>
            <a:r>
              <a:rPr lang="en-US" sz="2400">
                <a:latin typeface="Calibri"/>
                <a:ea typeface="Calibri"/>
                <a:cs typeface="Calibri"/>
                <a:sym typeface="Calibri"/>
              </a:rPr>
              <a:t>A priority Scheduling can be either preemptive or nonpreemptive.</a:t>
            </a:r>
            <a:endParaRPr/>
          </a:p>
          <a:p>
            <a:pPr marL="228600" lvl="0" indent="-228600" algn="just" rtl="0">
              <a:lnSpc>
                <a:spcPct val="150000"/>
              </a:lnSpc>
              <a:spcBef>
                <a:spcPts val="1000"/>
              </a:spcBef>
              <a:spcAft>
                <a:spcPts val="0"/>
              </a:spcAft>
              <a:buClr>
                <a:srgbClr val="000000"/>
              </a:buClr>
              <a:buSzPts val="2400"/>
              <a:buChar char="•"/>
            </a:pPr>
            <a:r>
              <a:rPr lang="en-US" sz="2400">
                <a:solidFill>
                  <a:srgbClr val="000000"/>
                </a:solidFill>
                <a:latin typeface="Calibri"/>
                <a:ea typeface="Calibri"/>
                <a:cs typeface="Calibri"/>
                <a:sym typeface="Calibri"/>
              </a:rPr>
              <a:t>When a process arrives at the ready queue, its priority is compared with the priority of the currently running process.</a:t>
            </a:r>
            <a:endParaRPr sz="2400">
              <a:latin typeface="Calibri"/>
              <a:ea typeface="Calibri"/>
              <a:cs typeface="Calibri"/>
              <a:sym typeface="Calibri"/>
            </a:endParaRPr>
          </a:p>
          <a:p>
            <a:pPr marL="0" lvl="0" indent="0" algn="just" rtl="0">
              <a:lnSpc>
                <a:spcPct val="150000"/>
              </a:lnSpc>
              <a:spcBef>
                <a:spcPts val="1000"/>
              </a:spcBef>
              <a:spcAft>
                <a:spcPts val="0"/>
              </a:spcAft>
              <a:buClr>
                <a:schemeClr val="dk1"/>
              </a:buClr>
              <a:buSzPts val="2400"/>
              <a:buNone/>
            </a:pPr>
            <a:endParaRPr sz="2400">
              <a:latin typeface="Calibri"/>
              <a:ea typeface="Calibri"/>
              <a:cs typeface="Calibri"/>
              <a:sym typeface="Calibri"/>
            </a:endParaRPr>
          </a:p>
        </p:txBody>
      </p:sp>
      <p:sp>
        <p:nvSpPr>
          <p:cNvPr id="262" name="Google Shape;262;p21"/>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2"/>
          <p:cNvSpPr txBox="1">
            <a:spLocks noGrp="1"/>
          </p:cNvSpPr>
          <p:nvPr>
            <p:ph type="body" idx="1"/>
          </p:nvPr>
        </p:nvSpPr>
        <p:spPr>
          <a:xfrm>
            <a:off x="2544896" y="220336"/>
            <a:ext cx="9474506" cy="6488935"/>
          </a:xfrm>
          <a:prstGeom prst="rect">
            <a:avLst/>
          </a:prstGeom>
          <a:noFill/>
          <a:ln>
            <a:noFill/>
          </a:ln>
        </p:spPr>
        <p:txBody>
          <a:bodyPr spcFirstLastPara="1" wrap="square" lIns="91425" tIns="45700" rIns="91425" bIns="45700" anchor="t" anchorCtr="0">
            <a:normAutofit fontScale="77500" lnSpcReduction="20000"/>
          </a:bodyPr>
          <a:lstStyle/>
          <a:p>
            <a:pPr marL="228600" lvl="0" indent="-228631" algn="just" rtl="0">
              <a:lnSpc>
                <a:spcPct val="170000"/>
              </a:lnSpc>
              <a:spcBef>
                <a:spcPts val="0"/>
              </a:spcBef>
              <a:spcAft>
                <a:spcPts val="0"/>
              </a:spcAft>
              <a:buClr>
                <a:schemeClr val="dk1"/>
              </a:buClr>
              <a:buSzPct val="100000"/>
              <a:buChar char="•"/>
            </a:pPr>
            <a:r>
              <a:rPr lang="en-US" sz="3100">
                <a:latin typeface="Calibri"/>
                <a:ea typeface="Calibri"/>
                <a:cs typeface="Calibri"/>
                <a:sym typeface="Calibri"/>
              </a:rPr>
              <a:t>A Preemptive priority scheduling algorithm will pre-empt the CPU if the priority of the newly arrived process is higher than the priority of the currently running process.</a:t>
            </a:r>
            <a:endParaRPr/>
          </a:p>
          <a:p>
            <a:pPr marL="228600" lvl="0" indent="-228631" algn="just" rtl="0">
              <a:lnSpc>
                <a:spcPct val="170000"/>
              </a:lnSpc>
              <a:spcBef>
                <a:spcPts val="1000"/>
              </a:spcBef>
              <a:spcAft>
                <a:spcPts val="0"/>
              </a:spcAft>
              <a:buClr>
                <a:srgbClr val="000000"/>
              </a:buClr>
              <a:buSzPct val="100000"/>
              <a:buChar char="•"/>
            </a:pPr>
            <a:r>
              <a:rPr lang="en-US" sz="3100">
                <a:solidFill>
                  <a:srgbClr val="000000"/>
                </a:solidFill>
                <a:latin typeface="Calibri"/>
                <a:ea typeface="Calibri"/>
                <a:cs typeface="Calibri"/>
                <a:sym typeface="Calibri"/>
              </a:rPr>
              <a:t>A non-preemptive priority scheduling algorithm will simply put the new process at the head of the ready queue. </a:t>
            </a:r>
            <a:endParaRPr/>
          </a:p>
          <a:p>
            <a:pPr marL="228600" lvl="0" indent="-228631" algn="just" rtl="0">
              <a:lnSpc>
                <a:spcPct val="170000"/>
              </a:lnSpc>
              <a:spcBef>
                <a:spcPts val="1015"/>
              </a:spcBef>
              <a:spcAft>
                <a:spcPts val="0"/>
              </a:spcAft>
              <a:buClr>
                <a:schemeClr val="dk1"/>
              </a:buClr>
              <a:buSzPct val="100000"/>
              <a:buChar char="•"/>
            </a:pPr>
            <a:r>
              <a:rPr lang="en-US" sz="3100">
                <a:latin typeface="Calibri"/>
                <a:ea typeface="Calibri"/>
                <a:cs typeface="Calibri"/>
                <a:sym typeface="Calibri"/>
              </a:rPr>
              <a:t>A major problem with priority scheduling algorithm is indefinite blocking.</a:t>
            </a:r>
            <a:endParaRPr/>
          </a:p>
          <a:p>
            <a:pPr marL="228600" lvl="0" indent="-228631" algn="just" rtl="0">
              <a:lnSpc>
                <a:spcPct val="170000"/>
              </a:lnSpc>
              <a:spcBef>
                <a:spcPts val="1015"/>
              </a:spcBef>
              <a:spcAft>
                <a:spcPts val="0"/>
              </a:spcAft>
              <a:buClr>
                <a:schemeClr val="dk1"/>
              </a:buClr>
              <a:buSzPct val="100000"/>
              <a:buChar char="•"/>
            </a:pPr>
            <a:r>
              <a:rPr lang="en-US" sz="3100">
                <a:latin typeface="Calibri"/>
                <a:ea typeface="Calibri"/>
                <a:cs typeface="Calibri"/>
                <a:sym typeface="Calibri"/>
              </a:rPr>
              <a:t>A process that is ready to run but waiting for the CPU  can be considered blocked.</a:t>
            </a:r>
            <a:endParaRPr/>
          </a:p>
          <a:p>
            <a:pPr marL="228600" lvl="0" indent="-228631" algn="just" rtl="0">
              <a:lnSpc>
                <a:spcPct val="170000"/>
              </a:lnSpc>
              <a:spcBef>
                <a:spcPts val="1015"/>
              </a:spcBef>
              <a:spcAft>
                <a:spcPts val="0"/>
              </a:spcAft>
              <a:buClr>
                <a:srgbClr val="000000"/>
              </a:buClr>
              <a:buSzPct val="100000"/>
              <a:buChar char="•"/>
            </a:pPr>
            <a:r>
              <a:rPr lang="en-US" sz="3100">
                <a:solidFill>
                  <a:srgbClr val="000000"/>
                </a:solidFill>
                <a:latin typeface="Calibri"/>
                <a:ea typeface="Calibri"/>
                <a:cs typeface="Calibri"/>
                <a:sym typeface="Calibri"/>
              </a:rPr>
              <a:t>A priority scheduling algorithm can leave some low priority processes waiting indefinitely. </a:t>
            </a:r>
            <a:endParaRPr/>
          </a:p>
          <a:p>
            <a:pPr marL="0" lvl="0" indent="0" algn="just" rtl="0">
              <a:lnSpc>
                <a:spcPct val="170000"/>
              </a:lnSpc>
              <a:spcBef>
                <a:spcPts val="1015"/>
              </a:spcBef>
              <a:spcAft>
                <a:spcPts val="0"/>
              </a:spcAft>
              <a:buClr>
                <a:schemeClr val="dk1"/>
              </a:buClr>
              <a:buSzPct val="100000"/>
              <a:buNone/>
            </a:pPr>
            <a:endParaRPr sz="3100">
              <a:latin typeface="Calibri"/>
              <a:ea typeface="Calibri"/>
              <a:cs typeface="Calibri"/>
              <a:sym typeface="Calibri"/>
            </a:endParaRPr>
          </a:p>
          <a:p>
            <a:pPr marL="0" lvl="0" indent="0" algn="just" rtl="0">
              <a:lnSpc>
                <a:spcPct val="170000"/>
              </a:lnSpc>
              <a:spcBef>
                <a:spcPts val="1015"/>
              </a:spcBef>
              <a:spcAft>
                <a:spcPts val="0"/>
              </a:spcAft>
              <a:buClr>
                <a:schemeClr val="dk1"/>
              </a:buClr>
              <a:buSzPct val="100000"/>
              <a:buNone/>
            </a:pPr>
            <a:endParaRPr sz="3100">
              <a:latin typeface="Calibri"/>
              <a:ea typeface="Calibri"/>
              <a:cs typeface="Calibri"/>
              <a:sym typeface="Calibri"/>
            </a:endParaRPr>
          </a:p>
          <a:p>
            <a:pPr marL="228600" lvl="0" indent="-90804" algn="l" rtl="0">
              <a:lnSpc>
                <a:spcPct val="90000"/>
              </a:lnSpc>
              <a:spcBef>
                <a:spcPts val="1000"/>
              </a:spcBef>
              <a:spcAft>
                <a:spcPts val="0"/>
              </a:spcAft>
              <a:buClr>
                <a:schemeClr val="dk1"/>
              </a:buClr>
              <a:buSzPct val="100000"/>
              <a:buNone/>
            </a:pPr>
            <a:endParaRPr/>
          </a:p>
        </p:txBody>
      </p:sp>
      <p:sp>
        <p:nvSpPr>
          <p:cNvPr id="268" name="Google Shape;268;p22"/>
          <p:cNvSpPr txBox="1"/>
          <p:nvPr/>
        </p:nvSpPr>
        <p:spPr>
          <a:xfrm>
            <a:off x="524064" y="393014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3"/>
          <p:cNvSpPr txBox="1">
            <a:spLocks noGrp="1"/>
          </p:cNvSpPr>
          <p:nvPr>
            <p:ph type="body" idx="1"/>
          </p:nvPr>
        </p:nvSpPr>
        <p:spPr>
          <a:xfrm>
            <a:off x="2500829" y="88135"/>
            <a:ext cx="9573658" cy="6654188"/>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50000"/>
              </a:lnSpc>
              <a:spcBef>
                <a:spcPts val="0"/>
              </a:spcBef>
              <a:spcAft>
                <a:spcPts val="0"/>
              </a:spcAft>
              <a:buClr>
                <a:srgbClr val="000000"/>
              </a:buClr>
              <a:buSzPts val="2400"/>
              <a:buChar char="•"/>
            </a:pPr>
            <a:r>
              <a:rPr lang="en-US" sz="2400">
                <a:solidFill>
                  <a:srgbClr val="000000"/>
                </a:solidFill>
                <a:latin typeface="Calibri"/>
                <a:ea typeface="Calibri"/>
                <a:cs typeface="Calibri"/>
                <a:sym typeface="Calibri"/>
              </a:rPr>
              <a:t>In a heavily loaded computer system, a steady stream of higher priority processes can prevent a low priority process from ever getting the CPU.</a:t>
            </a:r>
            <a:endParaRPr/>
          </a:p>
          <a:p>
            <a:pPr marL="228600" lvl="0" indent="-228600" algn="just" rtl="0">
              <a:lnSpc>
                <a:spcPct val="150000"/>
              </a:lnSpc>
              <a:spcBef>
                <a:spcPts val="1000"/>
              </a:spcBef>
              <a:spcAft>
                <a:spcPts val="0"/>
              </a:spcAft>
              <a:buClr>
                <a:srgbClr val="000000"/>
              </a:buClr>
              <a:buSzPts val="2400"/>
              <a:buChar char="•"/>
            </a:pPr>
            <a:r>
              <a:rPr lang="en-US" sz="2400">
                <a:solidFill>
                  <a:srgbClr val="000000"/>
                </a:solidFill>
                <a:latin typeface="Calibri"/>
                <a:ea typeface="Calibri"/>
                <a:cs typeface="Calibri"/>
                <a:sym typeface="Calibri"/>
              </a:rPr>
              <a:t>A solution to the problem of indefinite blockage of low-priority processes is </a:t>
            </a:r>
            <a:r>
              <a:rPr lang="en-US" sz="2400" b="1">
                <a:solidFill>
                  <a:srgbClr val="000000"/>
                </a:solidFill>
                <a:latin typeface="Calibri"/>
                <a:ea typeface="Calibri"/>
                <a:cs typeface="Calibri"/>
                <a:sym typeface="Calibri"/>
              </a:rPr>
              <a:t>aging</a:t>
            </a:r>
            <a:r>
              <a:rPr lang="en-US" sz="2400">
                <a:solidFill>
                  <a:srgbClr val="000000"/>
                </a:solidFill>
                <a:latin typeface="Calibri"/>
                <a:ea typeface="Calibri"/>
                <a:cs typeface="Calibri"/>
                <a:sym typeface="Calibri"/>
              </a:rPr>
              <a:t>. </a:t>
            </a:r>
            <a:endParaRPr/>
          </a:p>
          <a:p>
            <a:pPr marL="228600" lvl="0" indent="-228600" algn="just" rtl="0">
              <a:lnSpc>
                <a:spcPct val="150000"/>
              </a:lnSpc>
              <a:spcBef>
                <a:spcPts val="1000"/>
              </a:spcBef>
              <a:spcAft>
                <a:spcPts val="0"/>
              </a:spcAft>
              <a:buClr>
                <a:srgbClr val="000000"/>
              </a:buClr>
              <a:buSzPts val="2400"/>
              <a:buChar char="•"/>
            </a:pPr>
            <a:r>
              <a:rPr lang="en-US" sz="2400">
                <a:solidFill>
                  <a:srgbClr val="000000"/>
                </a:solidFill>
                <a:latin typeface="Calibri"/>
                <a:ea typeface="Calibri"/>
                <a:cs typeface="Calibri"/>
                <a:sym typeface="Calibri"/>
              </a:rPr>
              <a:t>Aging is a technique of gradually increasing the priority of processes that wait in the system for a long time. </a:t>
            </a:r>
            <a:endParaRPr/>
          </a:p>
          <a:p>
            <a:pPr marL="0" lvl="0" indent="0" algn="just" rtl="0">
              <a:lnSpc>
                <a:spcPct val="150000"/>
              </a:lnSpc>
              <a:spcBef>
                <a:spcPts val="1000"/>
              </a:spcBef>
              <a:spcAft>
                <a:spcPts val="0"/>
              </a:spcAft>
              <a:buClr>
                <a:srgbClr val="FF0000"/>
              </a:buClr>
              <a:buSzPts val="2400"/>
              <a:buNone/>
            </a:pPr>
            <a:r>
              <a:rPr lang="en-US" sz="2400">
                <a:solidFill>
                  <a:srgbClr val="FF0000"/>
                </a:solidFill>
                <a:latin typeface="Calibri"/>
                <a:ea typeface="Calibri"/>
                <a:cs typeface="Calibri"/>
                <a:sym typeface="Calibri"/>
              </a:rPr>
              <a:t>For example,</a:t>
            </a:r>
            <a:endParaRPr/>
          </a:p>
          <a:p>
            <a:pPr marL="228600" lvl="0" indent="-228600" algn="just" rtl="0">
              <a:lnSpc>
                <a:spcPct val="150000"/>
              </a:lnSpc>
              <a:spcBef>
                <a:spcPts val="1000"/>
              </a:spcBef>
              <a:spcAft>
                <a:spcPts val="0"/>
              </a:spcAft>
              <a:buClr>
                <a:srgbClr val="000000"/>
              </a:buClr>
              <a:buSzPts val="2400"/>
              <a:buChar char="•"/>
            </a:pPr>
            <a:r>
              <a:rPr lang="en-US" sz="2400">
                <a:solidFill>
                  <a:srgbClr val="000000"/>
                </a:solidFill>
                <a:latin typeface="Calibri"/>
                <a:ea typeface="Calibri"/>
                <a:cs typeface="Calibri"/>
                <a:sym typeface="Calibri"/>
              </a:rPr>
              <a:t>If priority range from 127 (low) to 0 (high), we could increase the priority of a waiting process by 1 every 15mins.</a:t>
            </a:r>
            <a:endParaRPr/>
          </a:p>
          <a:p>
            <a:pPr marL="228600" lvl="0" indent="-228600" algn="just" rtl="0">
              <a:lnSpc>
                <a:spcPct val="150000"/>
              </a:lnSpc>
              <a:spcBef>
                <a:spcPts val="1000"/>
              </a:spcBef>
              <a:spcAft>
                <a:spcPts val="0"/>
              </a:spcAft>
              <a:buClr>
                <a:srgbClr val="000000"/>
              </a:buClr>
              <a:buSzPts val="2400"/>
              <a:buChar char="•"/>
            </a:pPr>
            <a:r>
              <a:rPr lang="en-US" sz="2400">
                <a:solidFill>
                  <a:srgbClr val="000000"/>
                </a:solidFill>
                <a:latin typeface="Calibri"/>
                <a:ea typeface="Calibri"/>
                <a:cs typeface="Calibri"/>
                <a:sym typeface="Calibri"/>
              </a:rPr>
              <a:t>Eventually, even a process with an initial priority of 127 would have the highest priority in the system and would be executed.  </a:t>
            </a:r>
            <a:endParaRPr sz="2400">
              <a:latin typeface="Calibri"/>
              <a:ea typeface="Calibri"/>
              <a:cs typeface="Calibri"/>
              <a:sym typeface="Calibri"/>
            </a:endParaRPr>
          </a:p>
          <a:p>
            <a:pPr marL="0" lvl="0" indent="0" algn="l" rtl="0">
              <a:lnSpc>
                <a:spcPct val="90000"/>
              </a:lnSpc>
              <a:spcBef>
                <a:spcPts val="1000"/>
              </a:spcBef>
              <a:spcAft>
                <a:spcPts val="0"/>
              </a:spcAft>
              <a:buClr>
                <a:schemeClr val="dk1"/>
              </a:buClr>
              <a:buSzPts val="2400"/>
              <a:buNone/>
            </a:pPr>
            <a:endParaRPr sz="24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4"/>
          <p:cNvSpPr txBox="1">
            <a:spLocks noGrp="1"/>
          </p:cNvSpPr>
          <p:nvPr>
            <p:ph type="body" idx="1"/>
          </p:nvPr>
        </p:nvSpPr>
        <p:spPr>
          <a:xfrm>
            <a:off x="2500829" y="-185653"/>
            <a:ext cx="9474506" cy="659910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400"/>
              <a:buNone/>
            </a:pPr>
            <a:r>
              <a:rPr lang="en-US" sz="2400" b="1">
                <a:solidFill>
                  <a:srgbClr val="000000"/>
                </a:solidFill>
                <a:latin typeface="Calibri"/>
                <a:ea typeface="Calibri"/>
                <a:cs typeface="Calibri"/>
                <a:sym typeface="Calibri"/>
              </a:rPr>
              <a:t>EX: </a:t>
            </a:r>
            <a:r>
              <a:rPr lang="en-US" sz="2400">
                <a:solidFill>
                  <a:srgbClr val="000000"/>
                </a:solidFill>
                <a:latin typeface="Calibri"/>
                <a:ea typeface="Calibri"/>
                <a:cs typeface="Calibri"/>
                <a:sym typeface="Calibri"/>
              </a:rPr>
              <a:t>Consider the following set of processes, assumed to have arrived at time 0 in the orderP</a:t>
            </a:r>
            <a:r>
              <a:rPr lang="en-US" sz="2400" baseline="-25000">
                <a:solidFill>
                  <a:srgbClr val="000000"/>
                </a:solidFill>
                <a:latin typeface="Calibri"/>
                <a:ea typeface="Calibri"/>
                <a:cs typeface="Calibri"/>
                <a:sym typeface="Calibri"/>
              </a:rPr>
              <a:t>1</a:t>
            </a:r>
            <a:r>
              <a:rPr lang="en-US" sz="2400">
                <a:solidFill>
                  <a:srgbClr val="000000"/>
                </a:solidFill>
                <a:latin typeface="Calibri"/>
                <a:ea typeface="Calibri"/>
                <a:cs typeface="Calibri"/>
                <a:sym typeface="Calibri"/>
              </a:rPr>
              <a:t>, P</a:t>
            </a:r>
            <a:r>
              <a:rPr lang="en-US" sz="2400" baseline="-25000">
                <a:solidFill>
                  <a:srgbClr val="000000"/>
                </a:solidFill>
                <a:latin typeface="Calibri"/>
                <a:ea typeface="Calibri"/>
                <a:cs typeface="Calibri"/>
                <a:sym typeface="Calibri"/>
              </a:rPr>
              <a:t>2</a:t>
            </a:r>
            <a:r>
              <a:rPr lang="en-US" sz="2400">
                <a:solidFill>
                  <a:srgbClr val="000000"/>
                </a:solidFill>
                <a:latin typeface="Calibri"/>
                <a:ea typeface="Calibri"/>
                <a:cs typeface="Calibri"/>
                <a:sym typeface="Calibri"/>
              </a:rPr>
              <a:t>, · · ·, P</a:t>
            </a:r>
            <a:r>
              <a:rPr lang="en-US" sz="2400" baseline="-25000">
                <a:solidFill>
                  <a:srgbClr val="000000"/>
                </a:solidFill>
                <a:latin typeface="Calibri"/>
                <a:ea typeface="Calibri"/>
                <a:cs typeface="Calibri"/>
                <a:sym typeface="Calibri"/>
              </a:rPr>
              <a:t>5</a:t>
            </a:r>
            <a:r>
              <a:rPr lang="en-US" sz="2400" i="1">
                <a:solidFill>
                  <a:srgbClr val="000000"/>
                </a:solidFill>
                <a:latin typeface="Calibri"/>
                <a:ea typeface="Calibri"/>
                <a:cs typeface="Calibri"/>
                <a:sym typeface="Calibri"/>
              </a:rPr>
              <a:t>,</a:t>
            </a:r>
            <a:r>
              <a:rPr lang="en-US" sz="2400">
                <a:solidFill>
                  <a:srgbClr val="000000"/>
                </a:solidFill>
                <a:latin typeface="Calibri"/>
                <a:ea typeface="Calibri"/>
                <a:cs typeface="Calibri"/>
                <a:sym typeface="Calibri"/>
              </a:rPr>
              <a:t> with the length of the CPU burst given in millAI&amp;MLconds: </a:t>
            </a:r>
            <a:endParaRPr sz="2400">
              <a:latin typeface="Calibri"/>
              <a:ea typeface="Calibri"/>
              <a:cs typeface="Calibri"/>
              <a:sym typeface="Calibri"/>
            </a:endParaRPr>
          </a:p>
          <a:p>
            <a:pPr marL="0" lvl="0" indent="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graphicFrame>
        <p:nvGraphicFramePr>
          <p:cNvPr id="279" name="Google Shape;279;p24"/>
          <p:cNvGraphicFramePr/>
          <p:nvPr/>
        </p:nvGraphicFramePr>
        <p:xfrm>
          <a:off x="2731024" y="1569258"/>
          <a:ext cx="2836175" cy="3460816"/>
        </p:xfrm>
        <a:graphic>
          <a:graphicData uri="http://schemas.openxmlformats.org/drawingml/2006/table">
            <a:tbl>
              <a:tblPr firstRow="1" firstCol="1" bandRow="1">
                <a:noFill/>
                <a:tableStyleId>{3C02F722-2B6A-463A-8AD6-FEE97B21EBB0}</a:tableStyleId>
              </a:tblPr>
              <a:tblGrid>
                <a:gridCol w="847250">
                  <a:extLst>
                    <a:ext uri="{9D8B030D-6E8A-4147-A177-3AD203B41FA5}">
                      <a16:colId xmlns:a16="http://schemas.microsoft.com/office/drawing/2014/main" val="20000"/>
                    </a:ext>
                  </a:extLst>
                </a:gridCol>
                <a:gridCol w="1139175">
                  <a:extLst>
                    <a:ext uri="{9D8B030D-6E8A-4147-A177-3AD203B41FA5}">
                      <a16:colId xmlns:a16="http://schemas.microsoft.com/office/drawing/2014/main" val="20001"/>
                    </a:ext>
                  </a:extLst>
                </a:gridCol>
                <a:gridCol w="849750">
                  <a:extLst>
                    <a:ext uri="{9D8B030D-6E8A-4147-A177-3AD203B41FA5}">
                      <a16:colId xmlns:a16="http://schemas.microsoft.com/office/drawing/2014/main" val="20002"/>
                    </a:ext>
                  </a:extLst>
                </a:gridCol>
              </a:tblGrid>
              <a:tr h="278125">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Process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Burst Time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Priority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extLst>
                  <a:ext uri="{0D108BD9-81ED-4DB2-BD59-A6C34878D82A}">
                    <a16:rowId xmlns:a16="http://schemas.microsoft.com/office/drawing/2014/main" val="10000"/>
                  </a:ext>
                </a:extLst>
              </a:tr>
              <a:tr h="274325">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P1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10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3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extLst>
                  <a:ext uri="{0D108BD9-81ED-4DB2-BD59-A6C34878D82A}">
                    <a16:rowId xmlns:a16="http://schemas.microsoft.com/office/drawing/2014/main" val="10001"/>
                  </a:ext>
                </a:extLst>
              </a:tr>
              <a:tr h="274325">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P2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1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1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extLst>
                  <a:ext uri="{0D108BD9-81ED-4DB2-BD59-A6C34878D82A}">
                    <a16:rowId xmlns:a16="http://schemas.microsoft.com/office/drawing/2014/main" val="10002"/>
                  </a:ext>
                </a:extLst>
              </a:tr>
              <a:tr h="274325">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P3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2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4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extLst>
                  <a:ext uri="{0D108BD9-81ED-4DB2-BD59-A6C34878D82A}">
                    <a16:rowId xmlns:a16="http://schemas.microsoft.com/office/drawing/2014/main" val="10003"/>
                  </a:ext>
                </a:extLst>
              </a:tr>
              <a:tr h="274325">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P4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1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5 </a:t>
                      </a:r>
                      <a:endParaRPr sz="1600" u="none" strike="noStrike" cap="none">
                        <a:latin typeface="Calibri"/>
                        <a:ea typeface="Calibri"/>
                        <a:cs typeface="Calibri"/>
                        <a:sym typeface="Calibri"/>
                      </a:endParaRPr>
                    </a:p>
                    <a:p>
                      <a:pPr marL="0" marR="0" lvl="0" indent="0" algn="ctr" rtl="0">
                        <a:lnSpc>
                          <a:spcPct val="107000"/>
                        </a:lnSpc>
                        <a:spcBef>
                          <a:spcPts val="800"/>
                        </a:spcBef>
                        <a:spcAft>
                          <a:spcPts val="0"/>
                        </a:spcAft>
                        <a:buNone/>
                      </a:pPr>
                      <a:r>
                        <a:rPr lang="en-US" sz="1600" u="none" strike="noStrike" cap="none">
                          <a:latin typeface="Calibri"/>
                          <a:ea typeface="Calibri"/>
                          <a:cs typeface="Calibri"/>
                          <a:sym typeface="Calibri"/>
                        </a:rPr>
                        <a:t> </a:t>
                      </a:r>
                      <a:endParaRPr sz="1600" u="none" strike="noStrike" cap="none">
                        <a:latin typeface="Calibri"/>
                        <a:ea typeface="Calibri"/>
                        <a:cs typeface="Calibri"/>
                        <a:sym typeface="Calibri"/>
                      </a:endParaRPr>
                    </a:p>
                  </a:txBody>
                  <a:tcPr marL="2550" marR="32375" marT="25400" marB="0"/>
                </a:tc>
                <a:extLst>
                  <a:ext uri="{0D108BD9-81ED-4DB2-BD59-A6C34878D82A}">
                    <a16:rowId xmlns:a16="http://schemas.microsoft.com/office/drawing/2014/main" val="10004"/>
                  </a:ext>
                </a:extLst>
              </a:tr>
              <a:tr h="270500">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P5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5 </a:t>
                      </a:r>
                      <a:endParaRPr sz="1600" u="none" strike="noStrike" cap="none">
                        <a:latin typeface="Calibri"/>
                        <a:ea typeface="Calibri"/>
                        <a:cs typeface="Calibri"/>
                        <a:sym typeface="Calibri"/>
                      </a:endParaRPr>
                    </a:p>
                  </a:txBody>
                  <a:tcPr marL="2550" marR="32375" marT="25400" marB="0"/>
                </a:tc>
                <a:tc>
                  <a:txBody>
                    <a:bodyPr/>
                    <a:lstStyle/>
                    <a:p>
                      <a:pPr marL="0" marR="0" lvl="0" indent="0" algn="ctr" rtl="0">
                        <a:lnSpc>
                          <a:spcPct val="107000"/>
                        </a:lnSpc>
                        <a:spcBef>
                          <a:spcPts val="0"/>
                        </a:spcBef>
                        <a:spcAft>
                          <a:spcPts val="0"/>
                        </a:spcAft>
                        <a:buNone/>
                      </a:pPr>
                      <a:r>
                        <a:rPr lang="en-US" sz="1600" u="none" strike="noStrike" cap="none">
                          <a:latin typeface="Calibri"/>
                          <a:ea typeface="Calibri"/>
                          <a:cs typeface="Calibri"/>
                          <a:sym typeface="Calibri"/>
                        </a:rPr>
                        <a:t>2 </a:t>
                      </a:r>
                      <a:endParaRPr sz="1600" u="none" strike="noStrike" cap="none">
                        <a:latin typeface="Calibri"/>
                        <a:ea typeface="Calibri"/>
                        <a:cs typeface="Calibri"/>
                        <a:sym typeface="Calibri"/>
                      </a:endParaRPr>
                    </a:p>
                  </a:txBody>
                  <a:tcPr marL="2550" marR="32375" marT="25400" marB="0"/>
                </a:tc>
                <a:extLst>
                  <a:ext uri="{0D108BD9-81ED-4DB2-BD59-A6C34878D82A}">
                    <a16:rowId xmlns:a16="http://schemas.microsoft.com/office/drawing/2014/main" val="10005"/>
                  </a:ext>
                </a:extLst>
              </a:tr>
            </a:tbl>
          </a:graphicData>
        </a:graphic>
      </p:graphicFrame>
      <p:pic>
        <p:nvPicPr>
          <p:cNvPr id="280" name="Google Shape;280;p24"/>
          <p:cNvPicPr preferRelativeResize="0"/>
          <p:nvPr/>
        </p:nvPicPr>
        <p:blipFill rotWithShape="1">
          <a:blip r:embed="rId3">
            <a:alphaModFix/>
          </a:blip>
          <a:srcRect/>
          <a:stretch/>
        </p:blipFill>
        <p:spPr>
          <a:xfrm>
            <a:off x="2585292" y="5177927"/>
            <a:ext cx="7105879" cy="1466878"/>
          </a:xfrm>
          <a:prstGeom prst="rect">
            <a:avLst/>
          </a:prstGeom>
          <a:noFill/>
          <a:ln>
            <a:noFill/>
          </a:ln>
        </p:spPr>
      </p:pic>
      <p:sp>
        <p:nvSpPr>
          <p:cNvPr id="281" name="Google Shape;281;p24"/>
          <p:cNvSpPr txBox="1"/>
          <p:nvPr/>
        </p:nvSpPr>
        <p:spPr>
          <a:xfrm>
            <a:off x="5866483" y="1569258"/>
            <a:ext cx="6108852" cy="281788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000000"/>
                </a:solidFill>
                <a:latin typeface="Calibri"/>
                <a:ea typeface="Calibri"/>
                <a:cs typeface="Calibri"/>
                <a:sym typeface="Calibri"/>
              </a:rPr>
              <a:t>The waiting time is: P1=6; P2=0; P3=16; P4=18; P5=1. </a:t>
            </a:r>
            <a:endParaRPr sz="2400">
              <a:solidFill>
                <a:schemeClr val="dk1"/>
              </a:solidFill>
              <a:latin typeface="Calibri"/>
              <a:ea typeface="Calibri"/>
              <a:cs typeface="Calibri"/>
              <a:sym typeface="Calibri"/>
            </a:endParaRPr>
          </a:p>
          <a:p>
            <a:pPr marL="0" marR="0" lvl="0" indent="0" algn="l" rtl="0">
              <a:lnSpc>
                <a:spcPct val="150000"/>
              </a:lnSpc>
              <a:spcBef>
                <a:spcPts val="15"/>
              </a:spcBef>
              <a:spcAft>
                <a:spcPts val="0"/>
              </a:spcAft>
              <a:buNone/>
            </a:pPr>
            <a:r>
              <a:rPr lang="en-U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marL="0" marR="0" lvl="0" indent="0" algn="just" rtl="0">
              <a:lnSpc>
                <a:spcPct val="150000"/>
              </a:lnSpc>
              <a:spcBef>
                <a:spcPts val="145"/>
              </a:spcBef>
              <a:spcAft>
                <a:spcPts val="0"/>
              </a:spcAft>
              <a:buNone/>
            </a:pPr>
            <a:r>
              <a:rPr lang="en-US" sz="2400">
                <a:solidFill>
                  <a:srgbClr val="000000"/>
                </a:solidFill>
                <a:latin typeface="Calibri"/>
                <a:ea typeface="Calibri"/>
                <a:cs typeface="Calibri"/>
                <a:sym typeface="Calibri"/>
              </a:rPr>
              <a:t>The average waiting time = (6+0+16+18+1)/5=8.2 msec. </a:t>
            </a:r>
            <a:endParaRPr sz="24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5"/>
          <p:cNvSpPr txBox="1">
            <a:spLocks noGrp="1"/>
          </p:cNvSpPr>
          <p:nvPr>
            <p:ph type="body" idx="1"/>
          </p:nvPr>
        </p:nvSpPr>
        <p:spPr>
          <a:xfrm>
            <a:off x="2500829" y="88135"/>
            <a:ext cx="9573658" cy="6654188"/>
          </a:xfrm>
          <a:prstGeom prst="rect">
            <a:avLst/>
          </a:prstGeom>
          <a:noFill/>
          <a:ln>
            <a:noFill/>
          </a:ln>
        </p:spPr>
        <p:txBody>
          <a:bodyPr spcFirstLastPara="1" wrap="square" lIns="91425" tIns="45700" rIns="91425" bIns="45700" anchor="t" anchorCtr="0">
            <a:normAutofit/>
          </a:bodyPr>
          <a:lstStyle/>
          <a:p>
            <a:pPr marL="0" lvl="0" indent="0" algn="ctr" rtl="0">
              <a:lnSpc>
                <a:spcPct val="107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Round-Robin Scheduling</a:t>
            </a:r>
            <a:r>
              <a:rPr lang="en-US" sz="2400">
                <a:solidFill>
                  <a:srgbClr val="FF0000"/>
                </a:solidFill>
                <a:latin typeface="Calibri"/>
                <a:ea typeface="Calibri"/>
                <a:cs typeface="Calibri"/>
                <a:sym typeface="Calibri"/>
              </a:rPr>
              <a:t> </a:t>
            </a:r>
            <a:endParaRPr sz="2400">
              <a:solidFill>
                <a:srgbClr val="FF0000"/>
              </a:solidFill>
              <a:latin typeface="Calibri"/>
              <a:ea typeface="Calibri"/>
              <a:cs typeface="Calibri"/>
              <a:sym typeface="Calibri"/>
            </a:endParaRPr>
          </a:p>
          <a:p>
            <a:pPr marL="0" lvl="0" indent="0" algn="l" rtl="0">
              <a:lnSpc>
                <a:spcPct val="107000"/>
              </a:lnSpc>
              <a:spcBef>
                <a:spcPts val="1800"/>
              </a:spcBef>
              <a:spcAft>
                <a:spcPts val="0"/>
              </a:spcAft>
              <a:buClr>
                <a:srgbClr val="000000"/>
              </a:buClr>
              <a:buSzPts val="2400"/>
              <a:buNone/>
            </a:pPr>
            <a:r>
              <a:rPr lang="en-US" sz="2400">
                <a:solidFill>
                  <a:srgbClr val="000000"/>
                </a:solidFill>
                <a:latin typeface="Calibri"/>
                <a:ea typeface="Calibri"/>
                <a:cs typeface="Calibri"/>
                <a:sym typeface="Calibri"/>
              </a:rPr>
              <a:t>The </a:t>
            </a:r>
            <a:r>
              <a:rPr lang="en-US" sz="2400" b="1">
                <a:solidFill>
                  <a:srgbClr val="000000"/>
                </a:solidFill>
                <a:latin typeface="Calibri"/>
                <a:ea typeface="Calibri"/>
                <a:cs typeface="Calibri"/>
                <a:sym typeface="Calibri"/>
              </a:rPr>
              <a:t>round-robin (RR) scheduling algorithm</a:t>
            </a:r>
            <a:r>
              <a:rPr lang="en-US" sz="2400">
                <a:solidFill>
                  <a:srgbClr val="000000"/>
                </a:solidFill>
                <a:latin typeface="Calibri"/>
                <a:ea typeface="Calibri"/>
                <a:cs typeface="Calibri"/>
                <a:sym typeface="Calibri"/>
              </a:rPr>
              <a:t> is designed especially for timesharing systems. </a:t>
            </a:r>
            <a:endParaRPr/>
          </a:p>
          <a:p>
            <a:pPr marL="0" lvl="0" indent="0" algn="just" rtl="0">
              <a:lnSpc>
                <a:spcPct val="148000"/>
              </a:lnSpc>
              <a:spcBef>
                <a:spcPts val="1060"/>
              </a:spcBef>
              <a:spcAft>
                <a:spcPts val="0"/>
              </a:spcAft>
              <a:buClr>
                <a:srgbClr val="000000"/>
              </a:buClr>
              <a:buSzPts val="2400"/>
              <a:buNone/>
            </a:pPr>
            <a:r>
              <a:rPr lang="en-US" sz="2400">
                <a:solidFill>
                  <a:srgbClr val="000000"/>
                </a:solidFill>
                <a:latin typeface="Calibri"/>
                <a:ea typeface="Calibri"/>
                <a:cs typeface="Calibri"/>
                <a:sym typeface="Calibri"/>
              </a:rPr>
              <a:t>It is similar to FCFS scheduling, but preemption is added to enable the system to switch between processes. </a:t>
            </a:r>
            <a:endParaRPr/>
          </a:p>
          <a:p>
            <a:pPr marL="0" lvl="0" indent="0" algn="just" rtl="0">
              <a:lnSpc>
                <a:spcPct val="148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A small unit of time, called a </a:t>
            </a:r>
            <a:r>
              <a:rPr lang="en-US" sz="2400" b="1">
                <a:solidFill>
                  <a:srgbClr val="000000"/>
                </a:solidFill>
                <a:latin typeface="Calibri"/>
                <a:ea typeface="Calibri"/>
                <a:cs typeface="Calibri"/>
                <a:sym typeface="Calibri"/>
              </a:rPr>
              <a:t>time quantum</a:t>
            </a:r>
            <a:r>
              <a:rPr lang="en-US" sz="2400">
                <a:solidFill>
                  <a:srgbClr val="000000"/>
                </a:solidFill>
                <a:latin typeface="Calibri"/>
                <a:ea typeface="Calibri"/>
                <a:cs typeface="Calibri"/>
                <a:sym typeface="Calibri"/>
              </a:rPr>
              <a:t> or </a:t>
            </a:r>
            <a:r>
              <a:rPr lang="en-US" sz="2400" b="1">
                <a:solidFill>
                  <a:srgbClr val="000000"/>
                </a:solidFill>
                <a:latin typeface="Calibri"/>
                <a:ea typeface="Calibri"/>
                <a:cs typeface="Calibri"/>
                <a:sym typeface="Calibri"/>
              </a:rPr>
              <a:t>time slice</a:t>
            </a:r>
            <a:r>
              <a:rPr lang="en-US" sz="2400">
                <a:solidFill>
                  <a:srgbClr val="000000"/>
                </a:solidFill>
                <a:latin typeface="Calibri"/>
                <a:ea typeface="Calibri"/>
                <a:cs typeface="Calibri"/>
                <a:sym typeface="Calibri"/>
              </a:rPr>
              <a:t>, is defined.</a:t>
            </a:r>
            <a:endParaRPr/>
          </a:p>
          <a:p>
            <a:pPr marL="0" lvl="0" indent="0" algn="just" rtl="0">
              <a:lnSpc>
                <a:spcPct val="148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The ready queue is treated as a circular queue. </a:t>
            </a:r>
            <a:endParaRPr/>
          </a:p>
          <a:p>
            <a:pPr marL="0" lvl="0" indent="0" algn="just" rtl="0">
              <a:lnSpc>
                <a:spcPct val="148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The CPU scheduler goes around the ready queue, allocating the CPU to each process for a time interval of up to 1 time quantum. </a:t>
            </a:r>
            <a:endParaRPr sz="2400">
              <a:latin typeface="Calibri"/>
              <a:ea typeface="Calibri"/>
              <a:cs typeface="Calibri"/>
              <a:sym typeface="Calibri"/>
            </a:endParaRPr>
          </a:p>
          <a:p>
            <a:pPr marL="228600" lvl="0" indent="-76200" algn="l" rtl="0">
              <a:lnSpc>
                <a:spcPct val="90000"/>
              </a:lnSpc>
              <a:spcBef>
                <a:spcPts val="1015"/>
              </a:spcBef>
              <a:spcAft>
                <a:spcPts val="0"/>
              </a:spcAft>
              <a:buClr>
                <a:schemeClr val="dk1"/>
              </a:buClr>
              <a:buSzPts val="2400"/>
              <a:buNone/>
            </a:pPr>
            <a:endParaRPr sz="24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6"/>
          <p:cNvSpPr txBox="1">
            <a:spLocks noGrp="1"/>
          </p:cNvSpPr>
          <p:nvPr>
            <p:ph type="body" idx="1"/>
          </p:nvPr>
        </p:nvSpPr>
        <p:spPr>
          <a:xfrm>
            <a:off x="2533880" y="143218"/>
            <a:ext cx="9485522" cy="6610121"/>
          </a:xfrm>
          <a:prstGeom prst="rect">
            <a:avLst/>
          </a:prstGeom>
          <a:noFill/>
          <a:ln>
            <a:noFill/>
          </a:ln>
        </p:spPr>
        <p:txBody>
          <a:bodyPr spcFirstLastPara="1" wrap="square" lIns="91425" tIns="45700" rIns="91425" bIns="45700" anchor="t" anchorCtr="0">
            <a:normAutofit/>
          </a:bodyPr>
          <a:lstStyle/>
          <a:p>
            <a:pPr marL="0" lvl="0" indent="0" algn="just" rtl="0">
              <a:lnSpc>
                <a:spcPct val="148000"/>
              </a:lnSpc>
              <a:spcBef>
                <a:spcPts val="0"/>
              </a:spcBef>
              <a:spcAft>
                <a:spcPts val="0"/>
              </a:spcAft>
              <a:buClr>
                <a:srgbClr val="0000FF"/>
              </a:buClr>
              <a:buSzPts val="2400"/>
              <a:buNone/>
            </a:pPr>
            <a:r>
              <a:rPr lang="en-US" sz="2400">
                <a:solidFill>
                  <a:srgbClr val="0000FF"/>
                </a:solidFill>
                <a:latin typeface="Calibri"/>
                <a:ea typeface="Calibri"/>
                <a:cs typeface="Calibri"/>
                <a:sym typeface="Calibri"/>
              </a:rPr>
              <a:t>To implement RR scheduling</a:t>
            </a:r>
            <a:endParaRPr/>
          </a:p>
          <a:p>
            <a:pPr marL="228600" lvl="0" indent="-228600" algn="just" rtl="0">
              <a:lnSpc>
                <a:spcPct val="148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we keep the ready queue as a FIFO queue of processes.</a:t>
            </a:r>
            <a:endParaRPr/>
          </a:p>
          <a:p>
            <a:pPr marL="228600" lvl="0" indent="-228600" algn="just" rtl="0">
              <a:lnSpc>
                <a:spcPct val="148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 New processes are added to the tail of the ready queue. </a:t>
            </a:r>
            <a:endParaRPr/>
          </a:p>
          <a:p>
            <a:pPr marL="228600" lvl="0" indent="-228600" algn="just" rtl="0">
              <a:lnSpc>
                <a:spcPct val="148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The CPU scheduler picks the first process from the ready queue, sets a timer to interrupt after 1 time quantum, and dispatches the process. </a:t>
            </a:r>
            <a:endParaRPr sz="2400">
              <a:latin typeface="Calibri"/>
              <a:ea typeface="Calibri"/>
              <a:cs typeface="Calibri"/>
              <a:sym typeface="Calibri"/>
            </a:endParaRPr>
          </a:p>
          <a:p>
            <a:pPr marL="0" lvl="0" indent="0" algn="just" rtl="0">
              <a:lnSpc>
                <a:spcPct val="148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One of two things will then happen. </a:t>
            </a:r>
            <a:endParaRPr/>
          </a:p>
          <a:p>
            <a:pPr marL="0" lvl="0" indent="0" algn="just" rtl="0">
              <a:lnSpc>
                <a:spcPct val="148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The process may have a CPU burst of less than 1 time quantum. </a:t>
            </a:r>
            <a:endParaRPr/>
          </a:p>
          <a:p>
            <a:pPr marL="0" lvl="0" indent="0" algn="just" rtl="0">
              <a:lnSpc>
                <a:spcPct val="148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The process itself will release the CPU voluntarily</a:t>
            </a:r>
            <a:endParaRPr/>
          </a:p>
          <a:p>
            <a:pPr marL="0" lvl="0" indent="0" algn="just" rtl="0">
              <a:lnSpc>
                <a:spcPct val="148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The CPU scheduler will then proceed to the next process in the ready queue</a:t>
            </a:r>
            <a:endParaRPr sz="2400">
              <a:latin typeface="Calibri"/>
              <a:ea typeface="Calibri"/>
              <a:cs typeface="Calibri"/>
              <a:sym typeface="Calibri"/>
            </a:endParaRPr>
          </a:p>
          <a:p>
            <a:pPr marL="228600" lvl="0" indent="-76200" algn="l" rtl="0">
              <a:lnSpc>
                <a:spcPct val="90000"/>
              </a:lnSpc>
              <a:spcBef>
                <a:spcPts val="1015"/>
              </a:spcBef>
              <a:spcAft>
                <a:spcPts val="0"/>
              </a:spcAft>
              <a:buClr>
                <a:schemeClr val="dk1"/>
              </a:buClr>
              <a:buSzPts val="2400"/>
              <a:buNone/>
            </a:pPr>
            <a:endParaRPr sz="24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7"/>
          <p:cNvSpPr txBox="1">
            <a:spLocks noGrp="1"/>
          </p:cNvSpPr>
          <p:nvPr>
            <p:ph type="body" idx="1"/>
          </p:nvPr>
        </p:nvSpPr>
        <p:spPr>
          <a:xfrm>
            <a:off x="2599981" y="143218"/>
            <a:ext cx="9592019" cy="6714781"/>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The CPU burst of the currently running process is longer than 1 time quantum, the timer will go off and will cause an interrupt to the operating system. </a:t>
            </a:r>
            <a:endParaRPr/>
          </a:p>
          <a:p>
            <a:pPr marL="0" lvl="0" indent="0" algn="just" rtl="0">
              <a:lnSpc>
                <a:spcPct val="150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A context switch will be executed, and the process will be put at the </a:t>
            </a:r>
            <a:r>
              <a:rPr lang="en-US" sz="2400" b="1">
                <a:solidFill>
                  <a:srgbClr val="000000"/>
                </a:solidFill>
                <a:latin typeface="Calibri"/>
                <a:ea typeface="Calibri"/>
                <a:cs typeface="Calibri"/>
                <a:sym typeface="Calibri"/>
              </a:rPr>
              <a:t>tail</a:t>
            </a:r>
            <a:r>
              <a:rPr lang="en-US" sz="2400">
                <a:solidFill>
                  <a:srgbClr val="000000"/>
                </a:solidFill>
                <a:latin typeface="Calibri"/>
                <a:ea typeface="Calibri"/>
                <a:cs typeface="Calibri"/>
                <a:sym typeface="Calibri"/>
              </a:rPr>
              <a:t> of the ready queue. </a:t>
            </a:r>
            <a:endParaRPr/>
          </a:p>
          <a:p>
            <a:pPr marL="0" lvl="0" indent="0" algn="just" rtl="0">
              <a:lnSpc>
                <a:spcPct val="150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The CPU scheduler will then select the next process in the ready queue. </a:t>
            </a:r>
            <a:endParaRPr/>
          </a:p>
          <a:p>
            <a:pPr marL="0" lvl="0" indent="0" algn="just" rtl="0">
              <a:lnSpc>
                <a:spcPct val="150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The average waiting time under the RR policy is often long. </a:t>
            </a:r>
            <a:endParaRPr sz="2400">
              <a:latin typeface="Calibri"/>
              <a:ea typeface="Calibri"/>
              <a:cs typeface="Calibri"/>
              <a:sym typeface="Calibri"/>
            </a:endParaRPr>
          </a:p>
          <a:p>
            <a:pPr marL="0" lvl="0" indent="0" algn="l" rtl="0">
              <a:lnSpc>
                <a:spcPct val="90000"/>
              </a:lnSpc>
              <a:spcBef>
                <a:spcPts val="1015"/>
              </a:spcBef>
              <a:spcAft>
                <a:spcPts val="0"/>
              </a:spcAft>
              <a:buClr>
                <a:schemeClr val="dk1"/>
              </a:buClr>
              <a:buSzPts val="2800"/>
              <a:buNone/>
            </a:pPr>
            <a:endParaRPr/>
          </a:p>
        </p:txBody>
      </p:sp>
      <p:sp>
        <p:nvSpPr>
          <p:cNvPr id="297" name="Google Shape;297;p27"/>
          <p:cNvSpPr txBox="1"/>
          <p:nvPr/>
        </p:nvSpPr>
        <p:spPr>
          <a:xfrm>
            <a:off x="2599981" y="4463840"/>
            <a:ext cx="9240398" cy="169706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000000"/>
                </a:solidFill>
                <a:latin typeface="Calibri"/>
                <a:ea typeface="Calibri"/>
                <a:cs typeface="Calibri"/>
                <a:sym typeface="Calibri"/>
              </a:rPr>
              <a:t>In the RR scheduling algorithm, no process is allocated the CPU for more than 1 time quantum in a row. The performance of the RR algorithm depends heavily on the size of the time quantum. </a:t>
            </a:r>
            <a:endParaRPr sz="24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8"/>
          <p:cNvSpPr txBox="1">
            <a:spLocks noGrp="1"/>
          </p:cNvSpPr>
          <p:nvPr>
            <p:ph type="body" idx="1"/>
          </p:nvPr>
        </p:nvSpPr>
        <p:spPr>
          <a:xfrm>
            <a:off x="2500829" y="88135"/>
            <a:ext cx="9573658" cy="665418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400"/>
              <a:buNone/>
            </a:pPr>
            <a:r>
              <a:rPr lang="en-US" sz="2400" b="1">
                <a:solidFill>
                  <a:srgbClr val="000000"/>
                </a:solidFill>
                <a:latin typeface="Calibri"/>
                <a:ea typeface="Calibri"/>
                <a:cs typeface="Calibri"/>
                <a:sym typeface="Calibri"/>
              </a:rPr>
              <a:t>Ex: </a:t>
            </a:r>
            <a:r>
              <a:rPr lang="en-US" sz="2400">
                <a:solidFill>
                  <a:srgbClr val="000000"/>
                </a:solidFill>
                <a:latin typeface="Calibri"/>
                <a:ea typeface="Calibri"/>
                <a:cs typeface="Calibri"/>
                <a:sym typeface="Calibri"/>
              </a:rPr>
              <a:t>Consider the following set of processes that arrive at time 0, with the length of the </a:t>
            </a:r>
            <a:endParaRPr sz="2400">
              <a:latin typeface="Calibri"/>
              <a:ea typeface="Calibri"/>
              <a:cs typeface="Calibri"/>
              <a:sym typeface="Calibri"/>
            </a:endParaRPr>
          </a:p>
          <a:p>
            <a:pPr marL="0" lvl="0" indent="0" algn="just" rtl="0">
              <a:lnSpc>
                <a:spcPct val="150000"/>
              </a:lnSpc>
              <a:spcBef>
                <a:spcPts val="1585"/>
              </a:spcBef>
              <a:spcAft>
                <a:spcPts val="0"/>
              </a:spcAft>
              <a:buClr>
                <a:srgbClr val="000000"/>
              </a:buClr>
              <a:buSzPts val="2400"/>
              <a:buNone/>
            </a:pPr>
            <a:r>
              <a:rPr lang="en-US" sz="2400">
                <a:solidFill>
                  <a:srgbClr val="000000"/>
                </a:solidFill>
                <a:latin typeface="Calibri"/>
                <a:ea typeface="Calibri"/>
                <a:cs typeface="Calibri"/>
                <a:sym typeface="Calibri"/>
              </a:rPr>
              <a:t>CPU burst given in millAI&amp;MLconds with time quantum of 4ms. </a:t>
            </a:r>
            <a:endParaRPr sz="2400">
              <a:latin typeface="Calibri"/>
              <a:ea typeface="Calibri"/>
              <a:cs typeface="Calibri"/>
              <a:sym typeface="Calibri"/>
            </a:endParaRPr>
          </a:p>
          <a:p>
            <a:pPr marL="228600" lvl="0" indent="-76200" algn="l" rtl="0">
              <a:lnSpc>
                <a:spcPct val="90000"/>
              </a:lnSpc>
              <a:spcBef>
                <a:spcPts val="1585"/>
              </a:spcBef>
              <a:spcAft>
                <a:spcPts val="0"/>
              </a:spcAft>
              <a:buClr>
                <a:schemeClr val="dk1"/>
              </a:buClr>
              <a:buSzPts val="2400"/>
              <a:buNone/>
            </a:pPr>
            <a:endParaRPr sz="2400">
              <a:latin typeface="Calibri"/>
              <a:ea typeface="Calibri"/>
              <a:cs typeface="Calibri"/>
              <a:sym typeface="Calibri"/>
            </a:endParaRPr>
          </a:p>
        </p:txBody>
      </p:sp>
      <p:graphicFrame>
        <p:nvGraphicFramePr>
          <p:cNvPr id="303" name="Google Shape;303;p28"/>
          <p:cNvGraphicFramePr/>
          <p:nvPr/>
        </p:nvGraphicFramePr>
        <p:xfrm>
          <a:off x="2985571" y="2142926"/>
          <a:ext cx="3371150" cy="2572129"/>
        </p:xfrm>
        <a:graphic>
          <a:graphicData uri="http://schemas.openxmlformats.org/drawingml/2006/table">
            <a:tbl>
              <a:tblPr firstRow="1" firstCol="1" bandRow="1">
                <a:noFill/>
                <a:tableStyleId>{3C02F722-2B6A-463A-8AD6-FEE97B21EBB0}</a:tableStyleId>
              </a:tblPr>
              <a:tblGrid>
                <a:gridCol w="1435625">
                  <a:extLst>
                    <a:ext uri="{9D8B030D-6E8A-4147-A177-3AD203B41FA5}">
                      <a16:colId xmlns:a16="http://schemas.microsoft.com/office/drawing/2014/main" val="20000"/>
                    </a:ext>
                  </a:extLst>
                </a:gridCol>
                <a:gridCol w="1935525">
                  <a:extLst>
                    <a:ext uri="{9D8B030D-6E8A-4147-A177-3AD203B41FA5}">
                      <a16:colId xmlns:a16="http://schemas.microsoft.com/office/drawing/2014/main" val="20001"/>
                    </a:ext>
                  </a:extLst>
                </a:gridCol>
              </a:tblGrid>
              <a:tr h="691375">
                <a:tc>
                  <a:txBody>
                    <a:bodyPr/>
                    <a:lstStyle/>
                    <a:p>
                      <a:pPr marL="0" marR="0" lvl="0" indent="0" algn="ctr" rtl="0">
                        <a:lnSpc>
                          <a:spcPct val="107000"/>
                        </a:lnSpc>
                        <a:spcBef>
                          <a:spcPts val="0"/>
                        </a:spcBef>
                        <a:spcAft>
                          <a:spcPts val="0"/>
                        </a:spcAft>
                        <a:buNone/>
                      </a:pPr>
                      <a:r>
                        <a:rPr lang="en-US" sz="1800" u="none" strike="noStrike" cap="none"/>
                        <a:t>Process </a:t>
                      </a:r>
                      <a:endParaRPr sz="1800" u="none" strike="noStrike" cap="none"/>
                    </a:p>
                    <a:p>
                      <a:pPr marL="0" marR="0" lvl="0" indent="0" algn="ctr" rtl="0">
                        <a:lnSpc>
                          <a:spcPct val="107000"/>
                        </a:lnSpc>
                        <a:spcBef>
                          <a:spcPts val="800"/>
                        </a:spcBef>
                        <a:spcAft>
                          <a:spcPts val="0"/>
                        </a:spcAft>
                        <a:buNone/>
                      </a:pPr>
                      <a:r>
                        <a:rPr lang="en-US" sz="1800" u="none" strike="noStrike" cap="none"/>
                        <a:t> </a:t>
                      </a:r>
                      <a:endParaRPr sz="1800" u="none" strike="noStrike" cap="none">
                        <a:latin typeface="Calibri"/>
                        <a:ea typeface="Calibri"/>
                        <a:cs typeface="Calibri"/>
                        <a:sym typeface="Calibri"/>
                      </a:endParaRPr>
                    </a:p>
                  </a:txBody>
                  <a:tcPr marL="0" marR="31125" marT="24125" marB="0"/>
                </a:tc>
                <a:tc>
                  <a:txBody>
                    <a:bodyPr/>
                    <a:lstStyle/>
                    <a:p>
                      <a:pPr marL="0" marR="0" lvl="0" indent="0" algn="ctr" rtl="0">
                        <a:lnSpc>
                          <a:spcPct val="107000"/>
                        </a:lnSpc>
                        <a:spcBef>
                          <a:spcPts val="0"/>
                        </a:spcBef>
                        <a:spcAft>
                          <a:spcPts val="0"/>
                        </a:spcAft>
                        <a:buNone/>
                      </a:pPr>
                      <a:r>
                        <a:rPr lang="en-US" sz="1800" u="none" strike="noStrike" cap="none"/>
                        <a:t>Burst Time </a:t>
                      </a:r>
                      <a:endParaRPr sz="1800" u="none" strike="noStrike" cap="none"/>
                    </a:p>
                    <a:p>
                      <a:pPr marL="0" marR="0" lvl="0" indent="0" algn="ctr" rtl="0">
                        <a:lnSpc>
                          <a:spcPct val="107000"/>
                        </a:lnSpc>
                        <a:spcBef>
                          <a:spcPts val="800"/>
                        </a:spcBef>
                        <a:spcAft>
                          <a:spcPts val="0"/>
                        </a:spcAft>
                        <a:buNone/>
                      </a:pPr>
                      <a:r>
                        <a:rPr lang="en-US" sz="1800" u="none" strike="noStrike" cap="none"/>
                        <a:t> </a:t>
                      </a:r>
                      <a:endParaRPr sz="1800" u="none" strike="noStrike" cap="none">
                        <a:latin typeface="Calibri"/>
                        <a:ea typeface="Calibri"/>
                        <a:cs typeface="Calibri"/>
                        <a:sym typeface="Calibri"/>
                      </a:endParaRPr>
                    </a:p>
                  </a:txBody>
                  <a:tcPr marL="0" marR="31125" marT="24125" marB="0"/>
                </a:tc>
                <a:extLst>
                  <a:ext uri="{0D108BD9-81ED-4DB2-BD59-A6C34878D82A}">
                    <a16:rowId xmlns:a16="http://schemas.microsoft.com/office/drawing/2014/main" val="10000"/>
                  </a:ext>
                </a:extLst>
              </a:tr>
              <a:tr h="724150">
                <a:tc>
                  <a:txBody>
                    <a:bodyPr/>
                    <a:lstStyle/>
                    <a:p>
                      <a:pPr marL="0" marR="0" lvl="0" indent="0" algn="ctr" rtl="0">
                        <a:lnSpc>
                          <a:spcPct val="107000"/>
                        </a:lnSpc>
                        <a:spcBef>
                          <a:spcPts val="0"/>
                        </a:spcBef>
                        <a:spcAft>
                          <a:spcPts val="0"/>
                        </a:spcAft>
                        <a:buNone/>
                      </a:pPr>
                      <a:r>
                        <a:rPr lang="en-US" sz="1800" u="none" strike="noStrike" cap="none"/>
                        <a:t>P1 </a:t>
                      </a:r>
                      <a:endParaRPr sz="1800" u="none" strike="noStrike" cap="none"/>
                    </a:p>
                    <a:p>
                      <a:pPr marL="0" marR="0" lvl="0" indent="0" algn="ctr" rtl="0">
                        <a:lnSpc>
                          <a:spcPct val="107000"/>
                        </a:lnSpc>
                        <a:spcBef>
                          <a:spcPts val="800"/>
                        </a:spcBef>
                        <a:spcAft>
                          <a:spcPts val="0"/>
                        </a:spcAft>
                        <a:buNone/>
                      </a:pPr>
                      <a:r>
                        <a:rPr lang="en-US" sz="1800" u="none" strike="noStrike" cap="none"/>
                        <a:t> </a:t>
                      </a:r>
                      <a:endParaRPr sz="1800" u="none" strike="noStrike" cap="none">
                        <a:latin typeface="Calibri"/>
                        <a:ea typeface="Calibri"/>
                        <a:cs typeface="Calibri"/>
                        <a:sym typeface="Calibri"/>
                      </a:endParaRPr>
                    </a:p>
                  </a:txBody>
                  <a:tcPr marL="0" marR="31125" marT="24125" marB="0"/>
                </a:tc>
                <a:tc>
                  <a:txBody>
                    <a:bodyPr/>
                    <a:lstStyle/>
                    <a:p>
                      <a:pPr marL="0" marR="0" lvl="0" indent="0" algn="ctr" rtl="0">
                        <a:lnSpc>
                          <a:spcPct val="107000"/>
                        </a:lnSpc>
                        <a:spcBef>
                          <a:spcPts val="0"/>
                        </a:spcBef>
                        <a:spcAft>
                          <a:spcPts val="0"/>
                        </a:spcAft>
                        <a:buNone/>
                      </a:pPr>
                      <a:r>
                        <a:rPr lang="en-US" sz="1800" u="none" strike="noStrike" cap="none"/>
                        <a:t>24 </a:t>
                      </a:r>
                      <a:endParaRPr sz="1800" u="none" strike="noStrike" cap="none"/>
                    </a:p>
                    <a:p>
                      <a:pPr marL="0" marR="0" lvl="0" indent="0" algn="ctr" rtl="0">
                        <a:lnSpc>
                          <a:spcPct val="107000"/>
                        </a:lnSpc>
                        <a:spcBef>
                          <a:spcPts val="800"/>
                        </a:spcBef>
                        <a:spcAft>
                          <a:spcPts val="0"/>
                        </a:spcAft>
                        <a:buNone/>
                      </a:pPr>
                      <a:r>
                        <a:rPr lang="en-US" sz="1800" u="none" strike="noStrike" cap="none"/>
                        <a:t> </a:t>
                      </a:r>
                      <a:endParaRPr sz="1800" u="none" strike="noStrike" cap="none">
                        <a:latin typeface="Calibri"/>
                        <a:ea typeface="Calibri"/>
                        <a:cs typeface="Calibri"/>
                        <a:sym typeface="Calibri"/>
                      </a:endParaRPr>
                    </a:p>
                  </a:txBody>
                  <a:tcPr marL="0" marR="31125" marT="24125" marB="0"/>
                </a:tc>
                <a:extLst>
                  <a:ext uri="{0D108BD9-81ED-4DB2-BD59-A6C34878D82A}">
                    <a16:rowId xmlns:a16="http://schemas.microsoft.com/office/drawing/2014/main" val="10001"/>
                  </a:ext>
                </a:extLst>
              </a:tr>
              <a:tr h="691375">
                <a:tc>
                  <a:txBody>
                    <a:bodyPr/>
                    <a:lstStyle/>
                    <a:p>
                      <a:pPr marL="0" marR="0" lvl="0" indent="0" algn="ctr" rtl="0">
                        <a:lnSpc>
                          <a:spcPct val="107000"/>
                        </a:lnSpc>
                        <a:spcBef>
                          <a:spcPts val="0"/>
                        </a:spcBef>
                        <a:spcAft>
                          <a:spcPts val="0"/>
                        </a:spcAft>
                        <a:buNone/>
                      </a:pPr>
                      <a:r>
                        <a:rPr lang="en-US" sz="1800" u="none" strike="noStrike" cap="none"/>
                        <a:t>P2 </a:t>
                      </a:r>
                      <a:endParaRPr sz="1800" u="none" strike="noStrike" cap="none"/>
                    </a:p>
                    <a:p>
                      <a:pPr marL="0" marR="0" lvl="0" indent="0" algn="ctr" rtl="0">
                        <a:lnSpc>
                          <a:spcPct val="107000"/>
                        </a:lnSpc>
                        <a:spcBef>
                          <a:spcPts val="800"/>
                        </a:spcBef>
                        <a:spcAft>
                          <a:spcPts val="0"/>
                        </a:spcAft>
                        <a:buNone/>
                      </a:pPr>
                      <a:r>
                        <a:rPr lang="en-US" sz="1800" u="none" strike="noStrike" cap="none"/>
                        <a:t> </a:t>
                      </a:r>
                      <a:endParaRPr sz="1800" u="none" strike="noStrike" cap="none">
                        <a:latin typeface="Calibri"/>
                        <a:ea typeface="Calibri"/>
                        <a:cs typeface="Calibri"/>
                        <a:sym typeface="Calibri"/>
                      </a:endParaRPr>
                    </a:p>
                  </a:txBody>
                  <a:tcPr marL="0" marR="31125" marT="24125" marB="0"/>
                </a:tc>
                <a:tc>
                  <a:txBody>
                    <a:bodyPr/>
                    <a:lstStyle/>
                    <a:p>
                      <a:pPr marL="0" marR="0" lvl="0" indent="0" algn="ctr" rtl="0">
                        <a:lnSpc>
                          <a:spcPct val="107000"/>
                        </a:lnSpc>
                        <a:spcBef>
                          <a:spcPts val="0"/>
                        </a:spcBef>
                        <a:spcAft>
                          <a:spcPts val="0"/>
                        </a:spcAft>
                        <a:buNone/>
                      </a:pPr>
                      <a:r>
                        <a:rPr lang="en-US" sz="1800" u="none" strike="noStrike" cap="none"/>
                        <a:t>3</a:t>
                      </a:r>
                      <a:endParaRPr sz="1800" u="none" strike="noStrike" cap="none"/>
                    </a:p>
                    <a:p>
                      <a:pPr marL="0" marR="0" lvl="0" indent="0" algn="ctr" rtl="0">
                        <a:lnSpc>
                          <a:spcPct val="107000"/>
                        </a:lnSpc>
                        <a:spcBef>
                          <a:spcPts val="800"/>
                        </a:spcBef>
                        <a:spcAft>
                          <a:spcPts val="0"/>
                        </a:spcAft>
                        <a:buNone/>
                      </a:pPr>
                      <a:r>
                        <a:rPr lang="en-US" sz="1800" u="none" strike="noStrike" cap="none"/>
                        <a:t> </a:t>
                      </a:r>
                      <a:endParaRPr sz="1800" u="none" strike="noStrike" cap="none">
                        <a:latin typeface="Calibri"/>
                        <a:ea typeface="Calibri"/>
                        <a:cs typeface="Calibri"/>
                        <a:sym typeface="Calibri"/>
                      </a:endParaRPr>
                    </a:p>
                  </a:txBody>
                  <a:tcPr marL="0" marR="31125" marT="24125" marB="0"/>
                </a:tc>
                <a:extLst>
                  <a:ext uri="{0D108BD9-81ED-4DB2-BD59-A6C34878D82A}">
                    <a16:rowId xmlns:a16="http://schemas.microsoft.com/office/drawing/2014/main" val="10002"/>
                  </a:ext>
                </a:extLst>
              </a:tr>
              <a:tr h="448575">
                <a:tc>
                  <a:txBody>
                    <a:bodyPr/>
                    <a:lstStyle/>
                    <a:p>
                      <a:pPr marL="0" marR="0" lvl="0" indent="0" algn="ctr" rtl="0">
                        <a:lnSpc>
                          <a:spcPct val="107000"/>
                        </a:lnSpc>
                        <a:spcBef>
                          <a:spcPts val="0"/>
                        </a:spcBef>
                        <a:spcAft>
                          <a:spcPts val="0"/>
                        </a:spcAft>
                        <a:buNone/>
                      </a:pPr>
                      <a:r>
                        <a:rPr lang="en-US" sz="1800" u="none" strike="noStrike" cap="none"/>
                        <a:t>P3 </a:t>
                      </a:r>
                      <a:endParaRPr sz="1800" u="none" strike="noStrike" cap="none">
                        <a:latin typeface="Calibri"/>
                        <a:ea typeface="Calibri"/>
                        <a:cs typeface="Calibri"/>
                        <a:sym typeface="Calibri"/>
                      </a:endParaRPr>
                    </a:p>
                  </a:txBody>
                  <a:tcPr marL="0" marR="31125" marT="24125" marB="0"/>
                </a:tc>
                <a:tc>
                  <a:txBody>
                    <a:bodyPr/>
                    <a:lstStyle/>
                    <a:p>
                      <a:pPr marL="0" marR="0" lvl="0" indent="0" algn="ctr" rtl="0">
                        <a:lnSpc>
                          <a:spcPct val="107000"/>
                        </a:lnSpc>
                        <a:spcBef>
                          <a:spcPts val="0"/>
                        </a:spcBef>
                        <a:spcAft>
                          <a:spcPts val="0"/>
                        </a:spcAft>
                        <a:buNone/>
                      </a:pPr>
                      <a:r>
                        <a:rPr lang="en-US" sz="1800" u="none" strike="noStrike" cap="none"/>
                        <a:t>3</a:t>
                      </a:r>
                      <a:endParaRPr sz="1800" u="none" strike="noStrike" cap="none">
                        <a:latin typeface="Calibri"/>
                        <a:ea typeface="Calibri"/>
                        <a:cs typeface="Calibri"/>
                        <a:sym typeface="Calibri"/>
                      </a:endParaRPr>
                    </a:p>
                  </a:txBody>
                  <a:tcPr marL="0" marR="31125" marT="24125" marB="0"/>
                </a:tc>
                <a:extLst>
                  <a:ext uri="{0D108BD9-81ED-4DB2-BD59-A6C34878D82A}">
                    <a16:rowId xmlns:a16="http://schemas.microsoft.com/office/drawing/2014/main" val="10003"/>
                  </a:ext>
                </a:extLst>
              </a:tr>
            </a:tbl>
          </a:graphicData>
        </a:graphic>
      </p:graphicFrame>
      <p:pic>
        <p:nvPicPr>
          <p:cNvPr id="304" name="Google Shape;304;p28"/>
          <p:cNvPicPr preferRelativeResize="0"/>
          <p:nvPr/>
        </p:nvPicPr>
        <p:blipFill rotWithShape="1">
          <a:blip r:embed="rId3">
            <a:alphaModFix/>
          </a:blip>
          <a:srcRect/>
          <a:stretch/>
        </p:blipFill>
        <p:spPr>
          <a:xfrm>
            <a:off x="2357610" y="5045725"/>
            <a:ext cx="6488935" cy="1696598"/>
          </a:xfrm>
          <a:prstGeom prst="rect">
            <a:avLst/>
          </a:prstGeom>
          <a:noFill/>
          <a:ln>
            <a:noFill/>
          </a:ln>
        </p:spPr>
      </p:pic>
      <p:sp>
        <p:nvSpPr>
          <p:cNvPr id="305" name="Google Shape;305;p28"/>
          <p:cNvSpPr txBox="1"/>
          <p:nvPr/>
        </p:nvSpPr>
        <p:spPr>
          <a:xfrm>
            <a:off x="6546773" y="2284033"/>
            <a:ext cx="5252292" cy="177401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000000"/>
                </a:solidFill>
                <a:latin typeface="Calibri"/>
                <a:ea typeface="Calibri"/>
                <a:cs typeface="Calibri"/>
                <a:sym typeface="Calibri"/>
              </a:rPr>
              <a:t>The waiting time: P</a:t>
            </a:r>
            <a:r>
              <a:rPr lang="en-US" sz="2400" baseline="-25000">
                <a:solidFill>
                  <a:srgbClr val="000000"/>
                </a:solidFill>
                <a:latin typeface="Calibri"/>
                <a:ea typeface="Calibri"/>
                <a:cs typeface="Calibri"/>
                <a:sym typeface="Calibri"/>
              </a:rPr>
              <a:t>1</a:t>
            </a:r>
            <a:r>
              <a:rPr lang="en-US" sz="2400">
                <a:solidFill>
                  <a:srgbClr val="000000"/>
                </a:solidFill>
                <a:latin typeface="Calibri"/>
                <a:ea typeface="Calibri"/>
                <a:cs typeface="Calibri"/>
                <a:sym typeface="Calibri"/>
              </a:rPr>
              <a:t>=6; P</a:t>
            </a:r>
            <a:r>
              <a:rPr lang="en-US" sz="2400" baseline="-25000">
                <a:solidFill>
                  <a:srgbClr val="000000"/>
                </a:solidFill>
                <a:latin typeface="Calibri"/>
                <a:ea typeface="Calibri"/>
                <a:cs typeface="Calibri"/>
                <a:sym typeface="Calibri"/>
              </a:rPr>
              <a:t>2</a:t>
            </a:r>
            <a:r>
              <a:rPr lang="en-US" sz="2400">
                <a:solidFill>
                  <a:srgbClr val="000000"/>
                </a:solidFill>
                <a:latin typeface="Calibri"/>
                <a:ea typeface="Calibri"/>
                <a:cs typeface="Calibri"/>
                <a:sym typeface="Calibri"/>
              </a:rPr>
              <a:t>=4; P</a:t>
            </a:r>
            <a:r>
              <a:rPr lang="en-US" sz="2400" baseline="-25000">
                <a:solidFill>
                  <a:srgbClr val="000000"/>
                </a:solidFill>
                <a:latin typeface="Calibri"/>
                <a:ea typeface="Calibri"/>
                <a:cs typeface="Calibri"/>
                <a:sym typeface="Calibri"/>
              </a:rPr>
              <a:t>3</a:t>
            </a:r>
            <a:r>
              <a:rPr lang="en-US" sz="2400">
                <a:solidFill>
                  <a:srgbClr val="000000"/>
                </a:solidFill>
                <a:latin typeface="Calibri"/>
                <a:ea typeface="Calibri"/>
                <a:cs typeface="Calibri"/>
                <a:sym typeface="Calibri"/>
              </a:rPr>
              <a:t>=7. </a:t>
            </a:r>
            <a:endParaRPr sz="2400">
              <a:solidFill>
                <a:schemeClr val="dk1"/>
              </a:solidFill>
              <a:latin typeface="Calibri"/>
              <a:ea typeface="Calibri"/>
              <a:cs typeface="Calibri"/>
              <a:sym typeface="Calibri"/>
            </a:endParaRPr>
          </a:p>
          <a:p>
            <a:pPr marL="0" marR="0" lvl="0" indent="0" algn="just" rtl="0">
              <a:lnSpc>
                <a:spcPct val="150000"/>
              </a:lnSpc>
              <a:spcBef>
                <a:spcPts val="575"/>
              </a:spcBef>
              <a:spcAft>
                <a:spcPts val="0"/>
              </a:spcAft>
              <a:buNone/>
            </a:pPr>
            <a:r>
              <a:rPr lang="en-US" sz="2400">
                <a:solidFill>
                  <a:srgbClr val="000000"/>
                </a:solidFill>
                <a:latin typeface="Calibri"/>
                <a:ea typeface="Calibri"/>
                <a:cs typeface="Calibri"/>
                <a:sym typeface="Calibri"/>
              </a:rPr>
              <a:t>Average Waiting Time=(6+4+7)/3= 5.66 ms </a:t>
            </a:r>
            <a:endParaRPr sz="2400">
              <a:solidFill>
                <a:schemeClr val="dk1"/>
              </a:solidFill>
              <a:latin typeface="Calibri"/>
              <a:ea typeface="Calibri"/>
              <a:cs typeface="Calibri"/>
              <a:sym typeface="Calibri"/>
            </a:endParaRPr>
          </a:p>
        </p:txBody>
      </p:sp>
      <p:sp>
        <p:nvSpPr>
          <p:cNvPr id="306" name="Google Shape;306;p28"/>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9"/>
          <p:cNvSpPr txBox="1">
            <a:spLocks noGrp="1"/>
          </p:cNvSpPr>
          <p:nvPr>
            <p:ph type="body" idx="1"/>
          </p:nvPr>
        </p:nvSpPr>
        <p:spPr>
          <a:xfrm>
            <a:off x="2588964" y="143218"/>
            <a:ext cx="9474506" cy="6714781"/>
          </a:xfrm>
          <a:prstGeom prst="rect">
            <a:avLst/>
          </a:prstGeom>
          <a:noFill/>
          <a:ln>
            <a:noFill/>
          </a:ln>
        </p:spPr>
        <p:txBody>
          <a:bodyPr spcFirstLastPara="1" wrap="square" lIns="91425" tIns="45700" rIns="91425" bIns="45700" anchor="t" anchorCtr="0">
            <a:normAutofit/>
          </a:bodyPr>
          <a:lstStyle/>
          <a:p>
            <a:pPr marL="0" lvl="0" indent="0" algn="ctr" rtl="0">
              <a:lnSpc>
                <a:spcPct val="16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Multilevel Queue Scheduling</a:t>
            </a:r>
            <a:r>
              <a:rPr lang="en-US" sz="2400">
                <a:solidFill>
                  <a:srgbClr val="FF0000"/>
                </a:solidFill>
                <a:latin typeface="Calibri"/>
                <a:ea typeface="Calibri"/>
                <a:cs typeface="Calibri"/>
                <a:sym typeface="Calibri"/>
              </a:rPr>
              <a:t> </a:t>
            </a:r>
            <a:endParaRPr sz="2400">
              <a:solidFill>
                <a:srgbClr val="FF0000"/>
              </a:solidFill>
              <a:latin typeface="Calibri"/>
              <a:ea typeface="Calibri"/>
              <a:cs typeface="Calibri"/>
              <a:sym typeface="Calibri"/>
            </a:endParaRPr>
          </a:p>
          <a:p>
            <a:pPr marL="228600" lvl="0" indent="-228600" algn="just" rtl="0">
              <a:lnSpc>
                <a:spcPct val="160000"/>
              </a:lnSpc>
              <a:spcBef>
                <a:spcPts val="1000"/>
              </a:spcBef>
              <a:spcAft>
                <a:spcPts val="0"/>
              </a:spcAft>
              <a:buClr>
                <a:schemeClr val="dk1"/>
              </a:buClr>
              <a:buSzPts val="2200"/>
              <a:buChar char="•"/>
            </a:pPr>
            <a:r>
              <a:rPr lang="en-US" sz="2200">
                <a:latin typeface="Calibri"/>
                <a:ea typeface="Calibri"/>
                <a:cs typeface="Calibri"/>
                <a:sym typeface="Calibri"/>
              </a:rPr>
              <a:t>A class of scheduling algorithms has been created for situations in which processes are easily classified into different groups.</a:t>
            </a:r>
            <a:endParaRPr/>
          </a:p>
          <a:p>
            <a:pPr marL="228600" lvl="0" indent="-228600" algn="just" rtl="0">
              <a:lnSpc>
                <a:spcPct val="160000"/>
              </a:lnSpc>
              <a:spcBef>
                <a:spcPts val="1000"/>
              </a:spcBef>
              <a:spcAft>
                <a:spcPts val="0"/>
              </a:spcAft>
              <a:buClr>
                <a:schemeClr val="dk1"/>
              </a:buClr>
              <a:buSzPts val="2200"/>
              <a:buChar char="•"/>
            </a:pPr>
            <a:r>
              <a:rPr lang="en-US" sz="2200">
                <a:latin typeface="Calibri"/>
                <a:ea typeface="Calibri"/>
                <a:cs typeface="Calibri"/>
                <a:sym typeface="Calibri"/>
              </a:rPr>
              <a:t>Example: </a:t>
            </a:r>
            <a:endParaRPr/>
          </a:p>
          <a:p>
            <a:pPr marL="0" lvl="0" indent="0" algn="just" rtl="0">
              <a:lnSpc>
                <a:spcPct val="160000"/>
              </a:lnSpc>
              <a:spcBef>
                <a:spcPts val="1000"/>
              </a:spcBef>
              <a:spcAft>
                <a:spcPts val="0"/>
              </a:spcAft>
              <a:buClr>
                <a:schemeClr val="dk1"/>
              </a:buClr>
              <a:buSzPts val="2200"/>
              <a:buNone/>
            </a:pPr>
            <a:r>
              <a:rPr lang="en-US" sz="2200">
                <a:latin typeface="Calibri"/>
                <a:ea typeface="Calibri"/>
                <a:cs typeface="Calibri"/>
                <a:sym typeface="Calibri"/>
              </a:rPr>
              <a:t>A common division is made between </a:t>
            </a:r>
            <a:r>
              <a:rPr lang="en-US" sz="2200">
                <a:solidFill>
                  <a:srgbClr val="0000FF"/>
                </a:solidFill>
                <a:latin typeface="Calibri"/>
                <a:ea typeface="Calibri"/>
                <a:cs typeface="Calibri"/>
                <a:sym typeface="Calibri"/>
              </a:rPr>
              <a:t>foreground (interactive) processes and background (batch) processes. </a:t>
            </a:r>
            <a:r>
              <a:rPr lang="en-US" sz="2200">
                <a:latin typeface="Calibri"/>
                <a:ea typeface="Calibri"/>
                <a:cs typeface="Calibri"/>
                <a:sym typeface="Calibri"/>
              </a:rPr>
              <a:t>These two types of processes have different </a:t>
            </a:r>
            <a:r>
              <a:rPr lang="en-US" sz="2200">
                <a:solidFill>
                  <a:srgbClr val="0000FF"/>
                </a:solidFill>
                <a:latin typeface="Calibri"/>
                <a:ea typeface="Calibri"/>
                <a:cs typeface="Calibri"/>
                <a:sym typeface="Calibri"/>
              </a:rPr>
              <a:t>response time requirements and so may have different scheduling needs. </a:t>
            </a:r>
            <a:endParaRPr/>
          </a:p>
          <a:p>
            <a:pPr marL="228600" lvl="0" indent="-228600" algn="just" rtl="0">
              <a:lnSpc>
                <a:spcPct val="160000"/>
              </a:lnSpc>
              <a:spcBef>
                <a:spcPts val="1000"/>
              </a:spcBef>
              <a:spcAft>
                <a:spcPts val="0"/>
              </a:spcAft>
              <a:buClr>
                <a:schemeClr val="dk1"/>
              </a:buClr>
              <a:buSzPts val="2200"/>
              <a:buChar char="•"/>
            </a:pPr>
            <a:r>
              <a:rPr lang="en-US" sz="2200">
                <a:latin typeface="Calibri"/>
                <a:ea typeface="Calibri"/>
                <a:cs typeface="Calibri"/>
                <a:sym typeface="Calibri"/>
              </a:rPr>
              <a:t>In addition, </a:t>
            </a:r>
            <a:r>
              <a:rPr lang="en-US" sz="2200">
                <a:solidFill>
                  <a:srgbClr val="0000FF"/>
                </a:solidFill>
                <a:latin typeface="Calibri"/>
                <a:ea typeface="Calibri"/>
                <a:cs typeface="Calibri"/>
                <a:sym typeface="Calibri"/>
              </a:rPr>
              <a:t>foreground processes may have priority (externally defined) over background processes. </a:t>
            </a:r>
            <a:endParaRPr/>
          </a:p>
          <a:p>
            <a:pPr marL="228600" lvl="0" indent="-228600" algn="just" rtl="0">
              <a:lnSpc>
                <a:spcPct val="160000"/>
              </a:lnSpc>
              <a:spcBef>
                <a:spcPts val="1000"/>
              </a:spcBef>
              <a:spcAft>
                <a:spcPts val="0"/>
              </a:spcAft>
              <a:buClr>
                <a:schemeClr val="dk1"/>
              </a:buClr>
              <a:buSzPts val="2200"/>
              <a:buChar char="•"/>
            </a:pPr>
            <a:r>
              <a:rPr lang="en-US" sz="2200">
                <a:latin typeface="Calibri"/>
                <a:ea typeface="Calibri"/>
                <a:cs typeface="Calibri"/>
                <a:sym typeface="Calibri"/>
              </a:rPr>
              <a:t>  A multilevel queue scheduling algorithm partitions the ready queue into several separate queues .</a:t>
            </a:r>
            <a:endParaRPr/>
          </a:p>
          <a:p>
            <a:pPr marL="228600" lvl="0" indent="-76200" algn="l" rtl="0">
              <a:lnSpc>
                <a:spcPct val="90000"/>
              </a:lnSpc>
              <a:spcBef>
                <a:spcPts val="1000"/>
              </a:spcBef>
              <a:spcAft>
                <a:spcPts val="0"/>
              </a:spcAft>
              <a:buClr>
                <a:schemeClr val="dk1"/>
              </a:buClr>
              <a:buSzPts val="2400"/>
              <a:buNone/>
            </a:pPr>
            <a:endParaRPr sz="2400">
              <a:latin typeface="Calibri"/>
              <a:ea typeface="Calibri"/>
              <a:cs typeface="Calibri"/>
              <a:sym typeface="Calibri"/>
            </a:endParaRPr>
          </a:p>
        </p:txBody>
      </p:sp>
      <p:sp>
        <p:nvSpPr>
          <p:cNvPr id="312" name="Google Shape;312;p29"/>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body" idx="1"/>
          </p:nvPr>
        </p:nvSpPr>
        <p:spPr>
          <a:xfrm>
            <a:off x="2511846" y="176270"/>
            <a:ext cx="9496540" cy="6533002"/>
          </a:xfrm>
          <a:prstGeom prst="rect">
            <a:avLst/>
          </a:prstGeom>
          <a:noFill/>
          <a:ln>
            <a:noFill/>
          </a:ln>
        </p:spPr>
        <p:txBody>
          <a:bodyPr spcFirstLastPara="1" wrap="square" lIns="91425" tIns="45700" rIns="91425" bIns="45700" anchor="t" anchorCtr="0">
            <a:normAutofit fontScale="92500"/>
          </a:bodyPr>
          <a:lstStyle/>
          <a:p>
            <a:pPr marL="0" lvl="0" indent="0" algn="just" rtl="0">
              <a:lnSpc>
                <a:spcPct val="150000"/>
              </a:lnSpc>
              <a:spcBef>
                <a:spcPts val="0"/>
              </a:spcBef>
              <a:spcAft>
                <a:spcPts val="0"/>
              </a:spcAft>
              <a:buClr>
                <a:srgbClr val="0000FF"/>
              </a:buClr>
              <a:buSzPct val="100000"/>
              <a:buNone/>
            </a:pPr>
            <a:r>
              <a:rPr lang="en-US" sz="2400">
                <a:solidFill>
                  <a:srgbClr val="0000FF"/>
                </a:solidFill>
                <a:latin typeface="Calibri"/>
                <a:ea typeface="Calibri"/>
                <a:cs typeface="Calibri"/>
                <a:sym typeface="Calibri"/>
              </a:rPr>
              <a:t>The processes are permanently assigned to one queue</a:t>
            </a:r>
            <a:r>
              <a:rPr lang="en-US" sz="2400">
                <a:latin typeface="Calibri"/>
                <a:ea typeface="Calibri"/>
                <a:cs typeface="Calibri"/>
                <a:sym typeface="Calibri"/>
              </a:rPr>
              <a:t>, generally based on some property of the process, such as </a:t>
            </a:r>
            <a:r>
              <a:rPr lang="en-US" sz="2400">
                <a:solidFill>
                  <a:srgbClr val="0000FF"/>
                </a:solidFill>
                <a:latin typeface="Calibri"/>
                <a:ea typeface="Calibri"/>
                <a:cs typeface="Calibri"/>
                <a:sym typeface="Calibri"/>
              </a:rPr>
              <a:t>memory size, process priority, or process type. </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Each queue has its own scheduling algorithm. </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Example </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Separate queues might be used for foreground and background processes. </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The foreground queue might be scheduled by an RR algorithm, while the background queue is scheduled by an FCFS algorithm.</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In addition, there must be scheduling among the queues, which is commonly implemented as fixed – priority preemptive scheduling. </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For example, the foreground queue may have absolute priority over the background queue. </a:t>
            </a:r>
            <a:endParaRPr/>
          </a:p>
          <a:p>
            <a:pPr marL="0" lvl="0" indent="0" algn="l" rtl="0">
              <a:lnSpc>
                <a:spcPct val="90000"/>
              </a:lnSpc>
              <a:spcBef>
                <a:spcPts val="1000"/>
              </a:spcBef>
              <a:spcAft>
                <a:spcPts val="0"/>
              </a:spcAft>
              <a:buClr>
                <a:schemeClr val="dk1"/>
              </a:buClr>
              <a:buSzPct val="100000"/>
              <a:buNone/>
            </a:pPr>
            <a:endParaRPr sz="2400">
              <a:latin typeface="Calibri"/>
              <a:ea typeface="Calibri"/>
              <a:cs typeface="Calibri"/>
              <a:sym typeface="Calibri"/>
            </a:endParaRPr>
          </a:p>
        </p:txBody>
      </p:sp>
      <p:sp>
        <p:nvSpPr>
          <p:cNvPr id="318" name="Google Shape;318;p30"/>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p31"/>
          <p:cNvPicPr preferRelativeResize="0">
            <a:picLocks noGrp="1"/>
          </p:cNvPicPr>
          <p:nvPr>
            <p:ph type="body" idx="1"/>
          </p:nvPr>
        </p:nvPicPr>
        <p:blipFill rotWithShape="1">
          <a:blip r:embed="rId3">
            <a:alphaModFix/>
          </a:blip>
          <a:srcRect/>
          <a:stretch/>
        </p:blipFill>
        <p:spPr>
          <a:xfrm>
            <a:off x="3327093" y="724596"/>
            <a:ext cx="7656723" cy="4763511"/>
          </a:xfrm>
          <a:prstGeom prst="rect">
            <a:avLst/>
          </a:prstGeom>
          <a:noFill/>
          <a:ln>
            <a:noFill/>
          </a:ln>
        </p:spPr>
      </p:pic>
      <p:sp>
        <p:nvSpPr>
          <p:cNvPr id="324" name="Google Shape;324;p31"/>
          <p:cNvSpPr txBox="1"/>
          <p:nvPr/>
        </p:nvSpPr>
        <p:spPr>
          <a:xfrm>
            <a:off x="4101028" y="5882566"/>
            <a:ext cx="6108852" cy="501676"/>
          </a:xfrm>
          <a:prstGeom prst="rect">
            <a:avLst/>
          </a:prstGeom>
          <a:noFill/>
          <a:ln>
            <a:noFill/>
          </a:ln>
        </p:spPr>
        <p:txBody>
          <a:bodyPr spcFirstLastPara="1" wrap="square" lIns="91425" tIns="45700" rIns="91425" bIns="45700" anchor="t" anchorCtr="0">
            <a:spAutoFit/>
          </a:bodyPr>
          <a:lstStyle/>
          <a:p>
            <a:pPr marL="0" marR="0" lvl="0" indent="0" algn="ctr" rtl="0">
              <a:lnSpc>
                <a:spcPct val="148000"/>
              </a:lnSpc>
              <a:spcBef>
                <a:spcPts val="0"/>
              </a:spcBef>
              <a:spcAft>
                <a:spcPts val="0"/>
              </a:spcAft>
              <a:buNone/>
            </a:pPr>
            <a:r>
              <a:rPr lang="en-US" sz="2000" b="1">
                <a:solidFill>
                  <a:srgbClr val="000000"/>
                </a:solidFill>
                <a:latin typeface="Calibri"/>
                <a:ea typeface="Calibri"/>
                <a:cs typeface="Calibri"/>
                <a:sym typeface="Calibri"/>
              </a:rPr>
              <a:t>Multilevel queue scheduling </a:t>
            </a:r>
            <a:endParaRPr sz="2000" b="1">
              <a:solidFill>
                <a:schemeClr val="dk1"/>
              </a:solidFill>
              <a:latin typeface="Calibri"/>
              <a:ea typeface="Calibri"/>
              <a:cs typeface="Calibri"/>
              <a:sym typeface="Calibri"/>
            </a:endParaRPr>
          </a:p>
        </p:txBody>
      </p:sp>
      <p:sp>
        <p:nvSpPr>
          <p:cNvPr id="325" name="Google Shape;325;p31"/>
          <p:cNvSpPr txBox="1"/>
          <p:nvPr/>
        </p:nvSpPr>
        <p:spPr>
          <a:xfrm>
            <a:off x="2071171" y="52244"/>
            <a:ext cx="9992299" cy="9679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An example of multilevel queue scheduling algorithm with five queues, listed below in order of priority. </a:t>
            </a:r>
            <a:endParaRPr/>
          </a:p>
        </p:txBody>
      </p:sp>
      <p:sp>
        <p:nvSpPr>
          <p:cNvPr id="326" name="Google Shape;326;p31"/>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2"/>
          <p:cNvSpPr txBox="1">
            <a:spLocks noGrp="1"/>
          </p:cNvSpPr>
          <p:nvPr>
            <p:ph type="body" idx="1"/>
          </p:nvPr>
        </p:nvSpPr>
        <p:spPr>
          <a:xfrm>
            <a:off x="2588964" y="143218"/>
            <a:ext cx="9474506" cy="6714781"/>
          </a:xfrm>
          <a:prstGeom prst="rect">
            <a:avLst/>
          </a:prstGeom>
          <a:noFill/>
          <a:ln>
            <a:noFill/>
          </a:ln>
        </p:spPr>
        <p:txBody>
          <a:bodyPr spcFirstLastPara="1" wrap="square" lIns="91425" tIns="45700" rIns="91425" bIns="45700" anchor="t" anchorCtr="0">
            <a:normAutofit fontScale="92500"/>
          </a:bodyPr>
          <a:lstStyle/>
          <a:p>
            <a:pPr marL="0" lvl="0" indent="0" algn="ctr" rtl="0">
              <a:lnSpc>
                <a:spcPct val="150000"/>
              </a:lnSpc>
              <a:spcBef>
                <a:spcPts val="0"/>
              </a:spcBef>
              <a:spcAft>
                <a:spcPts val="0"/>
              </a:spcAft>
              <a:buClr>
                <a:srgbClr val="FF0000"/>
              </a:buClr>
              <a:buSzPct val="100000"/>
              <a:buNone/>
            </a:pPr>
            <a:r>
              <a:rPr lang="en-US" sz="2400" b="1">
                <a:solidFill>
                  <a:srgbClr val="FF0000"/>
                </a:solidFill>
                <a:latin typeface="Times New Roman"/>
                <a:ea typeface="Times New Roman"/>
                <a:cs typeface="Times New Roman"/>
                <a:sym typeface="Times New Roman"/>
              </a:rPr>
              <a:t>Multilevel Feedback Queue Scheduling</a:t>
            </a:r>
            <a:r>
              <a:rPr lang="en-US" sz="2400">
                <a:solidFill>
                  <a:srgbClr val="FF0000"/>
                </a:solidFill>
                <a:latin typeface="Times New Roman"/>
                <a:ea typeface="Times New Roman"/>
                <a:cs typeface="Times New Roman"/>
                <a:sym typeface="Times New Roman"/>
              </a:rPr>
              <a:t> </a:t>
            </a:r>
            <a:endParaRPr sz="2400">
              <a:solidFill>
                <a:srgbClr val="FF0000"/>
              </a:solidFill>
              <a:latin typeface="Calibri"/>
              <a:ea typeface="Calibri"/>
              <a:cs typeface="Calibri"/>
              <a:sym typeface="Calibri"/>
            </a:endParaRPr>
          </a:p>
          <a:p>
            <a:pPr marL="228600" lvl="0" indent="-228600" algn="just" rtl="0">
              <a:lnSpc>
                <a:spcPct val="150000"/>
              </a:lnSpc>
              <a:spcBef>
                <a:spcPts val="1000"/>
              </a:spcBef>
              <a:spcAft>
                <a:spcPts val="0"/>
              </a:spcAft>
              <a:buClr>
                <a:srgbClr val="000000"/>
              </a:buClr>
              <a:buSzPct val="100000"/>
              <a:buChar char="•"/>
            </a:pPr>
            <a:r>
              <a:rPr lang="en-US" sz="2400">
                <a:solidFill>
                  <a:srgbClr val="000000"/>
                </a:solidFill>
                <a:latin typeface="Calibri"/>
                <a:ea typeface="Calibri"/>
                <a:cs typeface="Calibri"/>
                <a:sym typeface="Calibri"/>
              </a:rPr>
              <a:t>The multilevel feedback queue scheduling algorithm allows a process to move between queues. </a:t>
            </a:r>
            <a:endParaRPr/>
          </a:p>
          <a:p>
            <a:pPr marL="228600" lvl="0" indent="-228600" algn="just" rtl="0">
              <a:lnSpc>
                <a:spcPct val="150000"/>
              </a:lnSpc>
              <a:spcBef>
                <a:spcPts val="1000"/>
              </a:spcBef>
              <a:spcAft>
                <a:spcPts val="0"/>
              </a:spcAft>
              <a:buClr>
                <a:srgbClr val="000000"/>
              </a:buClr>
              <a:buSzPct val="100000"/>
              <a:buChar char="•"/>
            </a:pPr>
            <a:r>
              <a:rPr lang="en-US" sz="2400">
                <a:solidFill>
                  <a:srgbClr val="000000"/>
                </a:solidFill>
                <a:latin typeface="Calibri"/>
                <a:ea typeface="Calibri"/>
                <a:cs typeface="Calibri"/>
                <a:sym typeface="Calibri"/>
              </a:rPr>
              <a:t>The idea  is to separate processes according to the characteristics of their CPU bursts. </a:t>
            </a:r>
            <a:endParaRPr/>
          </a:p>
          <a:p>
            <a:pPr marL="228600" lvl="0" indent="-228600" algn="just" rtl="0">
              <a:lnSpc>
                <a:spcPct val="150000"/>
              </a:lnSpc>
              <a:spcBef>
                <a:spcPts val="1000"/>
              </a:spcBef>
              <a:spcAft>
                <a:spcPts val="0"/>
              </a:spcAft>
              <a:buClr>
                <a:srgbClr val="000000"/>
              </a:buClr>
              <a:buSzPct val="100000"/>
              <a:buChar char="•"/>
            </a:pPr>
            <a:r>
              <a:rPr lang="en-US" sz="2400">
                <a:solidFill>
                  <a:srgbClr val="000000"/>
                </a:solidFill>
                <a:latin typeface="Calibri"/>
                <a:ea typeface="Calibri"/>
                <a:cs typeface="Calibri"/>
                <a:sym typeface="Calibri"/>
              </a:rPr>
              <a:t>If a process uses too much CPU time, it will be moved to a lower-priority queue. </a:t>
            </a:r>
            <a:endParaRPr/>
          </a:p>
          <a:p>
            <a:pPr marL="228600" lvl="0" indent="-228600" algn="just" rtl="0">
              <a:lnSpc>
                <a:spcPct val="150000"/>
              </a:lnSpc>
              <a:spcBef>
                <a:spcPts val="1000"/>
              </a:spcBef>
              <a:spcAft>
                <a:spcPts val="0"/>
              </a:spcAft>
              <a:buClr>
                <a:srgbClr val="000000"/>
              </a:buClr>
              <a:buSzPct val="100000"/>
              <a:buChar char="•"/>
            </a:pPr>
            <a:r>
              <a:rPr lang="en-US" sz="2400">
                <a:solidFill>
                  <a:srgbClr val="000000"/>
                </a:solidFill>
                <a:latin typeface="Calibri"/>
                <a:ea typeface="Calibri"/>
                <a:cs typeface="Calibri"/>
                <a:sym typeface="Calibri"/>
              </a:rPr>
              <a:t>This scheme leaves I/O-bound and interactive processes in the higher-priority queues.</a:t>
            </a:r>
            <a:endParaRPr/>
          </a:p>
          <a:p>
            <a:pPr marL="228600" lvl="0" indent="-228600" algn="just" rtl="0">
              <a:lnSpc>
                <a:spcPct val="150000"/>
              </a:lnSpc>
              <a:spcBef>
                <a:spcPts val="1000"/>
              </a:spcBef>
              <a:spcAft>
                <a:spcPts val="0"/>
              </a:spcAft>
              <a:buClr>
                <a:srgbClr val="000000"/>
              </a:buClr>
              <a:buSzPct val="100000"/>
              <a:buChar char="•"/>
            </a:pPr>
            <a:r>
              <a:rPr lang="en-US" sz="2400">
                <a:solidFill>
                  <a:srgbClr val="000000"/>
                </a:solidFill>
                <a:latin typeface="Calibri"/>
                <a:ea typeface="Calibri"/>
                <a:cs typeface="Calibri"/>
                <a:sym typeface="Calibri"/>
              </a:rPr>
              <a:t>In addition, a process that waits too long in a lower-priority queue may be moved to a higher priority queue. </a:t>
            </a:r>
            <a:endParaRPr/>
          </a:p>
          <a:p>
            <a:pPr marL="0" lvl="0" indent="0" algn="ctr" rtl="0">
              <a:lnSpc>
                <a:spcPct val="150000"/>
              </a:lnSpc>
              <a:spcBef>
                <a:spcPts val="1000"/>
              </a:spcBef>
              <a:spcAft>
                <a:spcPts val="0"/>
              </a:spcAft>
              <a:buClr>
                <a:srgbClr val="0000FF"/>
              </a:buClr>
              <a:buSzPct val="100000"/>
              <a:buNone/>
            </a:pPr>
            <a:r>
              <a:rPr lang="en-US" sz="2400">
                <a:solidFill>
                  <a:srgbClr val="0000FF"/>
                </a:solidFill>
                <a:latin typeface="Calibri"/>
                <a:ea typeface="Calibri"/>
                <a:cs typeface="Calibri"/>
                <a:sym typeface="Calibri"/>
              </a:rPr>
              <a:t>This form of aging prevents starvation.</a:t>
            </a:r>
            <a:endParaRPr sz="2400">
              <a:solidFill>
                <a:srgbClr val="0000FF"/>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ct val="100000"/>
              <a:buNone/>
            </a:pPr>
            <a:endParaRPr sz="2000">
              <a:latin typeface="Calibri"/>
              <a:ea typeface="Calibri"/>
              <a:cs typeface="Calibri"/>
              <a:sym typeface="Calibri"/>
            </a:endParaRPr>
          </a:p>
        </p:txBody>
      </p:sp>
      <p:sp>
        <p:nvSpPr>
          <p:cNvPr id="332" name="Google Shape;332;p32"/>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33"/>
          <p:cNvPicPr preferRelativeResize="0">
            <a:picLocks noGrp="1"/>
          </p:cNvPicPr>
          <p:nvPr>
            <p:ph type="body" idx="1"/>
          </p:nvPr>
        </p:nvPicPr>
        <p:blipFill rotWithShape="1">
          <a:blip r:embed="rId3">
            <a:alphaModFix/>
          </a:blip>
          <a:srcRect/>
          <a:stretch/>
        </p:blipFill>
        <p:spPr>
          <a:xfrm>
            <a:off x="3591500" y="426622"/>
            <a:ext cx="7028760" cy="3914024"/>
          </a:xfrm>
          <a:prstGeom prst="rect">
            <a:avLst/>
          </a:prstGeom>
          <a:noFill/>
          <a:ln>
            <a:noFill/>
          </a:ln>
        </p:spPr>
      </p:pic>
      <p:sp>
        <p:nvSpPr>
          <p:cNvPr id="338" name="Google Shape;338;p33"/>
          <p:cNvSpPr txBox="1"/>
          <p:nvPr/>
        </p:nvSpPr>
        <p:spPr>
          <a:xfrm>
            <a:off x="4271887" y="5001314"/>
            <a:ext cx="6108852" cy="506292"/>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000" b="1">
                <a:solidFill>
                  <a:srgbClr val="000000"/>
                </a:solidFill>
                <a:latin typeface="Calibri"/>
                <a:ea typeface="Calibri"/>
                <a:cs typeface="Calibri"/>
                <a:sym typeface="Calibri"/>
              </a:rPr>
              <a:t>Multilevel feedback queues.</a:t>
            </a:r>
            <a:endParaRPr sz="2000">
              <a:solidFill>
                <a:schemeClr val="dk1"/>
              </a:solidFill>
              <a:latin typeface="Calibri"/>
              <a:ea typeface="Calibri"/>
              <a:cs typeface="Calibri"/>
              <a:sym typeface="Calibri"/>
            </a:endParaRPr>
          </a:p>
        </p:txBody>
      </p:sp>
      <p:sp>
        <p:nvSpPr>
          <p:cNvPr id="339" name="Google Shape;339;p33"/>
          <p:cNvSpPr txBox="1"/>
          <p:nvPr/>
        </p:nvSpPr>
        <p:spPr>
          <a:xfrm>
            <a:off x="524064" y="3920202"/>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4"/>
          <p:cNvSpPr txBox="1">
            <a:spLocks noGrp="1"/>
          </p:cNvSpPr>
          <p:nvPr>
            <p:ph type="body" idx="1"/>
          </p:nvPr>
        </p:nvSpPr>
        <p:spPr>
          <a:xfrm>
            <a:off x="2588964" y="143218"/>
            <a:ext cx="9474506" cy="6714781"/>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FF"/>
              </a:buClr>
              <a:buSzPts val="2400"/>
              <a:buNone/>
            </a:pPr>
            <a:r>
              <a:rPr lang="en-US" sz="2400">
                <a:solidFill>
                  <a:srgbClr val="0000FF"/>
                </a:solidFill>
                <a:latin typeface="Calibri"/>
                <a:ea typeface="Calibri"/>
                <a:cs typeface="Calibri"/>
                <a:sym typeface="Calibri"/>
              </a:rPr>
              <a:t>In general, a multilevel feedback-queue scheduler is defined by the following parameters:</a:t>
            </a:r>
            <a:endParaRPr/>
          </a:p>
          <a:p>
            <a:pPr marL="228600" lvl="0" indent="-228600" algn="just" rtl="0">
              <a:lnSpc>
                <a:spcPct val="150000"/>
              </a:lnSpc>
              <a:spcBef>
                <a:spcPts val="1000"/>
              </a:spcBef>
              <a:spcAft>
                <a:spcPts val="0"/>
              </a:spcAft>
              <a:buClr>
                <a:schemeClr val="dk1"/>
              </a:buClr>
              <a:buSzPts val="2400"/>
              <a:buChar char="•"/>
            </a:pPr>
            <a:r>
              <a:rPr lang="en-US" sz="2400">
                <a:latin typeface="Calibri"/>
                <a:ea typeface="Calibri"/>
                <a:cs typeface="Calibri"/>
                <a:sym typeface="Calibri"/>
              </a:rPr>
              <a:t>The number of queues.</a:t>
            </a:r>
            <a:endParaRPr/>
          </a:p>
          <a:p>
            <a:pPr marL="228600" lvl="0" indent="-228600" algn="just" rtl="0">
              <a:lnSpc>
                <a:spcPct val="150000"/>
              </a:lnSpc>
              <a:spcBef>
                <a:spcPts val="1000"/>
              </a:spcBef>
              <a:spcAft>
                <a:spcPts val="0"/>
              </a:spcAft>
              <a:buClr>
                <a:schemeClr val="dk1"/>
              </a:buClr>
              <a:buSzPts val="2400"/>
              <a:buChar char="•"/>
            </a:pPr>
            <a:r>
              <a:rPr lang="en-US" sz="2400">
                <a:latin typeface="Calibri"/>
                <a:ea typeface="Calibri"/>
                <a:cs typeface="Calibri"/>
                <a:sym typeface="Calibri"/>
              </a:rPr>
              <a:t>The scheduling algorithm for each queue.</a:t>
            </a:r>
            <a:endParaRPr/>
          </a:p>
          <a:p>
            <a:pPr marL="228600" lvl="0" indent="-228600" algn="just" rtl="0">
              <a:lnSpc>
                <a:spcPct val="150000"/>
              </a:lnSpc>
              <a:spcBef>
                <a:spcPts val="1000"/>
              </a:spcBef>
              <a:spcAft>
                <a:spcPts val="0"/>
              </a:spcAft>
              <a:buClr>
                <a:schemeClr val="dk1"/>
              </a:buClr>
              <a:buSzPts val="2400"/>
              <a:buChar char="•"/>
            </a:pPr>
            <a:r>
              <a:rPr lang="en-US" sz="2400">
                <a:latin typeface="Calibri"/>
                <a:ea typeface="Calibri"/>
                <a:cs typeface="Calibri"/>
                <a:sym typeface="Calibri"/>
              </a:rPr>
              <a:t>The method used to determine when to upgrade a process to a higher priority queue.</a:t>
            </a:r>
            <a:endParaRPr/>
          </a:p>
          <a:p>
            <a:pPr marL="228600" lvl="0" indent="-228600" algn="just" rtl="0">
              <a:lnSpc>
                <a:spcPct val="150000"/>
              </a:lnSpc>
              <a:spcBef>
                <a:spcPts val="1000"/>
              </a:spcBef>
              <a:spcAft>
                <a:spcPts val="0"/>
              </a:spcAft>
              <a:buClr>
                <a:schemeClr val="dk1"/>
              </a:buClr>
              <a:buSzPts val="2400"/>
              <a:buChar char="•"/>
            </a:pPr>
            <a:r>
              <a:rPr lang="en-US" sz="2400">
                <a:latin typeface="Calibri"/>
                <a:ea typeface="Calibri"/>
                <a:cs typeface="Calibri"/>
                <a:sym typeface="Calibri"/>
              </a:rPr>
              <a:t>The method to determine when to demote a process to a lower priority queue.</a:t>
            </a:r>
            <a:endParaRPr/>
          </a:p>
          <a:p>
            <a:pPr marL="228600" lvl="0" indent="-228600" algn="just" rtl="0">
              <a:lnSpc>
                <a:spcPct val="150000"/>
              </a:lnSpc>
              <a:spcBef>
                <a:spcPts val="1000"/>
              </a:spcBef>
              <a:spcAft>
                <a:spcPts val="0"/>
              </a:spcAft>
              <a:buClr>
                <a:schemeClr val="dk1"/>
              </a:buClr>
              <a:buSzPts val="2400"/>
              <a:buChar char="•"/>
            </a:pPr>
            <a:r>
              <a:rPr lang="en-US" sz="2400">
                <a:latin typeface="Calibri"/>
                <a:ea typeface="Calibri"/>
                <a:cs typeface="Calibri"/>
                <a:sym typeface="Calibri"/>
              </a:rPr>
              <a:t>The method used to determine which queue a process will enter when that process needs service.</a:t>
            </a:r>
            <a:endParaRPr/>
          </a:p>
          <a:p>
            <a:pPr marL="0" lvl="0" indent="0" algn="just" rtl="0">
              <a:lnSpc>
                <a:spcPct val="150000"/>
              </a:lnSpc>
              <a:spcBef>
                <a:spcPts val="1000"/>
              </a:spcBef>
              <a:spcAft>
                <a:spcPts val="0"/>
              </a:spcAft>
              <a:buClr>
                <a:schemeClr val="dk1"/>
              </a:buClr>
              <a:buSzPts val="2400"/>
              <a:buNone/>
            </a:pPr>
            <a:endParaRPr sz="2400">
              <a:latin typeface="Calibri"/>
              <a:ea typeface="Calibri"/>
              <a:cs typeface="Calibri"/>
              <a:sym typeface="Calibri"/>
            </a:endParaRPr>
          </a:p>
          <a:p>
            <a:pPr marL="0" lvl="0" indent="0" algn="just" rtl="0">
              <a:lnSpc>
                <a:spcPct val="150000"/>
              </a:lnSpc>
              <a:spcBef>
                <a:spcPts val="1000"/>
              </a:spcBef>
              <a:spcAft>
                <a:spcPts val="0"/>
              </a:spcAft>
              <a:buClr>
                <a:schemeClr val="dk1"/>
              </a:buClr>
              <a:buSzPts val="2400"/>
              <a:buNone/>
            </a:pPr>
            <a:endParaRPr sz="2400">
              <a:latin typeface="Calibri"/>
              <a:ea typeface="Calibri"/>
              <a:cs typeface="Calibri"/>
              <a:sym typeface="Calibri"/>
            </a:endParaRPr>
          </a:p>
          <a:p>
            <a:pPr marL="0" lvl="0" indent="0" algn="l" rtl="0">
              <a:lnSpc>
                <a:spcPct val="90000"/>
              </a:lnSpc>
              <a:spcBef>
                <a:spcPts val="1000"/>
              </a:spcBef>
              <a:spcAft>
                <a:spcPts val="0"/>
              </a:spcAft>
              <a:buClr>
                <a:schemeClr val="dk1"/>
              </a:buClr>
              <a:buSzPts val="2400"/>
              <a:buNone/>
            </a:pPr>
            <a:endParaRPr sz="2400">
              <a:latin typeface="Calibri"/>
              <a:ea typeface="Calibri"/>
              <a:cs typeface="Calibri"/>
              <a:sym typeface="Calibri"/>
            </a:endParaRPr>
          </a:p>
        </p:txBody>
      </p:sp>
      <p:sp>
        <p:nvSpPr>
          <p:cNvPr id="345" name="Google Shape;345;p34"/>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5"/>
          <p:cNvSpPr txBox="1">
            <a:spLocks noGrp="1"/>
          </p:cNvSpPr>
          <p:nvPr>
            <p:ph type="body" idx="1"/>
          </p:nvPr>
        </p:nvSpPr>
        <p:spPr>
          <a:xfrm>
            <a:off x="2588964" y="143218"/>
            <a:ext cx="9474506" cy="6400801"/>
          </a:xfrm>
          <a:prstGeom prst="rect">
            <a:avLst/>
          </a:prstGeom>
          <a:noFill/>
          <a:ln>
            <a:noFill/>
          </a:ln>
        </p:spPr>
        <p:txBody>
          <a:bodyPr spcFirstLastPara="1" wrap="square" lIns="91425" tIns="45700" rIns="91425" bIns="45700" anchor="t" anchorCtr="0">
            <a:normAutofit/>
          </a:bodyPr>
          <a:lstStyle/>
          <a:p>
            <a:pPr marL="0" lvl="0" indent="0" algn="ctr" rtl="0">
              <a:lnSpc>
                <a:spcPct val="16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Multiple-Processor Scheduling</a:t>
            </a:r>
            <a:endParaRPr sz="2400">
              <a:solidFill>
                <a:srgbClr val="FF0000"/>
              </a:solidFill>
              <a:latin typeface="Calibri"/>
              <a:ea typeface="Calibri"/>
              <a:cs typeface="Calibri"/>
              <a:sym typeface="Calibri"/>
            </a:endParaRPr>
          </a:p>
          <a:p>
            <a:pPr marL="0" lvl="0" indent="0" algn="just" rtl="0">
              <a:lnSpc>
                <a:spcPct val="16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If multiple CPUs are available, load sharing becomes possible; however, the scheduling problem becomes correspondingly more complex. </a:t>
            </a:r>
            <a:endParaRPr/>
          </a:p>
          <a:p>
            <a:pPr marL="0" lvl="0" indent="0" algn="just" rtl="0">
              <a:lnSpc>
                <a:spcPct val="16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Many possibilities have  been tried; and as we saw with single processor CPU scheduling, there is no one best solution. </a:t>
            </a:r>
            <a:endParaRPr/>
          </a:p>
          <a:p>
            <a:pPr marL="0" lvl="0" indent="0" algn="just" rtl="0">
              <a:lnSpc>
                <a:spcPct val="160000"/>
              </a:lnSpc>
              <a:spcBef>
                <a:spcPts val="1000"/>
              </a:spcBef>
              <a:spcAft>
                <a:spcPts val="0"/>
              </a:spcAft>
              <a:buClr>
                <a:schemeClr val="dk1"/>
              </a:buClr>
              <a:buSzPts val="2000"/>
              <a:buNone/>
            </a:pPr>
            <a:r>
              <a:rPr lang="en-US" sz="2000">
                <a:latin typeface="Calibri"/>
                <a:ea typeface="Calibri"/>
                <a:cs typeface="Calibri"/>
                <a:sym typeface="Calibri"/>
              </a:rPr>
              <a:t>The processes which are in ready queue may be migrated.</a:t>
            </a:r>
            <a:endParaRPr/>
          </a:p>
          <a:p>
            <a:pPr marL="0" lvl="0" indent="0" algn="l" rtl="0">
              <a:lnSpc>
                <a:spcPct val="90000"/>
              </a:lnSpc>
              <a:spcBef>
                <a:spcPts val="1000"/>
              </a:spcBef>
              <a:spcAft>
                <a:spcPts val="0"/>
              </a:spcAft>
              <a:buClr>
                <a:schemeClr val="dk1"/>
              </a:buClr>
              <a:buSzPts val="2400"/>
              <a:buNone/>
            </a:pPr>
            <a:endParaRPr sz="2400">
              <a:latin typeface="Calibri"/>
              <a:ea typeface="Calibri"/>
              <a:cs typeface="Calibri"/>
              <a:sym typeface="Calibri"/>
            </a:endParaRPr>
          </a:p>
        </p:txBody>
      </p:sp>
      <p:sp>
        <p:nvSpPr>
          <p:cNvPr id="351" name="Google Shape;351;p35"/>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6"/>
          <p:cNvSpPr txBox="1">
            <a:spLocks noGrp="1"/>
          </p:cNvSpPr>
          <p:nvPr>
            <p:ph type="body" idx="1"/>
          </p:nvPr>
        </p:nvSpPr>
        <p:spPr>
          <a:xfrm>
            <a:off x="2588964" y="143218"/>
            <a:ext cx="9474506" cy="6400801"/>
          </a:xfrm>
          <a:prstGeom prst="rect">
            <a:avLst/>
          </a:prstGeom>
          <a:noFill/>
          <a:ln>
            <a:noFill/>
          </a:ln>
        </p:spPr>
        <p:txBody>
          <a:bodyPr spcFirstLastPara="1" wrap="square" lIns="91425" tIns="45700" rIns="91425" bIns="45700" anchor="t" anchorCtr="0">
            <a:normAutofit/>
          </a:bodyPr>
          <a:lstStyle/>
          <a:p>
            <a:pPr marL="0" lvl="0" indent="0" algn="ctr" rtl="0">
              <a:lnSpc>
                <a:spcPct val="160000"/>
              </a:lnSpc>
              <a:spcBef>
                <a:spcPts val="0"/>
              </a:spcBef>
              <a:spcAft>
                <a:spcPts val="0"/>
              </a:spcAft>
              <a:buClr>
                <a:srgbClr val="0000FF"/>
              </a:buClr>
              <a:buSzPts val="2000"/>
              <a:buNone/>
            </a:pPr>
            <a:r>
              <a:rPr lang="en-US" sz="2000" b="1">
                <a:solidFill>
                  <a:srgbClr val="0000FF"/>
                </a:solidFill>
                <a:latin typeface="Calibri"/>
                <a:ea typeface="Calibri"/>
                <a:cs typeface="Calibri"/>
                <a:sym typeface="Calibri"/>
              </a:rPr>
              <a:t>Approaches to Multiple-Processor Scheduling</a:t>
            </a:r>
            <a:endParaRPr sz="2000">
              <a:solidFill>
                <a:srgbClr val="0000FF"/>
              </a:solidFill>
              <a:latin typeface="Calibri"/>
              <a:ea typeface="Calibri"/>
              <a:cs typeface="Calibri"/>
              <a:sym typeface="Calibri"/>
            </a:endParaRPr>
          </a:p>
          <a:p>
            <a:pPr marL="0" lvl="0" indent="0" algn="l" rtl="0">
              <a:lnSpc>
                <a:spcPct val="90000"/>
              </a:lnSpc>
              <a:spcBef>
                <a:spcPts val="1015"/>
              </a:spcBef>
              <a:spcAft>
                <a:spcPts val="0"/>
              </a:spcAft>
              <a:buClr>
                <a:schemeClr val="dk1"/>
              </a:buClr>
              <a:buSzPts val="2400"/>
              <a:buNone/>
            </a:pPr>
            <a:r>
              <a:rPr lang="en-US" sz="2400">
                <a:latin typeface="Calibri"/>
                <a:ea typeface="Calibri"/>
                <a:cs typeface="Calibri"/>
                <a:sym typeface="Calibri"/>
              </a:rPr>
              <a:t>There are two approaches in multiple processor scheduling.</a:t>
            </a:r>
            <a:endParaRPr/>
          </a:p>
          <a:p>
            <a:pPr marL="0" lvl="0" indent="0" algn="just" rtl="0">
              <a:lnSpc>
                <a:spcPct val="90000"/>
              </a:lnSpc>
              <a:spcBef>
                <a:spcPts val="1000"/>
              </a:spcBef>
              <a:spcAft>
                <a:spcPts val="0"/>
              </a:spcAft>
              <a:buClr>
                <a:srgbClr val="FF0000"/>
              </a:buClr>
              <a:buSzPts val="2400"/>
              <a:buNone/>
            </a:pPr>
            <a:r>
              <a:rPr lang="en-US" sz="2400" b="1">
                <a:solidFill>
                  <a:srgbClr val="FF0000"/>
                </a:solidFill>
                <a:latin typeface="Calibri"/>
                <a:ea typeface="Calibri"/>
                <a:cs typeface="Calibri"/>
                <a:sym typeface="Calibri"/>
              </a:rPr>
              <a:t>1.Asymmetric Multiprocessing</a:t>
            </a:r>
            <a:endParaRPr/>
          </a:p>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When the scheduling decisions and I/O processing are handled by a single processor which is called  master  server and other processors executes only the user code.</a:t>
            </a:r>
            <a:endParaRPr/>
          </a:p>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This is simple and reduces the need of data sharing.</a:t>
            </a:r>
            <a:endParaRPr/>
          </a:p>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This entire scenario is called  Asymmetric  multiprocessing</a:t>
            </a:r>
            <a:endParaRPr/>
          </a:p>
        </p:txBody>
      </p:sp>
      <p:sp>
        <p:nvSpPr>
          <p:cNvPr id="357" name="Google Shape;357;p36"/>
          <p:cNvSpPr/>
          <p:nvPr/>
        </p:nvSpPr>
        <p:spPr>
          <a:xfrm>
            <a:off x="3415229" y="5530467"/>
            <a:ext cx="1410159" cy="484743"/>
          </a:xfrm>
          <a:prstGeom prst="rect">
            <a:avLst/>
          </a:prstGeom>
          <a:solidFill>
            <a:schemeClr val="accent5"/>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Calibri"/>
                <a:ea typeface="Calibri"/>
                <a:cs typeface="Calibri"/>
                <a:sym typeface="Calibri"/>
              </a:rPr>
              <a:t>P1</a:t>
            </a:r>
            <a:endParaRPr/>
          </a:p>
        </p:txBody>
      </p:sp>
      <p:sp>
        <p:nvSpPr>
          <p:cNvPr id="358" name="Google Shape;358;p36"/>
          <p:cNvSpPr/>
          <p:nvPr/>
        </p:nvSpPr>
        <p:spPr>
          <a:xfrm>
            <a:off x="7160965" y="5530466"/>
            <a:ext cx="1410159" cy="484743"/>
          </a:xfrm>
          <a:prstGeom prst="rect">
            <a:avLst/>
          </a:prstGeom>
          <a:solidFill>
            <a:schemeClr val="accent5"/>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Calibri"/>
                <a:ea typeface="Calibri"/>
                <a:cs typeface="Calibri"/>
                <a:sym typeface="Calibri"/>
              </a:rPr>
              <a:t>P3</a:t>
            </a:r>
            <a:endParaRPr/>
          </a:p>
        </p:txBody>
      </p:sp>
      <p:sp>
        <p:nvSpPr>
          <p:cNvPr id="359" name="Google Shape;359;p36"/>
          <p:cNvSpPr/>
          <p:nvPr/>
        </p:nvSpPr>
        <p:spPr>
          <a:xfrm>
            <a:off x="8945700" y="5546991"/>
            <a:ext cx="1410159" cy="484743"/>
          </a:xfrm>
          <a:prstGeom prst="rect">
            <a:avLst/>
          </a:prstGeom>
          <a:solidFill>
            <a:schemeClr val="accent5"/>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Calibri"/>
                <a:ea typeface="Calibri"/>
                <a:cs typeface="Calibri"/>
                <a:sym typeface="Calibri"/>
              </a:rPr>
              <a:t>P4</a:t>
            </a:r>
            <a:endParaRPr/>
          </a:p>
        </p:txBody>
      </p:sp>
      <p:sp>
        <p:nvSpPr>
          <p:cNvPr id="360" name="Google Shape;360;p36"/>
          <p:cNvSpPr/>
          <p:nvPr/>
        </p:nvSpPr>
        <p:spPr>
          <a:xfrm>
            <a:off x="5199964" y="5539647"/>
            <a:ext cx="1410159" cy="484743"/>
          </a:xfrm>
          <a:prstGeom prst="rect">
            <a:avLst/>
          </a:prstGeom>
          <a:solidFill>
            <a:schemeClr val="accent5"/>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Calibri"/>
                <a:ea typeface="Calibri"/>
                <a:cs typeface="Calibri"/>
                <a:sym typeface="Calibri"/>
              </a:rPr>
              <a:t>P2</a:t>
            </a:r>
            <a:endParaRPr/>
          </a:p>
        </p:txBody>
      </p:sp>
      <p:sp>
        <p:nvSpPr>
          <p:cNvPr id="361" name="Google Shape;361;p36"/>
          <p:cNvSpPr/>
          <p:nvPr/>
        </p:nvSpPr>
        <p:spPr>
          <a:xfrm>
            <a:off x="5199963" y="3668616"/>
            <a:ext cx="1244903" cy="484743"/>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Master</a:t>
            </a:r>
            <a:endParaRPr/>
          </a:p>
        </p:txBody>
      </p:sp>
      <p:sp>
        <p:nvSpPr>
          <p:cNvPr id="362" name="Google Shape;362;p36"/>
          <p:cNvSpPr/>
          <p:nvPr/>
        </p:nvSpPr>
        <p:spPr>
          <a:xfrm>
            <a:off x="3361981" y="3699830"/>
            <a:ext cx="1298152" cy="484743"/>
          </a:xfrm>
          <a:prstGeom prst="rect">
            <a:avLst/>
          </a:prstGeom>
          <a:solidFill>
            <a:srgbClr val="7030A0"/>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Master</a:t>
            </a:r>
            <a:endParaRPr/>
          </a:p>
        </p:txBody>
      </p:sp>
      <p:sp>
        <p:nvSpPr>
          <p:cNvPr id="363" name="Google Shape;363;p36"/>
          <p:cNvSpPr/>
          <p:nvPr/>
        </p:nvSpPr>
        <p:spPr>
          <a:xfrm>
            <a:off x="8980584" y="3699830"/>
            <a:ext cx="1375275" cy="484743"/>
          </a:xfrm>
          <a:prstGeom prst="rect">
            <a:avLst/>
          </a:prstGeom>
          <a:solidFill>
            <a:srgbClr val="7030A0"/>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Master</a:t>
            </a:r>
            <a:endParaRPr/>
          </a:p>
        </p:txBody>
      </p:sp>
      <p:sp>
        <p:nvSpPr>
          <p:cNvPr id="364" name="Google Shape;364;p36"/>
          <p:cNvSpPr/>
          <p:nvPr/>
        </p:nvSpPr>
        <p:spPr>
          <a:xfrm>
            <a:off x="7127916" y="3668615"/>
            <a:ext cx="1244903" cy="484743"/>
          </a:xfrm>
          <a:prstGeom prst="rect">
            <a:avLst/>
          </a:prstGeom>
          <a:solidFill>
            <a:srgbClr val="7030A0"/>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Master</a:t>
            </a:r>
            <a:endParaRPr/>
          </a:p>
        </p:txBody>
      </p:sp>
      <p:cxnSp>
        <p:nvCxnSpPr>
          <p:cNvPr id="365" name="Google Shape;365;p36"/>
          <p:cNvCxnSpPr/>
          <p:nvPr/>
        </p:nvCxnSpPr>
        <p:spPr>
          <a:xfrm>
            <a:off x="4043191" y="4201097"/>
            <a:ext cx="0" cy="1345894"/>
          </a:xfrm>
          <a:prstGeom prst="straightConnector1">
            <a:avLst/>
          </a:prstGeom>
          <a:noFill/>
          <a:ln w="19050" cap="flat" cmpd="sng">
            <a:solidFill>
              <a:schemeClr val="accent2"/>
            </a:solidFill>
            <a:prstDash val="solid"/>
            <a:miter lim="800000"/>
            <a:headEnd type="none" w="sm" len="sm"/>
            <a:tailEnd type="triangle" w="med" len="med"/>
          </a:ln>
        </p:spPr>
      </p:cxnSp>
      <p:cxnSp>
        <p:nvCxnSpPr>
          <p:cNvPr id="366" name="Google Shape;366;p36"/>
          <p:cNvCxnSpPr/>
          <p:nvPr/>
        </p:nvCxnSpPr>
        <p:spPr>
          <a:xfrm>
            <a:off x="5870154" y="4153358"/>
            <a:ext cx="0" cy="1345894"/>
          </a:xfrm>
          <a:prstGeom prst="straightConnector1">
            <a:avLst/>
          </a:prstGeom>
          <a:noFill/>
          <a:ln w="19050" cap="flat" cmpd="sng">
            <a:solidFill>
              <a:schemeClr val="accent2"/>
            </a:solidFill>
            <a:prstDash val="solid"/>
            <a:miter lim="800000"/>
            <a:headEnd type="none" w="sm" len="sm"/>
            <a:tailEnd type="triangle" w="med" len="med"/>
          </a:ln>
        </p:spPr>
      </p:cxnSp>
      <p:cxnSp>
        <p:nvCxnSpPr>
          <p:cNvPr id="367" name="Google Shape;367;p36"/>
          <p:cNvCxnSpPr/>
          <p:nvPr/>
        </p:nvCxnSpPr>
        <p:spPr>
          <a:xfrm>
            <a:off x="7853191" y="4184572"/>
            <a:ext cx="0" cy="1345894"/>
          </a:xfrm>
          <a:prstGeom prst="straightConnector1">
            <a:avLst/>
          </a:prstGeom>
          <a:noFill/>
          <a:ln w="19050" cap="flat" cmpd="sng">
            <a:solidFill>
              <a:schemeClr val="accent2"/>
            </a:solidFill>
            <a:prstDash val="solid"/>
            <a:miter lim="800000"/>
            <a:headEnd type="none" w="sm" len="sm"/>
            <a:tailEnd type="triangle" w="med" len="med"/>
          </a:ln>
        </p:spPr>
      </p:cxnSp>
      <p:cxnSp>
        <p:nvCxnSpPr>
          <p:cNvPr id="368" name="Google Shape;368;p36"/>
          <p:cNvCxnSpPr/>
          <p:nvPr/>
        </p:nvCxnSpPr>
        <p:spPr>
          <a:xfrm>
            <a:off x="9681991" y="4201097"/>
            <a:ext cx="0" cy="1345894"/>
          </a:xfrm>
          <a:prstGeom prst="straightConnector1">
            <a:avLst/>
          </a:prstGeom>
          <a:noFill/>
          <a:ln w="19050" cap="flat" cmpd="sng">
            <a:solidFill>
              <a:schemeClr val="accent2"/>
            </a:solidFill>
            <a:prstDash val="solid"/>
            <a:miter lim="800000"/>
            <a:headEnd type="none" w="sm" len="sm"/>
            <a:tailEnd type="triangle" w="med" len="med"/>
          </a:ln>
        </p:spPr>
      </p:cxnSp>
      <p:sp>
        <p:nvSpPr>
          <p:cNvPr id="369" name="Google Shape;369;p36"/>
          <p:cNvSpPr txBox="1"/>
          <p:nvPr/>
        </p:nvSpPr>
        <p:spPr>
          <a:xfrm>
            <a:off x="10146534" y="4608717"/>
            <a:ext cx="141016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No shared memory</a:t>
            </a:r>
            <a:endParaRPr/>
          </a:p>
        </p:txBody>
      </p:sp>
      <p:sp>
        <p:nvSpPr>
          <p:cNvPr id="370" name="Google Shape;370;p36"/>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7"/>
          <p:cNvSpPr txBox="1">
            <a:spLocks noGrp="1"/>
          </p:cNvSpPr>
          <p:nvPr>
            <p:ph type="body" idx="1"/>
          </p:nvPr>
        </p:nvSpPr>
        <p:spPr>
          <a:xfrm>
            <a:off x="2588964" y="143218"/>
            <a:ext cx="9474506" cy="6400801"/>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endParaRPr sz="2400" b="1">
              <a:solidFill>
                <a:srgbClr val="FF0000"/>
              </a:solidFill>
              <a:latin typeface="Calibri"/>
              <a:ea typeface="Calibri"/>
              <a:cs typeface="Calibri"/>
              <a:sym typeface="Calibri"/>
            </a:endParaRPr>
          </a:p>
          <a:p>
            <a:pPr marL="0" lvl="0" indent="0" algn="just" rtl="0">
              <a:lnSpc>
                <a:spcPct val="90000"/>
              </a:lnSpc>
              <a:spcBef>
                <a:spcPts val="1000"/>
              </a:spcBef>
              <a:spcAft>
                <a:spcPts val="0"/>
              </a:spcAft>
              <a:buClr>
                <a:srgbClr val="FF0000"/>
              </a:buClr>
              <a:buSzPts val="2400"/>
              <a:buNone/>
            </a:pPr>
            <a:r>
              <a:rPr lang="en-US" sz="2400" b="1">
                <a:solidFill>
                  <a:srgbClr val="FF0000"/>
                </a:solidFill>
                <a:latin typeface="Calibri"/>
                <a:ea typeface="Calibri"/>
                <a:cs typeface="Calibri"/>
                <a:sym typeface="Calibri"/>
              </a:rPr>
              <a:t>2.Symmetric Multiprocessing</a:t>
            </a:r>
            <a:endParaRPr/>
          </a:p>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All the processes may be in common ready queue or each processor may have its own private queue for ready processes. The scheduling proceeds by having the scheduler for each processer examine the ready queue and select process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8"/>
          <p:cNvSpPr txBox="1">
            <a:spLocks noGrp="1"/>
          </p:cNvSpPr>
          <p:nvPr>
            <p:ph type="body" idx="1"/>
          </p:nvPr>
        </p:nvSpPr>
        <p:spPr>
          <a:xfrm>
            <a:off x="2588964" y="143218"/>
            <a:ext cx="9474506" cy="6714781"/>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Processor Affinity</a:t>
            </a:r>
            <a:endParaRPr/>
          </a:p>
          <a:p>
            <a:pPr marL="0" lvl="0" indent="0" algn="just" rtl="0">
              <a:lnSpc>
                <a:spcPct val="150000"/>
              </a:lnSpc>
              <a:spcBef>
                <a:spcPts val="1015"/>
              </a:spcBef>
              <a:spcAft>
                <a:spcPts val="0"/>
              </a:spcAft>
              <a:buClr>
                <a:schemeClr val="dk1"/>
              </a:buClr>
              <a:buSzPts val="2000"/>
              <a:buNone/>
            </a:pPr>
            <a:r>
              <a:rPr lang="en-US" sz="2000">
                <a:latin typeface="Calibri"/>
                <a:ea typeface="Calibri"/>
                <a:cs typeface="Calibri"/>
                <a:sym typeface="Calibri"/>
              </a:rPr>
              <a:t>If the process migrates to another processor: The contents of cache memory must be invalidated for the processor being migrated from, and the cache for the processor being migrated to must be re-populated. </a:t>
            </a:r>
            <a:endParaRPr sz="2000">
              <a:latin typeface="Calibri"/>
              <a:ea typeface="Calibri"/>
              <a:cs typeface="Calibri"/>
              <a:sym typeface="Calibri"/>
            </a:endParaRPr>
          </a:p>
          <a:p>
            <a:pPr marL="0" lvl="0" indent="0" algn="just" rtl="0">
              <a:lnSpc>
                <a:spcPct val="150000"/>
              </a:lnSpc>
              <a:spcBef>
                <a:spcPts val="1015"/>
              </a:spcBef>
              <a:spcAft>
                <a:spcPts val="0"/>
              </a:spcAft>
              <a:buClr>
                <a:schemeClr val="dk1"/>
              </a:buClr>
              <a:buSzPts val="2000"/>
              <a:buNone/>
            </a:pPr>
            <a:r>
              <a:rPr lang="en-US" sz="2000">
                <a:latin typeface="Calibri"/>
                <a:ea typeface="Calibri"/>
                <a:cs typeface="Calibri"/>
                <a:sym typeface="Calibri"/>
              </a:rPr>
              <a:t> Because of the high cost of invalidating and re-populating caches, most SMP systems try to avoid migration of processes from one processor to another and instead attempt to keep a process running on the same processor. </a:t>
            </a:r>
            <a:endParaRPr/>
          </a:p>
          <a:p>
            <a:pPr marL="0" lvl="0" indent="0" algn="just" rtl="0">
              <a:lnSpc>
                <a:spcPct val="150000"/>
              </a:lnSpc>
              <a:spcBef>
                <a:spcPts val="1015"/>
              </a:spcBef>
              <a:spcAft>
                <a:spcPts val="0"/>
              </a:spcAft>
              <a:buClr>
                <a:schemeClr val="dk1"/>
              </a:buClr>
              <a:buSzPts val="2000"/>
              <a:buNone/>
            </a:pPr>
            <a:r>
              <a:rPr lang="en-US" sz="2000">
                <a:latin typeface="Calibri"/>
                <a:ea typeface="Calibri"/>
                <a:cs typeface="Calibri"/>
                <a:sym typeface="Calibri"/>
              </a:rPr>
              <a:t>This is known as processor affinity, meaning that a process has an affinity for the processor on which it is currently running.</a:t>
            </a:r>
            <a:endParaRPr sz="2000">
              <a:latin typeface="Calibri"/>
              <a:ea typeface="Calibri"/>
              <a:cs typeface="Calibri"/>
              <a:sym typeface="Calibri"/>
            </a:endParaRPr>
          </a:p>
          <a:p>
            <a:pPr marL="0" lvl="0" indent="0" algn="l" rtl="0">
              <a:lnSpc>
                <a:spcPct val="90000"/>
              </a:lnSpc>
              <a:spcBef>
                <a:spcPts val="1015"/>
              </a:spcBef>
              <a:spcAft>
                <a:spcPts val="0"/>
              </a:spcAft>
              <a:buClr>
                <a:schemeClr val="dk1"/>
              </a:buClr>
              <a:buSzPts val="2400"/>
              <a:buNone/>
            </a:pPr>
            <a:endParaRPr sz="2400">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9"/>
          <p:cNvSpPr txBox="1">
            <a:spLocks noGrp="1"/>
          </p:cNvSpPr>
          <p:nvPr>
            <p:ph type="body" idx="1"/>
          </p:nvPr>
        </p:nvSpPr>
        <p:spPr>
          <a:xfrm>
            <a:off x="2588964" y="143218"/>
            <a:ext cx="9474506" cy="6714781"/>
          </a:xfrm>
          <a:prstGeom prst="rect">
            <a:avLst/>
          </a:prstGeom>
          <a:noFill/>
          <a:ln>
            <a:noFill/>
          </a:ln>
        </p:spPr>
        <p:txBody>
          <a:bodyPr spcFirstLastPara="1" wrap="square" lIns="91425" tIns="45700" rIns="91425" bIns="45700" anchor="t" anchorCtr="0">
            <a:normAutofit fontScale="92500"/>
          </a:bodyPr>
          <a:lstStyle/>
          <a:p>
            <a:pPr marL="0" lvl="0" indent="0" algn="ctr" rtl="0">
              <a:lnSpc>
                <a:spcPct val="150000"/>
              </a:lnSpc>
              <a:spcBef>
                <a:spcPts val="0"/>
              </a:spcBef>
              <a:spcAft>
                <a:spcPts val="0"/>
              </a:spcAft>
              <a:buClr>
                <a:srgbClr val="FF0000"/>
              </a:buClr>
              <a:buSzPct val="100000"/>
              <a:buNone/>
            </a:pPr>
            <a:r>
              <a:rPr lang="en-US" sz="2400" b="1">
                <a:solidFill>
                  <a:srgbClr val="FF0000"/>
                </a:solidFill>
                <a:latin typeface="Calibri"/>
                <a:ea typeface="Calibri"/>
                <a:cs typeface="Calibri"/>
                <a:sym typeface="Calibri"/>
              </a:rPr>
              <a:t>Load Balancing</a:t>
            </a:r>
            <a:endParaRPr sz="2400">
              <a:solidFill>
                <a:srgbClr val="FF0000"/>
              </a:solidFill>
              <a:latin typeface="Calibri"/>
              <a:ea typeface="Calibri"/>
              <a:cs typeface="Calibri"/>
              <a:sym typeface="Calibri"/>
            </a:endParaRPr>
          </a:p>
          <a:p>
            <a:pPr marL="228600" lvl="0" indent="-217170" algn="just" rtl="0">
              <a:lnSpc>
                <a:spcPct val="150000"/>
              </a:lnSpc>
              <a:spcBef>
                <a:spcPts val="1015"/>
              </a:spcBef>
              <a:spcAft>
                <a:spcPts val="0"/>
              </a:spcAft>
              <a:buClr>
                <a:srgbClr val="000000"/>
              </a:buClr>
              <a:buSzPct val="100000"/>
              <a:buChar char="•"/>
            </a:pPr>
            <a:r>
              <a:rPr lang="en-US" sz="2400">
                <a:solidFill>
                  <a:srgbClr val="000000"/>
                </a:solidFill>
                <a:latin typeface="Calibri"/>
                <a:ea typeface="Calibri"/>
                <a:cs typeface="Calibri"/>
                <a:sym typeface="Calibri"/>
              </a:rPr>
              <a:t>On SMP systems, it is important to keep the workload balanced among all processors to </a:t>
            </a:r>
            <a:r>
              <a:rPr lang="en-US" sz="2400">
                <a:solidFill>
                  <a:srgbClr val="0000FF"/>
                </a:solidFill>
                <a:latin typeface="Calibri"/>
                <a:ea typeface="Calibri"/>
                <a:cs typeface="Calibri"/>
                <a:sym typeface="Calibri"/>
              </a:rPr>
              <a:t>fully utilize the benefits of having more than one processor. </a:t>
            </a:r>
            <a:endParaRPr/>
          </a:p>
          <a:p>
            <a:pPr marL="228600" lvl="0" indent="-217170" algn="just" rtl="0">
              <a:lnSpc>
                <a:spcPct val="150000"/>
              </a:lnSpc>
              <a:spcBef>
                <a:spcPts val="1015"/>
              </a:spcBef>
              <a:spcAft>
                <a:spcPts val="0"/>
              </a:spcAft>
              <a:buClr>
                <a:srgbClr val="000000"/>
              </a:buClr>
              <a:buSzPct val="100000"/>
              <a:buChar char="•"/>
            </a:pPr>
            <a:r>
              <a:rPr lang="en-US" sz="2400">
                <a:solidFill>
                  <a:srgbClr val="000000"/>
                </a:solidFill>
                <a:latin typeface="Calibri"/>
                <a:ea typeface="Calibri"/>
                <a:cs typeface="Calibri"/>
                <a:sym typeface="Calibri"/>
              </a:rPr>
              <a:t>OtherwAI&amp;ML, one or more processors may sit idle while other processors have high workloads along with lists of processes awaiting the CPU. </a:t>
            </a:r>
            <a:endParaRPr sz="2400">
              <a:solidFill>
                <a:srgbClr val="000000"/>
              </a:solidFill>
              <a:latin typeface="Calibri"/>
              <a:ea typeface="Calibri"/>
              <a:cs typeface="Calibri"/>
              <a:sym typeface="Calibri"/>
            </a:endParaRPr>
          </a:p>
          <a:p>
            <a:pPr marL="228600" lvl="0" indent="-217170" algn="just" rtl="0">
              <a:lnSpc>
                <a:spcPct val="150000"/>
              </a:lnSpc>
              <a:spcBef>
                <a:spcPts val="1015"/>
              </a:spcBef>
              <a:spcAft>
                <a:spcPts val="0"/>
              </a:spcAft>
              <a:buClr>
                <a:srgbClr val="000000"/>
              </a:buClr>
              <a:buSzPct val="100000"/>
              <a:buChar char="•"/>
            </a:pPr>
            <a:r>
              <a:rPr lang="en-US" sz="2400">
                <a:solidFill>
                  <a:srgbClr val="000000"/>
                </a:solidFill>
                <a:latin typeface="Calibri"/>
                <a:ea typeface="Calibri"/>
                <a:cs typeface="Calibri"/>
                <a:sym typeface="Calibri"/>
              </a:rPr>
              <a:t>Load balancing attempts to keep </a:t>
            </a:r>
            <a:r>
              <a:rPr lang="en-US" sz="2400">
                <a:solidFill>
                  <a:srgbClr val="0000FF"/>
                </a:solidFill>
                <a:latin typeface="Calibri"/>
                <a:ea typeface="Calibri"/>
                <a:cs typeface="Calibri"/>
                <a:sym typeface="Calibri"/>
              </a:rPr>
              <a:t>the workload evenly distributed across all processors in an SMP system</a:t>
            </a:r>
            <a:endParaRPr sz="2400">
              <a:solidFill>
                <a:srgbClr val="0000FF"/>
              </a:solidFill>
              <a:latin typeface="Calibri"/>
              <a:ea typeface="Calibri"/>
              <a:cs typeface="Calibri"/>
              <a:sym typeface="Calibri"/>
            </a:endParaRPr>
          </a:p>
          <a:p>
            <a:pPr marL="228600" lvl="0" indent="-217170" algn="just" rtl="0">
              <a:lnSpc>
                <a:spcPct val="150000"/>
              </a:lnSpc>
              <a:spcBef>
                <a:spcPts val="1015"/>
              </a:spcBef>
              <a:spcAft>
                <a:spcPts val="0"/>
              </a:spcAft>
              <a:buClr>
                <a:srgbClr val="0000FF"/>
              </a:buClr>
              <a:buSzPct val="100000"/>
              <a:buChar char="•"/>
            </a:pPr>
            <a:r>
              <a:rPr lang="en-US" sz="2400">
                <a:solidFill>
                  <a:srgbClr val="0000FF"/>
                </a:solidFill>
                <a:latin typeface="Calibri"/>
                <a:ea typeface="Calibri"/>
                <a:cs typeface="Calibri"/>
                <a:sym typeface="Calibri"/>
              </a:rPr>
              <a:t>Load balancing </a:t>
            </a:r>
            <a:r>
              <a:rPr lang="en-US" sz="2400">
                <a:solidFill>
                  <a:srgbClr val="000000"/>
                </a:solidFill>
                <a:latin typeface="Calibri"/>
                <a:ea typeface="Calibri"/>
                <a:cs typeface="Calibri"/>
                <a:sym typeface="Calibri"/>
              </a:rPr>
              <a:t>is necessary only on systems </a:t>
            </a:r>
            <a:r>
              <a:rPr lang="en-US" sz="2400">
                <a:solidFill>
                  <a:srgbClr val="0000FF"/>
                </a:solidFill>
                <a:latin typeface="Calibri"/>
                <a:ea typeface="Calibri"/>
                <a:cs typeface="Calibri"/>
                <a:sym typeface="Calibri"/>
              </a:rPr>
              <a:t>where each processor has its own private queue of process which are eligible to execute.</a:t>
            </a:r>
            <a:endParaRPr/>
          </a:p>
          <a:p>
            <a:pPr marL="0" lvl="0" indent="0" algn="just" rtl="0">
              <a:lnSpc>
                <a:spcPct val="150000"/>
              </a:lnSpc>
              <a:spcBef>
                <a:spcPts val="1015"/>
              </a:spcBef>
              <a:spcAft>
                <a:spcPts val="0"/>
              </a:spcAft>
              <a:buClr>
                <a:srgbClr val="000000"/>
              </a:buClr>
              <a:buSzPct val="100000"/>
              <a:buNone/>
            </a:pPr>
            <a:r>
              <a:rPr lang="en-US" sz="2400">
                <a:solidFill>
                  <a:srgbClr val="000000"/>
                </a:solidFill>
                <a:latin typeface="Calibri"/>
                <a:ea typeface="Calibri"/>
                <a:cs typeface="Calibri"/>
                <a:sym typeface="Calibri"/>
              </a:rPr>
              <a:t> </a:t>
            </a:r>
            <a:endParaRPr sz="2400">
              <a:latin typeface="Calibri"/>
              <a:ea typeface="Calibri"/>
              <a:cs typeface="Calibri"/>
              <a:sym typeface="Calibri"/>
            </a:endParaRPr>
          </a:p>
          <a:p>
            <a:pPr marL="0" lvl="0" indent="0" algn="just" rtl="0">
              <a:lnSpc>
                <a:spcPct val="150000"/>
              </a:lnSpc>
              <a:spcBef>
                <a:spcPts val="1015"/>
              </a:spcBef>
              <a:spcAft>
                <a:spcPts val="0"/>
              </a:spcAft>
              <a:buClr>
                <a:schemeClr val="dk1"/>
              </a:buClr>
              <a:buSzPct val="100000"/>
              <a:buNone/>
            </a:pPr>
            <a:endParaRPr sz="2000">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3a45410924c_0_0"/>
          <p:cNvSpPr txBox="1">
            <a:spLocks noGrp="1"/>
          </p:cNvSpPr>
          <p:nvPr>
            <p:ph type="title"/>
          </p:nvPr>
        </p:nvSpPr>
        <p:spPr>
          <a:xfrm>
            <a:off x="2708694" y="365125"/>
            <a:ext cx="86451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Module 2</a:t>
            </a:r>
            <a:endParaRPr/>
          </a:p>
        </p:txBody>
      </p:sp>
      <p:sp>
        <p:nvSpPr>
          <p:cNvPr id="392" name="Google Shape;392;g3a45410924c_0_0"/>
          <p:cNvSpPr txBox="1">
            <a:spLocks noGrp="1"/>
          </p:cNvSpPr>
          <p:nvPr>
            <p:ph type="body" idx="1"/>
          </p:nvPr>
        </p:nvSpPr>
        <p:spPr>
          <a:xfrm>
            <a:off x="2708694" y="1825625"/>
            <a:ext cx="86451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Chapter 2: Multi-threaded Programming: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pic>
        <p:nvPicPr>
          <p:cNvPr id="397" name="Google Shape;397;p40"/>
          <p:cNvPicPr preferRelativeResize="0">
            <a:picLocks noGrp="1"/>
          </p:cNvPicPr>
          <p:nvPr>
            <p:ph type="body" idx="1"/>
          </p:nvPr>
        </p:nvPicPr>
        <p:blipFill rotWithShape="1">
          <a:blip r:embed="rId3">
            <a:alphaModFix/>
          </a:blip>
          <a:srcRect t="2574"/>
          <a:stretch/>
        </p:blipFill>
        <p:spPr>
          <a:xfrm>
            <a:off x="2533880" y="3497791"/>
            <a:ext cx="8879595" cy="2833188"/>
          </a:xfrm>
          <a:prstGeom prst="rect">
            <a:avLst/>
          </a:prstGeom>
          <a:noFill/>
          <a:ln>
            <a:noFill/>
          </a:ln>
        </p:spPr>
      </p:pic>
      <p:sp>
        <p:nvSpPr>
          <p:cNvPr id="398" name="Google Shape;398;p40"/>
          <p:cNvSpPr txBox="1"/>
          <p:nvPr/>
        </p:nvSpPr>
        <p:spPr>
          <a:xfrm>
            <a:off x="2533880" y="527021"/>
            <a:ext cx="9658120" cy="327628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a:solidFill>
                  <a:srgbClr val="000000"/>
                </a:solidFill>
                <a:latin typeface="Calibri"/>
                <a:ea typeface="Calibri"/>
                <a:cs typeface="Calibri"/>
                <a:sym typeface="Calibri"/>
              </a:rPr>
              <a:t>A thread is a </a:t>
            </a:r>
            <a:r>
              <a:rPr lang="en-US" sz="2000" b="1">
                <a:solidFill>
                  <a:srgbClr val="000000"/>
                </a:solidFill>
                <a:latin typeface="Calibri"/>
                <a:ea typeface="Calibri"/>
                <a:cs typeface="Calibri"/>
                <a:sym typeface="Calibri"/>
              </a:rPr>
              <a:t>basic unit of CPU utilization.</a:t>
            </a:r>
            <a:endParaRPr/>
          </a:p>
          <a:p>
            <a:pPr marL="0" marR="0" lvl="0" indent="0" algn="just" rtl="0">
              <a:lnSpc>
                <a:spcPct val="150000"/>
              </a:lnSpc>
              <a:spcBef>
                <a:spcPts val="15"/>
              </a:spcBef>
              <a:spcAft>
                <a:spcPts val="0"/>
              </a:spcAft>
              <a:buNone/>
            </a:pPr>
            <a:r>
              <a:rPr lang="en-US" sz="2000" b="1">
                <a:solidFill>
                  <a:srgbClr val="000000"/>
                </a:solidFill>
                <a:latin typeface="Calibri"/>
                <a:ea typeface="Calibri"/>
                <a:cs typeface="Calibri"/>
                <a:sym typeface="Calibri"/>
              </a:rPr>
              <a:t>It </a:t>
            </a:r>
            <a:r>
              <a:rPr lang="en-US" sz="2000">
                <a:solidFill>
                  <a:srgbClr val="000000"/>
                </a:solidFill>
                <a:latin typeface="Calibri"/>
                <a:ea typeface="Calibri"/>
                <a:cs typeface="Calibri"/>
                <a:sym typeface="Calibri"/>
              </a:rPr>
              <a:t> consists of a </a:t>
            </a:r>
            <a:r>
              <a:rPr lang="en-US" sz="2000">
                <a:solidFill>
                  <a:srgbClr val="0000FF"/>
                </a:solidFill>
                <a:latin typeface="Calibri"/>
                <a:ea typeface="Calibri"/>
                <a:cs typeface="Calibri"/>
                <a:sym typeface="Calibri"/>
              </a:rPr>
              <a:t>thread ID, a program counter, a register set, and a stack.</a:t>
            </a:r>
            <a:endParaRPr/>
          </a:p>
          <a:p>
            <a:pPr marL="0" marR="0" lvl="0" indent="0" algn="just" rtl="0">
              <a:lnSpc>
                <a:spcPct val="150000"/>
              </a:lnSpc>
              <a:spcBef>
                <a:spcPts val="15"/>
              </a:spcBef>
              <a:spcAft>
                <a:spcPts val="0"/>
              </a:spcAft>
              <a:buNone/>
            </a:pPr>
            <a:r>
              <a:rPr lang="en-US" sz="2000">
                <a:solidFill>
                  <a:srgbClr val="000000"/>
                </a:solidFill>
                <a:latin typeface="Calibri"/>
                <a:ea typeface="Calibri"/>
                <a:cs typeface="Calibri"/>
                <a:sym typeface="Calibri"/>
              </a:rPr>
              <a:t> It shares with other threads belonging to the same process its code section, data section, and other operating-system resources. </a:t>
            </a:r>
            <a:endParaRPr/>
          </a:p>
          <a:p>
            <a:pPr marL="0" marR="0" lvl="0" indent="0" algn="just" rtl="0">
              <a:lnSpc>
                <a:spcPct val="150000"/>
              </a:lnSpc>
              <a:spcBef>
                <a:spcPts val="15"/>
              </a:spcBef>
              <a:spcAft>
                <a:spcPts val="0"/>
              </a:spcAft>
              <a:buNone/>
            </a:pPr>
            <a:r>
              <a:rPr lang="en-US" sz="2000">
                <a:solidFill>
                  <a:srgbClr val="0000FF"/>
                </a:solidFill>
                <a:latin typeface="Calibri"/>
                <a:ea typeface="Calibri"/>
                <a:cs typeface="Calibri"/>
                <a:sym typeface="Calibri"/>
              </a:rPr>
              <a:t>If a process has multiple threads of control, it can perform more than one task at a time. </a:t>
            </a:r>
            <a:endParaRPr/>
          </a:p>
          <a:p>
            <a:pPr marL="0" marR="0" lvl="0" indent="0" algn="just" rtl="0">
              <a:lnSpc>
                <a:spcPct val="150000"/>
              </a:lnSpc>
              <a:spcBef>
                <a:spcPts val="15"/>
              </a:spcBef>
              <a:spcAft>
                <a:spcPts val="0"/>
              </a:spcAft>
              <a:buNone/>
            </a:pPr>
            <a:r>
              <a:rPr lang="en-US" sz="2000">
                <a:solidFill>
                  <a:srgbClr val="000000"/>
                </a:solidFill>
                <a:latin typeface="Calibri"/>
                <a:ea typeface="Calibri"/>
                <a:cs typeface="Calibri"/>
                <a:sym typeface="Calibri"/>
              </a:rPr>
              <a:t>Below Figure  illustrates the difference between a single threaded process and a multi-threaded process.     </a:t>
            </a:r>
            <a:endParaRPr sz="2000">
              <a:solidFill>
                <a:schemeClr val="dk1"/>
              </a:solidFill>
              <a:latin typeface="Calibri"/>
              <a:ea typeface="Calibri"/>
              <a:cs typeface="Calibri"/>
              <a:sym typeface="Calibri"/>
            </a:endParaRPr>
          </a:p>
        </p:txBody>
      </p:sp>
      <p:sp>
        <p:nvSpPr>
          <p:cNvPr id="399" name="Google Shape;399;p40"/>
          <p:cNvSpPr txBox="1"/>
          <p:nvPr/>
        </p:nvSpPr>
        <p:spPr>
          <a:xfrm>
            <a:off x="2613752" y="18154"/>
            <a:ext cx="610885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FF0000"/>
                </a:solidFill>
                <a:latin typeface="Calibri"/>
                <a:ea typeface="Calibri"/>
                <a:cs typeface="Calibri"/>
                <a:sym typeface="Calibri"/>
              </a:rPr>
              <a:t>THREADS</a:t>
            </a:r>
            <a:endParaRPr/>
          </a:p>
        </p:txBody>
      </p:sp>
      <p:sp>
        <p:nvSpPr>
          <p:cNvPr id="400" name="Google Shape;400;p40"/>
          <p:cNvSpPr txBox="1"/>
          <p:nvPr/>
        </p:nvSpPr>
        <p:spPr>
          <a:xfrm>
            <a:off x="3561202" y="6425382"/>
            <a:ext cx="6130886" cy="407035"/>
          </a:xfrm>
          <a:prstGeom prst="rect">
            <a:avLst/>
          </a:prstGeom>
          <a:noFill/>
          <a:ln>
            <a:noFill/>
          </a:ln>
        </p:spPr>
        <p:txBody>
          <a:bodyPr spcFirstLastPara="1" wrap="square" lIns="91425" tIns="45700" rIns="91425" bIns="45700" anchor="t" anchorCtr="0">
            <a:spAutoFit/>
          </a:bodyPr>
          <a:lstStyle/>
          <a:p>
            <a:pPr marL="0" marR="1270" lvl="0" indent="0" algn="ctr" rtl="0">
              <a:lnSpc>
                <a:spcPct val="107000"/>
              </a:lnSpc>
              <a:spcBef>
                <a:spcPts val="0"/>
              </a:spcBef>
              <a:spcAft>
                <a:spcPts val="0"/>
              </a:spcAft>
              <a:buNone/>
            </a:pPr>
            <a:r>
              <a:rPr lang="en-US" sz="2000">
                <a:solidFill>
                  <a:srgbClr val="000000"/>
                </a:solidFill>
                <a:latin typeface="Calibri"/>
                <a:ea typeface="Calibri"/>
                <a:cs typeface="Calibri"/>
                <a:sym typeface="Calibri"/>
              </a:rPr>
              <a:t>Single threaded and Multi-threaded processes  </a:t>
            </a:r>
            <a:endParaRPr sz="2000">
              <a:solidFill>
                <a:schemeClr val="dk1"/>
              </a:solidFill>
              <a:latin typeface="Calibri"/>
              <a:ea typeface="Calibri"/>
              <a:cs typeface="Calibri"/>
              <a:sym typeface="Calibri"/>
            </a:endParaRPr>
          </a:p>
        </p:txBody>
      </p:sp>
      <p:sp>
        <p:nvSpPr>
          <p:cNvPr id="401" name="Google Shape;401;p40"/>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pic>
        <p:nvPicPr>
          <p:cNvPr id="402" name="Google Shape;402;p40" descr="Thread Structure Long Questions Answers ..."/>
          <p:cNvPicPr preferRelativeResize="0"/>
          <p:nvPr/>
        </p:nvPicPr>
        <p:blipFill rotWithShape="1">
          <a:blip r:embed="rId4">
            <a:alphaModFix/>
          </a:blip>
          <a:srcRect/>
          <a:stretch/>
        </p:blipFill>
        <p:spPr>
          <a:xfrm>
            <a:off x="9412357" y="3627783"/>
            <a:ext cx="2779643" cy="314629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1"/>
          <p:cNvSpPr txBox="1">
            <a:spLocks noGrp="1"/>
          </p:cNvSpPr>
          <p:nvPr>
            <p:ph type="body" idx="1"/>
          </p:nvPr>
        </p:nvSpPr>
        <p:spPr>
          <a:xfrm>
            <a:off x="2708694" y="1825625"/>
            <a:ext cx="8645106"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408" name="Google Shape;408;p41" descr="Threads and Operating System Processes"/>
          <p:cNvPicPr preferRelativeResize="0"/>
          <p:nvPr/>
        </p:nvPicPr>
        <p:blipFill rotWithShape="1">
          <a:blip r:embed="rId3">
            <a:alphaModFix/>
          </a:blip>
          <a:srcRect/>
          <a:stretch/>
        </p:blipFill>
        <p:spPr>
          <a:xfrm>
            <a:off x="2708693" y="718873"/>
            <a:ext cx="8910149" cy="5957674"/>
          </a:xfrm>
          <a:prstGeom prst="rect">
            <a:avLst/>
          </a:prstGeom>
          <a:noFill/>
          <a:ln>
            <a:noFill/>
          </a:ln>
        </p:spPr>
      </p:pic>
      <p:sp>
        <p:nvSpPr>
          <p:cNvPr id="409" name="Google Shape;409;p41"/>
          <p:cNvSpPr txBox="1"/>
          <p:nvPr/>
        </p:nvSpPr>
        <p:spPr>
          <a:xfrm>
            <a:off x="524064" y="3900324"/>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42"/>
          <p:cNvSpPr txBox="1">
            <a:spLocks noGrp="1"/>
          </p:cNvSpPr>
          <p:nvPr>
            <p:ph type="body" idx="1"/>
          </p:nvPr>
        </p:nvSpPr>
        <p:spPr>
          <a:xfrm>
            <a:off x="2555913" y="154236"/>
            <a:ext cx="9463489" cy="6621137"/>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Benefits of Multithreaded Programming: </a:t>
            </a:r>
            <a:endParaRPr sz="2400" b="1">
              <a:solidFill>
                <a:srgbClr val="FF0000"/>
              </a:solidFill>
              <a:latin typeface="Calibri"/>
              <a:ea typeface="Calibri"/>
              <a:cs typeface="Calibri"/>
              <a:sym typeface="Calibri"/>
            </a:endParaRPr>
          </a:p>
          <a:p>
            <a:pPr marL="0" lvl="0" indent="0" algn="just" rtl="0">
              <a:lnSpc>
                <a:spcPct val="150000"/>
              </a:lnSpc>
              <a:spcBef>
                <a:spcPts val="1800"/>
              </a:spcBef>
              <a:spcAft>
                <a:spcPts val="0"/>
              </a:spcAft>
              <a:buClr>
                <a:srgbClr val="000000"/>
              </a:buClr>
              <a:buSzPts val="2000"/>
              <a:buNone/>
            </a:pPr>
            <a:r>
              <a:rPr lang="en-US" sz="2000" b="1" u="none" strike="noStrike">
                <a:solidFill>
                  <a:srgbClr val="000000"/>
                </a:solidFill>
                <a:latin typeface="Calibri"/>
                <a:ea typeface="Calibri"/>
                <a:cs typeface="Calibri"/>
                <a:sym typeface="Calibri"/>
              </a:rPr>
              <a:t>Responsiveness: </a:t>
            </a:r>
            <a:r>
              <a:rPr lang="en-US" sz="2000" u="none" strike="noStrike">
                <a:solidFill>
                  <a:srgbClr val="000000"/>
                </a:solidFill>
                <a:latin typeface="Calibri"/>
                <a:ea typeface="Calibri"/>
                <a:cs typeface="Calibri"/>
                <a:sym typeface="Calibri"/>
              </a:rPr>
              <a:t>In Multithreading an interactive application may allow a program to continue running even if part of it is blocked or is performing a lengthy operation, thereby increasing responsiveness to the user. </a:t>
            </a:r>
            <a:endParaRPr sz="2000" u="none" strike="noStrike">
              <a:latin typeface="Calibri"/>
              <a:ea typeface="Calibri"/>
              <a:cs typeface="Calibri"/>
              <a:sym typeface="Calibri"/>
            </a:endParaRPr>
          </a:p>
          <a:p>
            <a:pPr marL="0" lvl="0" indent="0" algn="just" rtl="0">
              <a:lnSpc>
                <a:spcPct val="150000"/>
              </a:lnSpc>
              <a:spcBef>
                <a:spcPts val="1295"/>
              </a:spcBef>
              <a:spcAft>
                <a:spcPts val="0"/>
              </a:spcAft>
              <a:buClr>
                <a:srgbClr val="000000"/>
              </a:buClr>
              <a:buSzPts val="2000"/>
              <a:buNone/>
            </a:pPr>
            <a:r>
              <a:rPr lang="en-US" sz="2000" b="1" u="none" strike="noStrike">
                <a:solidFill>
                  <a:srgbClr val="000000"/>
                </a:solidFill>
                <a:latin typeface="Calibri"/>
                <a:ea typeface="Calibri"/>
                <a:cs typeface="Calibri"/>
                <a:sym typeface="Calibri"/>
              </a:rPr>
              <a:t>Resource sharing</a:t>
            </a:r>
            <a:r>
              <a:rPr lang="en-US" sz="2000" u="none" strike="noStrike">
                <a:solidFill>
                  <a:srgbClr val="000000"/>
                </a:solidFill>
                <a:latin typeface="Calibri"/>
                <a:ea typeface="Calibri"/>
                <a:cs typeface="Calibri"/>
                <a:sym typeface="Calibri"/>
              </a:rPr>
              <a:t>: Processes may only share resources through shared memory or message passing. These techniques must be explicitly arranged by the programmer. But, threads share the memory and the resources of the process to which they belong by default. The benefit of sharing code and data is that it allows an application to have several different threads of activity within the same address space. </a:t>
            </a:r>
            <a:endParaRPr/>
          </a:p>
          <a:p>
            <a:pPr marL="0" lvl="0" indent="0" algn="just" rtl="0">
              <a:lnSpc>
                <a:spcPct val="150000"/>
              </a:lnSpc>
              <a:spcBef>
                <a:spcPts val="1800"/>
              </a:spcBef>
              <a:spcAft>
                <a:spcPts val="0"/>
              </a:spcAft>
              <a:buClr>
                <a:srgbClr val="000000"/>
              </a:buClr>
              <a:buSzPts val="2000"/>
              <a:buNone/>
            </a:pPr>
            <a:r>
              <a:rPr lang="en-US" sz="2000" b="1" u="none" strike="noStrike">
                <a:solidFill>
                  <a:srgbClr val="000000"/>
                </a:solidFill>
                <a:latin typeface="Calibri"/>
                <a:ea typeface="Calibri"/>
                <a:cs typeface="Calibri"/>
                <a:sym typeface="Calibri"/>
              </a:rPr>
              <a:t>Economy: </a:t>
            </a:r>
            <a:r>
              <a:rPr lang="en-US" sz="2000" u="none" strike="noStrike">
                <a:solidFill>
                  <a:srgbClr val="000000"/>
                </a:solidFill>
                <a:latin typeface="Calibri"/>
                <a:ea typeface="Calibri"/>
                <a:cs typeface="Calibri"/>
                <a:sym typeface="Calibri"/>
              </a:rPr>
              <a:t>Allocating memory and resources for process creation is costly. Because threads share the resources of the process to which they belong, it is more economical to create and context-switch threads. It is much more time consuming to create and manage processes than threads. </a:t>
            </a:r>
            <a:endParaRPr sz="2000" u="none" strike="noStrike">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endParaRPr sz="2000" u="none" strike="noStrike">
              <a:solidFill>
                <a:srgbClr val="000000"/>
              </a:solidFill>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endParaRPr sz="2000" u="none" strike="noStrike">
              <a:latin typeface="Calibri"/>
              <a:ea typeface="Calibri"/>
              <a:cs typeface="Calibri"/>
              <a:sym typeface="Calibri"/>
            </a:endParaRPr>
          </a:p>
        </p:txBody>
      </p:sp>
      <p:sp>
        <p:nvSpPr>
          <p:cNvPr id="415" name="Google Shape;415;p42"/>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3"/>
          <p:cNvSpPr txBox="1">
            <a:spLocks noGrp="1"/>
          </p:cNvSpPr>
          <p:nvPr>
            <p:ph type="body" idx="1"/>
          </p:nvPr>
        </p:nvSpPr>
        <p:spPr>
          <a:xfrm>
            <a:off x="2500829" y="118431"/>
            <a:ext cx="9463489" cy="662113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1200"/>
              <a:buNone/>
            </a:pPr>
            <a:r>
              <a:rPr lang="en-US" sz="2000" b="1" u="none" strike="noStrike">
                <a:solidFill>
                  <a:srgbClr val="000000"/>
                </a:solidFill>
                <a:latin typeface="Calibri"/>
                <a:ea typeface="Calibri"/>
                <a:cs typeface="Calibri"/>
                <a:sym typeface="Calibri"/>
              </a:rPr>
              <a:t>Scalability: </a:t>
            </a:r>
            <a:r>
              <a:rPr lang="en-US" sz="2000" u="none" strike="noStrike">
                <a:solidFill>
                  <a:srgbClr val="000000"/>
                </a:solidFill>
                <a:latin typeface="Calibri"/>
                <a:ea typeface="Calibri"/>
                <a:cs typeface="Calibri"/>
                <a:sym typeface="Calibri"/>
              </a:rPr>
              <a:t>A single-threaded process can only run on one processor, regardless how many are available. Multithreading on a multiprocessor machine that increases parallelism. </a:t>
            </a:r>
            <a:endParaRPr/>
          </a:p>
          <a:p>
            <a:pPr marL="0" lvl="0" indent="0" algn="just" rtl="0">
              <a:lnSpc>
                <a:spcPct val="150000"/>
              </a:lnSpc>
              <a:spcBef>
                <a:spcPts val="1015"/>
              </a:spcBef>
              <a:spcAft>
                <a:spcPts val="0"/>
              </a:spcAft>
              <a:buClr>
                <a:srgbClr val="000000"/>
              </a:buClr>
              <a:buSzPts val="1200"/>
              <a:buNone/>
            </a:pPr>
            <a:r>
              <a:rPr lang="en-US" sz="2000" b="1">
                <a:solidFill>
                  <a:srgbClr val="000000"/>
                </a:solidFill>
                <a:latin typeface="Calibri"/>
                <a:ea typeface="Calibri"/>
                <a:cs typeface="Calibri"/>
                <a:sym typeface="Calibri"/>
              </a:rPr>
              <a:t>Utilization of multiprocessor architectures: </a:t>
            </a:r>
            <a:r>
              <a:rPr lang="en-US" sz="2000">
                <a:solidFill>
                  <a:srgbClr val="000000"/>
                </a:solidFill>
                <a:latin typeface="Calibri"/>
                <a:ea typeface="Calibri"/>
                <a:cs typeface="Calibri"/>
                <a:sym typeface="Calibri"/>
              </a:rPr>
              <a:t>The benefits of multithreading can be greatly increased in a multiprocessor architecture, where threads may be running in parallel on different processors. A single threaded process can only run on one CPU, no matter how many are available. Multithreading on a multi CPU machine increases concurrency. </a:t>
            </a:r>
            <a:endParaRPr sz="2000" u="none" strike="noStrike">
              <a:latin typeface="Calibri"/>
              <a:ea typeface="Calibri"/>
              <a:cs typeface="Calibri"/>
              <a:sym typeface="Calibri"/>
            </a:endParaRPr>
          </a:p>
          <a:p>
            <a:pPr marL="228600" lvl="0" indent="-101600" algn="l" rtl="0">
              <a:lnSpc>
                <a:spcPct val="90000"/>
              </a:lnSpc>
              <a:spcBef>
                <a:spcPts val="1015"/>
              </a:spcBef>
              <a:spcAft>
                <a:spcPts val="0"/>
              </a:spcAft>
              <a:buClr>
                <a:schemeClr val="dk1"/>
              </a:buClr>
              <a:buSzPts val="2000"/>
              <a:buNone/>
            </a:pPr>
            <a:endParaRPr sz="2000">
              <a:latin typeface="Calibri"/>
              <a:ea typeface="Calibri"/>
              <a:cs typeface="Calibri"/>
              <a:sym typeface="Calibri"/>
            </a:endParaRPr>
          </a:p>
        </p:txBody>
      </p:sp>
      <p:sp>
        <p:nvSpPr>
          <p:cNvPr id="421" name="Google Shape;421;p43"/>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4"/>
          <p:cNvSpPr txBox="1">
            <a:spLocks noGrp="1"/>
          </p:cNvSpPr>
          <p:nvPr>
            <p:ph type="title"/>
          </p:nvPr>
        </p:nvSpPr>
        <p:spPr>
          <a:xfrm>
            <a:off x="2708694" y="365125"/>
            <a:ext cx="8645106"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Calibri"/>
              <a:buNone/>
            </a:pPr>
            <a:r>
              <a:rPr lang="en-US" sz="2400" b="1">
                <a:latin typeface="Calibri"/>
                <a:ea typeface="Calibri"/>
                <a:cs typeface="Calibri"/>
                <a:sym typeface="Calibri"/>
              </a:rPr>
              <a:t>Types of threads</a:t>
            </a:r>
            <a:endParaRPr/>
          </a:p>
        </p:txBody>
      </p:sp>
      <p:sp>
        <p:nvSpPr>
          <p:cNvPr id="427" name="Google Shape;427;p44"/>
          <p:cNvSpPr txBox="1">
            <a:spLocks noGrp="1"/>
          </p:cNvSpPr>
          <p:nvPr>
            <p:ph type="body" idx="1"/>
          </p:nvPr>
        </p:nvSpPr>
        <p:spPr>
          <a:xfrm>
            <a:off x="2708694" y="1513114"/>
            <a:ext cx="8645106" cy="4663849"/>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000"/>
              <a:buChar char="•"/>
            </a:pPr>
            <a:r>
              <a:rPr lang="en-US" sz="2000" b="1">
                <a:latin typeface="Calibri"/>
                <a:ea typeface="Calibri"/>
                <a:cs typeface="Calibri"/>
                <a:sym typeface="Calibri"/>
              </a:rPr>
              <a:t>User threads </a:t>
            </a:r>
            <a:r>
              <a:rPr lang="en-US" sz="2000">
                <a:latin typeface="Calibri"/>
                <a:ea typeface="Calibri"/>
                <a:cs typeface="Calibri"/>
                <a:sym typeface="Calibri"/>
              </a:rPr>
              <a:t>– Supported above the kernel and are managed without kernel support.</a:t>
            </a:r>
            <a:endParaRPr/>
          </a:p>
          <a:p>
            <a:pPr marL="228600" lvl="0" indent="-228600" algn="just" rtl="0">
              <a:lnSpc>
                <a:spcPct val="150000"/>
              </a:lnSpc>
              <a:spcBef>
                <a:spcPts val="1000"/>
              </a:spcBef>
              <a:spcAft>
                <a:spcPts val="0"/>
              </a:spcAft>
              <a:buClr>
                <a:schemeClr val="dk1"/>
              </a:buClr>
              <a:buSzPts val="2000"/>
              <a:buChar char="•"/>
            </a:pPr>
            <a:r>
              <a:rPr lang="en-US" sz="2000" b="1">
                <a:latin typeface="Calibri"/>
                <a:ea typeface="Calibri"/>
                <a:cs typeface="Calibri"/>
                <a:sym typeface="Calibri"/>
              </a:rPr>
              <a:t>Kernel threads </a:t>
            </a:r>
            <a:r>
              <a:rPr lang="en-US" sz="2000">
                <a:latin typeface="Calibri"/>
                <a:ea typeface="Calibri"/>
                <a:cs typeface="Calibri"/>
                <a:sym typeface="Calibri"/>
              </a:rPr>
              <a:t>– Supported and managed directly by OS.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There must be relationship between user threads and kernel threads.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There are three common ways of establishing relationship:</a:t>
            </a:r>
            <a:endParaRPr/>
          </a:p>
          <a:p>
            <a:pPr marL="457200" lvl="0" indent="-457200" algn="just" rtl="0">
              <a:lnSpc>
                <a:spcPct val="150000"/>
              </a:lnSpc>
              <a:spcBef>
                <a:spcPts val="1000"/>
              </a:spcBef>
              <a:spcAft>
                <a:spcPts val="0"/>
              </a:spcAft>
              <a:buClr>
                <a:schemeClr val="dk1"/>
              </a:buClr>
              <a:buSzPts val="2000"/>
              <a:buAutoNum type="arabicPeriod"/>
            </a:pPr>
            <a:r>
              <a:rPr lang="en-US" sz="2000">
                <a:latin typeface="Calibri"/>
                <a:ea typeface="Calibri"/>
                <a:cs typeface="Calibri"/>
                <a:sym typeface="Calibri"/>
              </a:rPr>
              <a:t>Many-to-One Model </a:t>
            </a:r>
            <a:endParaRPr/>
          </a:p>
          <a:p>
            <a:pPr marL="457200" lvl="0" indent="-457200" algn="just" rtl="0">
              <a:lnSpc>
                <a:spcPct val="150000"/>
              </a:lnSpc>
              <a:spcBef>
                <a:spcPts val="1000"/>
              </a:spcBef>
              <a:spcAft>
                <a:spcPts val="0"/>
              </a:spcAft>
              <a:buClr>
                <a:schemeClr val="dk1"/>
              </a:buClr>
              <a:buSzPts val="2000"/>
              <a:buFont typeface="Arial"/>
              <a:buAutoNum type="arabicPeriod"/>
            </a:pPr>
            <a:r>
              <a:rPr lang="en-US" sz="2000">
                <a:latin typeface="Calibri"/>
                <a:ea typeface="Calibri"/>
                <a:cs typeface="Calibri"/>
                <a:sym typeface="Calibri"/>
              </a:rPr>
              <a:t>One-to-One Model </a:t>
            </a:r>
            <a:endParaRPr/>
          </a:p>
          <a:p>
            <a:pPr marL="457200" lvl="0" indent="-457200" algn="just" rtl="0">
              <a:lnSpc>
                <a:spcPct val="150000"/>
              </a:lnSpc>
              <a:spcBef>
                <a:spcPts val="1000"/>
              </a:spcBef>
              <a:spcAft>
                <a:spcPts val="0"/>
              </a:spcAft>
              <a:buClr>
                <a:schemeClr val="dk1"/>
              </a:buClr>
              <a:buSzPts val="2000"/>
              <a:buFont typeface="Arial"/>
              <a:buAutoNum type="arabicPeriod"/>
            </a:pPr>
            <a:r>
              <a:rPr lang="en-US" sz="2000">
                <a:latin typeface="Calibri"/>
                <a:ea typeface="Calibri"/>
                <a:cs typeface="Calibri"/>
                <a:sym typeface="Calibri"/>
              </a:rPr>
              <a:t>Many-to-Many Model </a:t>
            </a:r>
            <a:endParaRPr sz="2000">
              <a:latin typeface="Calibri"/>
              <a:ea typeface="Calibri"/>
              <a:cs typeface="Calibri"/>
              <a:sym typeface="Calibri"/>
            </a:endParaRPr>
          </a:p>
          <a:p>
            <a:pPr marL="457200" lvl="0" indent="-330200" algn="just" rtl="0">
              <a:lnSpc>
                <a:spcPct val="150000"/>
              </a:lnSpc>
              <a:spcBef>
                <a:spcPts val="1000"/>
              </a:spcBef>
              <a:spcAft>
                <a:spcPts val="0"/>
              </a:spcAft>
              <a:buClr>
                <a:schemeClr val="dk1"/>
              </a:buClr>
              <a:buSzPts val="2000"/>
              <a:buFont typeface="Arial"/>
              <a:buNone/>
            </a:pPr>
            <a:endParaRPr sz="2000" b="1">
              <a:solidFill>
                <a:srgbClr val="FF0000"/>
              </a:solidFill>
              <a:latin typeface="Calibri"/>
              <a:ea typeface="Calibri"/>
              <a:cs typeface="Calibri"/>
              <a:sym typeface="Calibri"/>
            </a:endParaRPr>
          </a:p>
          <a:p>
            <a:pPr marL="457200" lvl="0" indent="-330200" algn="just" rtl="0">
              <a:lnSpc>
                <a:spcPct val="150000"/>
              </a:lnSpc>
              <a:spcBef>
                <a:spcPts val="1000"/>
              </a:spcBef>
              <a:spcAft>
                <a:spcPts val="0"/>
              </a:spcAft>
              <a:buClr>
                <a:schemeClr val="dk1"/>
              </a:buClr>
              <a:buSzPts val="2000"/>
              <a:buNone/>
            </a:pPr>
            <a:endParaRPr sz="2000">
              <a:solidFill>
                <a:srgbClr val="0000FF"/>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endParaRPr sz="2000">
              <a:latin typeface="Calibri"/>
              <a:ea typeface="Calibri"/>
              <a:cs typeface="Calibri"/>
              <a:sym typeface="Calibri"/>
            </a:endParaRPr>
          </a:p>
        </p:txBody>
      </p:sp>
      <p:sp>
        <p:nvSpPr>
          <p:cNvPr id="428" name="Google Shape;428;p44"/>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5"/>
          <p:cNvSpPr txBox="1">
            <a:spLocks noGrp="1"/>
          </p:cNvSpPr>
          <p:nvPr>
            <p:ph type="body" idx="1"/>
          </p:nvPr>
        </p:nvSpPr>
        <p:spPr>
          <a:xfrm>
            <a:off x="2555913" y="0"/>
            <a:ext cx="9463489" cy="6775373"/>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Multithreading Models</a:t>
            </a:r>
            <a:r>
              <a:rPr lang="en-US" sz="2400">
                <a:solidFill>
                  <a:srgbClr val="FF0000"/>
                </a:solidFill>
                <a:latin typeface="Calibri"/>
                <a:ea typeface="Calibri"/>
                <a:cs typeface="Calibri"/>
                <a:sym typeface="Calibri"/>
              </a:rPr>
              <a:t> </a:t>
            </a:r>
            <a:endParaRPr sz="2400">
              <a:solidFill>
                <a:srgbClr val="FF0000"/>
              </a:solidFill>
              <a:latin typeface="Calibri"/>
              <a:ea typeface="Calibri"/>
              <a:cs typeface="Calibri"/>
              <a:sym typeface="Calibri"/>
            </a:endParaRPr>
          </a:p>
          <a:p>
            <a:pPr marL="0" lvl="0" indent="0" algn="just" rtl="0">
              <a:lnSpc>
                <a:spcPct val="150000"/>
              </a:lnSpc>
              <a:spcBef>
                <a:spcPts val="1000"/>
              </a:spcBef>
              <a:spcAft>
                <a:spcPts val="0"/>
              </a:spcAft>
              <a:buClr>
                <a:srgbClr val="0000FF"/>
              </a:buClr>
              <a:buSzPts val="2000"/>
              <a:buNone/>
            </a:pPr>
            <a:r>
              <a:rPr lang="en-US" sz="2000" b="1">
                <a:solidFill>
                  <a:srgbClr val="0000FF"/>
                </a:solidFill>
                <a:latin typeface="Calibri"/>
                <a:ea typeface="Calibri"/>
                <a:cs typeface="Calibri"/>
                <a:sym typeface="Calibri"/>
              </a:rPr>
              <a:t>Many-to-One Model</a:t>
            </a:r>
            <a:r>
              <a:rPr lang="en-US" sz="2000">
                <a:solidFill>
                  <a:srgbClr val="0000FF"/>
                </a:solidFill>
                <a:latin typeface="Calibri"/>
                <a:ea typeface="Calibri"/>
                <a:cs typeface="Calibri"/>
                <a:sym typeface="Calibri"/>
              </a:rPr>
              <a:t> </a:t>
            </a:r>
            <a:endParaRPr/>
          </a:p>
          <a:p>
            <a:pPr marL="0" lvl="0" indent="0" algn="just" rtl="0">
              <a:lnSpc>
                <a:spcPct val="150000"/>
              </a:lnSpc>
              <a:spcBef>
                <a:spcPts val="1125"/>
              </a:spcBef>
              <a:spcAft>
                <a:spcPts val="0"/>
              </a:spcAft>
              <a:buClr>
                <a:schemeClr val="dk1"/>
              </a:buClr>
              <a:buSzPts val="2000"/>
              <a:buNone/>
            </a:pPr>
            <a:r>
              <a:rPr lang="en-US" sz="2000">
                <a:latin typeface="Calibri"/>
                <a:ea typeface="Calibri"/>
                <a:cs typeface="Calibri"/>
                <a:sym typeface="Calibri"/>
              </a:rPr>
              <a:t>Maps many user-level threads to one kernel thread.</a:t>
            </a:r>
            <a:endParaRPr/>
          </a:p>
          <a:p>
            <a:pPr marL="0" lvl="0" indent="0" algn="just" rtl="0">
              <a:lnSpc>
                <a:spcPct val="150000"/>
              </a:lnSpc>
              <a:spcBef>
                <a:spcPts val="1125"/>
              </a:spcBef>
              <a:spcAft>
                <a:spcPts val="0"/>
              </a:spcAft>
              <a:buClr>
                <a:schemeClr val="dk1"/>
              </a:buClr>
              <a:buSzPts val="2000"/>
              <a:buNone/>
            </a:pPr>
            <a:r>
              <a:rPr lang="en-US" sz="2000">
                <a:latin typeface="Calibri"/>
                <a:ea typeface="Calibri"/>
                <a:cs typeface="Calibri"/>
                <a:sym typeface="Calibri"/>
              </a:rPr>
              <a:t>Thread management is done by the thread library in user space, so it is efficient.</a:t>
            </a:r>
            <a:endParaRPr/>
          </a:p>
          <a:p>
            <a:pPr marL="0" lvl="0" indent="0" algn="just" rtl="0">
              <a:lnSpc>
                <a:spcPct val="150000"/>
              </a:lnSpc>
              <a:spcBef>
                <a:spcPts val="1125"/>
              </a:spcBef>
              <a:spcAft>
                <a:spcPts val="0"/>
              </a:spcAft>
              <a:buClr>
                <a:srgbClr val="002060"/>
              </a:buClr>
              <a:buSzPts val="2000"/>
              <a:buNone/>
            </a:pPr>
            <a:r>
              <a:rPr lang="en-US" sz="2000">
                <a:solidFill>
                  <a:srgbClr val="002060"/>
                </a:solidFill>
                <a:latin typeface="Calibri"/>
                <a:ea typeface="Calibri"/>
                <a:cs typeface="Calibri"/>
                <a:sym typeface="Calibri"/>
              </a:rPr>
              <a:t>The entire process will block if a thread makes a blocking system call.</a:t>
            </a:r>
            <a:endParaRPr/>
          </a:p>
          <a:p>
            <a:pPr marL="0" lvl="0" indent="0" algn="just" rtl="0">
              <a:lnSpc>
                <a:spcPct val="150000"/>
              </a:lnSpc>
              <a:spcBef>
                <a:spcPts val="1125"/>
              </a:spcBef>
              <a:spcAft>
                <a:spcPts val="0"/>
              </a:spcAft>
              <a:buClr>
                <a:srgbClr val="002060"/>
              </a:buClr>
              <a:buSzPts val="2000"/>
              <a:buNone/>
            </a:pPr>
            <a:r>
              <a:rPr lang="en-US" sz="2000">
                <a:solidFill>
                  <a:srgbClr val="002060"/>
                </a:solidFill>
                <a:latin typeface="Calibri"/>
                <a:ea typeface="Calibri"/>
                <a:cs typeface="Calibri"/>
                <a:sym typeface="Calibri"/>
              </a:rPr>
              <a:t>Because only one thread can access the kernel at a time, multiple threads are unable to run in parallel on multiprocessors.</a:t>
            </a:r>
            <a:endParaRPr/>
          </a:p>
          <a:p>
            <a:pPr marL="0" lvl="0" indent="0" algn="just" rtl="0">
              <a:lnSpc>
                <a:spcPct val="150000"/>
              </a:lnSpc>
              <a:spcBef>
                <a:spcPts val="1125"/>
              </a:spcBef>
              <a:spcAft>
                <a:spcPts val="0"/>
              </a:spcAft>
              <a:buClr>
                <a:schemeClr val="dk1"/>
              </a:buClr>
              <a:buSzPts val="2000"/>
              <a:buNone/>
            </a:pPr>
            <a:endParaRPr sz="2000">
              <a:solidFill>
                <a:srgbClr val="0000FF"/>
              </a:solidFill>
              <a:latin typeface="Calibri"/>
              <a:ea typeface="Calibri"/>
              <a:cs typeface="Calibri"/>
              <a:sym typeface="Calibri"/>
            </a:endParaRPr>
          </a:p>
        </p:txBody>
      </p:sp>
      <p:pic>
        <p:nvPicPr>
          <p:cNvPr id="434" name="Google Shape;434;p45"/>
          <p:cNvPicPr preferRelativeResize="0"/>
          <p:nvPr/>
        </p:nvPicPr>
        <p:blipFill rotWithShape="1">
          <a:blip r:embed="rId3">
            <a:alphaModFix/>
          </a:blip>
          <a:srcRect/>
          <a:stretch/>
        </p:blipFill>
        <p:spPr>
          <a:xfrm>
            <a:off x="3767769" y="4197427"/>
            <a:ext cx="6984694" cy="2577945"/>
          </a:xfrm>
          <a:prstGeom prst="rect">
            <a:avLst/>
          </a:prstGeom>
          <a:noFill/>
          <a:ln>
            <a:noFill/>
          </a:ln>
        </p:spPr>
      </p:pic>
      <p:sp>
        <p:nvSpPr>
          <p:cNvPr id="435" name="Google Shape;435;p45"/>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6"/>
          <p:cNvSpPr txBox="1">
            <a:spLocks noGrp="1"/>
          </p:cNvSpPr>
          <p:nvPr>
            <p:ph type="body" idx="1"/>
          </p:nvPr>
        </p:nvSpPr>
        <p:spPr>
          <a:xfrm>
            <a:off x="2555913" y="154236"/>
            <a:ext cx="9463489" cy="6621137"/>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One-to-One Model </a:t>
            </a:r>
            <a:endParaRPr sz="2400" b="1">
              <a:solidFill>
                <a:srgbClr val="FF0000"/>
              </a:solidFill>
              <a:latin typeface="Calibri"/>
              <a:ea typeface="Calibri"/>
              <a:cs typeface="Calibri"/>
              <a:sym typeface="Calibri"/>
            </a:endParaRPr>
          </a:p>
          <a:p>
            <a:pPr marL="0" lvl="0" indent="0" algn="just" rtl="0">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Maps each user thread to a kernel thread. </a:t>
            </a:r>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Provides more concurrency than the many-to-one model by allowing another thread to run when a thread makes a blocking system call; </a:t>
            </a:r>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Also allows multiple threads to run in parallel on multiprocessors. </a:t>
            </a:r>
            <a:endParaRPr/>
          </a:p>
          <a:p>
            <a:pPr marL="0" lvl="0" indent="0" algn="just" rtl="0">
              <a:lnSpc>
                <a:spcPct val="150000"/>
              </a:lnSpc>
              <a:spcBef>
                <a:spcPts val="1800"/>
              </a:spcBef>
              <a:spcAft>
                <a:spcPts val="0"/>
              </a:spcAft>
              <a:buClr>
                <a:srgbClr val="002060"/>
              </a:buClr>
              <a:buSzPts val="2000"/>
              <a:buNone/>
            </a:pPr>
            <a:r>
              <a:rPr lang="en-US" sz="2000">
                <a:solidFill>
                  <a:srgbClr val="002060"/>
                </a:solidFill>
                <a:latin typeface="Calibri"/>
                <a:ea typeface="Calibri"/>
                <a:cs typeface="Calibri"/>
                <a:sym typeface="Calibri"/>
              </a:rPr>
              <a:t>Creating a user thread requires creating the corresponding kernel thread. </a:t>
            </a:r>
            <a:endParaRPr/>
          </a:p>
          <a:p>
            <a:pPr marL="0" lvl="0" indent="0" algn="just" rtl="0">
              <a:lnSpc>
                <a:spcPct val="150000"/>
              </a:lnSpc>
              <a:spcBef>
                <a:spcPts val="1800"/>
              </a:spcBef>
              <a:spcAft>
                <a:spcPts val="0"/>
              </a:spcAft>
              <a:buClr>
                <a:srgbClr val="002060"/>
              </a:buClr>
              <a:buSzPts val="2000"/>
              <a:buNone/>
            </a:pPr>
            <a:r>
              <a:rPr lang="en-US" sz="2000">
                <a:solidFill>
                  <a:srgbClr val="002060"/>
                </a:solidFill>
                <a:latin typeface="Calibri"/>
                <a:ea typeface="Calibri"/>
                <a:cs typeface="Calibri"/>
                <a:sym typeface="Calibri"/>
              </a:rPr>
              <a:t>Because the overhead of creating kernel threads can burden the performance of an application,  most implementations of this model  restrict the number of threads supported by the system.</a:t>
            </a:r>
            <a:endParaRPr sz="2000">
              <a:solidFill>
                <a:srgbClr val="002060"/>
              </a:solidFill>
              <a:latin typeface="Calibri"/>
              <a:ea typeface="Calibri"/>
              <a:cs typeface="Calibri"/>
              <a:sym typeface="Calibri"/>
            </a:endParaRPr>
          </a:p>
        </p:txBody>
      </p:sp>
      <p:sp>
        <p:nvSpPr>
          <p:cNvPr id="441" name="Google Shape;441;p46"/>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47"/>
          <p:cNvPicPr preferRelativeResize="0">
            <a:picLocks noGrp="1"/>
          </p:cNvPicPr>
          <p:nvPr>
            <p:ph type="body" idx="1"/>
          </p:nvPr>
        </p:nvPicPr>
        <p:blipFill rotWithShape="1">
          <a:blip r:embed="rId3">
            <a:alphaModFix/>
          </a:blip>
          <a:srcRect/>
          <a:stretch/>
        </p:blipFill>
        <p:spPr>
          <a:xfrm>
            <a:off x="3316077" y="2434728"/>
            <a:ext cx="7480453" cy="2366666"/>
          </a:xfrm>
          <a:prstGeom prst="rect">
            <a:avLst/>
          </a:prstGeom>
          <a:noFill/>
          <a:ln>
            <a:noFill/>
          </a:ln>
        </p:spPr>
      </p:pic>
      <p:sp>
        <p:nvSpPr>
          <p:cNvPr id="447" name="Google Shape;447;p47"/>
          <p:cNvSpPr txBox="1"/>
          <p:nvPr/>
        </p:nvSpPr>
        <p:spPr>
          <a:xfrm>
            <a:off x="524064" y="3969897"/>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48"/>
          <p:cNvSpPr txBox="1">
            <a:spLocks noGrp="1"/>
          </p:cNvSpPr>
          <p:nvPr>
            <p:ph type="body" idx="1"/>
          </p:nvPr>
        </p:nvSpPr>
        <p:spPr>
          <a:xfrm>
            <a:off x="2532423" y="82626"/>
            <a:ext cx="9442911" cy="6692747"/>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Many-to-Many Model</a:t>
            </a:r>
            <a:r>
              <a:rPr lang="en-US" sz="2400">
                <a:solidFill>
                  <a:srgbClr val="FF0000"/>
                </a:solidFill>
                <a:latin typeface="Calibri"/>
                <a:ea typeface="Calibri"/>
                <a:cs typeface="Calibri"/>
                <a:sym typeface="Calibri"/>
              </a:rPr>
              <a:t> </a:t>
            </a:r>
            <a:endParaRPr sz="2400">
              <a:solidFill>
                <a:srgbClr val="FF0000"/>
              </a:solidFill>
              <a:latin typeface="Calibri"/>
              <a:ea typeface="Calibri"/>
              <a:cs typeface="Calibri"/>
              <a:sym typeface="Calibri"/>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Maps many user-level threads to a smaller or equal number of kernel threads.</a:t>
            </a:r>
            <a:endParaRPr/>
          </a:p>
          <a:p>
            <a:pPr marL="0" lvl="0" indent="0" algn="just" rtl="0">
              <a:lnSpc>
                <a:spcPct val="150000"/>
              </a:lnSpc>
              <a:spcBef>
                <a:spcPts val="1800"/>
              </a:spcBef>
              <a:spcAft>
                <a:spcPts val="0"/>
              </a:spcAft>
              <a:buClr>
                <a:srgbClr val="002060"/>
              </a:buClr>
              <a:buSzPts val="2000"/>
              <a:buNone/>
            </a:pPr>
            <a:r>
              <a:rPr lang="en-US" sz="2000">
                <a:solidFill>
                  <a:srgbClr val="002060"/>
                </a:solidFill>
                <a:latin typeface="Calibri"/>
                <a:ea typeface="Calibri"/>
                <a:cs typeface="Calibri"/>
                <a:sym typeface="Calibri"/>
              </a:rPr>
              <a:t>The number of kernel threads may be specific to either a particular application or a particular machine. </a:t>
            </a:r>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Developers can create as many user threads as necessary, and the corresponding kernel threads can run in parallel on a multiprocessor. </a:t>
            </a:r>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Also, when a thread performs a blocking system call, the kernel can schedule another thread for execution. </a:t>
            </a:r>
            <a:endParaRPr sz="2000">
              <a:latin typeface="Calibri"/>
              <a:ea typeface="Calibri"/>
              <a:cs typeface="Calibri"/>
              <a:sym typeface="Calibri"/>
            </a:endParaRPr>
          </a:p>
          <a:p>
            <a:pPr marL="228600" lvl="0" indent="-101600" algn="l" rtl="0">
              <a:lnSpc>
                <a:spcPct val="90000"/>
              </a:lnSpc>
              <a:spcBef>
                <a:spcPts val="1800"/>
              </a:spcBef>
              <a:spcAft>
                <a:spcPts val="0"/>
              </a:spcAft>
              <a:buClr>
                <a:schemeClr val="dk1"/>
              </a:buClr>
              <a:buSzPts val="2000"/>
              <a:buNone/>
            </a:pPr>
            <a:endParaRPr sz="2000">
              <a:latin typeface="Calibri"/>
              <a:ea typeface="Calibri"/>
              <a:cs typeface="Calibri"/>
              <a:sym typeface="Calibri"/>
            </a:endParaRPr>
          </a:p>
        </p:txBody>
      </p:sp>
      <p:sp>
        <p:nvSpPr>
          <p:cNvPr id="453" name="Google Shape;453;p48"/>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9"/>
          <p:cNvSpPr txBox="1">
            <a:spLocks noGrp="1"/>
          </p:cNvSpPr>
          <p:nvPr>
            <p:ph type="body" idx="1"/>
          </p:nvPr>
        </p:nvSpPr>
        <p:spPr>
          <a:xfrm>
            <a:off x="2511846" y="93643"/>
            <a:ext cx="9507557" cy="6670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endParaRPr sz="2000">
              <a:latin typeface="Calibri"/>
              <a:ea typeface="Calibri"/>
              <a:cs typeface="Calibri"/>
              <a:sym typeface="Calibri"/>
            </a:endParaRPr>
          </a:p>
        </p:txBody>
      </p:sp>
      <p:sp>
        <p:nvSpPr>
          <p:cNvPr id="459" name="Google Shape;459;p49"/>
          <p:cNvSpPr/>
          <p:nvPr/>
        </p:nvSpPr>
        <p:spPr>
          <a:xfrm>
            <a:off x="2776251" y="374574"/>
            <a:ext cx="12192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460" name="Google Shape;460;p49"/>
          <p:cNvGrpSpPr/>
          <p:nvPr/>
        </p:nvGrpSpPr>
        <p:grpSpPr>
          <a:xfrm>
            <a:off x="2622014" y="1961004"/>
            <a:ext cx="8758409" cy="3297639"/>
            <a:chOff x="0" y="0"/>
            <a:chExt cx="61753" cy="18834"/>
          </a:xfrm>
        </p:grpSpPr>
        <p:pic>
          <p:nvPicPr>
            <p:cNvPr id="461" name="Google Shape;461;p49"/>
            <p:cNvPicPr preferRelativeResize="0"/>
            <p:nvPr/>
          </p:nvPicPr>
          <p:blipFill rotWithShape="1">
            <a:blip r:embed="rId3">
              <a:alphaModFix/>
            </a:blip>
            <a:srcRect/>
            <a:stretch/>
          </p:blipFill>
          <p:spPr>
            <a:xfrm>
              <a:off x="0" y="0"/>
              <a:ext cx="61753" cy="17716"/>
            </a:xfrm>
            <a:prstGeom prst="rect">
              <a:avLst/>
            </a:prstGeom>
            <a:noFill/>
            <a:ln>
              <a:noFill/>
            </a:ln>
          </p:spPr>
        </p:pic>
        <p:sp>
          <p:nvSpPr>
            <p:cNvPr id="462" name="Google Shape;462;p49"/>
            <p:cNvSpPr/>
            <p:nvPr/>
          </p:nvSpPr>
          <p:spPr>
            <a:xfrm>
              <a:off x="3" y="77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63" name="Google Shape;463;p49"/>
            <p:cNvSpPr/>
            <p:nvPr/>
          </p:nvSpPr>
          <p:spPr>
            <a:xfrm>
              <a:off x="3" y="205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64" name="Google Shape;464;p49"/>
            <p:cNvSpPr/>
            <p:nvPr/>
          </p:nvSpPr>
          <p:spPr>
            <a:xfrm>
              <a:off x="3" y="3319"/>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65" name="Google Shape;465;p49"/>
            <p:cNvSpPr/>
            <p:nvPr/>
          </p:nvSpPr>
          <p:spPr>
            <a:xfrm>
              <a:off x="3" y="458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66" name="Google Shape;466;p49"/>
            <p:cNvSpPr/>
            <p:nvPr/>
          </p:nvSpPr>
          <p:spPr>
            <a:xfrm>
              <a:off x="3" y="586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67" name="Google Shape;467;p49"/>
            <p:cNvSpPr/>
            <p:nvPr/>
          </p:nvSpPr>
          <p:spPr>
            <a:xfrm>
              <a:off x="3" y="7129"/>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68" name="Google Shape;468;p49"/>
            <p:cNvSpPr/>
            <p:nvPr/>
          </p:nvSpPr>
          <p:spPr>
            <a:xfrm>
              <a:off x="3" y="839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69" name="Google Shape;469;p49"/>
            <p:cNvSpPr/>
            <p:nvPr/>
          </p:nvSpPr>
          <p:spPr>
            <a:xfrm>
              <a:off x="3" y="967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70" name="Google Shape;470;p49"/>
            <p:cNvSpPr/>
            <p:nvPr/>
          </p:nvSpPr>
          <p:spPr>
            <a:xfrm>
              <a:off x="3" y="10939"/>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71" name="Google Shape;471;p49"/>
            <p:cNvSpPr/>
            <p:nvPr/>
          </p:nvSpPr>
          <p:spPr>
            <a:xfrm>
              <a:off x="3" y="1220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72" name="Google Shape;472;p49"/>
            <p:cNvSpPr/>
            <p:nvPr/>
          </p:nvSpPr>
          <p:spPr>
            <a:xfrm>
              <a:off x="3" y="1348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73" name="Google Shape;473;p49"/>
            <p:cNvSpPr/>
            <p:nvPr/>
          </p:nvSpPr>
          <p:spPr>
            <a:xfrm>
              <a:off x="3" y="14749"/>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474" name="Google Shape;474;p49"/>
            <p:cNvSpPr/>
            <p:nvPr/>
          </p:nvSpPr>
          <p:spPr>
            <a:xfrm>
              <a:off x="3" y="16974"/>
              <a:ext cx="420" cy="1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grpSp>
      <p:sp>
        <p:nvSpPr>
          <p:cNvPr id="475" name="Google Shape;475;p49"/>
          <p:cNvSpPr txBox="1"/>
          <p:nvPr/>
        </p:nvSpPr>
        <p:spPr>
          <a:xfrm>
            <a:off x="524064" y="3920202"/>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0"/>
          <p:cNvSpPr txBox="1">
            <a:spLocks noGrp="1"/>
          </p:cNvSpPr>
          <p:nvPr>
            <p:ph type="body" idx="1"/>
          </p:nvPr>
        </p:nvSpPr>
        <p:spPr>
          <a:xfrm>
            <a:off x="2536371" y="152400"/>
            <a:ext cx="9459686" cy="6596743"/>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150000"/>
              </a:lnSpc>
              <a:spcBef>
                <a:spcPts val="0"/>
              </a:spcBef>
              <a:spcAft>
                <a:spcPts val="0"/>
              </a:spcAft>
              <a:buClr>
                <a:srgbClr val="FF0000"/>
              </a:buClr>
              <a:buSzPts val="2600"/>
              <a:buNone/>
            </a:pPr>
            <a:r>
              <a:rPr lang="en-US" sz="2600" b="1">
                <a:solidFill>
                  <a:srgbClr val="FF0000"/>
                </a:solidFill>
                <a:latin typeface="Calibri"/>
                <a:ea typeface="Calibri"/>
                <a:cs typeface="Calibri"/>
                <a:sym typeface="Calibri"/>
              </a:rPr>
              <a:t>Thread Libraries</a:t>
            </a:r>
            <a:endParaRPr sz="2600">
              <a:solidFill>
                <a:srgbClr val="FF0000"/>
              </a:solidFill>
              <a:latin typeface="Calibri"/>
              <a:ea typeface="Calibri"/>
              <a:cs typeface="Calibri"/>
              <a:sym typeface="Calibri"/>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A thread library provides the programmer with an API for creating and managing threads. There are two ways for implementing a thread library. </a:t>
            </a:r>
            <a:endParaRPr/>
          </a:p>
          <a:p>
            <a:pPr marL="0" lvl="0" indent="0" algn="just" rtl="0">
              <a:lnSpc>
                <a:spcPct val="150000"/>
              </a:lnSpc>
              <a:spcBef>
                <a:spcPts val="1135"/>
              </a:spcBef>
              <a:spcAft>
                <a:spcPts val="0"/>
              </a:spcAft>
              <a:buClr>
                <a:srgbClr val="000000"/>
              </a:buClr>
              <a:buSzPts val="2000"/>
              <a:buNone/>
            </a:pPr>
            <a:r>
              <a:rPr lang="en-US" sz="2000">
                <a:solidFill>
                  <a:srgbClr val="000000"/>
                </a:solidFill>
                <a:latin typeface="Calibri"/>
                <a:ea typeface="Calibri"/>
                <a:cs typeface="Calibri"/>
                <a:sym typeface="Calibri"/>
              </a:rPr>
              <a:t>The first approach is to provide a library entirely in user space with no kernel support. </a:t>
            </a:r>
            <a:endParaRPr/>
          </a:p>
          <a:p>
            <a:pPr marL="0" lvl="0" indent="0" algn="just" rtl="0">
              <a:lnSpc>
                <a:spcPct val="150000"/>
              </a:lnSpc>
              <a:spcBef>
                <a:spcPts val="1135"/>
              </a:spcBef>
              <a:spcAft>
                <a:spcPts val="0"/>
              </a:spcAft>
              <a:buClr>
                <a:srgbClr val="000000"/>
              </a:buClr>
              <a:buSzPts val="2000"/>
              <a:buNone/>
            </a:pPr>
            <a:r>
              <a:rPr lang="en-US" sz="2000">
                <a:solidFill>
                  <a:srgbClr val="000000"/>
                </a:solidFill>
                <a:latin typeface="Calibri"/>
                <a:ea typeface="Calibri"/>
                <a:cs typeface="Calibri"/>
                <a:sym typeface="Calibri"/>
              </a:rPr>
              <a:t>All code and data structures for the library exist in user space.</a:t>
            </a:r>
            <a:endParaRPr/>
          </a:p>
          <a:p>
            <a:pPr marL="0" lvl="0" indent="0" algn="just" rtl="0">
              <a:lnSpc>
                <a:spcPct val="150000"/>
              </a:lnSpc>
              <a:spcBef>
                <a:spcPts val="1135"/>
              </a:spcBef>
              <a:spcAft>
                <a:spcPts val="0"/>
              </a:spcAft>
              <a:buClr>
                <a:srgbClr val="000000"/>
              </a:buClr>
              <a:buSzPts val="2000"/>
              <a:buNone/>
            </a:pPr>
            <a:r>
              <a:rPr lang="en-US" sz="2000">
                <a:solidFill>
                  <a:srgbClr val="000000"/>
                </a:solidFill>
                <a:latin typeface="Calibri"/>
                <a:ea typeface="Calibri"/>
                <a:cs typeface="Calibri"/>
                <a:sym typeface="Calibri"/>
              </a:rPr>
              <a:t> i.e invoking a function in the library results in a local function call in user space and not a system call.  </a:t>
            </a:r>
            <a:endParaRPr sz="2000">
              <a:latin typeface="Calibri"/>
              <a:ea typeface="Calibri"/>
              <a:cs typeface="Calibri"/>
              <a:sym typeface="Calibri"/>
            </a:endParaRPr>
          </a:p>
          <a:p>
            <a:pPr marL="0" lvl="0" indent="0" algn="just" rtl="0">
              <a:lnSpc>
                <a:spcPct val="150000"/>
              </a:lnSpc>
              <a:spcBef>
                <a:spcPts val="1135"/>
              </a:spcBef>
              <a:spcAft>
                <a:spcPts val="0"/>
              </a:spcAft>
              <a:buClr>
                <a:srgbClr val="000000"/>
              </a:buClr>
              <a:buSzPts val="2000"/>
              <a:buNone/>
            </a:pPr>
            <a:r>
              <a:rPr lang="en-US" sz="2000">
                <a:solidFill>
                  <a:srgbClr val="000000"/>
                </a:solidFill>
                <a:latin typeface="Calibri"/>
                <a:ea typeface="Calibri"/>
                <a:cs typeface="Calibri"/>
                <a:sym typeface="Calibri"/>
              </a:rPr>
              <a:t>The second approach is to provide a kernel-level library supported directly by the operating system. </a:t>
            </a:r>
            <a:endParaRPr/>
          </a:p>
          <a:p>
            <a:pPr marL="0" lvl="0" indent="0" algn="just" rtl="0">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All code and data structures for the library exist in kernel space. </a:t>
            </a:r>
            <a:endParaRPr/>
          </a:p>
          <a:p>
            <a:pPr marL="0" lvl="0" indent="0" algn="just" rtl="0">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i.e. invoking a function in the API for the library results in a system call to the kernel. </a:t>
            </a:r>
            <a:endParaRPr sz="2000">
              <a:latin typeface="Calibri"/>
              <a:ea typeface="Calibri"/>
              <a:cs typeface="Calibri"/>
              <a:sym typeface="Calibri"/>
            </a:endParaRPr>
          </a:p>
          <a:p>
            <a:pPr marL="0" lvl="0" indent="0" algn="just" rtl="0">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 </a:t>
            </a:r>
            <a:endParaRPr sz="2000"/>
          </a:p>
        </p:txBody>
      </p:sp>
      <p:sp>
        <p:nvSpPr>
          <p:cNvPr id="481" name="Google Shape;481;p50"/>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1"/>
          <p:cNvSpPr txBox="1">
            <a:spLocks noGrp="1"/>
          </p:cNvSpPr>
          <p:nvPr>
            <p:ph type="body" idx="1"/>
          </p:nvPr>
        </p:nvSpPr>
        <p:spPr>
          <a:xfrm>
            <a:off x="2623457" y="195943"/>
            <a:ext cx="9394372" cy="6553200"/>
          </a:xfrm>
          <a:prstGeom prst="rect">
            <a:avLst/>
          </a:prstGeom>
          <a:noFill/>
          <a:ln>
            <a:noFill/>
          </a:ln>
        </p:spPr>
        <p:txBody>
          <a:bodyPr spcFirstLastPara="1" wrap="square" lIns="91425" tIns="45700" rIns="91425" bIns="45700" anchor="t" anchorCtr="0">
            <a:normAutofit/>
          </a:bodyPr>
          <a:lstStyle/>
          <a:p>
            <a:pPr marL="0" lvl="0" indent="0" algn="l" rtl="0">
              <a:lnSpc>
                <a:spcPct val="160000"/>
              </a:lnSpc>
              <a:spcBef>
                <a:spcPts val="0"/>
              </a:spcBef>
              <a:spcAft>
                <a:spcPts val="0"/>
              </a:spcAft>
              <a:buClr>
                <a:srgbClr val="0000FF"/>
              </a:buClr>
              <a:buSzPts val="2200"/>
              <a:buNone/>
            </a:pPr>
            <a:r>
              <a:rPr lang="en-US" sz="2200">
                <a:solidFill>
                  <a:srgbClr val="0000FF"/>
                </a:solidFill>
                <a:latin typeface="Calibri"/>
                <a:ea typeface="Calibri"/>
                <a:cs typeface="Calibri"/>
                <a:sym typeface="Calibri"/>
              </a:rPr>
              <a:t>The main thread libraries</a:t>
            </a:r>
            <a:endParaRPr/>
          </a:p>
          <a:p>
            <a:pPr marL="0" lvl="0" indent="0" algn="l" rtl="0">
              <a:lnSpc>
                <a:spcPct val="160000"/>
              </a:lnSpc>
              <a:spcBef>
                <a:spcPts val="1800"/>
              </a:spcBef>
              <a:spcAft>
                <a:spcPts val="0"/>
              </a:spcAft>
              <a:buClr>
                <a:srgbClr val="000000"/>
              </a:buClr>
              <a:buSzPts val="2200"/>
              <a:buNone/>
            </a:pPr>
            <a:r>
              <a:rPr lang="en-US" sz="2200" b="1">
                <a:solidFill>
                  <a:srgbClr val="000000"/>
                </a:solidFill>
                <a:latin typeface="Calibri"/>
                <a:ea typeface="Calibri"/>
                <a:cs typeface="Calibri"/>
                <a:sym typeface="Calibri"/>
              </a:rPr>
              <a:t>POSIX threads: </a:t>
            </a:r>
            <a:r>
              <a:rPr lang="en-US" sz="2200">
                <a:solidFill>
                  <a:srgbClr val="000000"/>
                </a:solidFill>
                <a:latin typeface="Calibri"/>
                <a:ea typeface="Calibri"/>
                <a:cs typeface="Calibri"/>
                <a:sym typeface="Calibri"/>
              </a:rPr>
              <a:t>The library includes pthreads.h header file.</a:t>
            </a:r>
            <a:endParaRPr/>
          </a:p>
          <a:p>
            <a:pPr marL="0" lvl="0" indent="0" algn="l" rtl="0">
              <a:lnSpc>
                <a:spcPct val="160000"/>
              </a:lnSpc>
              <a:spcBef>
                <a:spcPts val="1800"/>
              </a:spcBef>
              <a:spcAft>
                <a:spcPts val="0"/>
              </a:spcAft>
              <a:buClr>
                <a:srgbClr val="000000"/>
              </a:buClr>
              <a:buSzPts val="2200"/>
              <a:buNone/>
            </a:pPr>
            <a:r>
              <a:rPr lang="en-US" sz="2200">
                <a:solidFill>
                  <a:srgbClr val="000000"/>
                </a:solidFill>
                <a:latin typeface="Calibri"/>
                <a:ea typeface="Calibri"/>
                <a:cs typeface="Calibri"/>
                <a:sym typeface="Calibri"/>
              </a:rPr>
              <a:t>The POSIX thread provided as either a user level or a kernel level library.</a:t>
            </a:r>
            <a:endParaRPr/>
          </a:p>
          <a:p>
            <a:pPr marL="0" lvl="0" indent="0" algn="l" rtl="0">
              <a:lnSpc>
                <a:spcPct val="160000"/>
              </a:lnSpc>
              <a:spcBef>
                <a:spcPts val="1800"/>
              </a:spcBef>
              <a:spcAft>
                <a:spcPts val="0"/>
              </a:spcAft>
              <a:buClr>
                <a:srgbClr val="000000"/>
              </a:buClr>
              <a:buSzPts val="2200"/>
              <a:buNone/>
            </a:pPr>
            <a:r>
              <a:rPr lang="en-US" sz="2200" b="1">
                <a:solidFill>
                  <a:srgbClr val="000000"/>
                </a:solidFill>
                <a:latin typeface="Calibri"/>
                <a:ea typeface="Calibri"/>
                <a:cs typeface="Calibri"/>
                <a:sym typeface="Calibri"/>
              </a:rPr>
              <a:t>Win32</a:t>
            </a:r>
            <a:r>
              <a:rPr lang="en-US" sz="2200">
                <a:solidFill>
                  <a:srgbClr val="000000"/>
                </a:solidFill>
                <a:latin typeface="Calibri"/>
                <a:ea typeface="Calibri"/>
                <a:cs typeface="Calibri"/>
                <a:sym typeface="Calibri"/>
              </a:rPr>
              <a:t> library is similar to pthread library.</a:t>
            </a:r>
            <a:endParaRPr/>
          </a:p>
          <a:p>
            <a:pPr marL="0" lvl="0" indent="0" algn="l" rtl="0">
              <a:lnSpc>
                <a:spcPct val="160000"/>
              </a:lnSpc>
              <a:spcBef>
                <a:spcPts val="1800"/>
              </a:spcBef>
              <a:spcAft>
                <a:spcPts val="0"/>
              </a:spcAft>
              <a:buClr>
                <a:srgbClr val="000000"/>
              </a:buClr>
              <a:buSzPts val="2200"/>
              <a:buNone/>
            </a:pPr>
            <a:r>
              <a:rPr lang="en-US" sz="2200">
                <a:solidFill>
                  <a:srgbClr val="000000"/>
                </a:solidFill>
                <a:latin typeface="Calibri"/>
                <a:ea typeface="Calibri"/>
                <a:cs typeface="Calibri"/>
                <a:sym typeface="Calibri"/>
              </a:rPr>
              <a:t>To create a thread using the Win32 library always include windows.h header file in the program.</a:t>
            </a:r>
            <a:endParaRPr/>
          </a:p>
          <a:p>
            <a:pPr marL="0" lvl="0" indent="0" algn="l" rtl="0">
              <a:lnSpc>
                <a:spcPct val="160000"/>
              </a:lnSpc>
              <a:spcBef>
                <a:spcPts val="1800"/>
              </a:spcBef>
              <a:spcAft>
                <a:spcPts val="0"/>
              </a:spcAft>
              <a:buClr>
                <a:srgbClr val="000000"/>
              </a:buClr>
              <a:buSzPts val="2200"/>
              <a:buNone/>
            </a:pPr>
            <a:r>
              <a:rPr lang="en-US" sz="2200">
                <a:solidFill>
                  <a:srgbClr val="000000"/>
                </a:solidFill>
                <a:latin typeface="Calibri"/>
                <a:ea typeface="Calibri"/>
                <a:cs typeface="Calibri"/>
                <a:sym typeface="Calibri"/>
              </a:rPr>
              <a:t>The windows thread library is s kernel level library available on windows systems.</a:t>
            </a:r>
            <a:endParaRPr/>
          </a:p>
          <a:p>
            <a:pPr marL="0" lvl="0" indent="0" algn="l" rtl="0">
              <a:lnSpc>
                <a:spcPct val="160000"/>
              </a:lnSpc>
              <a:spcBef>
                <a:spcPts val="1800"/>
              </a:spcBef>
              <a:spcAft>
                <a:spcPts val="0"/>
              </a:spcAft>
              <a:buClr>
                <a:srgbClr val="000000"/>
              </a:buClr>
              <a:buSzPts val="2200"/>
              <a:buNone/>
            </a:pPr>
            <a:r>
              <a:rPr lang="en-US" sz="2200" b="1">
                <a:solidFill>
                  <a:srgbClr val="000000"/>
                </a:solidFill>
                <a:latin typeface="Calibri"/>
                <a:ea typeface="Calibri"/>
                <a:cs typeface="Calibri"/>
                <a:sym typeface="Calibri"/>
              </a:rPr>
              <a:t>JAVA thread T</a:t>
            </a:r>
            <a:r>
              <a:rPr lang="en-US" sz="2200">
                <a:solidFill>
                  <a:srgbClr val="000000"/>
                </a:solidFill>
                <a:latin typeface="Calibri"/>
                <a:ea typeface="Calibri"/>
                <a:cs typeface="Calibri"/>
                <a:sym typeface="Calibri"/>
              </a:rPr>
              <a:t>he JAVA thread API allows threads to be created and managed directly as JAVA programs.   </a:t>
            </a:r>
            <a:endParaRPr sz="22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endParaRPr sz="2000">
              <a:latin typeface="Calibri"/>
              <a:ea typeface="Calibri"/>
              <a:cs typeface="Calibri"/>
              <a:sym typeface="Calibri"/>
            </a:endParaRPr>
          </a:p>
          <a:p>
            <a:pPr marL="228600" lvl="0" indent="-50800" algn="l" rtl="0">
              <a:lnSpc>
                <a:spcPct val="90000"/>
              </a:lnSpc>
              <a:spcBef>
                <a:spcPts val="1015"/>
              </a:spcBef>
              <a:spcAft>
                <a:spcPts val="0"/>
              </a:spcAft>
              <a:buClr>
                <a:schemeClr val="dk1"/>
              </a:buClr>
              <a:buSzPts val="2800"/>
              <a:buNone/>
            </a:pPr>
            <a:endParaRPr/>
          </a:p>
        </p:txBody>
      </p:sp>
      <p:sp>
        <p:nvSpPr>
          <p:cNvPr id="487" name="Google Shape;487;p51"/>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2"/>
          <p:cNvSpPr txBox="1">
            <a:spLocks noGrp="1"/>
          </p:cNvSpPr>
          <p:nvPr>
            <p:ph type="body" idx="1"/>
          </p:nvPr>
        </p:nvSpPr>
        <p:spPr>
          <a:xfrm>
            <a:off x="2566929" y="0"/>
            <a:ext cx="9507557" cy="6321286"/>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chemeClr val="dk1"/>
              </a:buClr>
              <a:buSzPts val="2400"/>
              <a:buNone/>
            </a:pPr>
            <a:endParaRPr sz="2400" b="1">
              <a:solidFill>
                <a:srgbClr val="FF0000"/>
              </a:solidFill>
              <a:latin typeface="Calibri"/>
              <a:ea typeface="Calibri"/>
              <a:cs typeface="Calibri"/>
              <a:sym typeface="Calibri"/>
            </a:endParaRPr>
          </a:p>
          <a:p>
            <a:pPr marL="0" lvl="0" indent="0" algn="ctr" rtl="0">
              <a:lnSpc>
                <a:spcPct val="150000"/>
              </a:lnSpc>
              <a:spcBef>
                <a:spcPts val="1000"/>
              </a:spcBef>
              <a:spcAft>
                <a:spcPts val="0"/>
              </a:spcAft>
              <a:buClr>
                <a:srgbClr val="FF0000"/>
              </a:buClr>
              <a:buSzPts val="2400"/>
              <a:buNone/>
            </a:pPr>
            <a:r>
              <a:rPr lang="en-US" sz="2400" b="1">
                <a:solidFill>
                  <a:srgbClr val="FF0000"/>
                </a:solidFill>
                <a:latin typeface="Calibri"/>
                <a:ea typeface="Calibri"/>
                <a:cs typeface="Calibri"/>
                <a:sym typeface="Calibri"/>
              </a:rPr>
              <a:t>Threading Issues</a:t>
            </a:r>
            <a:r>
              <a:rPr lang="en-US" sz="2400">
                <a:solidFill>
                  <a:srgbClr val="FF0000"/>
                </a:solidFill>
                <a:latin typeface="Calibri"/>
                <a:ea typeface="Calibri"/>
                <a:cs typeface="Calibri"/>
                <a:sym typeface="Calibri"/>
              </a:rPr>
              <a:t> </a:t>
            </a:r>
            <a:endParaRPr sz="2400">
              <a:solidFill>
                <a:srgbClr val="FF0000"/>
              </a:solidFill>
              <a:latin typeface="Calibri"/>
              <a:ea typeface="Calibri"/>
              <a:cs typeface="Calibri"/>
              <a:sym typeface="Calibri"/>
            </a:endParaRPr>
          </a:p>
          <a:p>
            <a:pPr marL="0" lvl="0" indent="0" algn="just" rtl="0">
              <a:lnSpc>
                <a:spcPct val="150000"/>
              </a:lnSpc>
              <a:spcBef>
                <a:spcPts val="1000"/>
              </a:spcBef>
              <a:spcAft>
                <a:spcPts val="0"/>
              </a:spcAft>
              <a:buClr>
                <a:srgbClr val="000000"/>
              </a:buClr>
              <a:buSzPts val="2400"/>
              <a:buNone/>
            </a:pPr>
            <a:r>
              <a:rPr lang="en-US" sz="2400" b="1">
                <a:solidFill>
                  <a:srgbClr val="000000"/>
                </a:solidFill>
                <a:latin typeface="Calibri"/>
                <a:ea typeface="Calibri"/>
                <a:cs typeface="Calibri"/>
                <a:sym typeface="Calibri"/>
              </a:rPr>
              <a:t>Fork() :  if one thread in program calls fork() , all threads are duplicated or one thread is duplicated.</a:t>
            </a:r>
            <a:endParaRPr sz="2000">
              <a:solidFill>
                <a:srgbClr val="000000"/>
              </a:solidFill>
              <a:latin typeface="Calibri"/>
              <a:ea typeface="Calibri"/>
              <a:cs typeface="Calibri"/>
              <a:sym typeface="Calibri"/>
            </a:endParaRPr>
          </a:p>
          <a:p>
            <a:pPr marL="0" lvl="0" indent="0" algn="just" rtl="0">
              <a:lnSpc>
                <a:spcPct val="150000"/>
              </a:lnSpc>
              <a:spcBef>
                <a:spcPts val="1015"/>
              </a:spcBef>
              <a:spcAft>
                <a:spcPts val="0"/>
              </a:spcAft>
              <a:buClr>
                <a:srgbClr val="000000"/>
              </a:buClr>
              <a:buSzPts val="2400"/>
              <a:buNone/>
            </a:pPr>
            <a:r>
              <a:rPr lang="en-US" sz="2400" b="1">
                <a:solidFill>
                  <a:srgbClr val="000000"/>
                </a:solidFill>
                <a:latin typeface="Calibri"/>
                <a:ea typeface="Calibri"/>
                <a:cs typeface="Calibri"/>
                <a:sym typeface="Calibri"/>
              </a:rPr>
              <a:t>exec(): if one thread invokes exec() the program with specified in the parameter to exec() will replace the entire process including all threads.</a:t>
            </a:r>
            <a:endParaRPr/>
          </a:p>
          <a:p>
            <a:pPr marL="0" lvl="0" indent="0" algn="just" rtl="0">
              <a:lnSpc>
                <a:spcPct val="150000"/>
              </a:lnSpc>
              <a:spcBef>
                <a:spcPts val="1015"/>
              </a:spcBef>
              <a:spcAft>
                <a:spcPts val="0"/>
              </a:spcAft>
              <a:buClr>
                <a:schemeClr val="dk1"/>
              </a:buClr>
              <a:buSzPts val="2000"/>
              <a:buNone/>
            </a:pPr>
            <a:endParaRPr sz="2000">
              <a:solidFill>
                <a:srgbClr val="000000"/>
              </a:solidFill>
              <a:latin typeface="Calibri"/>
              <a:ea typeface="Calibri"/>
              <a:cs typeface="Calibri"/>
              <a:sym typeface="Calibri"/>
            </a:endParaRPr>
          </a:p>
        </p:txBody>
      </p:sp>
      <p:sp>
        <p:nvSpPr>
          <p:cNvPr id="493" name="Google Shape;493;p52"/>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pic>
        <p:nvPicPr>
          <p:cNvPr id="494" name="Google Shape;494;p52" descr="Process management :: Operating systems ..."/>
          <p:cNvPicPr preferRelativeResize="0"/>
          <p:nvPr/>
        </p:nvPicPr>
        <p:blipFill rotWithShape="1">
          <a:blip r:embed="rId3">
            <a:alphaModFix/>
          </a:blip>
          <a:srcRect/>
          <a:stretch/>
        </p:blipFill>
        <p:spPr>
          <a:xfrm>
            <a:off x="2544656" y="3910262"/>
            <a:ext cx="2179744" cy="294773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3"/>
          <p:cNvSpPr txBox="1">
            <a:spLocks noGrp="1"/>
          </p:cNvSpPr>
          <p:nvPr>
            <p:ph type="body" idx="1"/>
          </p:nvPr>
        </p:nvSpPr>
        <p:spPr>
          <a:xfrm>
            <a:off x="2566930" y="187286"/>
            <a:ext cx="9507557" cy="6670713"/>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lnSpc>
                <a:spcPct val="150000"/>
              </a:lnSpc>
              <a:spcBef>
                <a:spcPts val="0"/>
              </a:spcBef>
              <a:spcAft>
                <a:spcPts val="0"/>
              </a:spcAft>
              <a:buClr>
                <a:srgbClr val="000000"/>
              </a:buClr>
              <a:buSzPct val="54054"/>
              <a:buNone/>
            </a:pPr>
            <a:r>
              <a:rPr lang="en-US" b="1" u="none" strike="noStrike">
                <a:solidFill>
                  <a:srgbClr val="1F3864"/>
                </a:solidFill>
                <a:latin typeface="Calibri"/>
                <a:ea typeface="Calibri"/>
                <a:cs typeface="Calibri"/>
                <a:sym typeface="Calibri"/>
              </a:rPr>
              <a:t>Thread Cancellation</a:t>
            </a:r>
            <a:endParaRPr u="none" strike="noStrike">
              <a:solidFill>
                <a:srgbClr val="1F3864"/>
              </a:solidFill>
              <a:latin typeface="Calibri"/>
              <a:ea typeface="Calibri"/>
              <a:cs typeface="Calibri"/>
              <a:sym typeface="Calibri"/>
            </a:endParaRPr>
          </a:p>
          <a:p>
            <a:pPr marL="228600" lvl="0" indent="-228600" algn="just" rtl="0">
              <a:lnSpc>
                <a:spcPct val="150000"/>
              </a:lnSpc>
              <a:spcBef>
                <a:spcPts val="1050"/>
              </a:spcBef>
              <a:spcAft>
                <a:spcPts val="0"/>
              </a:spcAft>
              <a:buClr>
                <a:srgbClr val="000000"/>
              </a:buClr>
              <a:buSzPct val="100000"/>
              <a:buChar char="•"/>
            </a:pPr>
            <a:r>
              <a:rPr lang="en-US" sz="2400">
                <a:solidFill>
                  <a:srgbClr val="000000"/>
                </a:solidFill>
                <a:latin typeface="Calibri"/>
                <a:ea typeface="Calibri"/>
                <a:cs typeface="Calibri"/>
                <a:sym typeface="Calibri"/>
              </a:rPr>
              <a:t>Thread cancellation is the task of terminating a thread before it has completed. </a:t>
            </a:r>
            <a:endParaRPr/>
          </a:p>
          <a:p>
            <a:pPr marL="228600" lvl="0" indent="-228600" algn="just" rtl="0">
              <a:lnSpc>
                <a:spcPct val="150000"/>
              </a:lnSpc>
              <a:spcBef>
                <a:spcPts val="1015"/>
              </a:spcBef>
              <a:spcAft>
                <a:spcPts val="0"/>
              </a:spcAft>
              <a:buClr>
                <a:srgbClr val="000000"/>
              </a:buClr>
              <a:buSzPct val="100000"/>
              <a:buChar char="•"/>
            </a:pPr>
            <a:r>
              <a:rPr lang="en-US" sz="2400">
                <a:solidFill>
                  <a:srgbClr val="000000"/>
                </a:solidFill>
                <a:latin typeface="Calibri"/>
                <a:ea typeface="Calibri"/>
                <a:cs typeface="Calibri"/>
                <a:sym typeface="Calibri"/>
              </a:rPr>
              <a:t>If multiple threads are concurrently searching through a database and one thread returns the result, the remaining threads might be cancelled. </a:t>
            </a:r>
            <a:endParaRPr/>
          </a:p>
          <a:p>
            <a:pPr marL="228600" lvl="0" indent="-228600" algn="just" rtl="0">
              <a:lnSpc>
                <a:spcPct val="150000"/>
              </a:lnSpc>
              <a:spcBef>
                <a:spcPts val="1015"/>
              </a:spcBef>
              <a:spcAft>
                <a:spcPts val="0"/>
              </a:spcAft>
              <a:buClr>
                <a:srgbClr val="000000"/>
              </a:buClr>
              <a:buSzPct val="100000"/>
              <a:buChar char="•"/>
            </a:pPr>
            <a:r>
              <a:rPr lang="en-US" sz="2400">
                <a:solidFill>
                  <a:srgbClr val="000000"/>
                </a:solidFill>
                <a:latin typeface="Calibri"/>
                <a:ea typeface="Calibri"/>
                <a:cs typeface="Calibri"/>
                <a:sym typeface="Calibri"/>
              </a:rPr>
              <a:t>When a user press a button on a web browser that stops a web page from loading any further, all threads loading the page are canceled.</a:t>
            </a:r>
            <a:endParaRPr sz="2400">
              <a:latin typeface="Calibri"/>
              <a:ea typeface="Calibri"/>
              <a:cs typeface="Calibri"/>
              <a:sym typeface="Calibri"/>
            </a:endParaRPr>
          </a:p>
          <a:p>
            <a:pPr marL="228600" lvl="0" indent="-228600" algn="just" rtl="0">
              <a:lnSpc>
                <a:spcPct val="150000"/>
              </a:lnSpc>
              <a:spcBef>
                <a:spcPts val="1015"/>
              </a:spcBef>
              <a:spcAft>
                <a:spcPts val="0"/>
              </a:spcAft>
              <a:buClr>
                <a:srgbClr val="000000"/>
              </a:buClr>
              <a:buSzPct val="100000"/>
              <a:buChar char="•"/>
            </a:pPr>
            <a:r>
              <a:rPr lang="en-US" sz="2400">
                <a:solidFill>
                  <a:srgbClr val="000000"/>
                </a:solidFill>
                <a:latin typeface="Calibri"/>
                <a:ea typeface="Calibri"/>
                <a:cs typeface="Calibri"/>
                <a:sym typeface="Calibri"/>
              </a:rPr>
              <a:t>A thread that is to be cancelled is often referred to as the </a:t>
            </a:r>
            <a:r>
              <a:rPr lang="en-US" sz="2400" b="1">
                <a:solidFill>
                  <a:srgbClr val="000000"/>
                </a:solidFill>
                <a:latin typeface="Calibri"/>
                <a:ea typeface="Calibri"/>
                <a:cs typeface="Calibri"/>
                <a:sym typeface="Calibri"/>
              </a:rPr>
              <a:t>Target thread.</a:t>
            </a:r>
            <a:endParaRPr/>
          </a:p>
          <a:p>
            <a:pPr marL="0" lvl="0" indent="0" algn="just" rtl="0">
              <a:lnSpc>
                <a:spcPct val="150000"/>
              </a:lnSpc>
              <a:spcBef>
                <a:spcPts val="2825"/>
              </a:spcBef>
              <a:spcAft>
                <a:spcPts val="0"/>
              </a:spcAft>
              <a:buClr>
                <a:srgbClr val="1F3864"/>
              </a:buClr>
              <a:buSzPct val="100000"/>
              <a:buNone/>
            </a:pPr>
            <a:r>
              <a:rPr lang="en-US" sz="2400">
                <a:solidFill>
                  <a:srgbClr val="1F3864"/>
                </a:solidFill>
                <a:latin typeface="Calibri"/>
                <a:ea typeface="Calibri"/>
                <a:cs typeface="Calibri"/>
                <a:sym typeface="Calibri"/>
              </a:rPr>
              <a:t>Cancellation of a target thread may occur in two different scenarios:</a:t>
            </a:r>
            <a:endParaRPr/>
          </a:p>
          <a:p>
            <a:pPr marL="228600" lvl="0" indent="-228600" algn="just" rtl="0">
              <a:lnSpc>
                <a:spcPct val="150000"/>
              </a:lnSpc>
              <a:spcBef>
                <a:spcPts val="2825"/>
              </a:spcBef>
              <a:spcAft>
                <a:spcPts val="0"/>
              </a:spcAft>
              <a:buClr>
                <a:srgbClr val="000000"/>
              </a:buClr>
              <a:buSzPct val="100000"/>
              <a:buChar char="•"/>
            </a:pPr>
            <a:r>
              <a:rPr lang="en-US" sz="2400" b="1">
                <a:solidFill>
                  <a:srgbClr val="000000"/>
                </a:solidFill>
                <a:latin typeface="Calibri"/>
                <a:ea typeface="Calibri"/>
                <a:cs typeface="Calibri"/>
                <a:sym typeface="Calibri"/>
              </a:rPr>
              <a:t>Asynchronous Cancellation</a:t>
            </a:r>
            <a:r>
              <a:rPr lang="en-US" sz="2400">
                <a:solidFill>
                  <a:srgbClr val="000000"/>
                </a:solidFill>
                <a:latin typeface="Calibri"/>
                <a:ea typeface="Calibri"/>
                <a:cs typeface="Calibri"/>
                <a:sym typeface="Calibri"/>
              </a:rPr>
              <a:t>: One thread immediately terminates the target thread. </a:t>
            </a:r>
            <a:endParaRPr/>
          </a:p>
          <a:p>
            <a:pPr marL="0" lvl="0" indent="0" algn="just" rtl="0">
              <a:lnSpc>
                <a:spcPct val="150000"/>
              </a:lnSpc>
              <a:spcBef>
                <a:spcPts val="2825"/>
              </a:spcBef>
              <a:spcAft>
                <a:spcPts val="0"/>
              </a:spcAft>
              <a:buClr>
                <a:schemeClr val="dk1"/>
              </a:buClr>
              <a:buSzPct val="100000"/>
              <a:buNone/>
            </a:pPr>
            <a:endParaRPr sz="2000">
              <a:latin typeface="Calibri"/>
              <a:ea typeface="Calibri"/>
              <a:cs typeface="Calibri"/>
              <a:sym typeface="Calibri"/>
            </a:endParaRPr>
          </a:p>
          <a:p>
            <a:pPr marL="228600" lvl="0" indent="-111125" algn="l" rtl="0">
              <a:lnSpc>
                <a:spcPct val="90000"/>
              </a:lnSpc>
              <a:spcBef>
                <a:spcPts val="2825"/>
              </a:spcBef>
              <a:spcAft>
                <a:spcPts val="0"/>
              </a:spcAft>
              <a:buClr>
                <a:schemeClr val="dk1"/>
              </a:buClr>
              <a:buSzPct val="100000"/>
              <a:buNone/>
            </a:pPr>
            <a:endParaRPr sz="2000">
              <a:latin typeface="Calibri"/>
              <a:ea typeface="Calibri"/>
              <a:cs typeface="Calibri"/>
              <a:sym typeface="Calibri"/>
            </a:endParaRPr>
          </a:p>
        </p:txBody>
      </p:sp>
      <p:sp>
        <p:nvSpPr>
          <p:cNvPr id="500" name="Google Shape;500;p53"/>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54"/>
          <p:cNvSpPr txBox="1">
            <a:spLocks noGrp="1"/>
          </p:cNvSpPr>
          <p:nvPr>
            <p:ph type="body" idx="1"/>
          </p:nvPr>
        </p:nvSpPr>
        <p:spPr>
          <a:xfrm>
            <a:off x="2566930" y="187286"/>
            <a:ext cx="9507557" cy="6670713"/>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000"/>
              <a:buNone/>
            </a:pPr>
            <a:r>
              <a:rPr lang="en-US" sz="2000" b="1">
                <a:solidFill>
                  <a:srgbClr val="000000"/>
                </a:solidFill>
                <a:latin typeface="Calibri"/>
                <a:ea typeface="Calibri"/>
                <a:cs typeface="Calibri"/>
                <a:sym typeface="Calibri"/>
              </a:rPr>
              <a:t>Deferred cancellation: </a:t>
            </a:r>
            <a:r>
              <a:rPr lang="en-US" sz="2000">
                <a:solidFill>
                  <a:srgbClr val="000000"/>
                </a:solidFill>
                <a:latin typeface="Calibri"/>
                <a:ea typeface="Calibri"/>
                <a:cs typeface="Calibri"/>
                <a:sym typeface="Calibri"/>
              </a:rPr>
              <a:t>The target thread periodically checks whether it should terminate, </a:t>
            </a:r>
            <a:r>
              <a:rPr lang="en-US" sz="2000" u="none" strike="noStrike">
                <a:solidFill>
                  <a:srgbClr val="000000"/>
                </a:solidFill>
                <a:latin typeface="Calibri"/>
                <a:ea typeface="Calibri"/>
                <a:cs typeface="Calibri"/>
                <a:sym typeface="Calibri"/>
              </a:rPr>
              <a:t>allowing it an opportunity to terminate itself in an orderly fashion. </a:t>
            </a:r>
            <a:endParaRPr/>
          </a:p>
          <a:p>
            <a:pPr marL="0" lvl="0" indent="0" algn="just" rtl="0">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Where the difficulty with cancellation lies:</a:t>
            </a:r>
            <a:endParaRPr/>
          </a:p>
          <a:p>
            <a:pPr marL="0" lvl="0" indent="0" algn="just" rtl="0">
              <a:lnSpc>
                <a:spcPct val="150000"/>
              </a:lnSpc>
              <a:spcBef>
                <a:spcPts val="1000"/>
              </a:spcBef>
              <a:spcAft>
                <a:spcPts val="0"/>
              </a:spcAft>
              <a:buClr>
                <a:srgbClr val="1F3864"/>
              </a:buClr>
              <a:buSzPts val="2000"/>
              <a:buNone/>
            </a:pPr>
            <a:r>
              <a:rPr lang="en-US" sz="2000" b="1" u="none" strike="noStrike">
                <a:solidFill>
                  <a:srgbClr val="1F3864"/>
                </a:solidFill>
                <a:latin typeface="Calibri"/>
                <a:ea typeface="Calibri"/>
                <a:cs typeface="Calibri"/>
                <a:sym typeface="Calibri"/>
              </a:rPr>
              <a:t>In the situation </a:t>
            </a:r>
            <a:r>
              <a:rPr lang="en-US" sz="2000" u="none" strike="noStrike">
                <a:solidFill>
                  <a:srgbClr val="000000"/>
                </a:solidFill>
                <a:latin typeface="Calibri"/>
                <a:ea typeface="Calibri"/>
                <a:cs typeface="Calibri"/>
                <a:sym typeface="Calibri"/>
              </a:rPr>
              <a:t>where</a:t>
            </a:r>
            <a:endParaRPr/>
          </a:p>
          <a:p>
            <a:pPr marL="0" lvl="0" indent="0" algn="just" rtl="0">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Resources have been allocated to a canceled thread.</a:t>
            </a:r>
            <a:endParaRPr/>
          </a:p>
          <a:p>
            <a:pPr marL="0" lvl="0" indent="0" algn="just" rtl="0">
              <a:lnSpc>
                <a:spcPct val="150000"/>
              </a:lnSpc>
              <a:spcBef>
                <a:spcPts val="1000"/>
              </a:spcBef>
              <a:spcAft>
                <a:spcPts val="0"/>
              </a:spcAft>
              <a:buClr>
                <a:srgbClr val="1F3864"/>
              </a:buClr>
              <a:buSzPts val="2000"/>
              <a:buNone/>
            </a:pPr>
            <a:r>
              <a:rPr lang="en-US" sz="2000" u="none" strike="noStrike">
                <a:solidFill>
                  <a:srgbClr val="1F3864"/>
                </a:solidFill>
                <a:latin typeface="Calibri"/>
                <a:ea typeface="Calibri"/>
                <a:cs typeface="Calibri"/>
                <a:sym typeface="Calibri"/>
              </a:rPr>
              <a:t>A thread is canceled while in the midst of updating data it is sharing with other threads</a:t>
            </a:r>
            <a:r>
              <a:rPr lang="en-US" sz="2000" u="none" strike="noStrike">
                <a:solidFill>
                  <a:srgbClr val="000000"/>
                </a:solidFill>
                <a:latin typeface="Calibri"/>
                <a:ea typeface="Calibri"/>
                <a:cs typeface="Calibri"/>
                <a:sym typeface="Calibri"/>
              </a:rPr>
              <a:t>.</a:t>
            </a:r>
            <a:endParaRPr/>
          </a:p>
          <a:p>
            <a:pPr marL="0" lvl="0" indent="0" algn="just" rtl="0">
              <a:lnSpc>
                <a:spcPct val="150000"/>
              </a:lnSpc>
              <a:spcBef>
                <a:spcPts val="1000"/>
              </a:spcBef>
              <a:spcAft>
                <a:spcPts val="0"/>
              </a:spcAft>
              <a:buClr>
                <a:srgbClr val="000000"/>
              </a:buClr>
              <a:buSzPts val="2000"/>
              <a:buNone/>
            </a:pPr>
            <a:r>
              <a:rPr lang="en-US" sz="2000" u="none" strike="noStrike">
                <a:solidFill>
                  <a:srgbClr val="000000"/>
                </a:solidFill>
                <a:latin typeface="Calibri"/>
                <a:ea typeface="Calibri"/>
                <a:cs typeface="Calibri"/>
                <a:sym typeface="Calibri"/>
              </a:rPr>
              <a:t>Often, the OS will reclaim system resources from a canceled thread but will not reclaim all resources.</a:t>
            </a:r>
            <a:endParaRPr/>
          </a:p>
          <a:p>
            <a:pPr marL="0" lvl="0" indent="0" algn="just" rtl="0">
              <a:lnSpc>
                <a:spcPct val="150000"/>
              </a:lnSpc>
              <a:spcBef>
                <a:spcPts val="1000"/>
              </a:spcBef>
              <a:spcAft>
                <a:spcPts val="0"/>
              </a:spcAft>
              <a:buClr>
                <a:srgbClr val="1F3864"/>
              </a:buClr>
              <a:buSzPts val="2000"/>
              <a:buNone/>
            </a:pPr>
            <a:r>
              <a:rPr lang="en-US" sz="2000" u="none" strike="noStrike">
                <a:solidFill>
                  <a:srgbClr val="1F3864"/>
                </a:solidFill>
                <a:latin typeface="Calibri"/>
                <a:ea typeface="Calibri"/>
                <a:cs typeface="Calibri"/>
                <a:sym typeface="Calibri"/>
              </a:rPr>
              <a:t>Therefore, cancelling a thread asynchronously may not free a necessary system wide resources.</a:t>
            </a:r>
            <a:endParaRPr/>
          </a:p>
          <a:p>
            <a:pPr marL="0" lvl="0" indent="0" algn="just" rtl="0">
              <a:lnSpc>
                <a:spcPct val="150000"/>
              </a:lnSpc>
              <a:spcBef>
                <a:spcPts val="1000"/>
              </a:spcBef>
              <a:spcAft>
                <a:spcPts val="0"/>
              </a:spcAft>
              <a:buClr>
                <a:schemeClr val="dk1"/>
              </a:buClr>
              <a:buSzPts val="2000"/>
              <a:buNone/>
            </a:pPr>
            <a:endParaRPr sz="2000" u="none" strike="noStrike">
              <a:highlight>
                <a:srgbClr val="FFFF00"/>
              </a:highlight>
              <a:latin typeface="Calibri"/>
              <a:ea typeface="Calibri"/>
              <a:cs typeface="Calibri"/>
              <a:sym typeface="Calibri"/>
            </a:endParaRPr>
          </a:p>
          <a:p>
            <a:pPr marL="0" lvl="0" indent="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sp>
        <p:nvSpPr>
          <p:cNvPr id="506" name="Google Shape;506;p54"/>
          <p:cNvSpPr txBox="1"/>
          <p:nvPr/>
        </p:nvSpPr>
        <p:spPr>
          <a:xfrm>
            <a:off x="524064" y="3929117"/>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55"/>
          <p:cNvSpPr txBox="1">
            <a:spLocks noGrp="1"/>
          </p:cNvSpPr>
          <p:nvPr>
            <p:ph type="body" idx="1"/>
          </p:nvPr>
        </p:nvSpPr>
        <p:spPr>
          <a:xfrm>
            <a:off x="2557503" y="1327930"/>
            <a:ext cx="9507557" cy="3241713"/>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1F3864"/>
              </a:buClr>
              <a:buSzPts val="2000"/>
              <a:buNone/>
            </a:pPr>
            <a:r>
              <a:rPr lang="en-US" sz="2000" b="1">
                <a:solidFill>
                  <a:srgbClr val="1F3864"/>
                </a:solidFill>
                <a:latin typeface="Calibri"/>
                <a:ea typeface="Calibri"/>
                <a:cs typeface="Calibri"/>
                <a:sym typeface="Calibri"/>
              </a:rPr>
              <a:t>With deferred cancellation</a:t>
            </a:r>
            <a:r>
              <a:rPr lang="en-US" sz="2000">
                <a:latin typeface="Calibri"/>
                <a:ea typeface="Calibri"/>
                <a:cs typeface="Calibri"/>
                <a:sym typeface="Calibri"/>
              </a:rPr>
              <a:t>: One thread indicates that a target thread is to be canceled.</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But cancellation occurs only after the target thread has checked a flag to determine if it should be canceled or not.</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This allows a thread to check whether it should be canceled at a point when it can be canceled safely. </a:t>
            </a:r>
            <a:endParaRPr sz="2000">
              <a:latin typeface="Calibri"/>
              <a:ea typeface="Calibri"/>
              <a:cs typeface="Calibri"/>
              <a:sym typeface="Calibri"/>
            </a:endParaRPr>
          </a:p>
        </p:txBody>
      </p:sp>
      <p:sp>
        <p:nvSpPr>
          <p:cNvPr id="512" name="Google Shape;512;p55"/>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56"/>
          <p:cNvSpPr txBox="1">
            <a:spLocks noGrp="1"/>
          </p:cNvSpPr>
          <p:nvPr>
            <p:ph type="body" idx="1"/>
          </p:nvPr>
        </p:nvSpPr>
        <p:spPr>
          <a:xfrm>
            <a:off x="2547257" y="141514"/>
            <a:ext cx="9546772" cy="6618515"/>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rgbClr val="000000"/>
              </a:buClr>
              <a:buSzPts val="1200"/>
              <a:buNone/>
            </a:pPr>
            <a:r>
              <a:rPr lang="en-US" sz="2400" b="1" u="none" strike="noStrike">
                <a:solidFill>
                  <a:srgbClr val="FF0000"/>
                </a:solidFill>
                <a:latin typeface="Calibri"/>
                <a:ea typeface="Calibri"/>
                <a:cs typeface="Calibri"/>
                <a:sym typeface="Calibri"/>
              </a:rPr>
              <a:t>Signal Handling</a:t>
            </a:r>
            <a:endParaRPr sz="2400" b="1">
              <a:solidFill>
                <a:srgbClr val="FF0000"/>
              </a:solidFill>
              <a:latin typeface="Calibri"/>
              <a:ea typeface="Calibri"/>
              <a:cs typeface="Calibri"/>
              <a:sym typeface="Calibri"/>
            </a:endParaRPr>
          </a:p>
          <a:p>
            <a:pPr marL="0" lvl="0" indent="0" algn="just" rtl="0">
              <a:lnSpc>
                <a:spcPct val="150000"/>
              </a:lnSpc>
              <a:spcBef>
                <a:spcPts val="1800"/>
              </a:spcBef>
              <a:spcAft>
                <a:spcPts val="0"/>
              </a:spcAft>
              <a:buClr>
                <a:srgbClr val="000000"/>
              </a:buClr>
              <a:buSzPts val="1200"/>
              <a:buNone/>
            </a:pPr>
            <a:r>
              <a:rPr lang="en-US" sz="2000">
                <a:solidFill>
                  <a:srgbClr val="000000"/>
                </a:solidFill>
                <a:latin typeface="Calibri"/>
                <a:ea typeface="Calibri"/>
                <a:cs typeface="Calibri"/>
                <a:sym typeface="Calibri"/>
              </a:rPr>
              <a:t>A </a:t>
            </a:r>
            <a:r>
              <a:rPr lang="en-US" sz="2000" b="1">
                <a:solidFill>
                  <a:srgbClr val="000000"/>
                </a:solidFill>
                <a:latin typeface="Calibri"/>
                <a:ea typeface="Calibri"/>
                <a:cs typeface="Calibri"/>
                <a:sym typeface="Calibri"/>
              </a:rPr>
              <a:t>signal</a:t>
            </a:r>
            <a:r>
              <a:rPr lang="en-US" sz="2000">
                <a:solidFill>
                  <a:srgbClr val="000000"/>
                </a:solidFill>
                <a:latin typeface="Calibri"/>
                <a:ea typeface="Calibri"/>
                <a:cs typeface="Calibri"/>
                <a:sym typeface="Calibri"/>
              </a:rPr>
              <a:t> is used in UNIX systems to notify a process that a particular event has occurred. A signal may be received either </a:t>
            </a:r>
            <a:r>
              <a:rPr lang="en-US" sz="2000" b="1" i="1">
                <a:solidFill>
                  <a:srgbClr val="1F3864"/>
                </a:solidFill>
                <a:latin typeface="Calibri"/>
                <a:ea typeface="Calibri"/>
                <a:cs typeface="Calibri"/>
                <a:sym typeface="Calibri"/>
              </a:rPr>
              <a:t>synchronously</a:t>
            </a:r>
            <a:r>
              <a:rPr lang="en-US" sz="2000" b="1">
                <a:solidFill>
                  <a:srgbClr val="1F3864"/>
                </a:solidFill>
                <a:latin typeface="Calibri"/>
                <a:ea typeface="Calibri"/>
                <a:cs typeface="Calibri"/>
                <a:sym typeface="Calibri"/>
              </a:rPr>
              <a:t> or </a:t>
            </a:r>
            <a:r>
              <a:rPr lang="en-US" sz="2000" b="1" i="1">
                <a:solidFill>
                  <a:srgbClr val="1F3864"/>
                </a:solidFill>
                <a:latin typeface="Calibri"/>
                <a:ea typeface="Calibri"/>
                <a:cs typeface="Calibri"/>
                <a:sym typeface="Calibri"/>
              </a:rPr>
              <a:t>asynchronously</a:t>
            </a:r>
            <a:r>
              <a:rPr lang="en-US" sz="2000">
                <a:solidFill>
                  <a:srgbClr val="000000"/>
                </a:solidFill>
                <a:latin typeface="Calibri"/>
                <a:ea typeface="Calibri"/>
                <a:cs typeface="Calibri"/>
                <a:sym typeface="Calibri"/>
              </a:rPr>
              <a:t>, depending on the source of and the reason for the event being signaled. All signals follow the same pattern: </a:t>
            </a:r>
            <a:endParaRPr sz="2000">
              <a:latin typeface="Calibri"/>
              <a:ea typeface="Calibri"/>
              <a:cs typeface="Calibri"/>
              <a:sym typeface="Calibri"/>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 </a:t>
            </a:r>
            <a:r>
              <a:rPr lang="en-US" sz="2000" u="none" strike="noStrike">
                <a:solidFill>
                  <a:srgbClr val="1F3864"/>
                </a:solidFill>
                <a:latin typeface="Calibri"/>
                <a:ea typeface="Calibri"/>
                <a:cs typeface="Calibri"/>
                <a:sym typeface="Calibri"/>
              </a:rPr>
              <a:t>A signal is generated by the occurrence of a particular event. </a:t>
            </a:r>
            <a:endParaRPr sz="2000" u="none" strike="noStrike">
              <a:solidFill>
                <a:srgbClr val="1F3864"/>
              </a:solidFill>
              <a:latin typeface="Calibri"/>
              <a:ea typeface="Calibri"/>
              <a:cs typeface="Calibri"/>
              <a:sym typeface="Calibri"/>
            </a:endParaRPr>
          </a:p>
          <a:p>
            <a:pPr marL="0" lvl="0" indent="0" algn="just" rtl="0">
              <a:lnSpc>
                <a:spcPct val="150000"/>
              </a:lnSpc>
              <a:spcBef>
                <a:spcPts val="1055"/>
              </a:spcBef>
              <a:spcAft>
                <a:spcPts val="0"/>
              </a:spcAft>
              <a:buClr>
                <a:srgbClr val="1F3864"/>
              </a:buClr>
              <a:buSzPts val="2000"/>
              <a:buNone/>
            </a:pPr>
            <a:r>
              <a:rPr lang="en-US" sz="2000">
                <a:solidFill>
                  <a:srgbClr val="1F3864"/>
                </a:solidFill>
                <a:latin typeface="Calibri"/>
                <a:ea typeface="Calibri"/>
                <a:cs typeface="Calibri"/>
                <a:sym typeface="Calibri"/>
              </a:rPr>
              <a:t> </a:t>
            </a:r>
            <a:r>
              <a:rPr lang="en-US" sz="2000" u="none" strike="noStrike">
                <a:solidFill>
                  <a:srgbClr val="1F3864"/>
                </a:solidFill>
                <a:latin typeface="Calibri"/>
                <a:ea typeface="Calibri"/>
                <a:cs typeface="Calibri"/>
                <a:sym typeface="Calibri"/>
              </a:rPr>
              <a:t>A generated signal is delivered </a:t>
            </a:r>
            <a:r>
              <a:rPr lang="en-US" sz="2000" i="1" u="none" strike="noStrike">
                <a:solidFill>
                  <a:srgbClr val="1F3864"/>
                </a:solidFill>
                <a:latin typeface="Calibri"/>
                <a:ea typeface="Calibri"/>
                <a:cs typeface="Calibri"/>
                <a:sym typeface="Calibri"/>
              </a:rPr>
              <a:t>to</a:t>
            </a:r>
            <a:r>
              <a:rPr lang="en-US" sz="2000" u="none" strike="noStrike">
                <a:solidFill>
                  <a:srgbClr val="1F3864"/>
                </a:solidFill>
                <a:latin typeface="Calibri"/>
                <a:ea typeface="Calibri"/>
                <a:cs typeface="Calibri"/>
                <a:sym typeface="Calibri"/>
              </a:rPr>
              <a:t> a process. </a:t>
            </a:r>
            <a:r>
              <a:rPr lang="en-US" sz="2000">
                <a:solidFill>
                  <a:srgbClr val="1F3864"/>
                </a:solidFill>
                <a:latin typeface="Calibri"/>
                <a:ea typeface="Calibri"/>
                <a:cs typeface="Calibri"/>
                <a:sym typeface="Calibri"/>
              </a:rPr>
              <a:t> </a:t>
            </a:r>
            <a:r>
              <a:rPr lang="en-US" sz="2000" u="none" strike="noStrike">
                <a:solidFill>
                  <a:srgbClr val="1F3864"/>
                </a:solidFill>
                <a:latin typeface="Calibri"/>
                <a:ea typeface="Calibri"/>
                <a:cs typeface="Calibri"/>
                <a:sym typeface="Calibri"/>
              </a:rPr>
              <a:t>Once delivered, the signal must be handled</a:t>
            </a:r>
            <a:r>
              <a:rPr lang="en-US" sz="2000" u="none" strike="noStrike">
                <a:solidFill>
                  <a:srgbClr val="000000"/>
                </a:solidFill>
                <a:latin typeface="Calibri"/>
                <a:ea typeface="Calibri"/>
                <a:cs typeface="Calibri"/>
                <a:sym typeface="Calibri"/>
              </a:rPr>
              <a:t>. </a:t>
            </a:r>
            <a:endParaRPr/>
          </a:p>
          <a:p>
            <a:pPr marL="0" lvl="0" indent="0" algn="just" rtl="0">
              <a:lnSpc>
                <a:spcPct val="150000"/>
              </a:lnSpc>
              <a:spcBef>
                <a:spcPts val="1800"/>
              </a:spcBef>
              <a:spcAft>
                <a:spcPts val="0"/>
              </a:spcAft>
              <a:buClr>
                <a:srgbClr val="000000"/>
              </a:buClr>
              <a:buSzPts val="2000"/>
              <a:buNone/>
            </a:pPr>
            <a:r>
              <a:rPr lang="en-US" sz="2000" b="1">
                <a:solidFill>
                  <a:srgbClr val="000000"/>
                </a:solidFill>
                <a:latin typeface="Calibri"/>
                <a:ea typeface="Calibri"/>
                <a:cs typeface="Calibri"/>
                <a:sym typeface="Calibri"/>
              </a:rPr>
              <a:t>Synchronous signals </a:t>
            </a:r>
            <a:r>
              <a:rPr lang="en-US" sz="2000">
                <a:solidFill>
                  <a:srgbClr val="000000"/>
                </a:solidFill>
                <a:latin typeface="Calibri"/>
                <a:ea typeface="Calibri"/>
                <a:cs typeface="Calibri"/>
                <a:sym typeface="Calibri"/>
              </a:rPr>
              <a:t>are delivered to the same process that performed the operation that caused the signal.</a:t>
            </a:r>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	 Ex: Illegal memory access, division by zero.  </a:t>
            </a:r>
            <a:endParaRPr/>
          </a:p>
          <a:p>
            <a:pPr marL="0" lvl="0" indent="0" algn="just" rtl="0">
              <a:lnSpc>
                <a:spcPct val="150000"/>
              </a:lnSpc>
              <a:spcBef>
                <a:spcPts val="1800"/>
              </a:spcBef>
              <a:spcAft>
                <a:spcPts val="0"/>
              </a:spcAft>
              <a:buClr>
                <a:srgbClr val="000000"/>
              </a:buClr>
              <a:buSzPts val="2000"/>
              <a:buNone/>
            </a:pPr>
            <a:r>
              <a:rPr lang="en-US" sz="2000" b="1">
                <a:solidFill>
                  <a:srgbClr val="000000"/>
                </a:solidFill>
                <a:latin typeface="Calibri"/>
                <a:ea typeface="Calibri"/>
                <a:cs typeface="Calibri"/>
                <a:sym typeface="Calibri"/>
              </a:rPr>
              <a:t>Asynchronous signal </a:t>
            </a:r>
            <a:r>
              <a:rPr lang="en-US" sz="2000">
                <a:solidFill>
                  <a:srgbClr val="000000"/>
                </a:solidFill>
                <a:latin typeface="Calibri"/>
                <a:ea typeface="Calibri"/>
                <a:cs typeface="Calibri"/>
                <a:sym typeface="Calibri"/>
              </a:rPr>
              <a:t>is generated by  an event external to a running process, that process receives the signal asynchronously. </a:t>
            </a:r>
            <a:endParaRPr sz="2000">
              <a:latin typeface="Calibri"/>
              <a:ea typeface="Calibri"/>
              <a:cs typeface="Calibri"/>
              <a:sym typeface="Calibri"/>
            </a:endParaRPr>
          </a:p>
        </p:txBody>
      </p:sp>
      <p:sp>
        <p:nvSpPr>
          <p:cNvPr id="518" name="Google Shape;518;p56"/>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7"/>
          <p:cNvSpPr txBox="1">
            <a:spLocks noGrp="1"/>
          </p:cNvSpPr>
          <p:nvPr>
            <p:ph type="body" idx="1"/>
          </p:nvPr>
        </p:nvSpPr>
        <p:spPr>
          <a:xfrm>
            <a:off x="2569029" y="702072"/>
            <a:ext cx="9437914" cy="517082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A signal may be </a:t>
            </a:r>
            <a:r>
              <a:rPr lang="en-US" sz="2400" i="1">
                <a:solidFill>
                  <a:srgbClr val="000000"/>
                </a:solidFill>
                <a:latin typeface="Calibri"/>
                <a:ea typeface="Calibri"/>
                <a:cs typeface="Calibri"/>
                <a:sym typeface="Calibri"/>
              </a:rPr>
              <a:t>handled</a:t>
            </a:r>
            <a:r>
              <a:rPr lang="en-US" sz="2400">
                <a:solidFill>
                  <a:srgbClr val="000000"/>
                </a:solidFill>
                <a:latin typeface="Calibri"/>
                <a:ea typeface="Calibri"/>
                <a:cs typeface="Calibri"/>
                <a:sym typeface="Calibri"/>
              </a:rPr>
              <a:t> by one of two possible handlers: </a:t>
            </a:r>
            <a:endParaRPr sz="2400">
              <a:latin typeface="Calibri"/>
              <a:ea typeface="Calibri"/>
              <a:cs typeface="Calibri"/>
              <a:sym typeface="Calibri"/>
            </a:endParaRPr>
          </a:p>
          <a:p>
            <a:pPr marL="228600" lvl="0" indent="-228600" algn="just" rtl="0">
              <a:lnSpc>
                <a:spcPct val="150000"/>
              </a:lnSpc>
              <a:spcBef>
                <a:spcPts val="1015"/>
              </a:spcBef>
              <a:spcAft>
                <a:spcPts val="0"/>
              </a:spcAft>
              <a:buClr>
                <a:srgbClr val="000000"/>
              </a:buClr>
              <a:buSzPts val="2400"/>
              <a:buChar char="•"/>
            </a:pPr>
            <a:r>
              <a:rPr lang="en-US" sz="2400">
                <a:solidFill>
                  <a:srgbClr val="000000"/>
                </a:solidFill>
                <a:latin typeface="Calibri"/>
                <a:ea typeface="Calibri"/>
                <a:cs typeface="Calibri"/>
                <a:sym typeface="Calibri"/>
              </a:rPr>
              <a:t> </a:t>
            </a:r>
            <a:r>
              <a:rPr lang="en-US" sz="2400">
                <a:solidFill>
                  <a:srgbClr val="1F3864"/>
                </a:solidFill>
                <a:latin typeface="Calibri"/>
                <a:ea typeface="Calibri"/>
                <a:cs typeface="Calibri"/>
                <a:sym typeface="Calibri"/>
              </a:rPr>
              <a:t>A default signal handler  </a:t>
            </a:r>
            <a:endParaRPr sz="2400">
              <a:solidFill>
                <a:srgbClr val="1F3864"/>
              </a:solidFill>
              <a:latin typeface="Calibri"/>
              <a:ea typeface="Calibri"/>
              <a:cs typeface="Calibri"/>
              <a:sym typeface="Calibri"/>
            </a:endParaRPr>
          </a:p>
          <a:p>
            <a:pPr marL="228600" lvl="0" indent="-228600" algn="just" rtl="0">
              <a:lnSpc>
                <a:spcPct val="150000"/>
              </a:lnSpc>
              <a:spcBef>
                <a:spcPts val="1180"/>
              </a:spcBef>
              <a:spcAft>
                <a:spcPts val="0"/>
              </a:spcAft>
              <a:buClr>
                <a:srgbClr val="1F3864"/>
              </a:buClr>
              <a:buSzPts val="2400"/>
              <a:buChar char="•"/>
            </a:pPr>
            <a:r>
              <a:rPr lang="en-US" sz="2400">
                <a:solidFill>
                  <a:srgbClr val="1F3864"/>
                </a:solidFill>
                <a:latin typeface="Calibri"/>
                <a:ea typeface="Calibri"/>
                <a:cs typeface="Calibri"/>
                <a:sym typeface="Calibri"/>
              </a:rPr>
              <a:t>A user-defined signal handler </a:t>
            </a:r>
            <a:endParaRPr sz="2400">
              <a:solidFill>
                <a:srgbClr val="1F3864"/>
              </a:solidFill>
              <a:latin typeface="Calibri"/>
              <a:ea typeface="Calibri"/>
              <a:cs typeface="Calibri"/>
              <a:sym typeface="Calibri"/>
            </a:endParaRPr>
          </a:p>
          <a:p>
            <a:pPr marL="0" lvl="0" indent="0" algn="just" rtl="0">
              <a:lnSpc>
                <a:spcPct val="150000"/>
              </a:lnSpc>
              <a:spcBef>
                <a:spcPts val="1800"/>
              </a:spcBef>
              <a:spcAft>
                <a:spcPts val="0"/>
              </a:spcAft>
              <a:buClr>
                <a:srgbClr val="000000"/>
              </a:buClr>
              <a:buSzPts val="2400"/>
              <a:buNone/>
            </a:pPr>
            <a:r>
              <a:rPr lang="en-US" sz="2400">
                <a:solidFill>
                  <a:srgbClr val="000000"/>
                </a:solidFill>
                <a:latin typeface="Calibri"/>
                <a:ea typeface="Calibri"/>
                <a:cs typeface="Calibri"/>
                <a:sym typeface="Calibri"/>
              </a:rPr>
              <a:t>Every signal has a </a:t>
            </a:r>
            <a:r>
              <a:rPr lang="en-US" sz="2400" b="1">
                <a:solidFill>
                  <a:srgbClr val="000000"/>
                </a:solidFill>
                <a:latin typeface="Calibri"/>
                <a:ea typeface="Calibri"/>
                <a:cs typeface="Calibri"/>
                <a:sym typeface="Calibri"/>
              </a:rPr>
              <a:t>default signal handler</a:t>
            </a:r>
            <a:r>
              <a:rPr lang="en-US" sz="2400">
                <a:solidFill>
                  <a:srgbClr val="000000"/>
                </a:solidFill>
                <a:latin typeface="Calibri"/>
                <a:ea typeface="Calibri"/>
                <a:cs typeface="Calibri"/>
                <a:sym typeface="Calibri"/>
              </a:rPr>
              <a:t> that is run by the kernel when handling that signal. </a:t>
            </a:r>
            <a:endParaRPr/>
          </a:p>
          <a:p>
            <a:pPr marL="0" lvl="0" indent="0" algn="just" rtl="0">
              <a:lnSpc>
                <a:spcPct val="150000"/>
              </a:lnSpc>
              <a:spcBef>
                <a:spcPts val="1000"/>
              </a:spcBef>
              <a:spcAft>
                <a:spcPts val="0"/>
              </a:spcAft>
              <a:buClr>
                <a:srgbClr val="000000"/>
              </a:buClr>
              <a:buSzPts val="2400"/>
              <a:buNone/>
            </a:pPr>
            <a:r>
              <a:rPr lang="en-US" sz="2400">
                <a:solidFill>
                  <a:srgbClr val="000000"/>
                </a:solidFill>
                <a:latin typeface="Calibri"/>
                <a:ea typeface="Calibri"/>
                <a:cs typeface="Calibri"/>
                <a:sym typeface="Calibri"/>
              </a:rPr>
              <a:t>This default action can be overridden by a user </a:t>
            </a:r>
            <a:r>
              <a:rPr lang="en-US" sz="2400" b="1">
                <a:solidFill>
                  <a:srgbClr val="000000"/>
                </a:solidFill>
                <a:latin typeface="Calibri"/>
                <a:ea typeface="Calibri"/>
                <a:cs typeface="Calibri"/>
                <a:sym typeface="Calibri"/>
              </a:rPr>
              <a:t>defined signal handler</a:t>
            </a:r>
            <a:r>
              <a:rPr lang="en-US" sz="2400">
                <a:solidFill>
                  <a:srgbClr val="000000"/>
                </a:solidFill>
                <a:latin typeface="Calibri"/>
                <a:ea typeface="Calibri"/>
                <a:cs typeface="Calibri"/>
                <a:sym typeface="Calibri"/>
              </a:rPr>
              <a:t> that is called to handle the signal. </a:t>
            </a:r>
            <a:endParaRPr/>
          </a:p>
          <a:p>
            <a:pPr marL="0" lvl="0" indent="0" algn="l" rtl="0">
              <a:lnSpc>
                <a:spcPct val="90000"/>
              </a:lnSpc>
              <a:spcBef>
                <a:spcPts val="1000"/>
              </a:spcBef>
              <a:spcAft>
                <a:spcPts val="0"/>
              </a:spcAft>
              <a:buClr>
                <a:schemeClr val="dk1"/>
              </a:buClr>
              <a:buSzPts val="2800"/>
              <a:buNone/>
            </a:pPr>
            <a:endParaRPr/>
          </a:p>
        </p:txBody>
      </p:sp>
      <p:sp>
        <p:nvSpPr>
          <p:cNvPr id="524" name="Google Shape;524;p57"/>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58"/>
          <p:cNvSpPr txBox="1">
            <a:spLocks noGrp="1"/>
          </p:cNvSpPr>
          <p:nvPr>
            <p:ph type="body" idx="1"/>
          </p:nvPr>
        </p:nvSpPr>
        <p:spPr>
          <a:xfrm>
            <a:off x="2569029" y="97971"/>
            <a:ext cx="9492342" cy="6651172"/>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In single-threaded programs signals are always delivered to a process. However, delivering signals is more complicated in multithreaded programs, where a process may have several threads. </a:t>
            </a:r>
            <a:endParaRPr/>
          </a:p>
          <a:p>
            <a:pPr marL="0" lvl="0" indent="0" algn="just" rtl="0">
              <a:lnSpc>
                <a:spcPct val="150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Where, then, should a signal be delivered? So following options will exist: </a:t>
            </a:r>
            <a:endParaRPr sz="2400">
              <a:latin typeface="Calibri"/>
              <a:ea typeface="Calibri"/>
              <a:cs typeface="Calibri"/>
              <a:sym typeface="Calibri"/>
            </a:endParaRPr>
          </a:p>
          <a:p>
            <a:pPr marL="228600" lvl="0" indent="-228600" algn="just" rtl="0">
              <a:lnSpc>
                <a:spcPct val="150000"/>
              </a:lnSpc>
              <a:spcBef>
                <a:spcPts val="1015"/>
              </a:spcBef>
              <a:spcAft>
                <a:spcPts val="0"/>
              </a:spcAft>
              <a:buClr>
                <a:srgbClr val="1F3864"/>
              </a:buClr>
              <a:buSzPts val="2400"/>
              <a:buChar char="•"/>
            </a:pPr>
            <a:r>
              <a:rPr lang="en-US" sz="2400" u="none" strike="noStrike">
                <a:solidFill>
                  <a:srgbClr val="1F3864"/>
                </a:solidFill>
                <a:latin typeface="Calibri"/>
                <a:ea typeface="Calibri"/>
                <a:cs typeface="Calibri"/>
                <a:sym typeface="Calibri"/>
              </a:rPr>
              <a:t>Deliver the signal to the thread to which the signal applies. </a:t>
            </a:r>
            <a:endParaRPr sz="2400">
              <a:solidFill>
                <a:srgbClr val="1F3864"/>
              </a:solidFill>
              <a:latin typeface="Calibri"/>
              <a:ea typeface="Calibri"/>
              <a:cs typeface="Calibri"/>
              <a:sym typeface="Calibri"/>
            </a:endParaRPr>
          </a:p>
          <a:p>
            <a:pPr marL="228600" lvl="0" indent="-228600" algn="just" rtl="0">
              <a:lnSpc>
                <a:spcPct val="150000"/>
              </a:lnSpc>
              <a:spcBef>
                <a:spcPts val="1015"/>
              </a:spcBef>
              <a:spcAft>
                <a:spcPts val="0"/>
              </a:spcAft>
              <a:buClr>
                <a:srgbClr val="1F3864"/>
              </a:buClr>
              <a:buSzPts val="2400"/>
              <a:buChar char="•"/>
            </a:pPr>
            <a:r>
              <a:rPr lang="en-US" sz="2400" u="none" strike="noStrike">
                <a:solidFill>
                  <a:srgbClr val="1F3864"/>
                </a:solidFill>
                <a:latin typeface="Calibri"/>
                <a:ea typeface="Calibri"/>
                <a:cs typeface="Calibri"/>
                <a:sym typeface="Calibri"/>
              </a:rPr>
              <a:t>Deliver the signal to every thread in the process. </a:t>
            </a:r>
            <a:endParaRPr sz="2400" u="none" strike="noStrike">
              <a:solidFill>
                <a:srgbClr val="1F3864"/>
              </a:solidFill>
              <a:latin typeface="Calibri"/>
              <a:ea typeface="Calibri"/>
              <a:cs typeface="Calibri"/>
              <a:sym typeface="Calibri"/>
            </a:endParaRPr>
          </a:p>
          <a:p>
            <a:pPr marL="228600" lvl="0" indent="-228600" algn="just" rtl="0">
              <a:lnSpc>
                <a:spcPct val="150000"/>
              </a:lnSpc>
              <a:spcBef>
                <a:spcPts val="1055"/>
              </a:spcBef>
              <a:spcAft>
                <a:spcPts val="0"/>
              </a:spcAft>
              <a:buClr>
                <a:srgbClr val="1F3864"/>
              </a:buClr>
              <a:buSzPts val="2400"/>
              <a:buChar char="•"/>
            </a:pPr>
            <a:r>
              <a:rPr lang="en-US" sz="2400" u="none" strike="noStrike">
                <a:solidFill>
                  <a:srgbClr val="1F3864"/>
                </a:solidFill>
                <a:latin typeface="Calibri"/>
                <a:ea typeface="Calibri"/>
                <a:cs typeface="Calibri"/>
                <a:sym typeface="Calibri"/>
              </a:rPr>
              <a:t>Deliver the signal to certain threads in the process. </a:t>
            </a:r>
            <a:endParaRPr sz="2400" u="none" strike="noStrike">
              <a:solidFill>
                <a:srgbClr val="1F3864"/>
              </a:solidFill>
              <a:latin typeface="Calibri"/>
              <a:ea typeface="Calibri"/>
              <a:cs typeface="Calibri"/>
              <a:sym typeface="Calibri"/>
            </a:endParaRPr>
          </a:p>
          <a:p>
            <a:pPr marL="228600" lvl="0" indent="-228600" algn="just" rtl="0">
              <a:lnSpc>
                <a:spcPct val="150000"/>
              </a:lnSpc>
              <a:spcBef>
                <a:spcPts val="1800"/>
              </a:spcBef>
              <a:spcAft>
                <a:spcPts val="0"/>
              </a:spcAft>
              <a:buClr>
                <a:srgbClr val="1F3864"/>
              </a:buClr>
              <a:buSzPts val="2400"/>
              <a:buChar char="•"/>
            </a:pPr>
            <a:r>
              <a:rPr lang="en-US" sz="2400" u="none" strike="noStrike">
                <a:solidFill>
                  <a:srgbClr val="1F3864"/>
                </a:solidFill>
                <a:latin typeface="Calibri"/>
                <a:ea typeface="Calibri"/>
                <a:cs typeface="Calibri"/>
                <a:sym typeface="Calibri"/>
              </a:rPr>
              <a:t>Assign a specific thread to receive all signals for the process. </a:t>
            </a:r>
            <a:endParaRPr/>
          </a:p>
          <a:p>
            <a:pPr marL="0" lvl="0" indent="0" algn="l" rtl="0">
              <a:lnSpc>
                <a:spcPct val="90000"/>
              </a:lnSpc>
              <a:spcBef>
                <a:spcPts val="1800"/>
              </a:spcBef>
              <a:spcAft>
                <a:spcPts val="0"/>
              </a:spcAft>
              <a:buClr>
                <a:schemeClr val="dk1"/>
              </a:buClr>
              <a:buSzPts val="2800"/>
              <a:buNone/>
            </a:pPr>
            <a:endParaRPr/>
          </a:p>
        </p:txBody>
      </p:sp>
      <p:sp>
        <p:nvSpPr>
          <p:cNvPr id="530" name="Google Shape;530;p58"/>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59"/>
          <p:cNvSpPr txBox="1">
            <a:spLocks noGrp="1"/>
          </p:cNvSpPr>
          <p:nvPr>
            <p:ph type="body" idx="1"/>
          </p:nvPr>
        </p:nvSpPr>
        <p:spPr>
          <a:xfrm>
            <a:off x="2658809" y="870969"/>
            <a:ext cx="9492342" cy="3748165"/>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rgbClr val="000000"/>
              </a:buClr>
              <a:buSzPts val="2400"/>
              <a:buChar char="•"/>
            </a:pPr>
            <a:r>
              <a:rPr lang="en-US" sz="2400">
                <a:solidFill>
                  <a:srgbClr val="000000"/>
                </a:solidFill>
                <a:latin typeface="Calibri"/>
                <a:ea typeface="Calibri"/>
                <a:cs typeface="Calibri"/>
                <a:sym typeface="Calibri"/>
              </a:rPr>
              <a:t>The method for delivering a signal depends on the type of signal generated. </a:t>
            </a:r>
            <a:endParaRPr/>
          </a:p>
          <a:p>
            <a:pPr marL="228600" lvl="0" indent="-228600" algn="just" rtl="0">
              <a:lnSpc>
                <a:spcPct val="150000"/>
              </a:lnSpc>
              <a:spcBef>
                <a:spcPts val="1800"/>
              </a:spcBef>
              <a:spcAft>
                <a:spcPts val="0"/>
              </a:spcAft>
              <a:buClr>
                <a:srgbClr val="000000"/>
              </a:buClr>
              <a:buSzPts val="2400"/>
              <a:buChar char="•"/>
            </a:pPr>
            <a:r>
              <a:rPr lang="en-US" sz="2400">
                <a:solidFill>
                  <a:srgbClr val="000000"/>
                </a:solidFill>
                <a:latin typeface="Calibri"/>
                <a:ea typeface="Calibri"/>
                <a:cs typeface="Calibri"/>
                <a:sym typeface="Calibri"/>
              </a:rPr>
              <a:t>Synchronous signals need to be delivered to the thread causing the signal and not to other threads in the process. </a:t>
            </a:r>
            <a:endParaRPr/>
          </a:p>
          <a:p>
            <a:pPr marL="228600" lvl="0" indent="-228600" algn="just" rtl="0">
              <a:lnSpc>
                <a:spcPct val="150000"/>
              </a:lnSpc>
              <a:spcBef>
                <a:spcPts val="1800"/>
              </a:spcBef>
              <a:spcAft>
                <a:spcPts val="0"/>
              </a:spcAft>
              <a:buClr>
                <a:srgbClr val="000000"/>
              </a:buClr>
              <a:buSzPts val="2400"/>
              <a:buChar char="•"/>
            </a:pPr>
            <a:r>
              <a:rPr lang="en-US" sz="2400">
                <a:solidFill>
                  <a:srgbClr val="000000"/>
                </a:solidFill>
                <a:latin typeface="Calibri"/>
                <a:ea typeface="Calibri"/>
                <a:cs typeface="Calibri"/>
                <a:sym typeface="Calibri"/>
              </a:rPr>
              <a:t>In asynchronous signals is not as clear and should be sent to all threads. </a:t>
            </a:r>
            <a:endParaRPr sz="2400" u="none" strike="noStrike">
              <a:latin typeface="Calibri"/>
              <a:ea typeface="Calibri"/>
              <a:cs typeface="Calibri"/>
              <a:sym typeface="Calibri"/>
            </a:endParaRPr>
          </a:p>
          <a:p>
            <a:pPr marL="0" lvl="0" indent="0" algn="l" rtl="0">
              <a:lnSpc>
                <a:spcPct val="90000"/>
              </a:lnSpc>
              <a:spcBef>
                <a:spcPts val="1800"/>
              </a:spcBef>
              <a:spcAft>
                <a:spcPts val="0"/>
              </a:spcAft>
              <a:buClr>
                <a:schemeClr val="dk1"/>
              </a:buClr>
              <a:buSzPts val="2800"/>
              <a:buNone/>
            </a:pPr>
            <a:endParaRPr/>
          </a:p>
        </p:txBody>
      </p:sp>
      <p:sp>
        <p:nvSpPr>
          <p:cNvPr id="536" name="Google Shape;536;p59"/>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60"/>
          <p:cNvSpPr txBox="1">
            <a:spLocks noGrp="1"/>
          </p:cNvSpPr>
          <p:nvPr>
            <p:ph type="body" idx="1"/>
          </p:nvPr>
        </p:nvSpPr>
        <p:spPr>
          <a:xfrm>
            <a:off x="2558143" y="163286"/>
            <a:ext cx="9557657" cy="6542314"/>
          </a:xfrm>
          <a:prstGeom prst="rect">
            <a:avLst/>
          </a:prstGeom>
          <a:noFill/>
          <a:ln>
            <a:noFill/>
          </a:ln>
        </p:spPr>
        <p:txBody>
          <a:bodyPr spcFirstLastPara="1" wrap="square" lIns="91425" tIns="45700" rIns="91425" bIns="45700" anchor="t" anchorCtr="0">
            <a:normAutofit/>
          </a:bodyPr>
          <a:lstStyle/>
          <a:p>
            <a:pPr marL="0" lvl="0" indent="0" algn="just" rtl="0">
              <a:lnSpc>
                <a:spcPct val="160000"/>
              </a:lnSpc>
              <a:spcBef>
                <a:spcPts val="0"/>
              </a:spcBef>
              <a:spcAft>
                <a:spcPts val="0"/>
              </a:spcAft>
              <a:buClr>
                <a:srgbClr val="000000"/>
              </a:buClr>
              <a:buSzPts val="2600"/>
              <a:buNone/>
            </a:pPr>
            <a:r>
              <a:rPr lang="en-US" sz="2600" b="1">
                <a:solidFill>
                  <a:srgbClr val="000000"/>
                </a:solidFill>
                <a:latin typeface="Calibri"/>
                <a:ea typeface="Calibri"/>
                <a:cs typeface="Calibri"/>
                <a:sym typeface="Calibri"/>
              </a:rPr>
              <a:t>Thread Pools:</a:t>
            </a:r>
            <a:r>
              <a:rPr lang="en-US" sz="2600">
                <a:solidFill>
                  <a:srgbClr val="000000"/>
                </a:solidFill>
                <a:latin typeface="Calibri"/>
                <a:ea typeface="Calibri"/>
                <a:cs typeface="Calibri"/>
                <a:sym typeface="Calibri"/>
              </a:rPr>
              <a:t> </a:t>
            </a:r>
            <a:endParaRPr sz="2600">
              <a:latin typeface="Calibri"/>
              <a:ea typeface="Calibri"/>
              <a:cs typeface="Calibri"/>
              <a:sym typeface="Calibri"/>
            </a:endParaRPr>
          </a:p>
          <a:p>
            <a:pPr marL="0" lvl="0" indent="0" algn="just" rtl="0">
              <a:lnSpc>
                <a:spcPct val="160000"/>
              </a:lnSpc>
              <a:spcBef>
                <a:spcPts val="1800"/>
              </a:spcBef>
              <a:spcAft>
                <a:spcPts val="0"/>
              </a:spcAft>
              <a:buClr>
                <a:srgbClr val="000000"/>
              </a:buClr>
              <a:buSzPts val="2600"/>
              <a:buNone/>
            </a:pPr>
            <a:r>
              <a:rPr lang="en-US" sz="2600">
                <a:solidFill>
                  <a:srgbClr val="000000"/>
                </a:solidFill>
                <a:latin typeface="Calibri"/>
                <a:ea typeface="Calibri"/>
                <a:cs typeface="Calibri"/>
                <a:sym typeface="Calibri"/>
              </a:rPr>
              <a:t> In a Web server, whenever the server receives a request, it creates a separate thread to service the request. There is some amount of time required to create the thread prior to servicing the request, after completing service this thread will be discarded. If we allow all concurrent requests to be serviced in a new thread, we have not placed a bound on the number of threads concurrently active in the system. Unlimited threads could exhaust system resources. So the solution to this problem is to use a </a:t>
            </a:r>
            <a:r>
              <a:rPr lang="en-US" sz="2600" b="1">
                <a:solidFill>
                  <a:srgbClr val="000000"/>
                </a:solidFill>
                <a:latin typeface="Calibri"/>
                <a:ea typeface="Calibri"/>
                <a:cs typeface="Calibri"/>
                <a:sym typeface="Calibri"/>
              </a:rPr>
              <a:t>Thread pool.</a:t>
            </a:r>
            <a:r>
              <a:rPr lang="en-US" sz="2600">
                <a:solidFill>
                  <a:srgbClr val="000000"/>
                </a:solidFill>
                <a:latin typeface="Calibri"/>
                <a:ea typeface="Calibri"/>
                <a:cs typeface="Calibri"/>
                <a:sym typeface="Calibri"/>
              </a:rPr>
              <a:t> </a:t>
            </a:r>
            <a:endParaRPr sz="2600">
              <a:latin typeface="Calibri"/>
              <a:ea typeface="Calibri"/>
              <a:cs typeface="Calibri"/>
              <a:sym typeface="Calibri"/>
            </a:endParaRPr>
          </a:p>
          <a:p>
            <a:pPr marL="0" lvl="0" indent="0" algn="just" rtl="0">
              <a:lnSpc>
                <a:spcPct val="160000"/>
              </a:lnSpc>
              <a:spcBef>
                <a:spcPts val="1050"/>
              </a:spcBef>
              <a:spcAft>
                <a:spcPts val="0"/>
              </a:spcAft>
              <a:buClr>
                <a:schemeClr val="dk1"/>
              </a:buClr>
              <a:buSzPts val="2600"/>
              <a:buNone/>
            </a:pPr>
            <a:endParaRPr sz="2600">
              <a:latin typeface="Calibri"/>
              <a:ea typeface="Calibri"/>
              <a:cs typeface="Calibri"/>
              <a:sym typeface="Calibri"/>
            </a:endParaRPr>
          </a:p>
          <a:p>
            <a:pPr marL="228600" lvl="0" indent="-50800" algn="l" rtl="0">
              <a:lnSpc>
                <a:spcPct val="90000"/>
              </a:lnSpc>
              <a:spcBef>
                <a:spcPts val="1015"/>
              </a:spcBef>
              <a:spcAft>
                <a:spcPts val="0"/>
              </a:spcAft>
              <a:buClr>
                <a:schemeClr val="dk1"/>
              </a:buClr>
              <a:buSzPts val="2800"/>
              <a:buNone/>
            </a:pPr>
            <a:endParaRPr/>
          </a:p>
        </p:txBody>
      </p:sp>
      <p:sp>
        <p:nvSpPr>
          <p:cNvPr id="542" name="Google Shape;542;p60"/>
          <p:cNvSpPr txBox="1"/>
          <p:nvPr/>
        </p:nvSpPr>
        <p:spPr>
          <a:xfrm>
            <a:off x="524064" y="3929117"/>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61"/>
          <p:cNvSpPr txBox="1">
            <a:spLocks noGrp="1"/>
          </p:cNvSpPr>
          <p:nvPr>
            <p:ph type="body" idx="1"/>
          </p:nvPr>
        </p:nvSpPr>
        <p:spPr>
          <a:xfrm>
            <a:off x="2511008" y="738321"/>
            <a:ext cx="9557657" cy="4578396"/>
          </a:xfrm>
          <a:prstGeom prst="rect">
            <a:avLst/>
          </a:prstGeom>
          <a:noFill/>
          <a:ln>
            <a:noFill/>
          </a:ln>
        </p:spPr>
        <p:txBody>
          <a:bodyPr spcFirstLastPara="1" wrap="square" lIns="91425" tIns="45700" rIns="91425" bIns="45700" anchor="t" anchorCtr="0">
            <a:normAutofit/>
          </a:bodyPr>
          <a:lstStyle/>
          <a:p>
            <a:pPr marL="0" lvl="0" indent="0" algn="just" rtl="0">
              <a:lnSpc>
                <a:spcPct val="160000"/>
              </a:lnSpc>
              <a:spcBef>
                <a:spcPts val="0"/>
              </a:spcBef>
              <a:spcAft>
                <a:spcPts val="0"/>
              </a:spcAft>
              <a:buClr>
                <a:srgbClr val="000000"/>
              </a:buClr>
              <a:buSzPts val="2600"/>
              <a:buNone/>
            </a:pPr>
            <a:r>
              <a:rPr lang="en-US" sz="2600" b="1">
                <a:solidFill>
                  <a:srgbClr val="000000"/>
                </a:solidFill>
                <a:latin typeface="Calibri"/>
                <a:ea typeface="Calibri"/>
                <a:cs typeface="Calibri"/>
                <a:sym typeface="Calibri"/>
              </a:rPr>
              <a:t>Thread Pools:</a:t>
            </a:r>
            <a:r>
              <a:rPr lang="en-US" sz="2600">
                <a:solidFill>
                  <a:srgbClr val="000000"/>
                </a:solidFill>
                <a:latin typeface="Calibri"/>
                <a:ea typeface="Calibri"/>
                <a:cs typeface="Calibri"/>
                <a:sym typeface="Calibri"/>
              </a:rPr>
              <a:t> </a:t>
            </a:r>
            <a:endParaRPr sz="2600">
              <a:latin typeface="Calibri"/>
              <a:ea typeface="Calibri"/>
              <a:cs typeface="Calibri"/>
              <a:sym typeface="Calibri"/>
            </a:endParaRPr>
          </a:p>
          <a:p>
            <a:pPr marL="0" lvl="0" indent="0" algn="just" rtl="0">
              <a:lnSpc>
                <a:spcPct val="160000"/>
              </a:lnSpc>
              <a:spcBef>
                <a:spcPts val="1800"/>
              </a:spcBef>
              <a:spcAft>
                <a:spcPts val="0"/>
              </a:spcAft>
              <a:buClr>
                <a:srgbClr val="000000"/>
              </a:buClr>
              <a:buSzPts val="2600"/>
              <a:buNone/>
            </a:pPr>
            <a:r>
              <a:rPr lang="en-US" sz="2600">
                <a:solidFill>
                  <a:srgbClr val="000000"/>
                </a:solidFill>
                <a:latin typeface="Calibri"/>
                <a:ea typeface="Calibri"/>
                <a:cs typeface="Calibri"/>
                <a:sym typeface="Calibri"/>
              </a:rPr>
              <a:t>In a thread pool we create a number of threads at process startup and place them into a </a:t>
            </a:r>
            <a:r>
              <a:rPr lang="en-US" sz="2600" b="1">
                <a:solidFill>
                  <a:srgbClr val="000000"/>
                </a:solidFill>
                <a:latin typeface="Calibri"/>
                <a:ea typeface="Calibri"/>
                <a:cs typeface="Calibri"/>
                <a:sym typeface="Calibri"/>
              </a:rPr>
              <a:t>pool</a:t>
            </a:r>
            <a:r>
              <a:rPr lang="en-US" sz="2600" i="1">
                <a:solidFill>
                  <a:srgbClr val="000000"/>
                </a:solidFill>
                <a:latin typeface="Calibri"/>
                <a:ea typeface="Calibri"/>
                <a:cs typeface="Calibri"/>
                <a:sym typeface="Calibri"/>
              </a:rPr>
              <a:t>,</a:t>
            </a:r>
            <a:r>
              <a:rPr lang="en-US" sz="2600">
                <a:solidFill>
                  <a:srgbClr val="000000"/>
                </a:solidFill>
                <a:latin typeface="Calibri"/>
                <a:ea typeface="Calibri"/>
                <a:cs typeface="Calibri"/>
                <a:sym typeface="Calibri"/>
              </a:rPr>
              <a:t> where they sit and wait for work. When a server receives a request, it awakens a thread from this pool-if one is available and passes it the request for service. </a:t>
            </a:r>
            <a:endParaRPr sz="2600">
              <a:latin typeface="Calibri"/>
              <a:ea typeface="Calibri"/>
              <a:cs typeface="Calibri"/>
              <a:sym typeface="Calibri"/>
            </a:endParaRPr>
          </a:p>
          <a:p>
            <a:pPr marL="228600" lvl="0" indent="-50800" algn="l" rtl="0">
              <a:lnSpc>
                <a:spcPct val="90000"/>
              </a:lnSpc>
              <a:spcBef>
                <a:spcPts val="1015"/>
              </a:spcBef>
              <a:spcAft>
                <a:spcPts val="0"/>
              </a:spcAft>
              <a:buClr>
                <a:schemeClr val="dk1"/>
              </a:buClr>
              <a:buSzPts val="2800"/>
              <a:buNone/>
            </a:pPr>
            <a:endParaRPr/>
          </a:p>
        </p:txBody>
      </p:sp>
      <p:sp>
        <p:nvSpPr>
          <p:cNvPr id="548" name="Google Shape;548;p61"/>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2"/>
          <p:cNvSpPr txBox="1">
            <a:spLocks noGrp="1"/>
          </p:cNvSpPr>
          <p:nvPr>
            <p:ph type="body" idx="1"/>
          </p:nvPr>
        </p:nvSpPr>
        <p:spPr>
          <a:xfrm>
            <a:off x="2579913" y="0"/>
            <a:ext cx="9514115" cy="6858000"/>
          </a:xfrm>
          <a:prstGeom prst="rect">
            <a:avLst/>
          </a:prstGeom>
          <a:noFill/>
          <a:ln>
            <a:noFill/>
          </a:ln>
        </p:spPr>
        <p:txBody>
          <a:bodyPr spcFirstLastPara="1" wrap="square" lIns="91425" tIns="45700" rIns="91425" bIns="45700" anchor="t" anchorCtr="0">
            <a:normAutofit/>
          </a:bodyPr>
          <a:lstStyle/>
          <a:p>
            <a:pPr marL="0" lvl="0" indent="0" algn="just" rtl="0">
              <a:lnSpc>
                <a:spcPct val="16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Once the thread completes   its service, it returns to the pool and awaits more work. If the pool contains no available thread, the server waits until one becomes free. </a:t>
            </a:r>
            <a:endParaRPr sz="2400">
              <a:latin typeface="Calibri"/>
              <a:ea typeface="Calibri"/>
              <a:cs typeface="Calibri"/>
              <a:sym typeface="Calibri"/>
            </a:endParaRPr>
          </a:p>
          <a:p>
            <a:pPr marL="0" lvl="0" indent="0" algn="just" rtl="0">
              <a:lnSpc>
                <a:spcPct val="160000"/>
              </a:lnSpc>
              <a:spcBef>
                <a:spcPts val="1015"/>
              </a:spcBef>
              <a:spcAft>
                <a:spcPts val="0"/>
              </a:spcAft>
              <a:buClr>
                <a:srgbClr val="000000"/>
              </a:buClr>
              <a:buSzPts val="2400"/>
              <a:buNone/>
            </a:pPr>
            <a:r>
              <a:rPr lang="en-US" sz="2400">
                <a:solidFill>
                  <a:srgbClr val="000000"/>
                </a:solidFill>
                <a:latin typeface="Calibri"/>
                <a:ea typeface="Calibri"/>
                <a:cs typeface="Calibri"/>
                <a:sym typeface="Calibri"/>
              </a:rPr>
              <a:t> The advantages of thread pool are: </a:t>
            </a:r>
            <a:endParaRPr sz="2400">
              <a:latin typeface="Calibri"/>
              <a:ea typeface="Calibri"/>
              <a:cs typeface="Calibri"/>
              <a:sym typeface="Calibri"/>
            </a:endParaRPr>
          </a:p>
          <a:p>
            <a:pPr marL="0" lvl="0" indent="0" algn="just" rtl="0">
              <a:lnSpc>
                <a:spcPct val="160000"/>
              </a:lnSpc>
              <a:spcBef>
                <a:spcPts val="1800"/>
              </a:spcBef>
              <a:spcAft>
                <a:spcPts val="0"/>
              </a:spcAft>
              <a:buClr>
                <a:srgbClr val="000000"/>
              </a:buClr>
              <a:buSzPts val="2400"/>
              <a:buNone/>
            </a:pPr>
            <a:r>
              <a:rPr lang="en-US" sz="2400">
                <a:solidFill>
                  <a:srgbClr val="000000"/>
                </a:solidFill>
                <a:latin typeface="Calibri"/>
                <a:ea typeface="Calibri"/>
                <a:cs typeface="Calibri"/>
                <a:sym typeface="Calibri"/>
              </a:rPr>
              <a:t> </a:t>
            </a:r>
            <a:r>
              <a:rPr lang="en-US" sz="2400" u="none" strike="noStrike">
                <a:solidFill>
                  <a:srgbClr val="000000"/>
                </a:solidFill>
                <a:latin typeface="Calibri"/>
                <a:ea typeface="Calibri"/>
                <a:cs typeface="Calibri"/>
                <a:sym typeface="Calibri"/>
              </a:rPr>
              <a:t>Servicing a request with an existing thread is usually faster than waiting to create a thread. </a:t>
            </a:r>
            <a:endParaRPr sz="2400" u="none" strike="noStrike">
              <a:latin typeface="Calibri"/>
              <a:ea typeface="Calibri"/>
              <a:cs typeface="Calibri"/>
              <a:sym typeface="Calibri"/>
            </a:endParaRPr>
          </a:p>
          <a:p>
            <a:pPr marL="0" lvl="0" indent="0" algn="just" rtl="0">
              <a:lnSpc>
                <a:spcPct val="160000"/>
              </a:lnSpc>
              <a:spcBef>
                <a:spcPts val="1175"/>
              </a:spcBef>
              <a:spcAft>
                <a:spcPts val="0"/>
              </a:spcAft>
              <a:buClr>
                <a:srgbClr val="000000"/>
              </a:buClr>
              <a:buSzPts val="1200"/>
              <a:buNone/>
            </a:pPr>
            <a:r>
              <a:rPr lang="en-US" sz="2400" u="none" strike="noStrike">
                <a:solidFill>
                  <a:srgbClr val="000000"/>
                </a:solidFill>
                <a:latin typeface="Calibri"/>
                <a:ea typeface="Calibri"/>
                <a:cs typeface="Calibri"/>
                <a:sym typeface="Calibri"/>
              </a:rPr>
              <a:t>A thread pool limits the number of threads that exist at any one point. This is important on systems that cannot support a large number of concurrent threads. </a:t>
            </a:r>
            <a:endParaRPr sz="2400" u="none" strike="noStrike">
              <a:latin typeface="Calibri"/>
              <a:ea typeface="Calibri"/>
              <a:cs typeface="Calibri"/>
              <a:sym typeface="Calibri"/>
            </a:endParaRPr>
          </a:p>
          <a:p>
            <a:pPr marL="228600" lvl="0" indent="-50800" algn="l" rtl="0">
              <a:lnSpc>
                <a:spcPct val="90000"/>
              </a:lnSpc>
              <a:spcBef>
                <a:spcPts val="1015"/>
              </a:spcBef>
              <a:spcAft>
                <a:spcPts val="0"/>
              </a:spcAft>
              <a:buClr>
                <a:schemeClr val="dk1"/>
              </a:buClr>
              <a:buSzPts val="2800"/>
              <a:buNone/>
            </a:pPr>
            <a:endParaRPr/>
          </a:p>
        </p:txBody>
      </p:sp>
      <p:sp>
        <p:nvSpPr>
          <p:cNvPr id="554" name="Google Shape;554;p62"/>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3"/>
          <p:cNvSpPr txBox="1">
            <a:spLocks noGrp="1"/>
          </p:cNvSpPr>
          <p:nvPr>
            <p:ph type="body" idx="1"/>
          </p:nvPr>
        </p:nvSpPr>
        <p:spPr>
          <a:xfrm>
            <a:off x="2569030" y="108856"/>
            <a:ext cx="9416142" cy="667294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000"/>
              <a:buNone/>
            </a:pPr>
            <a:r>
              <a:rPr lang="en-US" sz="2000" b="1">
                <a:solidFill>
                  <a:srgbClr val="000000"/>
                </a:solidFill>
                <a:latin typeface="Calibri"/>
                <a:ea typeface="Calibri"/>
                <a:cs typeface="Calibri"/>
                <a:sym typeface="Calibri"/>
              </a:rPr>
              <a:t>Thread-Specific Data</a:t>
            </a:r>
            <a:endParaRPr sz="2000">
              <a:latin typeface="Calibri"/>
              <a:ea typeface="Calibri"/>
              <a:cs typeface="Calibri"/>
              <a:sym typeface="Calibri"/>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 </a:t>
            </a:r>
            <a:r>
              <a:rPr lang="en-US" sz="2200">
                <a:solidFill>
                  <a:srgbClr val="000000"/>
                </a:solidFill>
                <a:latin typeface="Calibri"/>
                <a:ea typeface="Calibri"/>
                <a:cs typeface="Calibri"/>
                <a:sym typeface="Calibri"/>
              </a:rPr>
              <a:t>Threads belonging to a process share the data of the process. This sharing of data provides one of the benefits of multithreaded programming. But in some circumstances, each thread need its own copy of certain data. We will call such data as </a:t>
            </a:r>
            <a:r>
              <a:rPr lang="en-US" sz="2200" b="1">
                <a:solidFill>
                  <a:srgbClr val="000000"/>
                </a:solidFill>
                <a:latin typeface="Calibri"/>
                <a:ea typeface="Calibri"/>
                <a:cs typeface="Calibri"/>
                <a:sym typeface="Calibri"/>
              </a:rPr>
              <a:t>thread–specific</a:t>
            </a:r>
            <a:r>
              <a:rPr lang="en-US" sz="2200">
                <a:solidFill>
                  <a:srgbClr val="000000"/>
                </a:solidFill>
                <a:latin typeface="Calibri"/>
                <a:ea typeface="Calibri"/>
                <a:cs typeface="Calibri"/>
                <a:sym typeface="Calibri"/>
              </a:rPr>
              <a:t> </a:t>
            </a:r>
            <a:r>
              <a:rPr lang="en-US" sz="2000" b="1">
                <a:solidFill>
                  <a:srgbClr val="000000"/>
                </a:solidFill>
                <a:latin typeface="Calibri"/>
                <a:ea typeface="Calibri"/>
                <a:cs typeface="Calibri"/>
                <a:sym typeface="Calibri"/>
              </a:rPr>
              <a:t>data.</a:t>
            </a:r>
            <a:r>
              <a:rPr lang="en-US" sz="2000">
                <a:solidFill>
                  <a:srgbClr val="000000"/>
                </a:solidFill>
                <a:latin typeface="Calibri"/>
                <a:ea typeface="Calibri"/>
                <a:cs typeface="Calibri"/>
                <a:sym typeface="Calibri"/>
              </a:rPr>
              <a:t>  </a:t>
            </a:r>
            <a:endParaRPr sz="2000">
              <a:latin typeface="Calibri"/>
              <a:ea typeface="Calibri"/>
              <a:cs typeface="Calibri"/>
              <a:sym typeface="Calibri"/>
            </a:endParaRPr>
          </a:p>
          <a:p>
            <a:pPr marL="0" lvl="0" indent="0" algn="just" rtl="0">
              <a:lnSpc>
                <a:spcPct val="160000"/>
              </a:lnSpc>
              <a:spcBef>
                <a:spcPts val="1800"/>
              </a:spcBef>
              <a:spcAft>
                <a:spcPts val="0"/>
              </a:spcAft>
              <a:buClr>
                <a:srgbClr val="000000"/>
              </a:buClr>
              <a:buSzPts val="2200"/>
              <a:buNone/>
            </a:pPr>
            <a:r>
              <a:rPr lang="en-US" sz="2200" b="1">
                <a:solidFill>
                  <a:srgbClr val="000000"/>
                </a:solidFill>
                <a:latin typeface="Calibri"/>
                <a:ea typeface="Calibri"/>
                <a:cs typeface="Calibri"/>
                <a:sym typeface="Calibri"/>
              </a:rPr>
              <a:t>Scheduler Activations:</a:t>
            </a:r>
            <a:r>
              <a:rPr lang="en-US" sz="2200">
                <a:solidFill>
                  <a:srgbClr val="000000"/>
                </a:solidFill>
                <a:latin typeface="Calibri"/>
                <a:ea typeface="Calibri"/>
                <a:cs typeface="Calibri"/>
                <a:sym typeface="Calibri"/>
              </a:rPr>
              <a:t> </a:t>
            </a:r>
            <a:endParaRPr/>
          </a:p>
          <a:p>
            <a:pPr marL="0" lvl="0" indent="0" algn="just" rtl="0">
              <a:lnSpc>
                <a:spcPct val="160000"/>
              </a:lnSpc>
              <a:spcBef>
                <a:spcPts val="1800"/>
              </a:spcBef>
              <a:spcAft>
                <a:spcPts val="0"/>
              </a:spcAft>
              <a:buClr>
                <a:srgbClr val="000000"/>
              </a:buClr>
              <a:buSzPts val="2200"/>
              <a:buNone/>
            </a:pPr>
            <a:r>
              <a:rPr lang="en-US" sz="2200">
                <a:solidFill>
                  <a:srgbClr val="000000"/>
                </a:solidFill>
                <a:latin typeface="Calibri"/>
                <a:ea typeface="Calibri"/>
                <a:cs typeface="Calibri"/>
                <a:sym typeface="Calibri"/>
              </a:rPr>
              <a:t>In </a:t>
            </a:r>
            <a:r>
              <a:rPr lang="en-US" sz="2200" i="1">
                <a:solidFill>
                  <a:srgbClr val="000000"/>
                </a:solidFill>
                <a:latin typeface="Calibri"/>
                <a:ea typeface="Calibri"/>
                <a:cs typeface="Calibri"/>
                <a:sym typeface="Calibri"/>
              </a:rPr>
              <a:t>many-to-many</a:t>
            </a:r>
            <a:r>
              <a:rPr lang="en-US" sz="2200">
                <a:solidFill>
                  <a:srgbClr val="000000"/>
                </a:solidFill>
                <a:latin typeface="Calibri"/>
                <a:ea typeface="Calibri"/>
                <a:cs typeface="Calibri"/>
                <a:sym typeface="Calibri"/>
              </a:rPr>
              <a:t> multithreaded model communication between the kernel and the thread library is required. This communication allows the number of kernel threads to be dynamically adjusted to help ensure the best performance. </a:t>
            </a:r>
            <a:endParaRPr/>
          </a:p>
        </p:txBody>
      </p:sp>
      <p:sp>
        <p:nvSpPr>
          <p:cNvPr id="560" name="Google Shape;560;p63"/>
          <p:cNvSpPr txBox="1"/>
          <p:nvPr/>
        </p:nvSpPr>
        <p:spPr>
          <a:xfrm>
            <a:off x="524064" y="387255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
        <p:nvSpPr>
          <p:cNvPr id="561" name="Google Shape;561;p63"/>
          <p:cNvSpPr txBox="1"/>
          <p:nvPr/>
        </p:nvSpPr>
        <p:spPr>
          <a:xfrm>
            <a:off x="524064" y="389140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pic>
        <p:nvPicPr>
          <p:cNvPr id="567" name="Google Shape;567;p64" descr="Flow of Program Processes in an Operating System"/>
          <p:cNvPicPr preferRelativeResize="0"/>
          <p:nvPr/>
        </p:nvPicPr>
        <p:blipFill rotWithShape="1">
          <a:blip r:embed="rId3">
            <a:alphaModFix/>
          </a:blip>
          <a:srcRect/>
          <a:stretch/>
        </p:blipFill>
        <p:spPr>
          <a:xfrm>
            <a:off x="10229850" y="1810371"/>
            <a:ext cx="1962150" cy="4886994"/>
          </a:xfrm>
          <a:prstGeom prst="rect">
            <a:avLst/>
          </a:prstGeom>
          <a:noFill/>
          <a:ln>
            <a:noFill/>
          </a:ln>
        </p:spPr>
      </p:pic>
      <p:sp>
        <p:nvSpPr>
          <p:cNvPr id="568" name="Google Shape;568;p64"/>
          <p:cNvSpPr txBox="1">
            <a:spLocks noGrp="1"/>
          </p:cNvSpPr>
          <p:nvPr>
            <p:ph type="body" idx="1"/>
          </p:nvPr>
        </p:nvSpPr>
        <p:spPr>
          <a:xfrm>
            <a:off x="2273566" y="218406"/>
            <a:ext cx="8095919" cy="6596742"/>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rgbClr val="000000"/>
              </a:buClr>
              <a:buSzPts val="2200"/>
              <a:buChar char="•"/>
            </a:pPr>
            <a:r>
              <a:rPr lang="en-US" sz="2200">
                <a:solidFill>
                  <a:srgbClr val="000000"/>
                </a:solidFill>
                <a:latin typeface="Calibri"/>
                <a:ea typeface="Calibri"/>
                <a:cs typeface="Calibri"/>
                <a:sym typeface="Calibri"/>
              </a:rPr>
              <a:t>Systems implementing many to-many model place an intermediate data structure between the user and kernel threads. This data structure-typically known as a </a:t>
            </a:r>
            <a:r>
              <a:rPr lang="en-US" sz="2200" b="1">
                <a:solidFill>
                  <a:srgbClr val="000000"/>
                </a:solidFill>
                <a:latin typeface="Calibri"/>
                <a:ea typeface="Calibri"/>
                <a:cs typeface="Calibri"/>
                <a:sym typeface="Calibri"/>
              </a:rPr>
              <a:t>lightweight process (LWP)</a:t>
            </a:r>
            <a:r>
              <a:rPr lang="en-US" sz="2200">
                <a:solidFill>
                  <a:srgbClr val="000000"/>
                </a:solidFill>
                <a:latin typeface="Calibri"/>
                <a:ea typeface="Calibri"/>
                <a:cs typeface="Calibri"/>
                <a:sym typeface="Calibri"/>
              </a:rPr>
              <a:t> is shown in Figure. </a:t>
            </a:r>
            <a:endParaRPr/>
          </a:p>
          <a:p>
            <a:pPr marL="228600" lvl="0" indent="-228600" algn="just" rtl="0">
              <a:lnSpc>
                <a:spcPct val="150000"/>
              </a:lnSpc>
              <a:spcBef>
                <a:spcPts val="1000"/>
              </a:spcBef>
              <a:spcAft>
                <a:spcPts val="0"/>
              </a:spcAft>
              <a:buClr>
                <a:srgbClr val="000000"/>
              </a:buClr>
              <a:buSzPts val="2200"/>
              <a:buChar char="•"/>
            </a:pPr>
            <a:r>
              <a:rPr lang="en-US" sz="2200">
                <a:solidFill>
                  <a:srgbClr val="000000"/>
                </a:solidFill>
                <a:latin typeface="Calibri"/>
                <a:ea typeface="Calibri"/>
                <a:cs typeface="Calibri"/>
                <a:sym typeface="Calibri"/>
              </a:rPr>
              <a:t>To the user-thread library, the LWP appears to be a </a:t>
            </a:r>
            <a:r>
              <a:rPr lang="en-US" sz="2200" b="1" i="1">
                <a:solidFill>
                  <a:srgbClr val="000000"/>
                </a:solidFill>
                <a:latin typeface="Calibri"/>
                <a:ea typeface="Calibri"/>
                <a:cs typeface="Calibri"/>
                <a:sym typeface="Calibri"/>
              </a:rPr>
              <a:t>virtual processor</a:t>
            </a:r>
            <a:r>
              <a:rPr lang="en-US" sz="2200">
                <a:solidFill>
                  <a:srgbClr val="000000"/>
                </a:solidFill>
                <a:latin typeface="Calibri"/>
                <a:ea typeface="Calibri"/>
                <a:cs typeface="Calibri"/>
                <a:sym typeface="Calibri"/>
              </a:rPr>
              <a:t> on which the application can schedule a user thread to run. Each LWP is attached to a kernel thread, and it is kernel threads that the operating system schedules to run on physical processors. </a:t>
            </a:r>
            <a:endParaRPr/>
          </a:p>
          <a:p>
            <a:pPr marL="228600" lvl="0" indent="-228600" algn="just" rtl="0">
              <a:lnSpc>
                <a:spcPct val="150000"/>
              </a:lnSpc>
              <a:spcBef>
                <a:spcPts val="1000"/>
              </a:spcBef>
              <a:spcAft>
                <a:spcPts val="0"/>
              </a:spcAft>
              <a:buClr>
                <a:srgbClr val="000000"/>
              </a:buClr>
              <a:buSzPts val="2200"/>
              <a:buChar char="•"/>
            </a:pPr>
            <a:r>
              <a:rPr lang="en-US" sz="2200">
                <a:solidFill>
                  <a:srgbClr val="000000"/>
                </a:solidFill>
                <a:latin typeface="Calibri"/>
                <a:ea typeface="Calibri"/>
                <a:cs typeface="Calibri"/>
                <a:sym typeface="Calibri"/>
              </a:rPr>
              <a:t>If a kernel thread blocks, such as while waiting for an I/0 operations to complete the LWP blocks as well. Up the chain, the user-level thread attached to the LWP also blocks. </a:t>
            </a:r>
            <a:endParaRPr sz="2200">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a:p>
        </p:txBody>
      </p:sp>
      <p:sp>
        <p:nvSpPr>
          <p:cNvPr id="569" name="Google Shape;569;p64"/>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65"/>
          <p:cNvSpPr txBox="1"/>
          <p:nvPr/>
        </p:nvSpPr>
        <p:spPr>
          <a:xfrm>
            <a:off x="3774622" y="2924312"/>
            <a:ext cx="6106884" cy="407035"/>
          </a:xfrm>
          <a:prstGeom prst="rect">
            <a:avLst/>
          </a:prstGeom>
          <a:noFill/>
          <a:ln>
            <a:noFill/>
          </a:ln>
        </p:spPr>
        <p:txBody>
          <a:bodyPr spcFirstLastPara="1" wrap="square" lIns="91425" tIns="45700" rIns="91425" bIns="45700" anchor="t" anchorCtr="0">
            <a:spAutoFit/>
          </a:bodyPr>
          <a:lstStyle/>
          <a:p>
            <a:pPr marL="0" marR="1682115" lvl="0" indent="0" algn="r" rtl="0">
              <a:lnSpc>
                <a:spcPct val="107000"/>
              </a:lnSpc>
              <a:spcBef>
                <a:spcPts val="0"/>
              </a:spcBef>
              <a:spcAft>
                <a:spcPts val="0"/>
              </a:spcAft>
              <a:buNone/>
            </a:pPr>
            <a:r>
              <a:rPr lang="en-US" sz="2000" b="1">
                <a:solidFill>
                  <a:srgbClr val="000000"/>
                </a:solidFill>
                <a:latin typeface="Calibri"/>
                <a:ea typeface="Calibri"/>
                <a:cs typeface="Calibri"/>
                <a:sym typeface="Calibri"/>
              </a:rPr>
              <a:t>Light Weight Process (LWP)</a:t>
            </a:r>
            <a:endParaRPr sz="2000">
              <a:solidFill>
                <a:schemeClr val="dk1"/>
              </a:solidFill>
              <a:latin typeface="Calibri"/>
              <a:ea typeface="Calibri"/>
              <a:cs typeface="Calibri"/>
              <a:sym typeface="Calibri"/>
            </a:endParaRPr>
          </a:p>
        </p:txBody>
      </p:sp>
      <p:sp>
        <p:nvSpPr>
          <p:cNvPr id="576" name="Google Shape;576;p65"/>
          <p:cNvSpPr txBox="1"/>
          <p:nvPr/>
        </p:nvSpPr>
        <p:spPr>
          <a:xfrm>
            <a:off x="2754086" y="3429000"/>
            <a:ext cx="9394372" cy="114307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000000"/>
                </a:solidFill>
                <a:latin typeface="Calibri"/>
                <a:ea typeface="Calibri"/>
                <a:cs typeface="Calibri"/>
                <a:sym typeface="Calibri"/>
              </a:rPr>
              <a:t>Communication between the user-thread library and the kernel is known as scheduler activation. </a:t>
            </a:r>
            <a:r>
              <a:rPr lang="en-US" sz="2400" b="1">
                <a:solidFill>
                  <a:srgbClr val="000000"/>
                </a:solidFill>
                <a:latin typeface="Calibri"/>
                <a:ea typeface="Calibri"/>
                <a:cs typeface="Calibri"/>
                <a:sym typeface="Calibri"/>
              </a:rPr>
              <a:t>Scheduler activation </a:t>
            </a:r>
            <a:r>
              <a:rPr lang="en-US" sz="2400">
                <a:solidFill>
                  <a:srgbClr val="000000"/>
                </a:solidFill>
                <a:latin typeface="Calibri"/>
                <a:ea typeface="Calibri"/>
                <a:cs typeface="Calibri"/>
                <a:sym typeface="Calibri"/>
              </a:rPr>
              <a:t>works as follows:  </a:t>
            </a:r>
            <a:endParaRPr sz="2400">
              <a:solidFill>
                <a:srgbClr val="000000"/>
              </a:solidFill>
              <a:latin typeface="Calibri"/>
              <a:ea typeface="Calibri"/>
              <a:cs typeface="Calibri"/>
              <a:sym typeface="Calibri"/>
            </a:endParaRPr>
          </a:p>
        </p:txBody>
      </p:sp>
      <p:sp>
        <p:nvSpPr>
          <p:cNvPr id="577" name="Google Shape;577;p65"/>
          <p:cNvSpPr txBox="1"/>
          <p:nvPr/>
        </p:nvSpPr>
        <p:spPr>
          <a:xfrm>
            <a:off x="524064" y="391026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a:solidFill>
                  <a:srgbClr val="FFFFFF"/>
                </a:solidFill>
                <a:latin typeface="Times New Roman"/>
                <a:ea typeface="Times New Roman"/>
                <a:cs typeface="Times New Roman"/>
                <a:sym typeface="Times New Roman"/>
              </a:rPr>
              <a:t>Dept. of </a:t>
            </a:r>
            <a:r>
              <a:rPr lang="en-US">
                <a:solidFill>
                  <a:srgbClr val="FFFFFF"/>
                </a:solidFill>
                <a:latin typeface="Times New Roman"/>
                <a:ea typeface="Times New Roman"/>
                <a:cs typeface="Times New Roman"/>
                <a:sym typeface="Times New Roman"/>
              </a:rPr>
              <a:t>AI&amp;ML</a:t>
            </a:r>
            <a:endParaRPr sz="1400" i="0" u="none" strike="noStrike" cap="none">
              <a:solidFill>
                <a:srgbClr val="FFFFFF"/>
              </a:solidFill>
              <a:latin typeface="Times New Roman"/>
              <a:ea typeface="Times New Roman"/>
              <a:cs typeface="Times New Roman"/>
              <a:sym typeface="Times New Roman"/>
            </a:endParaRPr>
          </a:p>
        </p:txBody>
      </p:sp>
      <p:pic>
        <p:nvPicPr>
          <p:cNvPr id="578" name="Google Shape;578;p65" descr="kernel thread in Linux ..."/>
          <p:cNvPicPr preferRelativeResize="0"/>
          <p:nvPr/>
        </p:nvPicPr>
        <p:blipFill rotWithShape="1">
          <a:blip r:embed="rId3">
            <a:alphaModFix/>
          </a:blip>
          <a:srcRect/>
          <a:stretch/>
        </p:blipFill>
        <p:spPr>
          <a:xfrm>
            <a:off x="5227359" y="131975"/>
            <a:ext cx="3181350" cy="2792337"/>
          </a:xfrm>
          <a:prstGeom prst="rect">
            <a:avLst/>
          </a:prstGeom>
          <a:noFill/>
          <a:ln>
            <a:noFill/>
          </a:ln>
        </p:spPr>
      </p:pic>
      <p:sp>
        <p:nvSpPr>
          <p:cNvPr id="579" name="Google Shape;579;p65"/>
          <p:cNvSpPr txBox="1">
            <a:spLocks noGrp="1"/>
          </p:cNvSpPr>
          <p:nvPr>
            <p:ph type="body" idx="1"/>
          </p:nvPr>
        </p:nvSpPr>
        <p:spPr>
          <a:xfrm>
            <a:off x="2732315" y="4572070"/>
            <a:ext cx="9437914" cy="2285930"/>
          </a:xfrm>
          <a:prstGeom prst="rect">
            <a:avLst/>
          </a:prstGeom>
          <a:noFill/>
          <a:ln>
            <a:noFill/>
          </a:ln>
        </p:spPr>
        <p:txBody>
          <a:bodyPr spcFirstLastPara="1" wrap="square" lIns="91425" tIns="45700" rIns="91425" bIns="45700" anchor="t" anchorCtr="0">
            <a:normAutofit/>
          </a:bodyPr>
          <a:lstStyle/>
          <a:p>
            <a:pPr marL="0" lvl="0" indent="0" algn="just" rtl="0">
              <a:lnSpc>
                <a:spcPct val="16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The kernel must inform an application about certain events. This procedure is known as an </a:t>
            </a:r>
            <a:r>
              <a:rPr lang="en-US" sz="2400" b="1">
                <a:solidFill>
                  <a:srgbClr val="000000"/>
                </a:solidFill>
                <a:latin typeface="Calibri"/>
                <a:ea typeface="Calibri"/>
                <a:cs typeface="Calibri"/>
                <a:sym typeface="Calibri"/>
              </a:rPr>
              <a:t>Upcalls</a:t>
            </a:r>
            <a:r>
              <a:rPr lang="en-US" sz="2400">
                <a:solidFill>
                  <a:srgbClr val="000000"/>
                </a:solidFill>
                <a:latin typeface="Calibri"/>
                <a:ea typeface="Calibri"/>
                <a:cs typeface="Calibri"/>
                <a:sym typeface="Calibri"/>
              </a:rPr>
              <a:t> are handled by the thread library with an </a:t>
            </a:r>
            <a:r>
              <a:rPr lang="en-US" sz="2400" b="1">
                <a:solidFill>
                  <a:srgbClr val="000000"/>
                </a:solidFill>
                <a:latin typeface="Calibri"/>
                <a:ea typeface="Calibri"/>
                <a:cs typeface="Calibri"/>
                <a:sym typeface="Calibri"/>
              </a:rPr>
              <a:t>Upcall handler</a:t>
            </a:r>
            <a:r>
              <a:rPr lang="en-US" sz="2400">
                <a:solidFill>
                  <a:srgbClr val="000000"/>
                </a:solidFill>
                <a:latin typeface="Calibri"/>
                <a:ea typeface="Calibri"/>
                <a:cs typeface="Calibri"/>
                <a:sym typeface="Calibri"/>
              </a:rPr>
              <a:t> and upcall handlers must run on a virtual processor. </a:t>
            </a:r>
            <a:endParaRPr sz="2000">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0236-01F3-023C-3DFD-5CB7218241D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CECF217-219F-6B5C-E972-287E05DCB26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8186676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66"/>
          <p:cNvSpPr txBox="1">
            <a:spLocks noGrp="1"/>
          </p:cNvSpPr>
          <p:nvPr>
            <p:ph type="body" idx="1"/>
          </p:nvPr>
        </p:nvSpPr>
        <p:spPr>
          <a:xfrm>
            <a:off x="2547257" y="185057"/>
            <a:ext cx="9481457" cy="6477000"/>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Process Synchronization</a:t>
            </a:r>
            <a:endParaRPr sz="2400" b="1">
              <a:solidFill>
                <a:srgbClr val="FF0000"/>
              </a:solidFill>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 Co-operating process is one that can affect or be affected by other processes executing.</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 Co-operating processes can either</a:t>
            </a:r>
            <a:endParaRPr sz="2000">
              <a:latin typeface="Calibri"/>
              <a:ea typeface="Calibri"/>
              <a:cs typeface="Calibri"/>
              <a:sym typeface="Calibri"/>
            </a:endParaRPr>
          </a:p>
          <a:p>
            <a:pPr marL="571500" lvl="0" indent="-342900" algn="just" rtl="0">
              <a:lnSpc>
                <a:spcPct val="150000"/>
              </a:lnSpc>
              <a:spcBef>
                <a:spcPts val="1800"/>
              </a:spcBef>
              <a:spcAft>
                <a:spcPts val="0"/>
              </a:spcAft>
              <a:buClr>
                <a:schemeClr val="dk1"/>
              </a:buClr>
              <a:buSzPts val="2000"/>
              <a:buFont typeface="Noto Sans Symbols"/>
              <a:buChar char="✔"/>
            </a:pPr>
            <a:r>
              <a:rPr lang="en-US" sz="2000">
                <a:latin typeface="Calibri"/>
                <a:ea typeface="Calibri"/>
                <a:cs typeface="Calibri"/>
                <a:sym typeface="Calibri"/>
              </a:rPr>
              <a:t>directly share a logical address-space (i.e. code &amp; data) </a:t>
            </a:r>
            <a:endParaRPr/>
          </a:p>
          <a:p>
            <a:pPr marL="571500" lvl="0" indent="-342900" algn="just" rtl="0">
              <a:lnSpc>
                <a:spcPct val="150000"/>
              </a:lnSpc>
              <a:spcBef>
                <a:spcPts val="1800"/>
              </a:spcBef>
              <a:spcAft>
                <a:spcPts val="0"/>
              </a:spcAft>
              <a:buClr>
                <a:schemeClr val="dk1"/>
              </a:buClr>
              <a:buSzPts val="2000"/>
              <a:buFont typeface="Noto Sans Symbols"/>
              <a:buChar char="✔"/>
            </a:pPr>
            <a:r>
              <a:rPr lang="en-US" sz="2000">
                <a:latin typeface="Calibri"/>
                <a:ea typeface="Calibri"/>
                <a:cs typeface="Calibri"/>
                <a:sym typeface="Calibri"/>
              </a:rPr>
              <a:t>Or be allowed to share data only through files or messages.</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 Concurrent-access to shared-data may result in data-inconsistency.</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To maintain data-consistency,  the orderly execution of co-operating processes is necessary. </a:t>
            </a:r>
            <a:endParaRPr/>
          </a:p>
          <a:p>
            <a:pPr marL="0" lvl="0" indent="0" algn="just" rtl="0">
              <a:lnSpc>
                <a:spcPct val="150000"/>
              </a:lnSpc>
              <a:spcBef>
                <a:spcPts val="1800"/>
              </a:spcBef>
              <a:spcAft>
                <a:spcPts val="0"/>
              </a:spcAft>
              <a:buClr>
                <a:schemeClr val="dk1"/>
              </a:buClr>
              <a:buSzPts val="2000"/>
              <a:buNone/>
            </a:pP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endParaRPr sz="2000">
              <a:latin typeface="Calibri"/>
              <a:ea typeface="Calibri"/>
              <a:cs typeface="Calibri"/>
              <a:sym typeface="Calibri"/>
            </a:endParaRPr>
          </a:p>
          <a:p>
            <a:pPr marL="228600" lvl="0" indent="-101600" algn="l" rtl="0">
              <a:lnSpc>
                <a:spcPct val="90000"/>
              </a:lnSpc>
              <a:spcBef>
                <a:spcPts val="18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67"/>
          <p:cNvSpPr txBox="1">
            <a:spLocks noGrp="1"/>
          </p:cNvSpPr>
          <p:nvPr>
            <p:ph type="body" idx="1"/>
          </p:nvPr>
        </p:nvSpPr>
        <p:spPr>
          <a:xfrm>
            <a:off x="2612571" y="141514"/>
            <a:ext cx="9427029" cy="6498772"/>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lnSpc>
                <a:spcPct val="150000"/>
              </a:lnSpc>
              <a:spcBef>
                <a:spcPts val="0"/>
              </a:spcBef>
              <a:spcAft>
                <a:spcPts val="0"/>
              </a:spcAft>
              <a:buClr>
                <a:srgbClr val="FF0000"/>
              </a:buClr>
              <a:buSzPct val="100000"/>
              <a:buNone/>
            </a:pPr>
            <a:r>
              <a:rPr lang="en-US" sz="2400" b="1">
                <a:solidFill>
                  <a:srgbClr val="FF0000"/>
                </a:solidFill>
                <a:latin typeface="Calibri"/>
                <a:ea typeface="Calibri"/>
                <a:cs typeface="Calibri"/>
                <a:sym typeface="Calibri"/>
              </a:rPr>
              <a:t>Producer consumer Problem</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A producer process produces information that is consumed by a consumer process.</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For example, a complier may produce assembly code, which is consumed by an assembler. The assembler ,in turn , may produce object modules, which are consumed by the loader.</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One solution  to the producer – consumer problem uses shared memory.</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To allow produces and consumer processes to run concurrently, we must have available a buffer of items that can be filled by the producer and emptied by the consumer.</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This buffer will reside in a region of memory that is shared by  the producer and consumer processes.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8"/>
          <p:cNvSpPr txBox="1">
            <a:spLocks noGrp="1"/>
          </p:cNvSpPr>
          <p:nvPr>
            <p:ph type="body" idx="1"/>
          </p:nvPr>
        </p:nvSpPr>
        <p:spPr>
          <a:xfrm>
            <a:off x="2579915" y="163286"/>
            <a:ext cx="9514114" cy="6466114"/>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70000"/>
              </a:lnSpc>
              <a:spcBef>
                <a:spcPts val="0"/>
              </a:spcBef>
              <a:spcAft>
                <a:spcPts val="0"/>
              </a:spcAft>
              <a:buClr>
                <a:schemeClr val="dk1"/>
              </a:buClr>
              <a:buSzPct val="100000"/>
              <a:buChar char="•"/>
            </a:pPr>
            <a:r>
              <a:rPr lang="en-US" sz="2400">
                <a:latin typeface="Calibri"/>
                <a:ea typeface="Calibri"/>
                <a:cs typeface="Calibri"/>
                <a:sym typeface="Calibri"/>
              </a:rPr>
              <a:t>A producer can produce one item while the consumer is consuming another item.</a:t>
            </a:r>
            <a:endParaRPr/>
          </a:p>
          <a:p>
            <a:pPr marL="228600" lvl="0" indent="-228600" algn="just" rtl="0">
              <a:lnSpc>
                <a:spcPct val="170000"/>
              </a:lnSpc>
              <a:spcBef>
                <a:spcPts val="1800"/>
              </a:spcBef>
              <a:spcAft>
                <a:spcPts val="0"/>
              </a:spcAft>
              <a:buClr>
                <a:schemeClr val="dk1"/>
              </a:buClr>
              <a:buSzPct val="100000"/>
              <a:buChar char="•"/>
            </a:pPr>
            <a:r>
              <a:rPr lang="en-US" sz="2400">
                <a:latin typeface="Calibri"/>
                <a:ea typeface="Calibri"/>
                <a:cs typeface="Calibri"/>
                <a:sym typeface="Calibri"/>
              </a:rPr>
              <a:t>The producer and consumer must be synchronized, so that the consumer does not try to consume an item that has not yet been produced.</a:t>
            </a:r>
            <a:endParaRPr/>
          </a:p>
          <a:p>
            <a:pPr marL="228600" lvl="0" indent="-228600" algn="just" rtl="0">
              <a:lnSpc>
                <a:spcPct val="170000"/>
              </a:lnSpc>
              <a:spcBef>
                <a:spcPts val="1800"/>
              </a:spcBef>
              <a:spcAft>
                <a:spcPts val="0"/>
              </a:spcAft>
              <a:buClr>
                <a:schemeClr val="dk1"/>
              </a:buClr>
              <a:buSzPct val="100000"/>
              <a:buChar char="•"/>
            </a:pPr>
            <a:r>
              <a:rPr lang="en-US" sz="2400">
                <a:latin typeface="Calibri"/>
                <a:ea typeface="Calibri"/>
                <a:cs typeface="Calibri"/>
                <a:sym typeface="Calibri"/>
              </a:rPr>
              <a:t>Two types of buffers can be used. </a:t>
            </a:r>
            <a:endParaRPr/>
          </a:p>
          <a:p>
            <a:pPr marL="228600" lvl="0" indent="-228600" algn="just" rtl="0">
              <a:lnSpc>
                <a:spcPct val="170000"/>
              </a:lnSpc>
              <a:spcBef>
                <a:spcPts val="1800"/>
              </a:spcBef>
              <a:spcAft>
                <a:spcPts val="0"/>
              </a:spcAft>
              <a:buClr>
                <a:schemeClr val="dk1"/>
              </a:buClr>
              <a:buSzPct val="100000"/>
              <a:buFont typeface="Noto Sans Symbols"/>
              <a:buChar char="✔"/>
            </a:pPr>
            <a:r>
              <a:rPr lang="en-US" sz="2400">
                <a:latin typeface="Calibri"/>
                <a:ea typeface="Calibri"/>
                <a:cs typeface="Calibri"/>
                <a:sym typeface="Calibri"/>
              </a:rPr>
              <a:t>The unbounded buffer </a:t>
            </a:r>
            <a:r>
              <a:rPr lang="en-US" sz="2400">
                <a:solidFill>
                  <a:srgbClr val="0000FF"/>
                </a:solidFill>
                <a:latin typeface="Calibri"/>
                <a:ea typeface="Calibri"/>
                <a:cs typeface="Calibri"/>
                <a:sym typeface="Calibri"/>
              </a:rPr>
              <a:t>places no practical limit on the size of the buffer. The consumer may have to wait for new items, but the producer can always produce new items. </a:t>
            </a:r>
            <a:endParaRPr/>
          </a:p>
          <a:p>
            <a:pPr marL="228600" lvl="0" indent="-228600" algn="just" rtl="0">
              <a:lnSpc>
                <a:spcPct val="170000"/>
              </a:lnSpc>
              <a:spcBef>
                <a:spcPts val="1800"/>
              </a:spcBef>
              <a:spcAft>
                <a:spcPts val="0"/>
              </a:spcAft>
              <a:buClr>
                <a:schemeClr val="dk1"/>
              </a:buClr>
              <a:buSzPct val="100000"/>
              <a:buFont typeface="Noto Sans Symbols"/>
              <a:buChar char="✔"/>
            </a:pPr>
            <a:r>
              <a:rPr lang="en-US" sz="2400">
                <a:latin typeface="Calibri"/>
                <a:ea typeface="Calibri"/>
                <a:cs typeface="Calibri"/>
                <a:sym typeface="Calibri"/>
              </a:rPr>
              <a:t>The bounded buffer </a:t>
            </a:r>
            <a:r>
              <a:rPr lang="en-US" sz="2400">
                <a:solidFill>
                  <a:srgbClr val="0000FF"/>
                </a:solidFill>
                <a:latin typeface="Calibri"/>
                <a:ea typeface="Calibri"/>
                <a:cs typeface="Calibri"/>
                <a:sym typeface="Calibri"/>
              </a:rPr>
              <a:t>assumes a fixed buffer size. In this case, the consumer must wait if the buffer is empty, and the producer must wait if the buffer is full.</a:t>
            </a:r>
            <a:endParaRPr sz="2400">
              <a:solidFill>
                <a:srgbClr val="0000FF"/>
              </a:solidFill>
              <a:latin typeface="Calibri"/>
              <a:ea typeface="Calibri"/>
              <a:cs typeface="Calibri"/>
              <a:sym typeface="Calibri"/>
            </a:endParaRPr>
          </a:p>
          <a:p>
            <a:pPr marL="228600" lvl="0" indent="-64135" algn="l" rtl="0">
              <a:lnSpc>
                <a:spcPct val="90000"/>
              </a:lnSpc>
              <a:spcBef>
                <a:spcPts val="1800"/>
              </a:spcBef>
              <a:spcAft>
                <a:spcPts val="0"/>
              </a:spcAft>
              <a:buClr>
                <a:schemeClr val="dk1"/>
              </a:buClr>
              <a:buSzPct val="100000"/>
              <a:buNone/>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69"/>
          <p:cNvSpPr txBox="1">
            <a:spLocks noGrp="1"/>
          </p:cNvSpPr>
          <p:nvPr>
            <p:ph type="body" idx="1"/>
          </p:nvPr>
        </p:nvSpPr>
        <p:spPr>
          <a:xfrm>
            <a:off x="2547257" y="185056"/>
            <a:ext cx="9481457" cy="667294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latin typeface="Calibri"/>
                <a:ea typeface="Calibri"/>
                <a:cs typeface="Calibri"/>
                <a:sym typeface="Calibri"/>
              </a:rPr>
              <a:t>Counter variable = 0</a:t>
            </a:r>
            <a:endParaRPr/>
          </a:p>
          <a:p>
            <a:pPr marL="0" lvl="0" indent="0" algn="l" rtl="0">
              <a:lnSpc>
                <a:spcPct val="90000"/>
              </a:lnSpc>
              <a:spcBef>
                <a:spcPts val="1000"/>
              </a:spcBef>
              <a:spcAft>
                <a:spcPts val="0"/>
              </a:spcAft>
              <a:buClr>
                <a:schemeClr val="dk1"/>
              </a:buClr>
              <a:buSzPts val="2400"/>
              <a:buNone/>
            </a:pPr>
            <a:r>
              <a:rPr lang="en-US" sz="2400">
                <a:latin typeface="Calibri"/>
                <a:ea typeface="Calibri"/>
                <a:cs typeface="Calibri"/>
                <a:sym typeface="Calibri"/>
              </a:rPr>
              <a:t>Counter is incremented every time we add a new item to the buffer. </a:t>
            </a:r>
            <a:r>
              <a:rPr lang="en-US" sz="2400">
                <a:solidFill>
                  <a:srgbClr val="0000FF"/>
                </a:solidFill>
                <a:latin typeface="Calibri"/>
                <a:ea typeface="Calibri"/>
                <a:cs typeface="Calibri"/>
                <a:sym typeface="Calibri"/>
              </a:rPr>
              <a:t>Counter++</a:t>
            </a:r>
            <a:endParaRPr/>
          </a:p>
          <a:p>
            <a:pPr marL="0" lvl="0" indent="0" algn="l" rtl="0">
              <a:lnSpc>
                <a:spcPct val="90000"/>
              </a:lnSpc>
              <a:spcBef>
                <a:spcPts val="1000"/>
              </a:spcBef>
              <a:spcAft>
                <a:spcPts val="0"/>
              </a:spcAft>
              <a:buClr>
                <a:schemeClr val="dk1"/>
              </a:buClr>
              <a:buSzPts val="2400"/>
              <a:buNone/>
            </a:pPr>
            <a:r>
              <a:rPr lang="en-US" sz="2400">
                <a:latin typeface="Calibri"/>
                <a:ea typeface="Calibri"/>
                <a:cs typeface="Calibri"/>
                <a:sym typeface="Calibri"/>
              </a:rPr>
              <a:t>Counter is decremented every time we remove one item from the buffer. </a:t>
            </a:r>
            <a:r>
              <a:rPr lang="en-US" sz="2400">
                <a:solidFill>
                  <a:srgbClr val="0000FF"/>
                </a:solidFill>
                <a:latin typeface="Calibri"/>
                <a:ea typeface="Calibri"/>
                <a:cs typeface="Calibri"/>
                <a:sym typeface="Calibri"/>
              </a:rPr>
              <a:t>Counter—</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Ex: Suppose that the value of the variable counter is currently 5 </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The producer and consumer processes execute the statements "counter++" and "counter--" concurrently. </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Following the execution of these two statements, the value of the variable counter may be 4, 5, or 6! </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The only correct result, though, is counter == 5, which is generated correctly if the producer and consumer execute separately.</a:t>
            </a:r>
            <a:endParaRPr sz="2400">
              <a:latin typeface="Calibri"/>
              <a:ea typeface="Calibri"/>
              <a:cs typeface="Calibri"/>
              <a:sym typeface="Calibri"/>
            </a:endParaRPr>
          </a:p>
          <a:p>
            <a:pPr marL="0" lvl="0" indent="0" algn="l" rtl="0">
              <a:lnSpc>
                <a:spcPct val="90000"/>
              </a:lnSpc>
              <a:spcBef>
                <a:spcPts val="1000"/>
              </a:spcBef>
              <a:spcAft>
                <a:spcPts val="0"/>
              </a:spcAft>
              <a:buClr>
                <a:schemeClr val="dk1"/>
              </a:buClr>
              <a:buSzPts val="2400"/>
              <a:buNone/>
            </a:pPr>
            <a:endParaRPr sz="2400">
              <a:latin typeface="Calibri"/>
              <a:ea typeface="Calibri"/>
              <a:cs typeface="Calibri"/>
              <a:sym typeface="Calibri"/>
            </a:endParaRPr>
          </a:p>
          <a:p>
            <a:pPr marL="228600" lvl="0" indent="-10160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70"/>
          <p:cNvSpPr txBox="1">
            <a:spLocks noGrp="1"/>
          </p:cNvSpPr>
          <p:nvPr>
            <p:ph type="body" idx="1"/>
          </p:nvPr>
        </p:nvSpPr>
        <p:spPr>
          <a:xfrm>
            <a:off x="2569028" y="97971"/>
            <a:ext cx="9481457" cy="666205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a:latin typeface="Calibri"/>
                <a:ea typeface="Calibri"/>
                <a:cs typeface="Calibri"/>
                <a:sym typeface="Calibri"/>
              </a:rPr>
              <a:t>“</a:t>
            </a:r>
            <a:r>
              <a:rPr lang="en-US" sz="2000">
                <a:solidFill>
                  <a:srgbClr val="0000FF"/>
                </a:solidFill>
                <a:latin typeface="Calibri"/>
                <a:ea typeface="Calibri"/>
                <a:cs typeface="Calibri"/>
                <a:sym typeface="Calibri"/>
              </a:rPr>
              <a:t>Counter++  may be implemented in machine language as:</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register</a:t>
            </a:r>
            <a:r>
              <a:rPr lang="en-US" sz="2000" baseline="-25000">
                <a:latin typeface="Calibri"/>
                <a:ea typeface="Calibri"/>
                <a:cs typeface="Calibri"/>
                <a:sym typeface="Calibri"/>
              </a:rPr>
              <a:t>1</a:t>
            </a:r>
            <a:r>
              <a:rPr lang="en-US" sz="2000">
                <a:latin typeface="Calibri"/>
                <a:ea typeface="Calibri"/>
                <a:cs typeface="Calibri"/>
                <a:sym typeface="Calibri"/>
              </a:rPr>
              <a:t> = counter</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register</a:t>
            </a:r>
            <a:r>
              <a:rPr lang="en-US" sz="2000" baseline="-25000">
                <a:latin typeface="Calibri"/>
                <a:ea typeface="Calibri"/>
                <a:cs typeface="Calibri"/>
                <a:sym typeface="Calibri"/>
              </a:rPr>
              <a:t>1</a:t>
            </a:r>
            <a:r>
              <a:rPr lang="en-US" sz="2000">
                <a:latin typeface="Calibri"/>
                <a:ea typeface="Calibri"/>
                <a:cs typeface="Calibri"/>
                <a:sym typeface="Calibri"/>
              </a:rPr>
              <a:t> = register</a:t>
            </a:r>
            <a:r>
              <a:rPr lang="en-US" sz="2000" baseline="-25000">
                <a:latin typeface="Calibri"/>
                <a:ea typeface="Calibri"/>
                <a:cs typeface="Calibri"/>
                <a:sym typeface="Calibri"/>
              </a:rPr>
              <a:t>1</a:t>
            </a:r>
            <a:r>
              <a:rPr lang="en-US" sz="2000">
                <a:latin typeface="Calibri"/>
                <a:ea typeface="Calibri"/>
                <a:cs typeface="Calibri"/>
                <a:sym typeface="Calibri"/>
              </a:rPr>
              <a:t> + 1</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counter = register</a:t>
            </a:r>
            <a:r>
              <a:rPr lang="en-US" sz="2000" baseline="-25000">
                <a:latin typeface="Calibri"/>
                <a:ea typeface="Calibri"/>
                <a:cs typeface="Calibri"/>
                <a:sym typeface="Calibri"/>
              </a:rPr>
              <a:t>1</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a:t>
            </a:r>
            <a:r>
              <a:rPr lang="en-US" sz="2000">
                <a:solidFill>
                  <a:srgbClr val="0000FF"/>
                </a:solidFill>
                <a:latin typeface="Calibri"/>
                <a:ea typeface="Calibri"/>
                <a:cs typeface="Calibri"/>
                <a:sym typeface="Calibri"/>
              </a:rPr>
              <a:t>Counter--  may be implemented in machine language as:</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register</a:t>
            </a:r>
            <a:r>
              <a:rPr lang="en-US" sz="2000" baseline="-25000">
                <a:latin typeface="Calibri"/>
                <a:ea typeface="Calibri"/>
                <a:cs typeface="Calibri"/>
                <a:sym typeface="Calibri"/>
              </a:rPr>
              <a:t>2</a:t>
            </a:r>
            <a:r>
              <a:rPr lang="en-US" sz="2000">
                <a:latin typeface="Calibri"/>
                <a:ea typeface="Calibri"/>
                <a:cs typeface="Calibri"/>
                <a:sym typeface="Calibri"/>
              </a:rPr>
              <a:t> = counter</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register</a:t>
            </a:r>
            <a:r>
              <a:rPr lang="en-US" sz="2000" baseline="-25000">
                <a:latin typeface="Calibri"/>
                <a:ea typeface="Calibri"/>
                <a:cs typeface="Calibri"/>
                <a:sym typeface="Calibri"/>
              </a:rPr>
              <a:t>2  </a:t>
            </a:r>
            <a:r>
              <a:rPr lang="en-US" sz="2000">
                <a:latin typeface="Calibri"/>
                <a:ea typeface="Calibri"/>
                <a:cs typeface="Calibri"/>
                <a:sym typeface="Calibri"/>
              </a:rPr>
              <a:t>= register</a:t>
            </a:r>
            <a:r>
              <a:rPr lang="en-US" sz="2000" baseline="-25000">
                <a:latin typeface="Calibri"/>
                <a:ea typeface="Calibri"/>
                <a:cs typeface="Calibri"/>
                <a:sym typeface="Calibri"/>
              </a:rPr>
              <a:t>2</a:t>
            </a:r>
            <a:r>
              <a:rPr lang="en-US" sz="2000">
                <a:latin typeface="Calibri"/>
                <a:ea typeface="Calibri"/>
                <a:cs typeface="Calibri"/>
                <a:sym typeface="Calibri"/>
              </a:rPr>
              <a:t> - 1</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counter = register</a:t>
            </a:r>
            <a:r>
              <a:rPr lang="en-US" sz="2000" baseline="-25000">
                <a:latin typeface="Calibri"/>
                <a:ea typeface="Calibri"/>
                <a:cs typeface="Calibri"/>
                <a:sym typeface="Calibri"/>
              </a:rPr>
              <a:t>2</a:t>
            </a:r>
            <a:endParaRPr/>
          </a:p>
          <a:p>
            <a:pPr marL="0" lvl="0" indent="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graphicFrame>
        <p:nvGraphicFramePr>
          <p:cNvPr id="605" name="Google Shape;605;p70"/>
          <p:cNvGraphicFramePr/>
          <p:nvPr/>
        </p:nvGraphicFramePr>
        <p:xfrm>
          <a:off x="2569028" y="3428999"/>
          <a:ext cx="9318175" cy="3083250"/>
        </p:xfrm>
        <a:graphic>
          <a:graphicData uri="http://schemas.openxmlformats.org/drawingml/2006/table">
            <a:tbl>
              <a:tblPr firstRow="1" firstCol="1" bandRow="1">
                <a:noFill/>
                <a:tableStyleId>{3C02F722-2B6A-463A-8AD6-FEE97B21EBB0}</a:tableStyleId>
              </a:tblPr>
              <a:tblGrid>
                <a:gridCol w="967750">
                  <a:extLst>
                    <a:ext uri="{9D8B030D-6E8A-4147-A177-3AD203B41FA5}">
                      <a16:colId xmlns:a16="http://schemas.microsoft.com/office/drawing/2014/main" val="20000"/>
                    </a:ext>
                  </a:extLst>
                </a:gridCol>
                <a:gridCol w="1631375">
                  <a:extLst>
                    <a:ext uri="{9D8B030D-6E8A-4147-A177-3AD203B41FA5}">
                      <a16:colId xmlns:a16="http://schemas.microsoft.com/office/drawing/2014/main" val="20001"/>
                    </a:ext>
                  </a:extLst>
                </a:gridCol>
                <a:gridCol w="1341050">
                  <a:extLst>
                    <a:ext uri="{9D8B030D-6E8A-4147-A177-3AD203B41FA5}">
                      <a16:colId xmlns:a16="http://schemas.microsoft.com/office/drawing/2014/main" val="20002"/>
                    </a:ext>
                  </a:extLst>
                </a:gridCol>
                <a:gridCol w="3193625">
                  <a:extLst>
                    <a:ext uri="{9D8B030D-6E8A-4147-A177-3AD203B41FA5}">
                      <a16:colId xmlns:a16="http://schemas.microsoft.com/office/drawing/2014/main" val="20003"/>
                    </a:ext>
                  </a:extLst>
                </a:gridCol>
                <a:gridCol w="2184375">
                  <a:extLst>
                    <a:ext uri="{9D8B030D-6E8A-4147-A177-3AD203B41FA5}">
                      <a16:colId xmlns:a16="http://schemas.microsoft.com/office/drawing/2014/main" val="20004"/>
                    </a:ext>
                  </a:extLst>
                </a:gridCol>
              </a:tblGrid>
              <a:tr h="386875">
                <a:tc>
                  <a:txBody>
                    <a:bodyPr/>
                    <a:lstStyle/>
                    <a:p>
                      <a:pPr marL="0" marR="0" lvl="0" indent="0" algn="l" rtl="0">
                        <a:lnSpc>
                          <a:spcPct val="107000"/>
                        </a:lnSpc>
                        <a:spcBef>
                          <a:spcPts val="0"/>
                        </a:spcBef>
                        <a:spcAft>
                          <a:spcPts val="0"/>
                        </a:spcAft>
                        <a:buNone/>
                      </a:pPr>
                      <a:r>
                        <a:rPr lang="en-US" sz="1800" u="none" strike="noStrike" cap="none"/>
                        <a:t>T</a:t>
                      </a:r>
                      <a:r>
                        <a:rPr lang="en-US" sz="1800" u="none" strike="noStrike" cap="none" baseline="-25000"/>
                        <a:t>0  </a:t>
                      </a:r>
                      <a:r>
                        <a:rPr lang="en-US" sz="1800" u="none" strike="noStrike" cap="none"/>
                        <a:t>:</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producer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execute</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1</a:t>
                      </a:r>
                      <a:r>
                        <a:rPr lang="en-US" sz="1800" u="none" strike="noStrike" cap="none"/>
                        <a:t> = counter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1 </a:t>
                      </a:r>
                      <a:r>
                        <a:rPr lang="en-US" sz="1800" u="none" strike="noStrike" cap="none"/>
                        <a:t>= 5}</a:t>
                      </a:r>
                      <a:endParaRPr sz="18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483975">
                <a:tc>
                  <a:txBody>
                    <a:bodyPr/>
                    <a:lstStyle/>
                    <a:p>
                      <a:pPr marL="0" marR="0" lvl="0" indent="0" algn="l" rtl="0">
                        <a:lnSpc>
                          <a:spcPct val="107000"/>
                        </a:lnSpc>
                        <a:spcBef>
                          <a:spcPts val="0"/>
                        </a:spcBef>
                        <a:spcAft>
                          <a:spcPts val="0"/>
                        </a:spcAft>
                        <a:buNone/>
                      </a:pPr>
                      <a:r>
                        <a:rPr lang="en-US" sz="1800" u="none" strike="noStrike" cap="none"/>
                        <a:t>T</a:t>
                      </a:r>
                      <a:r>
                        <a:rPr lang="en-US" sz="1800" u="none" strike="noStrike" cap="none" baseline="-25000"/>
                        <a:t>1</a:t>
                      </a:r>
                      <a:r>
                        <a:rPr lang="en-US" sz="1800" u="none" strike="noStrike" cap="none"/>
                        <a:t> :</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producer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execute</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1</a:t>
                      </a:r>
                      <a:r>
                        <a:rPr lang="en-US" sz="1800" u="none" strike="noStrike" cap="none"/>
                        <a:t> = register</a:t>
                      </a:r>
                      <a:r>
                        <a:rPr lang="en-US" sz="1800" u="none" strike="noStrike" cap="none" baseline="-25000"/>
                        <a:t>1</a:t>
                      </a:r>
                      <a:r>
                        <a:rPr lang="en-US" sz="1800" u="none" strike="noStrike" cap="none"/>
                        <a:t> + 1</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1 </a:t>
                      </a:r>
                      <a:r>
                        <a:rPr lang="en-US" sz="1800" u="none" strike="noStrike" cap="none"/>
                        <a:t>= 6}</a:t>
                      </a:r>
                      <a:endParaRPr sz="18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530650">
                <a:tc>
                  <a:txBody>
                    <a:bodyPr/>
                    <a:lstStyle/>
                    <a:p>
                      <a:pPr marL="0" marR="0" lvl="0" indent="0" algn="l" rtl="0">
                        <a:lnSpc>
                          <a:spcPct val="107000"/>
                        </a:lnSpc>
                        <a:spcBef>
                          <a:spcPts val="0"/>
                        </a:spcBef>
                        <a:spcAft>
                          <a:spcPts val="0"/>
                        </a:spcAft>
                        <a:buNone/>
                      </a:pPr>
                      <a:r>
                        <a:rPr lang="en-US" sz="1800" u="none" strike="noStrike" cap="none"/>
                        <a:t>T</a:t>
                      </a:r>
                      <a:r>
                        <a:rPr lang="en-US" sz="1800" u="none" strike="noStrike" cap="none" baseline="-25000"/>
                        <a:t>2  </a:t>
                      </a:r>
                      <a:r>
                        <a:rPr lang="en-US" sz="1800" u="none" strike="noStrike" cap="none"/>
                        <a:t>:</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consumer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execute</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counter = register</a:t>
                      </a:r>
                      <a:r>
                        <a:rPr lang="en-US" sz="1800" u="none" strike="noStrike" cap="none" baseline="-25000"/>
                        <a:t>1</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2 </a:t>
                      </a:r>
                      <a:r>
                        <a:rPr lang="en-US" sz="1800" u="none" strike="noStrike" cap="none"/>
                        <a:t>= 5}</a:t>
                      </a:r>
                      <a:endParaRPr sz="18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530650">
                <a:tc>
                  <a:txBody>
                    <a:bodyPr/>
                    <a:lstStyle/>
                    <a:p>
                      <a:pPr marL="0" marR="0" lvl="0" indent="0" algn="l" rtl="0">
                        <a:lnSpc>
                          <a:spcPct val="107000"/>
                        </a:lnSpc>
                        <a:spcBef>
                          <a:spcPts val="0"/>
                        </a:spcBef>
                        <a:spcAft>
                          <a:spcPts val="0"/>
                        </a:spcAft>
                        <a:buNone/>
                      </a:pPr>
                      <a:r>
                        <a:rPr lang="en-US" sz="1800" u="none" strike="noStrike" cap="none"/>
                        <a:t>T</a:t>
                      </a:r>
                      <a:r>
                        <a:rPr lang="en-US" sz="1800" u="none" strike="noStrike" cap="none" baseline="-25000"/>
                        <a:t>3  </a:t>
                      </a:r>
                      <a:r>
                        <a:rPr lang="en-US" sz="1800" u="none" strike="noStrike" cap="none"/>
                        <a:t>:</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consumer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execute</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2</a:t>
                      </a:r>
                      <a:r>
                        <a:rPr lang="en-US" sz="1800" u="none" strike="noStrike" cap="none"/>
                        <a:t> = counter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2 </a:t>
                      </a:r>
                      <a:r>
                        <a:rPr lang="en-US" sz="1800" u="none" strike="noStrike" cap="none"/>
                        <a:t>= 4}</a:t>
                      </a:r>
                      <a:endParaRPr sz="18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620450">
                <a:tc>
                  <a:txBody>
                    <a:bodyPr/>
                    <a:lstStyle/>
                    <a:p>
                      <a:pPr marL="0" marR="0" lvl="0" indent="0" algn="l" rtl="0">
                        <a:lnSpc>
                          <a:spcPct val="107000"/>
                        </a:lnSpc>
                        <a:spcBef>
                          <a:spcPts val="0"/>
                        </a:spcBef>
                        <a:spcAft>
                          <a:spcPts val="0"/>
                        </a:spcAft>
                        <a:buNone/>
                      </a:pPr>
                      <a:r>
                        <a:rPr lang="en-US" sz="1800" u="none" strike="noStrike" cap="none"/>
                        <a:t>T</a:t>
                      </a:r>
                      <a:r>
                        <a:rPr lang="en-US" sz="1800" u="none" strike="noStrike" cap="none" baseline="-25000"/>
                        <a:t>4  </a:t>
                      </a:r>
                      <a:r>
                        <a:rPr lang="en-US" sz="1800" u="none" strike="noStrike" cap="none"/>
                        <a:t>:</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producer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execute</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register</a:t>
                      </a:r>
                      <a:r>
                        <a:rPr lang="en-US" sz="1800" u="none" strike="noStrike" cap="none" baseline="-25000"/>
                        <a:t>2 </a:t>
                      </a:r>
                      <a:r>
                        <a:rPr lang="en-US" sz="1800" u="none" strike="noStrike" cap="none"/>
                        <a:t>= register</a:t>
                      </a:r>
                      <a:r>
                        <a:rPr lang="en-US" sz="1800" u="none" strike="noStrike" cap="none" baseline="-25000"/>
                        <a:t>2</a:t>
                      </a:r>
                      <a:r>
                        <a:rPr lang="en-US" sz="1800" u="none" strike="noStrike" cap="none"/>
                        <a:t> - 1</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{counter = 6}</a:t>
                      </a:r>
                      <a:endParaRPr sz="18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r h="530650">
                <a:tc>
                  <a:txBody>
                    <a:bodyPr/>
                    <a:lstStyle/>
                    <a:p>
                      <a:pPr marL="0" marR="0" lvl="0" indent="0" algn="l" rtl="0">
                        <a:lnSpc>
                          <a:spcPct val="107000"/>
                        </a:lnSpc>
                        <a:spcBef>
                          <a:spcPts val="0"/>
                        </a:spcBef>
                        <a:spcAft>
                          <a:spcPts val="0"/>
                        </a:spcAft>
                        <a:buNone/>
                      </a:pPr>
                      <a:r>
                        <a:rPr lang="en-US" sz="1800" u="none" strike="noStrike" cap="none"/>
                        <a:t>T</a:t>
                      </a:r>
                      <a:r>
                        <a:rPr lang="en-US" sz="1800" u="none" strike="noStrike" cap="none" baseline="-25000"/>
                        <a:t>5  </a:t>
                      </a:r>
                      <a:r>
                        <a:rPr lang="en-US" sz="1800" u="none" strike="noStrike" cap="none"/>
                        <a:t>:</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consumer</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execute</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counter = register</a:t>
                      </a:r>
                      <a:r>
                        <a:rPr lang="en-US" sz="1800" u="none" strike="noStrike" cap="none" baseline="-25000"/>
                        <a:t>2</a:t>
                      </a:r>
                      <a:endParaRPr sz="1800" u="none" strike="noStrike" cap="none">
                        <a:latin typeface="Calibri"/>
                        <a:ea typeface="Calibri"/>
                        <a:cs typeface="Calibri"/>
                        <a:sym typeface="Calibri"/>
                      </a:endParaRPr>
                    </a:p>
                  </a:txBody>
                  <a:tcPr marL="68575" marR="68575" marT="0" marB="0"/>
                </a:tc>
                <a:tc>
                  <a:txBody>
                    <a:bodyPr/>
                    <a:lstStyle/>
                    <a:p>
                      <a:pPr marL="0" marR="0" lvl="0" indent="0" algn="l" rtl="0">
                        <a:lnSpc>
                          <a:spcPct val="107000"/>
                        </a:lnSpc>
                        <a:spcBef>
                          <a:spcPts val="0"/>
                        </a:spcBef>
                        <a:spcAft>
                          <a:spcPts val="0"/>
                        </a:spcAft>
                        <a:buNone/>
                      </a:pPr>
                      <a:r>
                        <a:rPr lang="en-US" sz="1800" u="none" strike="noStrike" cap="none"/>
                        <a:t>{counter </a:t>
                      </a:r>
                      <a:r>
                        <a:rPr lang="en-US" sz="1800" u="none" strike="noStrike" cap="none" baseline="-25000"/>
                        <a:t> </a:t>
                      </a:r>
                      <a:r>
                        <a:rPr lang="en-US" sz="1800" u="none" strike="noStrike" cap="none"/>
                        <a:t>= 4}</a:t>
                      </a:r>
                      <a:endParaRPr sz="18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71"/>
          <p:cNvSpPr txBox="1">
            <a:spLocks noGrp="1"/>
          </p:cNvSpPr>
          <p:nvPr>
            <p:ph type="body" idx="1"/>
          </p:nvPr>
        </p:nvSpPr>
        <p:spPr>
          <a:xfrm>
            <a:off x="2547257" y="185057"/>
            <a:ext cx="9481457" cy="64770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400"/>
              <a:buNone/>
            </a:pPr>
            <a:r>
              <a:rPr lang="en-US" sz="2400">
                <a:latin typeface="Calibri"/>
                <a:ea typeface="Calibri"/>
                <a:cs typeface="Calibri"/>
                <a:sym typeface="Calibri"/>
              </a:rPr>
              <a:t>We would arrive at this incorrect state because we allowed boths processes to manipulate  the variable counter concurrently.</a:t>
            </a:r>
            <a:endParaRPr/>
          </a:p>
          <a:p>
            <a:pPr marL="0" lvl="0" indent="0" algn="just" rtl="0">
              <a:lnSpc>
                <a:spcPct val="150000"/>
              </a:lnSpc>
              <a:spcBef>
                <a:spcPts val="1000"/>
              </a:spcBef>
              <a:spcAft>
                <a:spcPts val="0"/>
              </a:spcAft>
              <a:buClr>
                <a:schemeClr val="dk1"/>
              </a:buClr>
              <a:buSzPts val="2400"/>
              <a:buNone/>
            </a:pPr>
            <a:endParaRPr sz="2400">
              <a:latin typeface="Calibri"/>
              <a:ea typeface="Calibri"/>
              <a:cs typeface="Calibri"/>
              <a:sym typeface="Calibri"/>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A situation like this, where several processes access and manipulate the same data concurrently and the outcome of the execution depends on the particular order in which the access takes place, is called a </a:t>
            </a:r>
            <a:r>
              <a:rPr lang="en-US" sz="2400" b="1">
                <a:solidFill>
                  <a:srgbClr val="0000FF"/>
                </a:solidFill>
                <a:latin typeface="Calibri"/>
                <a:ea typeface="Calibri"/>
                <a:cs typeface="Calibri"/>
                <a:sym typeface="Calibri"/>
              </a:rPr>
              <a:t>race condition</a:t>
            </a:r>
            <a:r>
              <a:rPr lang="en-US" sz="2400">
                <a:solidFill>
                  <a:srgbClr val="0000FF"/>
                </a:solidFill>
                <a:latin typeface="Calibri"/>
                <a:ea typeface="Calibri"/>
                <a:cs typeface="Calibri"/>
                <a:sym typeface="Calibri"/>
              </a:rPr>
              <a:t>. </a:t>
            </a:r>
            <a:endParaRPr/>
          </a:p>
          <a:p>
            <a:pPr marL="0" lvl="0" indent="0" algn="just" rtl="0">
              <a:lnSpc>
                <a:spcPct val="150000"/>
              </a:lnSpc>
              <a:spcBef>
                <a:spcPts val="1000"/>
              </a:spcBef>
              <a:spcAft>
                <a:spcPts val="0"/>
              </a:spcAft>
              <a:buClr>
                <a:schemeClr val="dk1"/>
              </a:buClr>
              <a:buSzPts val="2400"/>
              <a:buNone/>
            </a:pPr>
            <a:endParaRPr sz="2400">
              <a:latin typeface="Calibri"/>
              <a:ea typeface="Calibri"/>
              <a:cs typeface="Calibri"/>
              <a:sym typeface="Calibri"/>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Clearly, we want the resulting changes not to interfere with one counter. Hence we need </a:t>
            </a:r>
            <a:r>
              <a:rPr lang="en-US" sz="2400" b="1">
                <a:solidFill>
                  <a:srgbClr val="0000FF"/>
                </a:solidFill>
                <a:latin typeface="Calibri"/>
                <a:ea typeface="Calibri"/>
                <a:cs typeface="Calibri"/>
                <a:sym typeface="Calibri"/>
              </a:rPr>
              <a:t>process synchronization.</a:t>
            </a:r>
            <a:endParaRPr sz="2400" b="1">
              <a:solidFill>
                <a:srgbClr val="0000FF"/>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72"/>
          <p:cNvSpPr txBox="1">
            <a:spLocks noGrp="1"/>
          </p:cNvSpPr>
          <p:nvPr>
            <p:ph type="body" idx="1"/>
          </p:nvPr>
        </p:nvSpPr>
        <p:spPr>
          <a:xfrm>
            <a:off x="2547257" y="185057"/>
            <a:ext cx="9481457" cy="6477000"/>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lnSpc>
                <a:spcPct val="150000"/>
              </a:lnSpc>
              <a:spcBef>
                <a:spcPts val="0"/>
              </a:spcBef>
              <a:spcAft>
                <a:spcPts val="0"/>
              </a:spcAft>
              <a:buClr>
                <a:srgbClr val="FF0000"/>
              </a:buClr>
              <a:buSzPct val="100000"/>
              <a:buNone/>
            </a:pPr>
            <a:r>
              <a:rPr lang="en-US" sz="2400" b="1">
                <a:solidFill>
                  <a:srgbClr val="FF0000"/>
                </a:solidFill>
                <a:latin typeface="Calibri"/>
                <a:ea typeface="Calibri"/>
                <a:cs typeface="Calibri"/>
                <a:sym typeface="Calibri"/>
              </a:rPr>
              <a:t>The Critical-Section Problem</a:t>
            </a:r>
            <a:endParaRPr sz="2400">
              <a:solidFill>
                <a:srgbClr val="FF0000"/>
              </a:solidFill>
              <a:latin typeface="Calibri"/>
              <a:ea typeface="Calibri"/>
              <a:cs typeface="Calibri"/>
              <a:sym typeface="Calibri"/>
            </a:endParaRPr>
          </a:p>
          <a:p>
            <a:pPr marL="0" lvl="0" indent="0" algn="ctr" rtl="0">
              <a:lnSpc>
                <a:spcPct val="150000"/>
              </a:lnSpc>
              <a:spcBef>
                <a:spcPts val="1800"/>
              </a:spcBef>
              <a:spcAft>
                <a:spcPts val="0"/>
              </a:spcAft>
              <a:buClr>
                <a:schemeClr val="dk1"/>
              </a:buClr>
              <a:buSzPct val="100000"/>
              <a:buNone/>
            </a:pPr>
            <a:r>
              <a:rPr lang="en-US" sz="2400">
                <a:latin typeface="Calibri"/>
                <a:ea typeface="Calibri"/>
                <a:cs typeface="Calibri"/>
                <a:sym typeface="Calibri"/>
              </a:rPr>
              <a:t>Consider a system consisting of 11 processes {Po, P1, ... , P</a:t>
            </a:r>
            <a:r>
              <a:rPr lang="en-US" sz="2400" baseline="-25000">
                <a:latin typeface="Calibri"/>
                <a:ea typeface="Calibri"/>
                <a:cs typeface="Calibri"/>
                <a:sym typeface="Calibri"/>
              </a:rPr>
              <a:t>n-1</a:t>
            </a:r>
            <a:r>
              <a:rPr lang="en-US" sz="2400">
                <a:latin typeface="Calibri"/>
                <a:ea typeface="Calibri"/>
                <a:cs typeface="Calibri"/>
                <a:sym typeface="Calibri"/>
              </a:rPr>
              <a:t>}.</a:t>
            </a:r>
            <a:endParaRPr/>
          </a:p>
          <a:p>
            <a:pPr marL="0" lvl="0" indent="0" algn="ctr" rtl="0">
              <a:lnSpc>
                <a:spcPct val="150000"/>
              </a:lnSpc>
              <a:spcBef>
                <a:spcPts val="1000"/>
              </a:spcBef>
              <a:spcAft>
                <a:spcPts val="0"/>
              </a:spcAft>
              <a:buClr>
                <a:schemeClr val="dk1"/>
              </a:buClr>
              <a:buSzPct val="100000"/>
              <a:buNone/>
            </a:pPr>
            <a:r>
              <a:rPr lang="en-US" sz="2400">
                <a:latin typeface="Calibri"/>
                <a:ea typeface="Calibri"/>
                <a:cs typeface="Calibri"/>
                <a:sym typeface="Calibri"/>
              </a:rPr>
              <a:t>Each process has a segment of code, called a </a:t>
            </a:r>
            <a:endParaRPr/>
          </a:p>
          <a:p>
            <a:pPr marL="0" lvl="0" indent="0" algn="ctr" rtl="0">
              <a:lnSpc>
                <a:spcPct val="150000"/>
              </a:lnSpc>
              <a:spcBef>
                <a:spcPts val="1000"/>
              </a:spcBef>
              <a:spcAft>
                <a:spcPts val="0"/>
              </a:spcAft>
              <a:buClr>
                <a:srgbClr val="0000FF"/>
              </a:buClr>
              <a:buSzPct val="100000"/>
              <a:buNone/>
            </a:pPr>
            <a:r>
              <a:rPr lang="en-US" sz="2400">
                <a:solidFill>
                  <a:srgbClr val="0000FF"/>
                </a:solidFill>
                <a:latin typeface="Calibri"/>
                <a:ea typeface="Calibri"/>
                <a:cs typeface="Calibri"/>
                <a:sym typeface="Calibri"/>
              </a:rPr>
              <a:t>critical section </a:t>
            </a:r>
            <a:endParaRPr/>
          </a:p>
          <a:p>
            <a:pPr marL="0" lvl="0" indent="0" algn="ctr" rtl="0">
              <a:lnSpc>
                <a:spcPct val="150000"/>
              </a:lnSpc>
              <a:spcBef>
                <a:spcPts val="1000"/>
              </a:spcBef>
              <a:spcAft>
                <a:spcPts val="0"/>
              </a:spcAft>
              <a:buClr>
                <a:schemeClr val="dk1"/>
              </a:buClr>
              <a:buSzPct val="100000"/>
              <a:buNone/>
            </a:pPr>
            <a:r>
              <a:rPr lang="en-US" sz="2400">
                <a:latin typeface="Calibri"/>
                <a:ea typeface="Calibri"/>
                <a:cs typeface="Calibri"/>
                <a:sym typeface="Calibri"/>
              </a:rPr>
              <a:t>in which the process may be changing common variables, updating a table, writing a file, and so on.</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 When one process is executing in its critical section, no other process is to be allowed to execute in its critical section. </a:t>
            </a:r>
            <a:endParaRPr/>
          </a:p>
          <a:p>
            <a:pPr marL="0" lvl="0" indent="0" algn="just" rtl="0">
              <a:lnSpc>
                <a:spcPct val="150000"/>
              </a:lnSpc>
              <a:spcBef>
                <a:spcPts val="1000"/>
              </a:spcBef>
              <a:spcAft>
                <a:spcPts val="0"/>
              </a:spcAft>
              <a:buClr>
                <a:schemeClr val="dk1"/>
              </a:buClr>
              <a:buSzPct val="100000"/>
              <a:buNone/>
            </a:pPr>
            <a:r>
              <a:rPr lang="en-US" sz="2400">
                <a:latin typeface="Calibri"/>
                <a:ea typeface="Calibri"/>
                <a:cs typeface="Calibri"/>
                <a:sym typeface="Calibri"/>
              </a:rPr>
              <a:t>That is, no two processes are executing in their critical sections at the same time. </a:t>
            </a:r>
            <a:endParaRPr sz="2400">
              <a:latin typeface="Calibri"/>
              <a:ea typeface="Calibri"/>
              <a:cs typeface="Calibri"/>
              <a:sym typeface="Calibri"/>
            </a:endParaRPr>
          </a:p>
          <a:p>
            <a:pPr marL="0" lvl="0" indent="0" algn="just" rtl="0">
              <a:lnSpc>
                <a:spcPct val="150000"/>
              </a:lnSpc>
              <a:spcBef>
                <a:spcPts val="1000"/>
              </a:spcBef>
              <a:spcAft>
                <a:spcPts val="0"/>
              </a:spcAft>
              <a:buClr>
                <a:srgbClr val="0000FF"/>
              </a:buClr>
              <a:buSzPct val="100000"/>
              <a:buNone/>
            </a:pPr>
            <a:r>
              <a:rPr lang="en-US" sz="2400">
                <a:solidFill>
                  <a:srgbClr val="0000FF"/>
                </a:solidFill>
                <a:latin typeface="Calibri"/>
                <a:ea typeface="Calibri"/>
                <a:cs typeface="Calibri"/>
                <a:sym typeface="Calibri"/>
              </a:rPr>
              <a:t>The critical-section problem is to design a protocol that the processes can use to cooperate. </a:t>
            </a:r>
            <a:endParaRPr/>
          </a:p>
          <a:p>
            <a:pPr marL="0" lvl="0" indent="0" algn="l" rtl="0">
              <a:lnSpc>
                <a:spcPct val="90000"/>
              </a:lnSpc>
              <a:spcBef>
                <a:spcPts val="1800"/>
              </a:spcBef>
              <a:spcAft>
                <a:spcPts val="0"/>
              </a:spcAft>
              <a:buClr>
                <a:schemeClr val="dk1"/>
              </a:buClr>
              <a:buSzPct val="100000"/>
              <a:buNone/>
            </a:pPr>
            <a:endParaRPr sz="2000">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73"/>
          <p:cNvSpPr txBox="1">
            <a:spLocks noGrp="1"/>
          </p:cNvSpPr>
          <p:nvPr>
            <p:ph type="body" idx="1"/>
          </p:nvPr>
        </p:nvSpPr>
        <p:spPr>
          <a:xfrm>
            <a:off x="2547257" y="185057"/>
            <a:ext cx="9481457" cy="64770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Each process must request permission to enter its </a:t>
            </a:r>
            <a:r>
              <a:rPr lang="en-US" sz="2000">
                <a:solidFill>
                  <a:srgbClr val="0000FF"/>
                </a:solidFill>
                <a:latin typeface="Calibri"/>
                <a:ea typeface="Calibri"/>
                <a:cs typeface="Calibri"/>
                <a:sym typeface="Calibri"/>
              </a:rPr>
              <a:t>critical section</a:t>
            </a:r>
            <a:r>
              <a:rPr lang="en-US" sz="2000">
                <a:latin typeface="Calibri"/>
                <a:ea typeface="Calibri"/>
                <a:cs typeface="Calibri"/>
                <a:sym typeface="Calibri"/>
              </a:rPr>
              <a:t>. </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section of code implementing this request is </a:t>
            </a:r>
            <a:r>
              <a:rPr lang="en-US" sz="2000">
                <a:solidFill>
                  <a:srgbClr val="0000FF"/>
                </a:solidFill>
                <a:latin typeface="Calibri"/>
                <a:ea typeface="Calibri"/>
                <a:cs typeface="Calibri"/>
                <a:sym typeface="Calibri"/>
              </a:rPr>
              <a:t>the entry section. </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critical section may be followed by an </a:t>
            </a:r>
            <a:r>
              <a:rPr lang="en-US" sz="2000">
                <a:solidFill>
                  <a:srgbClr val="0000FF"/>
                </a:solidFill>
                <a:latin typeface="Calibri"/>
                <a:ea typeface="Calibri"/>
                <a:cs typeface="Calibri"/>
                <a:sym typeface="Calibri"/>
              </a:rPr>
              <a:t>exit section. </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remaining code is </a:t>
            </a:r>
            <a:r>
              <a:rPr lang="en-US" sz="2000">
                <a:solidFill>
                  <a:srgbClr val="0000FF"/>
                </a:solidFill>
                <a:latin typeface="Calibri"/>
                <a:ea typeface="Calibri"/>
                <a:cs typeface="Calibri"/>
                <a:sym typeface="Calibri"/>
              </a:rPr>
              <a:t>the remainder section</a:t>
            </a:r>
            <a:r>
              <a:rPr lang="en-US" sz="2000">
                <a:latin typeface="Calibri"/>
                <a:ea typeface="Calibri"/>
                <a:cs typeface="Calibri"/>
                <a:sym typeface="Calibri"/>
              </a:rPr>
              <a:t>. </a:t>
            </a:r>
            <a:endParaRPr/>
          </a:p>
          <a:p>
            <a:pPr marL="0" lvl="0" indent="0" algn="just" rtl="0">
              <a:lnSpc>
                <a:spcPct val="150000"/>
              </a:lnSpc>
              <a:spcBef>
                <a:spcPts val="1800"/>
              </a:spcBef>
              <a:spcAft>
                <a:spcPts val="0"/>
              </a:spcAft>
              <a:buClr>
                <a:schemeClr val="dk1"/>
              </a:buClr>
              <a:buSzPts val="2000"/>
              <a:buNone/>
            </a:pPr>
            <a:endParaRPr sz="2000">
              <a:latin typeface="Calibri"/>
              <a:ea typeface="Calibri"/>
              <a:cs typeface="Calibri"/>
              <a:sym typeface="Calibri"/>
            </a:endParaRPr>
          </a:p>
          <a:p>
            <a:pPr marL="228600" lvl="0" indent="-101600" algn="l" rtl="0">
              <a:lnSpc>
                <a:spcPct val="90000"/>
              </a:lnSpc>
              <a:spcBef>
                <a:spcPts val="1800"/>
              </a:spcBef>
              <a:spcAft>
                <a:spcPts val="0"/>
              </a:spcAft>
              <a:buClr>
                <a:schemeClr val="dk1"/>
              </a:buClr>
              <a:buSzPts val="2000"/>
              <a:buNone/>
            </a:pPr>
            <a:endParaRPr sz="2000">
              <a:latin typeface="Calibri"/>
              <a:ea typeface="Calibri"/>
              <a:cs typeface="Calibri"/>
              <a:sym typeface="Calibri"/>
            </a:endParaRPr>
          </a:p>
        </p:txBody>
      </p:sp>
      <p:pic>
        <p:nvPicPr>
          <p:cNvPr id="621" name="Google Shape;621;p73"/>
          <p:cNvPicPr preferRelativeResize="0"/>
          <p:nvPr/>
        </p:nvPicPr>
        <p:blipFill rotWithShape="1">
          <a:blip r:embed="rId3">
            <a:alphaModFix/>
          </a:blip>
          <a:srcRect/>
          <a:stretch/>
        </p:blipFill>
        <p:spPr>
          <a:xfrm>
            <a:off x="3276601" y="2819400"/>
            <a:ext cx="6923314" cy="3668877"/>
          </a:xfrm>
          <a:prstGeom prst="rect">
            <a:avLst/>
          </a:prstGeom>
          <a:noFill/>
          <a:ln>
            <a:noFill/>
          </a:ln>
        </p:spPr>
      </p:pic>
      <p:sp>
        <p:nvSpPr>
          <p:cNvPr id="622" name="Google Shape;622;p73"/>
          <p:cNvSpPr txBox="1"/>
          <p:nvPr/>
        </p:nvSpPr>
        <p:spPr>
          <a:xfrm>
            <a:off x="3788230" y="6488277"/>
            <a:ext cx="610688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General structure of a typical process p</a:t>
            </a:r>
            <a:r>
              <a:rPr lang="en-US" sz="1800" b="1" baseline="-25000">
                <a:solidFill>
                  <a:schemeClr val="dk1"/>
                </a:solidFill>
                <a:latin typeface="Calibri"/>
                <a:ea typeface="Calibri"/>
                <a:cs typeface="Calibri"/>
                <a:sym typeface="Calibri"/>
              </a:rPr>
              <a:t>i</a:t>
            </a:r>
            <a:endParaRPr sz="1800" b="1">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74"/>
          <p:cNvSpPr txBox="1">
            <a:spLocks noGrp="1"/>
          </p:cNvSpPr>
          <p:nvPr>
            <p:ph type="body" idx="1"/>
          </p:nvPr>
        </p:nvSpPr>
        <p:spPr>
          <a:xfrm>
            <a:off x="2634343" y="185056"/>
            <a:ext cx="9416143" cy="650965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A solution to the critical-section problem must satisfy the following three requirements:</a:t>
            </a:r>
            <a:endParaRPr sz="2000">
              <a:solidFill>
                <a:srgbClr val="0000FF"/>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r>
              <a:rPr lang="en-US" sz="2000" b="1">
                <a:latin typeface="Calibri"/>
                <a:ea typeface="Calibri"/>
                <a:cs typeface="Calibri"/>
                <a:sym typeface="Calibri"/>
              </a:rPr>
              <a:t>Mutual exclusion</a:t>
            </a:r>
            <a:r>
              <a:rPr lang="en-US" sz="2000">
                <a:latin typeface="Calibri"/>
                <a:ea typeface="Calibri"/>
                <a:cs typeface="Calibri"/>
                <a:sym typeface="Calibri"/>
              </a:rPr>
              <a:t>. If process Pi is executing in its critical section, then no other processes can be executing in their critical sections.</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b="1">
                <a:latin typeface="Calibri"/>
                <a:ea typeface="Calibri"/>
                <a:cs typeface="Calibri"/>
                <a:sym typeface="Calibri"/>
              </a:rPr>
              <a:t>Progress</a:t>
            </a:r>
            <a:r>
              <a:rPr lang="en-US" sz="2000">
                <a:latin typeface="Calibri"/>
                <a:ea typeface="Calibri"/>
                <a:cs typeface="Calibri"/>
                <a:sym typeface="Calibri"/>
              </a:rPr>
              <a:t>. If no process is executing in its critical section and some processes wish to enter their critical sections, then only those processes that are not executing in their remainder sections can participate in the decision on which will enter its critical section next, and this selection cannot be postponed indefinitely.</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b="1">
                <a:latin typeface="Calibri"/>
                <a:ea typeface="Calibri"/>
                <a:cs typeface="Calibri"/>
                <a:sym typeface="Calibri"/>
              </a:rPr>
              <a:t>Bounded</a:t>
            </a:r>
            <a:r>
              <a:rPr lang="en-US" sz="2000">
                <a:latin typeface="Calibri"/>
                <a:ea typeface="Calibri"/>
                <a:cs typeface="Calibri"/>
                <a:sym typeface="Calibri"/>
              </a:rPr>
              <a:t> </a:t>
            </a:r>
            <a:r>
              <a:rPr lang="en-US" sz="2000" b="1">
                <a:latin typeface="Calibri"/>
                <a:ea typeface="Calibri"/>
                <a:cs typeface="Calibri"/>
                <a:sym typeface="Calibri"/>
              </a:rPr>
              <a:t>waiting</a:t>
            </a:r>
            <a:r>
              <a:rPr lang="en-US" sz="2000">
                <a:latin typeface="Calibri"/>
                <a:ea typeface="Calibri"/>
                <a:cs typeface="Calibri"/>
                <a:sym typeface="Calibri"/>
              </a:rPr>
              <a:t>. There exists a bound, or limit, on the number of times that other processes are allowed to enter their critical sections after a process has made a request to enter its critical section and before that request is granted.</a:t>
            </a:r>
            <a:endParaRPr sz="2000">
              <a:latin typeface="Calibri"/>
              <a:ea typeface="Calibri"/>
              <a:cs typeface="Calibri"/>
              <a:sym typeface="Calibri"/>
            </a:endParaRPr>
          </a:p>
          <a:p>
            <a:pPr marL="0" lvl="0" indent="0" algn="l" rtl="0">
              <a:lnSpc>
                <a:spcPct val="90000"/>
              </a:lnSpc>
              <a:spcBef>
                <a:spcPts val="1800"/>
              </a:spcBef>
              <a:spcAft>
                <a:spcPts val="0"/>
              </a:spcAft>
              <a:buClr>
                <a:schemeClr val="dk1"/>
              </a:buClr>
              <a:buSzPts val="2400"/>
              <a:buNone/>
            </a:pPr>
            <a:endParaRPr sz="2400">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75"/>
          <p:cNvSpPr txBox="1">
            <a:spLocks noGrp="1"/>
          </p:cNvSpPr>
          <p:nvPr>
            <p:ph type="body" idx="1"/>
          </p:nvPr>
        </p:nvSpPr>
        <p:spPr>
          <a:xfrm>
            <a:off x="2634343" y="185056"/>
            <a:ext cx="9416143" cy="6509657"/>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lnSpc>
                <a:spcPct val="160000"/>
              </a:lnSpc>
              <a:spcBef>
                <a:spcPts val="0"/>
              </a:spcBef>
              <a:spcAft>
                <a:spcPts val="0"/>
              </a:spcAft>
              <a:buClr>
                <a:srgbClr val="FF0000"/>
              </a:buClr>
              <a:buSzPct val="100000"/>
              <a:buNone/>
            </a:pPr>
            <a:r>
              <a:rPr lang="en-US" sz="3400" b="1">
                <a:solidFill>
                  <a:srgbClr val="FF0000"/>
                </a:solidFill>
                <a:latin typeface="Calibri"/>
                <a:ea typeface="Calibri"/>
                <a:cs typeface="Calibri"/>
                <a:sym typeface="Calibri"/>
              </a:rPr>
              <a:t>Peterson's Solution</a:t>
            </a:r>
            <a:endParaRPr sz="3400">
              <a:solidFill>
                <a:srgbClr val="FF0000"/>
              </a:solidFill>
              <a:latin typeface="Calibri"/>
              <a:ea typeface="Calibri"/>
              <a:cs typeface="Calibri"/>
              <a:sym typeface="Calibri"/>
            </a:endParaRPr>
          </a:p>
          <a:p>
            <a:pPr marL="228600" lvl="0" indent="-228600" algn="just" rtl="0">
              <a:lnSpc>
                <a:spcPct val="160000"/>
              </a:lnSpc>
              <a:spcBef>
                <a:spcPts val="1800"/>
              </a:spcBef>
              <a:spcAft>
                <a:spcPts val="0"/>
              </a:spcAft>
              <a:buClr>
                <a:schemeClr val="dk1"/>
              </a:buClr>
              <a:buSzPct val="100000"/>
              <a:buChar char="•"/>
            </a:pPr>
            <a:r>
              <a:rPr lang="en-US" sz="2600">
                <a:latin typeface="Calibri"/>
                <a:ea typeface="Calibri"/>
                <a:cs typeface="Calibri"/>
                <a:sym typeface="Calibri"/>
              </a:rPr>
              <a:t>A classic software-based solution to the critical-section problem.</a:t>
            </a:r>
            <a:endParaRPr/>
          </a:p>
          <a:p>
            <a:pPr marL="228600" lvl="0" indent="-228600" algn="just" rtl="0">
              <a:lnSpc>
                <a:spcPct val="160000"/>
              </a:lnSpc>
              <a:spcBef>
                <a:spcPts val="1800"/>
              </a:spcBef>
              <a:spcAft>
                <a:spcPts val="0"/>
              </a:spcAft>
              <a:buClr>
                <a:schemeClr val="dk1"/>
              </a:buClr>
              <a:buSzPct val="100000"/>
              <a:buChar char="•"/>
            </a:pPr>
            <a:r>
              <a:rPr lang="en-US" sz="2600">
                <a:latin typeface="Calibri"/>
                <a:ea typeface="Calibri"/>
                <a:cs typeface="Calibri"/>
                <a:sym typeface="Calibri"/>
              </a:rPr>
              <a:t>May not work correctly on modern computer architecture.</a:t>
            </a:r>
            <a:endParaRPr/>
          </a:p>
          <a:p>
            <a:pPr marL="228600" lvl="0" indent="-228600" algn="just" rtl="0">
              <a:lnSpc>
                <a:spcPct val="160000"/>
              </a:lnSpc>
              <a:spcBef>
                <a:spcPts val="1800"/>
              </a:spcBef>
              <a:spcAft>
                <a:spcPts val="0"/>
              </a:spcAft>
              <a:buClr>
                <a:schemeClr val="dk1"/>
              </a:buClr>
              <a:buSzPct val="100000"/>
              <a:buChar char="•"/>
            </a:pPr>
            <a:r>
              <a:rPr lang="en-US" sz="2600">
                <a:latin typeface="Calibri"/>
                <a:ea typeface="Calibri"/>
                <a:cs typeface="Calibri"/>
                <a:sym typeface="Calibri"/>
              </a:rPr>
              <a:t>However, it provides a good algorithmic description of solving the critical-section problem and illustrates some of the complexities involved in designing software that addresses the requirements of mutual exclusion, progress/ and bounded waiting requirements.</a:t>
            </a:r>
            <a:endParaRPr sz="2600">
              <a:latin typeface="Calibri"/>
              <a:ea typeface="Calibri"/>
              <a:cs typeface="Calibri"/>
              <a:sym typeface="Calibri"/>
            </a:endParaRPr>
          </a:p>
          <a:p>
            <a:pPr marL="228600" lvl="0" indent="-228600" algn="just" rtl="0">
              <a:lnSpc>
                <a:spcPct val="160000"/>
              </a:lnSpc>
              <a:spcBef>
                <a:spcPts val="1800"/>
              </a:spcBef>
              <a:spcAft>
                <a:spcPts val="0"/>
              </a:spcAft>
              <a:buClr>
                <a:schemeClr val="dk1"/>
              </a:buClr>
              <a:buSzPct val="100000"/>
              <a:buChar char="•"/>
            </a:pPr>
            <a:r>
              <a:rPr lang="en-US" sz="2600">
                <a:latin typeface="Calibri"/>
                <a:ea typeface="Calibri"/>
                <a:cs typeface="Calibri"/>
                <a:sym typeface="Calibri"/>
              </a:rPr>
              <a:t>Peterson’s solution is restricted to two processes that processes that alternate execution between their critical section and remainder section. Let’s call the processes P</a:t>
            </a:r>
            <a:r>
              <a:rPr lang="en-US" sz="2600" baseline="-25000">
                <a:latin typeface="Calibri"/>
                <a:ea typeface="Calibri"/>
                <a:cs typeface="Calibri"/>
                <a:sym typeface="Calibri"/>
              </a:rPr>
              <a:t>i</a:t>
            </a:r>
            <a:r>
              <a:rPr lang="en-US" sz="2600">
                <a:latin typeface="Calibri"/>
                <a:ea typeface="Calibri"/>
                <a:cs typeface="Calibri"/>
                <a:sym typeface="Calibri"/>
              </a:rPr>
              <a:t> and P</a:t>
            </a:r>
            <a:r>
              <a:rPr lang="en-US" sz="2600" baseline="-25000">
                <a:latin typeface="Calibri"/>
                <a:ea typeface="Calibri"/>
                <a:cs typeface="Calibri"/>
                <a:sym typeface="Calibri"/>
              </a:rPr>
              <a:t>j</a:t>
            </a:r>
            <a:endParaRPr/>
          </a:p>
          <a:p>
            <a:pPr marL="228600" lvl="0" indent="-228600" algn="just" rtl="0">
              <a:lnSpc>
                <a:spcPct val="160000"/>
              </a:lnSpc>
              <a:spcBef>
                <a:spcPts val="1000"/>
              </a:spcBef>
              <a:spcAft>
                <a:spcPts val="0"/>
              </a:spcAft>
              <a:buClr>
                <a:schemeClr val="dk1"/>
              </a:buClr>
              <a:buSzPct val="100000"/>
              <a:buChar char="•"/>
            </a:pPr>
            <a:r>
              <a:rPr lang="en-US" sz="2600">
                <a:latin typeface="Calibri"/>
                <a:ea typeface="Calibri"/>
                <a:cs typeface="Calibri"/>
                <a:sym typeface="Calibri"/>
              </a:rPr>
              <a:t>Peterson’s solution requires two data items to be shared between two processes:</a:t>
            </a:r>
            <a:endParaRPr/>
          </a:p>
          <a:p>
            <a:pPr marL="0" lvl="0" indent="0" algn="l" rtl="0">
              <a:lnSpc>
                <a:spcPct val="90000"/>
              </a:lnSpc>
              <a:spcBef>
                <a:spcPts val="1000"/>
              </a:spcBef>
              <a:spcAft>
                <a:spcPts val="0"/>
              </a:spcAft>
              <a:buClr>
                <a:schemeClr val="dk1"/>
              </a:buClr>
              <a:buSzPct val="100000"/>
              <a:buNone/>
            </a:pPr>
            <a:endParaRPr sz="2400">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6"/>
          <p:cNvSpPr txBox="1">
            <a:spLocks noGrp="1"/>
          </p:cNvSpPr>
          <p:nvPr>
            <p:ph type="body" idx="1"/>
          </p:nvPr>
        </p:nvSpPr>
        <p:spPr>
          <a:xfrm>
            <a:off x="2634343" y="119741"/>
            <a:ext cx="9416143" cy="6509657"/>
          </a:xfrm>
          <a:prstGeom prst="rect">
            <a:avLst/>
          </a:prstGeom>
          <a:noFill/>
          <a:ln>
            <a:noFill/>
          </a:ln>
        </p:spPr>
        <p:txBody>
          <a:bodyPr spcFirstLastPara="1" wrap="square" lIns="91425" tIns="45700" rIns="91425" bIns="45700" anchor="t" anchorCtr="0">
            <a:normAutofit/>
          </a:bodyPr>
          <a:lstStyle/>
          <a:p>
            <a:pPr marL="0" lvl="0" indent="0" algn="just" rtl="0">
              <a:lnSpc>
                <a:spcPct val="160000"/>
              </a:lnSpc>
              <a:spcBef>
                <a:spcPts val="0"/>
              </a:spcBef>
              <a:spcAft>
                <a:spcPts val="0"/>
              </a:spcAft>
              <a:buClr>
                <a:schemeClr val="dk1"/>
              </a:buClr>
              <a:buSzPts val="2400"/>
              <a:buNone/>
            </a:pPr>
            <a:r>
              <a:rPr lang="en-US" sz="2400">
                <a:latin typeface="Calibri"/>
                <a:ea typeface="Calibri"/>
                <a:cs typeface="Calibri"/>
                <a:sym typeface="Calibri"/>
              </a:rPr>
              <a:t>int turn;</a:t>
            </a:r>
            <a:endParaRPr sz="2400">
              <a:latin typeface="Calibri"/>
              <a:ea typeface="Calibri"/>
              <a:cs typeface="Calibri"/>
              <a:sym typeface="Calibri"/>
            </a:endParaRPr>
          </a:p>
          <a:p>
            <a:pPr marL="0" lvl="0" indent="0" algn="just" rtl="0">
              <a:lnSpc>
                <a:spcPct val="160000"/>
              </a:lnSpc>
              <a:spcBef>
                <a:spcPts val="1800"/>
              </a:spcBef>
              <a:spcAft>
                <a:spcPts val="0"/>
              </a:spcAft>
              <a:buClr>
                <a:schemeClr val="dk1"/>
              </a:buClr>
              <a:buSzPts val="2400"/>
              <a:buNone/>
            </a:pPr>
            <a:r>
              <a:rPr lang="en-US" sz="2400">
                <a:latin typeface="Calibri"/>
                <a:ea typeface="Calibri"/>
                <a:cs typeface="Calibri"/>
                <a:sym typeface="Calibri"/>
              </a:rPr>
              <a:t>boolean flag [2];</a:t>
            </a:r>
            <a:endParaRPr sz="24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400"/>
              <a:buNone/>
            </a:pPr>
            <a:r>
              <a:rPr lang="en-US" sz="2400">
                <a:latin typeface="Calibri"/>
                <a:ea typeface="Calibri"/>
                <a:cs typeface="Calibri"/>
                <a:sym typeface="Calibri"/>
              </a:rPr>
              <a:t>The variable turn indicates whose turn it is to enter its critical section. </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That is, if turn == i, then process Pi is allowed to execute in its critical section. </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The flag array is used to indicate if a process is ready to enter its critical section. </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For example, if flag [i] is true, this value indicates that Pi is ready to enter its critical section. </a:t>
            </a:r>
            <a:endParaRPr sz="2400">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77"/>
          <p:cNvSpPr txBox="1">
            <a:spLocks noGrp="1"/>
          </p:cNvSpPr>
          <p:nvPr>
            <p:ph type="body" idx="1"/>
          </p:nvPr>
        </p:nvSpPr>
        <p:spPr>
          <a:xfrm>
            <a:off x="2601685" y="250370"/>
            <a:ext cx="9405257" cy="646611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b="1">
                <a:latin typeface="Calibri"/>
                <a:ea typeface="Calibri"/>
                <a:cs typeface="Calibri"/>
                <a:sym typeface="Calibri"/>
              </a:rPr>
              <a:t>Structure of process P</a:t>
            </a:r>
            <a:r>
              <a:rPr lang="en-US" sz="2000" b="1" baseline="-25000">
                <a:latin typeface="Calibri"/>
                <a:ea typeface="Calibri"/>
                <a:cs typeface="Calibri"/>
                <a:sym typeface="Calibri"/>
              </a:rPr>
              <a:t>j </a:t>
            </a:r>
            <a:r>
              <a:rPr lang="en-US" sz="2000" b="1">
                <a:latin typeface="Calibri"/>
                <a:ea typeface="Calibri"/>
                <a:cs typeface="Calibri"/>
                <a:sym typeface="Calibri"/>
              </a:rPr>
              <a:t>in Peterson’s solution</a:t>
            </a:r>
            <a:endParaRPr/>
          </a:p>
          <a:p>
            <a:pPr marL="0" lvl="0" indent="0" algn="l" rtl="0">
              <a:lnSpc>
                <a:spcPct val="90000"/>
              </a:lnSpc>
              <a:spcBef>
                <a:spcPts val="1000"/>
              </a:spcBef>
              <a:spcAft>
                <a:spcPts val="0"/>
              </a:spcAft>
              <a:buClr>
                <a:schemeClr val="dk1"/>
              </a:buClr>
              <a:buSzPts val="2000"/>
              <a:buNone/>
            </a:pPr>
            <a:endParaRPr sz="2000" b="1">
              <a:latin typeface="Calibri"/>
              <a:ea typeface="Calibri"/>
              <a:cs typeface="Calibri"/>
              <a:sym typeface="Calibri"/>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do {</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flag[j] = true;</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turn = i;</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while(flag[i] &amp;&amp; turn == i);</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critical section</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flag[j] = false;</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Remainder section </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 while(True);</a:t>
            </a:r>
            <a:endParaRPr/>
          </a:p>
          <a:p>
            <a:pPr marL="0" lvl="0" indent="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pic>
        <p:nvPicPr>
          <p:cNvPr id="643" name="Google Shape;643;p77"/>
          <p:cNvPicPr preferRelativeResize="0"/>
          <p:nvPr/>
        </p:nvPicPr>
        <p:blipFill rotWithShape="1">
          <a:blip r:embed="rId3">
            <a:alphaModFix/>
          </a:blip>
          <a:srcRect/>
          <a:stretch/>
        </p:blipFill>
        <p:spPr>
          <a:xfrm>
            <a:off x="6096000" y="882857"/>
            <a:ext cx="5910942" cy="4244314"/>
          </a:xfrm>
          <a:prstGeom prst="rect">
            <a:avLst/>
          </a:prstGeom>
          <a:noFill/>
          <a:ln>
            <a:noFill/>
          </a:ln>
        </p:spPr>
      </p:pic>
      <p:sp>
        <p:nvSpPr>
          <p:cNvPr id="644" name="Google Shape;644;p77"/>
          <p:cNvSpPr txBox="1"/>
          <p:nvPr/>
        </p:nvSpPr>
        <p:spPr>
          <a:xfrm>
            <a:off x="6721930" y="250370"/>
            <a:ext cx="6106884" cy="46487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800" b="1">
                <a:solidFill>
                  <a:schemeClr val="dk1"/>
                </a:solidFill>
                <a:latin typeface="Calibri"/>
                <a:ea typeface="Calibri"/>
                <a:cs typeface="Calibri"/>
                <a:sym typeface="Calibri"/>
              </a:rPr>
              <a:t>The structure of process P</a:t>
            </a:r>
            <a:r>
              <a:rPr lang="en-US" sz="1800" b="1" baseline="-25000">
                <a:solidFill>
                  <a:schemeClr val="dk1"/>
                </a:solidFill>
                <a:latin typeface="Calibri"/>
                <a:ea typeface="Calibri"/>
                <a:cs typeface="Calibri"/>
                <a:sym typeface="Calibri"/>
              </a:rPr>
              <a:t>i</a:t>
            </a:r>
            <a:r>
              <a:rPr lang="en-US" sz="1800" b="1">
                <a:solidFill>
                  <a:schemeClr val="dk1"/>
                </a:solidFill>
                <a:latin typeface="Calibri"/>
                <a:ea typeface="Calibri"/>
                <a:cs typeface="Calibri"/>
                <a:sym typeface="Calibri"/>
              </a:rPr>
              <a:t> in Peterson’s solution</a:t>
            </a:r>
            <a:endParaRPr sz="1800" b="1">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8"/>
          <p:cNvSpPr txBox="1">
            <a:spLocks noGrp="1"/>
          </p:cNvSpPr>
          <p:nvPr>
            <p:ph type="body" idx="1"/>
          </p:nvPr>
        </p:nvSpPr>
        <p:spPr>
          <a:xfrm>
            <a:off x="2579914" y="130629"/>
            <a:ext cx="9448800" cy="65532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To enter the critical-section,</a:t>
            </a:r>
            <a:endParaRPr sz="2000">
              <a:latin typeface="Calibri"/>
              <a:ea typeface="Calibri"/>
              <a:cs typeface="Calibri"/>
              <a:sym typeface="Calibri"/>
            </a:endParaRPr>
          </a:p>
          <a:p>
            <a:pPr marL="0" lvl="0" indent="0" algn="just" rtl="0">
              <a:lnSpc>
                <a:spcPct val="150000"/>
              </a:lnSpc>
              <a:spcBef>
                <a:spcPts val="1800"/>
              </a:spcBef>
              <a:spcAft>
                <a:spcPts val="0"/>
              </a:spcAft>
              <a:buClr>
                <a:srgbClr val="000000"/>
              </a:buClr>
              <a:buSzPts val="2000"/>
              <a:buNone/>
            </a:pPr>
            <a:r>
              <a:rPr lang="en-US" sz="2000">
                <a:solidFill>
                  <a:srgbClr val="000000"/>
                </a:solidFill>
                <a:latin typeface="Calibri"/>
                <a:ea typeface="Calibri"/>
                <a:cs typeface="Calibri"/>
                <a:sym typeface="Calibri"/>
              </a:rPr>
              <a:t>Firstly process Pi sets flag [i] to be true and</a:t>
            </a:r>
            <a:endParaRPr sz="2000">
              <a:solidFill>
                <a:srgbClr val="000000"/>
              </a:solidFill>
              <a:latin typeface="Calibri"/>
              <a:ea typeface="Calibri"/>
              <a:cs typeface="Calibri"/>
              <a:sym typeface="Calibri"/>
            </a:endParaRPr>
          </a:p>
          <a:p>
            <a:pPr marL="0" lvl="0" indent="0" algn="just" rtl="0">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Then sets turn to the value j.</a:t>
            </a:r>
            <a:endParaRPr sz="2000">
              <a:solidFill>
                <a:srgbClr val="000000"/>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If both processes try to enter at the same time, turn will be set to both i and j at roughly the same time.</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final value of turn determines which of the 2 processes is allowed to enter its critical-section first. To prove that this solution is correct, we show that:</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Mutual-exclusion is preserved.</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progress requirement is satisfied.</a:t>
            </a: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bounded-waiting requirement is met</a:t>
            </a:r>
            <a:endParaRPr sz="2000">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79"/>
          <p:cNvSpPr txBox="1">
            <a:spLocks noGrp="1"/>
          </p:cNvSpPr>
          <p:nvPr>
            <p:ph type="body" idx="1"/>
          </p:nvPr>
        </p:nvSpPr>
        <p:spPr>
          <a:xfrm>
            <a:off x="2634343" y="130628"/>
            <a:ext cx="9481457" cy="6596743"/>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FF"/>
              </a:buClr>
              <a:buSzPts val="2000"/>
              <a:buNone/>
            </a:pPr>
            <a:r>
              <a:rPr lang="en-US" sz="2000" b="1">
                <a:solidFill>
                  <a:srgbClr val="0000FF"/>
                </a:solidFill>
                <a:latin typeface="Calibri"/>
                <a:ea typeface="Calibri"/>
                <a:cs typeface="Calibri"/>
                <a:sym typeface="Calibri"/>
              </a:rPr>
              <a:t>Test and Set Lock</a:t>
            </a:r>
            <a:r>
              <a:rPr lang="en-US" sz="2000">
                <a:latin typeface="Calibri"/>
                <a:ea typeface="Calibri"/>
                <a:cs typeface="Calibri"/>
                <a:sym typeface="Calibri"/>
              </a:rPr>
              <a:t>: A hardware solution to the synchronization.</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There is a shared lock variable which can take either of two values, 0 or 1.</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Before entering into the critical section, a process inquires about the lock.</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If it is locked, it keeps on waiting till it becomes free.</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If it is not locked, it takes the lock and executes the critical section.</a:t>
            </a:r>
            <a:endParaRPr/>
          </a:p>
        </p:txBody>
      </p:sp>
      <p:pic>
        <p:nvPicPr>
          <p:cNvPr id="655" name="Google Shape;655;p79"/>
          <p:cNvPicPr preferRelativeResize="0"/>
          <p:nvPr/>
        </p:nvPicPr>
        <p:blipFill rotWithShape="1">
          <a:blip r:embed="rId3">
            <a:alphaModFix/>
          </a:blip>
          <a:srcRect/>
          <a:stretch/>
        </p:blipFill>
        <p:spPr>
          <a:xfrm>
            <a:off x="6674983" y="2862943"/>
            <a:ext cx="4831217" cy="3494314"/>
          </a:xfrm>
          <a:prstGeom prst="rect">
            <a:avLst/>
          </a:prstGeom>
          <a:noFill/>
          <a:ln>
            <a:noFill/>
          </a:ln>
        </p:spPr>
      </p:pic>
      <p:sp>
        <p:nvSpPr>
          <p:cNvPr id="656" name="Google Shape;656;p79"/>
          <p:cNvSpPr txBox="1"/>
          <p:nvPr/>
        </p:nvSpPr>
        <p:spPr>
          <a:xfrm>
            <a:off x="6096000" y="6351708"/>
            <a:ext cx="6106884" cy="506292"/>
          </a:xfrm>
          <a:prstGeom prst="rect">
            <a:avLst/>
          </a:prstGeom>
          <a:noFill/>
          <a:ln>
            <a:noFill/>
          </a:ln>
        </p:spPr>
        <p:txBody>
          <a:bodyPr spcFirstLastPara="1" wrap="square" lIns="91425" tIns="45700" rIns="91425" bIns="45700" anchor="t" anchorCtr="0">
            <a:spAutoFit/>
          </a:bodyPr>
          <a:lstStyle/>
          <a:p>
            <a:pPr marL="0" marR="0" lvl="0" indent="0" algn="r" rtl="0">
              <a:lnSpc>
                <a:spcPct val="150000"/>
              </a:lnSpc>
              <a:spcBef>
                <a:spcPts val="0"/>
              </a:spcBef>
              <a:spcAft>
                <a:spcPts val="0"/>
              </a:spcAft>
              <a:buNone/>
            </a:pPr>
            <a:r>
              <a:rPr lang="en-US" sz="2000">
                <a:solidFill>
                  <a:schemeClr val="dk1"/>
                </a:solidFill>
                <a:latin typeface="Calibri"/>
                <a:ea typeface="Calibri"/>
                <a:cs typeface="Calibri"/>
                <a:sym typeface="Calibri"/>
              </a:rPr>
              <a:t>Solution to the critical section problem using locks.</a:t>
            </a:r>
            <a:endParaRPr sz="2000">
              <a:solidFill>
                <a:schemeClr val="dk1"/>
              </a:solidFill>
              <a:latin typeface="Calibri"/>
              <a:ea typeface="Calibri"/>
              <a:cs typeface="Calibri"/>
              <a:sym typeface="Calibri"/>
            </a:endParaRPr>
          </a:p>
        </p:txBody>
      </p:sp>
      <p:sp>
        <p:nvSpPr>
          <p:cNvPr id="657" name="Google Shape;657;p79"/>
          <p:cNvSpPr txBox="1"/>
          <p:nvPr/>
        </p:nvSpPr>
        <p:spPr>
          <a:xfrm>
            <a:off x="1341665" y="3444361"/>
            <a:ext cx="6144984" cy="276332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boolean TestAndSet (boolean *target) {</a:t>
            </a:r>
            <a:endParaRPr sz="2000">
              <a:solidFill>
                <a:schemeClr val="dk1"/>
              </a:solidFill>
              <a:latin typeface="Calibri"/>
              <a:ea typeface="Calibri"/>
              <a:cs typeface="Calibri"/>
              <a:sym typeface="Calibri"/>
            </a:endParaRPr>
          </a:p>
          <a:p>
            <a:pPr marL="0" marR="0" lvl="0" indent="0" algn="ctr" rtl="0">
              <a:lnSpc>
                <a:spcPct val="150000"/>
              </a:lnSpc>
              <a:spcBef>
                <a:spcPts val="80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boolean rv = *target;</a:t>
            </a:r>
            <a:endParaRPr sz="2000">
              <a:solidFill>
                <a:schemeClr val="dk1"/>
              </a:solidFill>
              <a:latin typeface="Calibri"/>
              <a:ea typeface="Calibri"/>
              <a:cs typeface="Calibri"/>
              <a:sym typeface="Calibri"/>
            </a:endParaRPr>
          </a:p>
          <a:p>
            <a:pPr marL="0" marR="0" lvl="0" indent="0" algn="ctr" rtl="0">
              <a:lnSpc>
                <a:spcPct val="150000"/>
              </a:lnSpc>
              <a:spcBef>
                <a:spcPts val="80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*target = TRUE;</a:t>
            </a:r>
            <a:endParaRPr sz="2000">
              <a:solidFill>
                <a:schemeClr val="dk1"/>
              </a:solidFill>
              <a:latin typeface="Calibri"/>
              <a:ea typeface="Calibri"/>
              <a:cs typeface="Calibri"/>
              <a:sym typeface="Calibri"/>
            </a:endParaRPr>
          </a:p>
          <a:p>
            <a:pPr marL="0" marR="0" lvl="0" indent="0" algn="ctr" rtl="0">
              <a:lnSpc>
                <a:spcPct val="150000"/>
              </a:lnSpc>
              <a:spcBef>
                <a:spcPts val="80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return rv;</a:t>
            </a:r>
            <a:endParaRPr sz="2000">
              <a:solidFill>
                <a:schemeClr val="dk1"/>
              </a:solidFill>
              <a:latin typeface="Calibri"/>
              <a:ea typeface="Calibri"/>
              <a:cs typeface="Calibri"/>
              <a:sym typeface="Calibri"/>
            </a:endParaRPr>
          </a:p>
          <a:p>
            <a:pPr marL="0" marR="0" lvl="0" indent="0" algn="ctr" rtl="0">
              <a:lnSpc>
                <a:spcPct val="150000"/>
              </a:lnSpc>
              <a:spcBef>
                <a:spcPts val="80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658" name="Google Shape;658;p79"/>
          <p:cNvSpPr txBox="1"/>
          <p:nvPr/>
        </p:nvSpPr>
        <p:spPr>
          <a:xfrm>
            <a:off x="1537608" y="6442462"/>
            <a:ext cx="6144984" cy="70044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Definition of the Test AndSet () instruction.</a:t>
            </a:r>
            <a:endParaRPr sz="18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1600">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80"/>
          <p:cNvSpPr txBox="1">
            <a:spLocks noGrp="1"/>
          </p:cNvSpPr>
          <p:nvPr>
            <p:ph type="body" idx="1"/>
          </p:nvPr>
        </p:nvSpPr>
        <p:spPr>
          <a:xfrm>
            <a:off x="2601686" y="130628"/>
            <a:ext cx="9427028" cy="6585857"/>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chemeClr val="dk1"/>
              </a:buClr>
              <a:buSzPts val="2000"/>
              <a:buNone/>
            </a:pPr>
            <a:r>
              <a:rPr lang="en-US" sz="2000">
                <a:latin typeface="Calibri"/>
                <a:ea typeface="Calibri"/>
                <a:cs typeface="Calibri"/>
                <a:sym typeface="Calibri"/>
              </a:rPr>
              <a:t>do {</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while (TestAndSetLock(&amp;lock))</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  //do nothing</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  //critical section</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lock = FALSE;</a:t>
            </a:r>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//remainder section</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}while (TRUE);</a:t>
            </a:r>
            <a:endParaRPr sz="2000">
              <a:latin typeface="Calibri"/>
              <a:ea typeface="Calibri"/>
              <a:cs typeface="Calibri"/>
              <a:sym typeface="Calibri"/>
            </a:endParaRPr>
          </a:p>
          <a:p>
            <a:pPr marL="0" lvl="0" indent="0" algn="l" rtl="0">
              <a:lnSpc>
                <a:spcPct val="150000"/>
              </a:lnSpc>
              <a:spcBef>
                <a:spcPts val="1800"/>
              </a:spcBef>
              <a:spcAft>
                <a:spcPts val="0"/>
              </a:spcAft>
              <a:buClr>
                <a:schemeClr val="dk1"/>
              </a:buClr>
              <a:buSzPts val="2000"/>
              <a:buNone/>
            </a:pPr>
            <a:r>
              <a:rPr lang="en-US" sz="2000">
                <a:latin typeface="Calibri"/>
                <a:ea typeface="Calibri"/>
                <a:cs typeface="Calibri"/>
                <a:sym typeface="Calibri"/>
              </a:rPr>
              <a:t>Satisfies mutual exclusion</a:t>
            </a:r>
            <a:endParaRPr/>
          </a:p>
          <a:p>
            <a:pPr marL="0" lvl="0" indent="0" algn="l" rtl="0">
              <a:lnSpc>
                <a:spcPct val="150000"/>
              </a:lnSpc>
              <a:spcBef>
                <a:spcPts val="1000"/>
              </a:spcBef>
              <a:spcAft>
                <a:spcPts val="0"/>
              </a:spcAft>
              <a:buClr>
                <a:schemeClr val="dk1"/>
              </a:buClr>
              <a:buSzPts val="2000"/>
              <a:buNone/>
            </a:pPr>
            <a:r>
              <a:rPr lang="en-US" sz="2000">
                <a:latin typeface="Calibri"/>
                <a:ea typeface="Calibri"/>
                <a:cs typeface="Calibri"/>
                <a:sym typeface="Calibri"/>
              </a:rPr>
              <a:t>Does not satisfy bounded waiting</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81"/>
          <p:cNvSpPr txBox="1">
            <a:spLocks noGrp="1"/>
          </p:cNvSpPr>
          <p:nvPr>
            <p:ph type="body" idx="1"/>
          </p:nvPr>
        </p:nvSpPr>
        <p:spPr>
          <a:xfrm>
            <a:off x="2569029" y="141514"/>
            <a:ext cx="9503228" cy="6553200"/>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Semaphores</a:t>
            </a:r>
            <a:endParaRPr sz="2400" b="1">
              <a:solidFill>
                <a:srgbClr val="FF0000"/>
              </a:solidFill>
              <a:latin typeface="Calibri"/>
              <a:ea typeface="Calibri"/>
              <a:cs typeface="Calibri"/>
              <a:sym typeface="Calibri"/>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Semaphore is simply a variable which is non negative and shared between threads. This variable is used to solve the critical section problem and to achieve process synchronization in multiprocessing </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A semaphore S is an integer variable that, apart from initialization, is accessed only through two standard atomic operations: wait () and signal (). </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wait () operation was originally termed P (from the Dutch proberen, "to test") </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Signal() was originally called V (from verhagen, "to increment"). </a:t>
            </a:r>
            <a:endParaRPr/>
          </a:p>
          <a:p>
            <a:pPr marL="0" lvl="0" indent="0" algn="just"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definition of wait () is as follows:</a:t>
            </a:r>
            <a:endParaRPr/>
          </a:p>
          <a:p>
            <a:pPr marL="0" lvl="0" indent="0" algn="just" rtl="0">
              <a:lnSpc>
                <a:spcPct val="150000"/>
              </a:lnSpc>
              <a:spcBef>
                <a:spcPts val="1800"/>
              </a:spcBef>
              <a:spcAft>
                <a:spcPts val="0"/>
              </a:spcAft>
              <a:buClr>
                <a:schemeClr val="dk1"/>
              </a:buClr>
              <a:buSzPts val="2000"/>
              <a:buNone/>
            </a:pPr>
            <a:endParaRPr sz="2000">
              <a:latin typeface="Calibri"/>
              <a:ea typeface="Calibri"/>
              <a:cs typeface="Calibri"/>
              <a:sym typeface="Calibri"/>
            </a:endParaRPr>
          </a:p>
          <a:p>
            <a:pPr marL="0" lvl="0" indent="0" algn="just" rtl="0">
              <a:lnSpc>
                <a:spcPct val="150000"/>
              </a:lnSpc>
              <a:spcBef>
                <a:spcPts val="1800"/>
              </a:spcBef>
              <a:spcAft>
                <a:spcPts val="0"/>
              </a:spcAft>
              <a:buClr>
                <a:schemeClr val="dk1"/>
              </a:buClr>
              <a:buSzPts val="1800"/>
              <a:buNone/>
            </a:pPr>
            <a:endParaRPr sz="1800">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82"/>
          <p:cNvSpPr txBox="1">
            <a:spLocks noGrp="1"/>
          </p:cNvSpPr>
          <p:nvPr>
            <p:ph type="body" idx="1"/>
          </p:nvPr>
        </p:nvSpPr>
        <p:spPr>
          <a:xfrm>
            <a:off x="2569029" y="141514"/>
            <a:ext cx="9503228" cy="6553200"/>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chemeClr val="dk1"/>
              </a:buClr>
              <a:buSzPts val="2000"/>
              <a:buNone/>
            </a:pPr>
            <a:r>
              <a:rPr lang="en-US" sz="2000">
                <a:latin typeface="Calibri"/>
                <a:ea typeface="Calibri"/>
                <a:cs typeface="Calibri"/>
                <a:sym typeface="Calibri"/>
              </a:rPr>
              <a:t>wait (S) {</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while S &lt;= 0</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 </a:t>
            </a:r>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S--;</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The definition of signal () is as follows:</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signal (S) {</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S++;</a:t>
            </a:r>
            <a:endParaRPr sz="2000">
              <a:latin typeface="Calibri"/>
              <a:ea typeface="Calibri"/>
              <a:cs typeface="Calibri"/>
              <a:sym typeface="Calibri"/>
            </a:endParaRPr>
          </a:p>
          <a:p>
            <a:pPr marL="0" lvl="0" indent="0" algn="ctr" rtl="0">
              <a:lnSpc>
                <a:spcPct val="150000"/>
              </a:lnSpc>
              <a:spcBef>
                <a:spcPts val="1800"/>
              </a:spcBef>
              <a:spcAft>
                <a:spcPts val="0"/>
              </a:spcAft>
              <a:buClr>
                <a:schemeClr val="dk1"/>
              </a:buClr>
              <a:buSzPts val="2000"/>
              <a:buNone/>
            </a:pPr>
            <a:r>
              <a:rPr lang="en-US" sz="2000">
                <a:latin typeface="Calibri"/>
                <a:ea typeface="Calibri"/>
                <a:cs typeface="Calibri"/>
                <a:sym typeface="Calibri"/>
              </a:rPr>
              <a:t>}</a:t>
            </a:r>
            <a:endParaRPr sz="2000">
              <a:latin typeface="Calibri"/>
              <a:ea typeface="Calibri"/>
              <a:cs typeface="Calibri"/>
              <a:sym typeface="Calibri"/>
            </a:endParaRPr>
          </a:p>
          <a:p>
            <a:pPr marL="228600" lvl="0" indent="-101600" algn="l" rtl="0">
              <a:lnSpc>
                <a:spcPct val="90000"/>
              </a:lnSpc>
              <a:spcBef>
                <a:spcPts val="18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3"/>
          <p:cNvSpPr txBox="1">
            <a:spLocks noGrp="1"/>
          </p:cNvSpPr>
          <p:nvPr>
            <p:ph type="body" idx="1"/>
          </p:nvPr>
        </p:nvSpPr>
        <p:spPr>
          <a:xfrm>
            <a:off x="2569029" y="141514"/>
            <a:ext cx="9503228" cy="65532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All the modifications to the integer value of the semaphore in the wait() and signal() operations must be executed indivisibly. That is, when one process modifies the semaphore value, no other process can simultaneously modify that same semaphore value.</a:t>
            </a:r>
            <a:endParaRPr/>
          </a:p>
          <a:p>
            <a:pPr marL="0" lvl="0" indent="0" algn="just" rtl="0">
              <a:lnSpc>
                <a:spcPct val="150000"/>
              </a:lnSpc>
              <a:spcBef>
                <a:spcPts val="1000"/>
              </a:spcBef>
              <a:spcAft>
                <a:spcPts val="0"/>
              </a:spcAft>
              <a:buClr>
                <a:schemeClr val="dk1"/>
              </a:buClr>
              <a:buSzPts val="2000"/>
              <a:buNone/>
            </a:pPr>
            <a:r>
              <a:rPr lang="en-US" sz="2000" b="1">
                <a:latin typeface="Calibri"/>
                <a:ea typeface="Calibri"/>
                <a:cs typeface="Calibri"/>
                <a:sym typeface="Calibri"/>
              </a:rPr>
              <a:t>Types of semaphores</a:t>
            </a:r>
            <a:endParaRPr/>
          </a:p>
          <a:p>
            <a:pPr marL="457200" lvl="0" indent="-457200" algn="just" rtl="0">
              <a:lnSpc>
                <a:spcPct val="150000"/>
              </a:lnSpc>
              <a:spcBef>
                <a:spcPts val="1000"/>
              </a:spcBef>
              <a:spcAft>
                <a:spcPts val="0"/>
              </a:spcAft>
              <a:buClr>
                <a:schemeClr val="dk1"/>
              </a:buClr>
              <a:buSzPts val="2000"/>
              <a:buAutoNum type="arabicPeriod"/>
            </a:pPr>
            <a:r>
              <a:rPr lang="en-US" sz="2000" b="1">
                <a:latin typeface="Calibri"/>
                <a:ea typeface="Calibri"/>
                <a:cs typeface="Calibri"/>
                <a:sym typeface="Calibri"/>
              </a:rPr>
              <a:t>Binary semaphores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value of a binary semaphore can range only between 0 and 1. On some systems, binary semaphores are known as mutex locks, as they are locks that provide mutual exclusion.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2.   </a:t>
            </a:r>
            <a:r>
              <a:rPr lang="en-US" sz="2000" b="1">
                <a:latin typeface="Calibri"/>
                <a:ea typeface="Calibri"/>
                <a:cs typeface="Calibri"/>
                <a:sym typeface="Calibri"/>
              </a:rPr>
              <a:t>C</a:t>
            </a:r>
            <a:r>
              <a:rPr lang="en-US" sz="2000" b="1">
                <a:latin typeface="Times New Roman"/>
                <a:ea typeface="Times New Roman"/>
                <a:cs typeface="Times New Roman"/>
                <a:sym typeface="Times New Roman"/>
              </a:rPr>
              <a:t>ounting semaphores</a:t>
            </a:r>
            <a:endParaRPr/>
          </a:p>
          <a:p>
            <a:pPr marL="0" lvl="0" indent="0" algn="just" rtl="0">
              <a:lnSpc>
                <a:spcPct val="15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The value of a counting semaphore can range over an unrestricted domain. It is used to control access to a resource that has multiple instances.</a:t>
            </a:r>
            <a:endParaRPr sz="2000">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4"/>
          <p:cNvSpPr txBox="1">
            <a:spLocks noGrp="1"/>
          </p:cNvSpPr>
          <p:nvPr>
            <p:ph type="body" idx="1"/>
          </p:nvPr>
        </p:nvSpPr>
        <p:spPr>
          <a:xfrm>
            <a:off x="2569029" y="141514"/>
            <a:ext cx="9503228" cy="6553200"/>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000"/>
              <a:buNone/>
            </a:pPr>
            <a:r>
              <a:rPr lang="en-US" sz="2000" b="1">
                <a:solidFill>
                  <a:srgbClr val="FF0000"/>
                </a:solidFill>
                <a:latin typeface="Calibri"/>
                <a:ea typeface="Calibri"/>
                <a:cs typeface="Calibri"/>
                <a:sym typeface="Calibri"/>
              </a:rPr>
              <a:t>Disadvantages of Semaphores</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The main disadvantage of the semaphore definition given here is that it requires busy waiting. </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While a process is in its critical section, any other process that tries to enter its critical section must loop continuously in the entry code.</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Busy waiting wastes CPU cycles that some other process might be able to use productively. </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This type of semaphore is also called a </a:t>
            </a:r>
            <a:r>
              <a:rPr lang="en-US" sz="2000" b="1">
                <a:latin typeface="Calibri"/>
                <a:ea typeface="Calibri"/>
                <a:cs typeface="Calibri"/>
                <a:sym typeface="Calibri"/>
              </a:rPr>
              <a:t>spinlock</a:t>
            </a:r>
            <a:r>
              <a:rPr lang="en-US" sz="2000">
                <a:latin typeface="Calibri"/>
                <a:ea typeface="Calibri"/>
                <a:cs typeface="Calibri"/>
                <a:sym typeface="Calibri"/>
              </a:rPr>
              <a:t> because the process "spins" while waiting for the lock.</a:t>
            </a:r>
            <a:endParaRPr sz="2000">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85"/>
          <p:cNvSpPr txBox="1">
            <a:spLocks noGrp="1"/>
          </p:cNvSpPr>
          <p:nvPr>
            <p:ph type="body" idx="1"/>
          </p:nvPr>
        </p:nvSpPr>
        <p:spPr>
          <a:xfrm>
            <a:off x="2558143" y="141514"/>
            <a:ext cx="9503228" cy="658585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To overcome the need for busy waiting, we can modify the definition of the wait () and signal () semaphore operations. </a:t>
            </a:r>
            <a:endParaRPr sz="2000">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When a process executes the wait () operation and finds that the semaphore value is not positive, it must wait.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However, rather than engaging in busy waiting, the process can block itself.</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 The block operation places a process into a waiting queue associated with the semaphore, and the state of the process is switched to the waiting state.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Then control is transferred to the CPU scheduler, which selects another process to execute.</a:t>
            </a:r>
            <a:endParaRPr sz="2000">
              <a:latin typeface="Calibri"/>
              <a:ea typeface="Calibri"/>
              <a:cs typeface="Calibri"/>
              <a:sym typeface="Calibri"/>
            </a:endParaRPr>
          </a:p>
          <a:p>
            <a:pPr marL="0" lvl="0" indent="0" algn="just" rtl="0">
              <a:lnSpc>
                <a:spcPct val="150000"/>
              </a:lnSpc>
              <a:spcBef>
                <a:spcPts val="1000"/>
              </a:spcBef>
              <a:spcAft>
                <a:spcPts val="0"/>
              </a:spcAft>
              <a:buClr>
                <a:schemeClr val="dk1"/>
              </a:buClr>
              <a:buSzPts val="1800"/>
              <a:buNone/>
            </a:pPr>
            <a:endParaRPr sz="1800">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86"/>
          <p:cNvSpPr txBox="1">
            <a:spLocks noGrp="1"/>
          </p:cNvSpPr>
          <p:nvPr>
            <p:ph type="body" idx="1"/>
          </p:nvPr>
        </p:nvSpPr>
        <p:spPr>
          <a:xfrm>
            <a:off x="2558143" y="0"/>
            <a:ext cx="9503228" cy="6629400"/>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000"/>
              <a:buNone/>
            </a:pPr>
            <a:r>
              <a:rPr lang="en-US" sz="2000" b="1">
                <a:solidFill>
                  <a:srgbClr val="FF0000"/>
                </a:solidFill>
                <a:latin typeface="Calibri"/>
                <a:ea typeface="Calibri"/>
                <a:cs typeface="Calibri"/>
                <a:sym typeface="Calibri"/>
              </a:rPr>
              <a:t>Deadlocks and Starvation</a:t>
            </a:r>
            <a:endParaRPr sz="2000" b="1">
              <a:solidFill>
                <a:srgbClr val="FF0000"/>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implementation of a semaphore with a waiting queue may result in a situation where two or more processes are waiting indefinitely for an event that can be caused only by one of the waiting processes.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event in question is the execution of a signal 0 operation. When such a state is reached, these processes are said to be deadlocked.</a:t>
            </a:r>
            <a:endParaRPr sz="2000">
              <a:latin typeface="Calibri"/>
              <a:ea typeface="Calibri"/>
              <a:cs typeface="Calibri"/>
              <a:sym typeface="Calibri"/>
            </a:endParaRPr>
          </a:p>
          <a:p>
            <a:pPr marL="228600" lvl="0" indent="-10160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pic>
        <p:nvPicPr>
          <p:cNvPr id="694" name="Google Shape;694;p86"/>
          <p:cNvPicPr preferRelativeResize="0"/>
          <p:nvPr/>
        </p:nvPicPr>
        <p:blipFill rotWithShape="1">
          <a:blip r:embed="rId3">
            <a:alphaModFix/>
          </a:blip>
          <a:srcRect/>
          <a:stretch/>
        </p:blipFill>
        <p:spPr>
          <a:xfrm>
            <a:off x="3799116" y="3058886"/>
            <a:ext cx="7075713" cy="3690257"/>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87"/>
          <p:cNvSpPr txBox="1">
            <a:spLocks noGrp="1"/>
          </p:cNvSpPr>
          <p:nvPr>
            <p:ph type="body" idx="1"/>
          </p:nvPr>
        </p:nvSpPr>
        <p:spPr>
          <a:xfrm>
            <a:off x="2601686" y="87086"/>
            <a:ext cx="9427028" cy="667294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Classic Problems of Synchronization</a:t>
            </a:r>
            <a:endParaRPr sz="2400">
              <a:solidFill>
                <a:srgbClr val="FF0000"/>
              </a:solidFill>
              <a:latin typeface="Calibri"/>
              <a:ea typeface="Calibri"/>
              <a:cs typeface="Calibri"/>
              <a:sym typeface="Calibri"/>
            </a:endParaRPr>
          </a:p>
          <a:p>
            <a:pPr marL="0" lvl="0" indent="0" algn="ctr" rtl="0">
              <a:lnSpc>
                <a:spcPct val="90000"/>
              </a:lnSpc>
              <a:spcBef>
                <a:spcPts val="1000"/>
              </a:spcBef>
              <a:spcAft>
                <a:spcPts val="0"/>
              </a:spcAft>
              <a:buClr>
                <a:srgbClr val="FF0000"/>
              </a:buClr>
              <a:buSzPts val="2400"/>
              <a:buNone/>
            </a:pPr>
            <a:r>
              <a:rPr lang="en-US" sz="2400" b="1">
                <a:solidFill>
                  <a:srgbClr val="FF0000"/>
                </a:solidFill>
                <a:latin typeface="Calibri"/>
                <a:ea typeface="Calibri"/>
                <a:cs typeface="Calibri"/>
                <a:sym typeface="Calibri"/>
              </a:rPr>
              <a:t>The Bounded-Buffer Problem</a:t>
            </a:r>
            <a:endParaRPr sz="2400">
              <a:solidFill>
                <a:srgbClr val="FF0000"/>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bounded buffer problem is one of the classic problems of synchronization.</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There is a buffer of n slots and each slot is capable of staring one unit of data.</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There are two processes running ,namely, producer and consumer, which are operating on the buffer.</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producer tries to insert data into an empty slot of the buffer.</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consumer tries to remove data from a filled slot in the buffer.</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producer must not insert data when the buffer is full.</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consumer must not remove data when the buffer is empty.</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producer and consumer should not insert and remove data simultaneously.</a:t>
            </a:r>
            <a:endParaRPr sz="2000">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88"/>
          <p:cNvSpPr txBox="1">
            <a:spLocks noGrp="1"/>
          </p:cNvSpPr>
          <p:nvPr>
            <p:ph type="body" idx="1"/>
          </p:nvPr>
        </p:nvSpPr>
        <p:spPr>
          <a:xfrm>
            <a:off x="2590800" y="152400"/>
            <a:ext cx="9383486" cy="6574971"/>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FF"/>
              </a:buClr>
              <a:buSzPts val="2000"/>
              <a:buNone/>
            </a:pPr>
            <a:r>
              <a:rPr lang="en-US" sz="2000" b="1">
                <a:solidFill>
                  <a:srgbClr val="0000FF"/>
                </a:solidFill>
                <a:latin typeface="Calibri"/>
                <a:ea typeface="Calibri"/>
                <a:cs typeface="Calibri"/>
                <a:sym typeface="Calibri"/>
              </a:rPr>
              <a:t>Solution to the Bounded Buffer Problem using semaphores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We will make use of 3 semaphores</a:t>
            </a:r>
            <a:endParaRPr/>
          </a:p>
          <a:p>
            <a:pPr marL="228600" lvl="0" indent="-228600" algn="just" rtl="0">
              <a:lnSpc>
                <a:spcPct val="150000"/>
              </a:lnSpc>
              <a:spcBef>
                <a:spcPts val="1000"/>
              </a:spcBef>
              <a:spcAft>
                <a:spcPts val="0"/>
              </a:spcAft>
              <a:buClr>
                <a:srgbClr val="0000FF"/>
              </a:buClr>
              <a:buSzPts val="2000"/>
              <a:buChar char="•"/>
            </a:pPr>
            <a:r>
              <a:rPr lang="en-US" sz="2000">
                <a:solidFill>
                  <a:srgbClr val="0000FF"/>
                </a:solidFill>
                <a:latin typeface="Calibri"/>
                <a:ea typeface="Calibri"/>
                <a:cs typeface="Calibri"/>
                <a:sym typeface="Calibri"/>
              </a:rPr>
              <a:t>m(mutex), </a:t>
            </a:r>
            <a:r>
              <a:rPr lang="en-US" sz="2000">
                <a:latin typeface="Calibri"/>
                <a:ea typeface="Calibri"/>
                <a:cs typeface="Calibri"/>
                <a:sym typeface="Calibri"/>
              </a:rPr>
              <a:t>a binary semaphore which is used to acquire and release the lock.</a:t>
            </a:r>
            <a:endParaRPr/>
          </a:p>
          <a:p>
            <a:pPr marL="228600" lvl="0" indent="-228600" algn="just" rtl="0">
              <a:lnSpc>
                <a:spcPct val="150000"/>
              </a:lnSpc>
              <a:spcBef>
                <a:spcPts val="1000"/>
              </a:spcBef>
              <a:spcAft>
                <a:spcPts val="0"/>
              </a:spcAft>
              <a:buClr>
                <a:srgbClr val="0000FF"/>
              </a:buClr>
              <a:buSzPts val="2000"/>
              <a:buChar char="•"/>
            </a:pPr>
            <a:r>
              <a:rPr lang="en-US" sz="2000">
                <a:solidFill>
                  <a:srgbClr val="0000FF"/>
                </a:solidFill>
                <a:latin typeface="Calibri"/>
                <a:ea typeface="Calibri"/>
                <a:cs typeface="Calibri"/>
                <a:sym typeface="Calibri"/>
              </a:rPr>
              <a:t>Empty,</a:t>
            </a:r>
            <a:r>
              <a:rPr lang="en-US" sz="2000">
                <a:latin typeface="Calibri"/>
                <a:ea typeface="Calibri"/>
                <a:cs typeface="Calibri"/>
                <a:sym typeface="Calibri"/>
              </a:rPr>
              <a:t> a counting semaphore whose initial value is the number of slots in the buffer, since, initially all slots are empty.</a:t>
            </a:r>
            <a:endParaRPr/>
          </a:p>
          <a:p>
            <a:pPr marL="228600" lvl="0" indent="-228600" algn="just" rtl="0">
              <a:lnSpc>
                <a:spcPct val="150000"/>
              </a:lnSpc>
              <a:spcBef>
                <a:spcPts val="1000"/>
              </a:spcBef>
              <a:spcAft>
                <a:spcPts val="0"/>
              </a:spcAft>
              <a:buClr>
                <a:srgbClr val="0000FF"/>
              </a:buClr>
              <a:buSzPts val="2000"/>
              <a:buChar char="•"/>
            </a:pPr>
            <a:r>
              <a:rPr lang="en-US" sz="2000">
                <a:solidFill>
                  <a:srgbClr val="0000FF"/>
                </a:solidFill>
                <a:latin typeface="Calibri"/>
                <a:ea typeface="Calibri"/>
                <a:cs typeface="Calibri"/>
                <a:sym typeface="Calibri"/>
              </a:rPr>
              <a:t>Full,</a:t>
            </a:r>
            <a:r>
              <a:rPr lang="en-US" sz="2000">
                <a:latin typeface="Calibri"/>
                <a:ea typeface="Calibri"/>
                <a:cs typeface="Calibri"/>
                <a:sym typeface="Calibri"/>
              </a:rPr>
              <a:t> a counting semaphore whose initial value is 0</a:t>
            </a:r>
            <a:endParaRPr/>
          </a:p>
          <a:p>
            <a:pPr marL="228600" lvl="0" indent="-101600" algn="just" rtl="0">
              <a:lnSpc>
                <a:spcPct val="15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89"/>
          <p:cNvSpPr txBox="1">
            <a:spLocks noGrp="1"/>
          </p:cNvSpPr>
          <p:nvPr>
            <p:ph type="body" idx="1"/>
          </p:nvPr>
        </p:nvSpPr>
        <p:spPr>
          <a:xfrm>
            <a:off x="2569029" y="152400"/>
            <a:ext cx="9514114" cy="656408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0000"/>
              </a:buClr>
              <a:buSzPts val="2000"/>
              <a:buNone/>
            </a:pPr>
            <a:r>
              <a:rPr lang="en-US" sz="2000" b="1">
                <a:solidFill>
                  <a:srgbClr val="FF0000"/>
                </a:solidFill>
                <a:latin typeface="Calibri"/>
                <a:ea typeface="Calibri"/>
                <a:cs typeface="Calibri"/>
                <a:sym typeface="Calibri"/>
              </a:rPr>
              <a:t>Structure of Producer process</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do{</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wait(empty);  </a:t>
            </a:r>
            <a:r>
              <a:rPr lang="en-US" sz="2000">
                <a:solidFill>
                  <a:srgbClr val="0000FF"/>
                </a:solidFill>
                <a:latin typeface="Calibri"/>
                <a:ea typeface="Calibri"/>
                <a:cs typeface="Calibri"/>
                <a:sym typeface="Calibri"/>
              </a:rPr>
              <a:t>// wait until empty &gt; 0 and then decrement ‘empty’</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wait(mutex);    </a:t>
            </a:r>
            <a:r>
              <a:rPr lang="en-US" sz="2000">
                <a:solidFill>
                  <a:srgbClr val="0000FF"/>
                </a:solidFill>
                <a:latin typeface="Calibri"/>
                <a:ea typeface="Calibri"/>
                <a:cs typeface="Calibri"/>
                <a:sym typeface="Calibri"/>
              </a:rPr>
              <a:t>//acquire lock</a:t>
            </a:r>
            <a:endParaRPr/>
          </a:p>
          <a:p>
            <a:pPr marL="0" lvl="0" indent="0" algn="l" rtl="0">
              <a:lnSpc>
                <a:spcPct val="9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//add  data  to buffer//</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signal(mutex);   </a:t>
            </a:r>
            <a:r>
              <a:rPr lang="en-US" sz="2000">
                <a:solidFill>
                  <a:srgbClr val="0000FF"/>
                </a:solidFill>
                <a:latin typeface="Calibri"/>
                <a:ea typeface="Calibri"/>
                <a:cs typeface="Calibri"/>
                <a:sym typeface="Calibri"/>
              </a:rPr>
              <a:t>//release lock</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signal(full);    </a:t>
            </a:r>
            <a:r>
              <a:rPr lang="en-US" sz="2000">
                <a:solidFill>
                  <a:srgbClr val="0000FF"/>
                </a:solidFill>
                <a:latin typeface="Calibri"/>
                <a:ea typeface="Calibri"/>
                <a:cs typeface="Calibri"/>
                <a:sym typeface="Calibri"/>
              </a:rPr>
              <a:t>// increment  ‘full</a:t>
            </a:r>
            <a:r>
              <a:rPr lang="en-US" sz="2000">
                <a:latin typeface="Calibri"/>
                <a:ea typeface="Calibri"/>
                <a:cs typeface="Calibri"/>
                <a:sym typeface="Calibri"/>
              </a:rPr>
              <a:t>’</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 while(True)</a:t>
            </a:r>
            <a:endParaRPr/>
          </a:p>
          <a:p>
            <a:pPr marL="0" lvl="0" indent="0" algn="ctr" rtl="0">
              <a:lnSpc>
                <a:spcPct val="90000"/>
              </a:lnSpc>
              <a:spcBef>
                <a:spcPts val="1000"/>
              </a:spcBef>
              <a:spcAft>
                <a:spcPts val="0"/>
              </a:spcAft>
              <a:buClr>
                <a:srgbClr val="FF0000"/>
              </a:buClr>
              <a:buSzPts val="2000"/>
              <a:buNone/>
            </a:pPr>
            <a:r>
              <a:rPr lang="en-US" sz="2000" b="1">
                <a:solidFill>
                  <a:srgbClr val="FF0000"/>
                </a:solidFill>
                <a:latin typeface="Calibri"/>
                <a:ea typeface="Calibri"/>
                <a:cs typeface="Calibri"/>
                <a:sym typeface="Calibri"/>
              </a:rPr>
              <a:t>Structure of Consumer process</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do{</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wait(full);    </a:t>
            </a:r>
            <a:r>
              <a:rPr lang="en-US" sz="2000">
                <a:solidFill>
                  <a:srgbClr val="0000FF"/>
                </a:solidFill>
                <a:latin typeface="Calibri"/>
                <a:ea typeface="Calibri"/>
                <a:cs typeface="Calibri"/>
                <a:sym typeface="Calibri"/>
              </a:rPr>
              <a:t>// wait until full&gt; 0 and then decrement ‘full’</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wait(mutex);    </a:t>
            </a:r>
            <a:r>
              <a:rPr lang="en-US" sz="2000">
                <a:solidFill>
                  <a:srgbClr val="0000FF"/>
                </a:solidFill>
                <a:latin typeface="Calibri"/>
                <a:ea typeface="Calibri"/>
                <a:cs typeface="Calibri"/>
                <a:sym typeface="Calibri"/>
              </a:rPr>
              <a:t>//acquire lock</a:t>
            </a:r>
            <a:endParaRPr/>
          </a:p>
          <a:p>
            <a:pPr marL="0" lvl="0" indent="0" algn="l" rtl="0">
              <a:lnSpc>
                <a:spcPct val="9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//remove  data  from buffer//</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signal(mutex);   </a:t>
            </a:r>
            <a:r>
              <a:rPr lang="en-US" sz="2000">
                <a:solidFill>
                  <a:srgbClr val="0000FF"/>
                </a:solidFill>
                <a:latin typeface="Calibri"/>
                <a:ea typeface="Calibri"/>
                <a:cs typeface="Calibri"/>
                <a:sym typeface="Calibri"/>
              </a:rPr>
              <a:t>//release lock</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signal(empty);   </a:t>
            </a:r>
            <a:r>
              <a:rPr lang="en-US" sz="2000">
                <a:solidFill>
                  <a:srgbClr val="0000FF"/>
                </a:solidFill>
                <a:latin typeface="Calibri"/>
                <a:ea typeface="Calibri"/>
                <a:cs typeface="Calibri"/>
                <a:sym typeface="Calibri"/>
              </a:rPr>
              <a:t>// increment  ‘empty’</a:t>
            </a:r>
            <a:endParaRPr/>
          </a:p>
          <a:p>
            <a:pPr marL="0" lvl="0" indent="0" algn="l" rtl="0">
              <a:lnSpc>
                <a:spcPct val="90000"/>
              </a:lnSpc>
              <a:spcBef>
                <a:spcPts val="1000"/>
              </a:spcBef>
              <a:spcAft>
                <a:spcPts val="0"/>
              </a:spcAft>
              <a:buClr>
                <a:schemeClr val="dk1"/>
              </a:buClr>
              <a:buSzPts val="2000"/>
              <a:buNone/>
            </a:pPr>
            <a:r>
              <a:rPr lang="en-US" sz="2000">
                <a:latin typeface="Calibri"/>
                <a:ea typeface="Calibri"/>
                <a:cs typeface="Calibri"/>
                <a:sym typeface="Calibri"/>
              </a:rPr>
              <a:t>} while(True)</a:t>
            </a:r>
            <a:endParaRPr/>
          </a:p>
          <a:p>
            <a:pPr marL="0" lvl="0" indent="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90"/>
          <p:cNvSpPr txBox="1">
            <a:spLocks noGrp="1"/>
          </p:cNvSpPr>
          <p:nvPr>
            <p:ph type="body" idx="1"/>
          </p:nvPr>
        </p:nvSpPr>
        <p:spPr>
          <a:xfrm>
            <a:off x="2590799" y="152400"/>
            <a:ext cx="9427029" cy="6574971"/>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200"/>
              <a:buNone/>
            </a:pPr>
            <a:r>
              <a:rPr lang="en-US" sz="2200" b="1">
                <a:solidFill>
                  <a:srgbClr val="FF0000"/>
                </a:solidFill>
                <a:latin typeface="Calibri"/>
                <a:ea typeface="Calibri"/>
                <a:cs typeface="Calibri"/>
                <a:sym typeface="Calibri"/>
              </a:rPr>
              <a:t>The Readers-Writers Problem</a:t>
            </a:r>
            <a:endParaRPr sz="2200" b="1">
              <a:solidFill>
                <a:srgbClr val="FF0000"/>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ts val="2200"/>
              <a:buNone/>
            </a:pPr>
            <a:r>
              <a:rPr lang="en-US" sz="2200">
                <a:latin typeface="Calibri"/>
                <a:ea typeface="Calibri"/>
                <a:cs typeface="Calibri"/>
                <a:sym typeface="Calibri"/>
              </a:rPr>
              <a:t>A database is to be shared among several concurrent processes.</a:t>
            </a:r>
            <a:endParaRPr/>
          </a:p>
          <a:p>
            <a:pPr marL="0" lvl="0" indent="0" algn="just" rtl="0">
              <a:lnSpc>
                <a:spcPct val="150000"/>
              </a:lnSpc>
              <a:spcBef>
                <a:spcPts val="1800"/>
              </a:spcBef>
              <a:spcAft>
                <a:spcPts val="0"/>
              </a:spcAft>
              <a:buClr>
                <a:schemeClr val="dk1"/>
              </a:buClr>
              <a:buSzPts val="2200"/>
              <a:buNone/>
            </a:pPr>
            <a:r>
              <a:rPr lang="en-US" sz="2200">
                <a:latin typeface="Calibri"/>
                <a:ea typeface="Calibri"/>
                <a:cs typeface="Calibri"/>
                <a:sym typeface="Calibri"/>
              </a:rPr>
              <a:t> Some of these processes may want only to read the database, whereas others may want to update (that is, to read and write) the database. </a:t>
            </a:r>
            <a:endParaRPr/>
          </a:p>
          <a:p>
            <a:pPr marL="0" lvl="0" indent="0" algn="just" rtl="0">
              <a:lnSpc>
                <a:spcPct val="150000"/>
              </a:lnSpc>
              <a:spcBef>
                <a:spcPts val="1800"/>
              </a:spcBef>
              <a:spcAft>
                <a:spcPts val="0"/>
              </a:spcAft>
              <a:buClr>
                <a:schemeClr val="dk1"/>
              </a:buClr>
              <a:buSzPts val="2200"/>
              <a:buNone/>
            </a:pPr>
            <a:r>
              <a:rPr lang="en-US" sz="2200">
                <a:latin typeface="Calibri"/>
                <a:ea typeface="Calibri"/>
                <a:cs typeface="Calibri"/>
                <a:sym typeface="Calibri"/>
              </a:rPr>
              <a:t>We distinguish between these two types of processes by referring to the former as </a:t>
            </a:r>
            <a:r>
              <a:rPr lang="en-US" sz="2200">
                <a:solidFill>
                  <a:srgbClr val="0000FF"/>
                </a:solidFill>
                <a:latin typeface="Calibri"/>
                <a:ea typeface="Calibri"/>
                <a:cs typeface="Calibri"/>
                <a:sym typeface="Calibri"/>
              </a:rPr>
              <a:t>readers and to the latter as writers. </a:t>
            </a:r>
            <a:endParaRPr/>
          </a:p>
          <a:p>
            <a:pPr marL="0" lvl="0" indent="0" algn="just" rtl="0">
              <a:lnSpc>
                <a:spcPct val="150000"/>
              </a:lnSpc>
              <a:spcBef>
                <a:spcPts val="1800"/>
              </a:spcBef>
              <a:spcAft>
                <a:spcPts val="0"/>
              </a:spcAft>
              <a:buClr>
                <a:schemeClr val="dk1"/>
              </a:buClr>
              <a:buSzPts val="2200"/>
              <a:buNone/>
            </a:pPr>
            <a:r>
              <a:rPr lang="en-US" sz="2200">
                <a:latin typeface="Calibri"/>
                <a:ea typeface="Calibri"/>
                <a:cs typeface="Calibri"/>
                <a:sym typeface="Calibri"/>
              </a:rPr>
              <a:t>Obviously, if two readers access the shared data simultaneously, no adverse effects will result. </a:t>
            </a:r>
            <a:endParaRPr/>
          </a:p>
          <a:p>
            <a:pPr marL="0" lvl="0" indent="0" algn="just" rtl="0">
              <a:lnSpc>
                <a:spcPct val="150000"/>
              </a:lnSpc>
              <a:spcBef>
                <a:spcPts val="1800"/>
              </a:spcBef>
              <a:spcAft>
                <a:spcPts val="0"/>
              </a:spcAft>
              <a:buClr>
                <a:schemeClr val="dk1"/>
              </a:buClr>
              <a:buSzPts val="2200"/>
              <a:buNone/>
            </a:pPr>
            <a:r>
              <a:rPr lang="en-US" sz="2200">
                <a:latin typeface="Calibri"/>
                <a:ea typeface="Calibri"/>
                <a:cs typeface="Calibri"/>
                <a:sym typeface="Calibri"/>
              </a:rPr>
              <a:t>However, if a writer and some other thread (either a reader or a writer) access the database simultaneously, chaos may ensue.</a:t>
            </a:r>
            <a:endParaRPr sz="2200">
              <a:latin typeface="Calibri"/>
              <a:ea typeface="Calibri"/>
              <a:cs typeface="Calibri"/>
              <a:sym typeface="Calibri"/>
            </a:endParaRPr>
          </a:p>
          <a:p>
            <a:pPr marL="0" lvl="0" indent="0" algn="l" rtl="0">
              <a:lnSpc>
                <a:spcPct val="90000"/>
              </a:lnSpc>
              <a:spcBef>
                <a:spcPts val="1800"/>
              </a:spcBef>
              <a:spcAft>
                <a:spcPts val="0"/>
              </a:spcAft>
              <a:buClr>
                <a:schemeClr val="dk1"/>
              </a:buClr>
              <a:buSzPts val="2400"/>
              <a:buNone/>
            </a:pPr>
            <a:endParaRPr sz="2400">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91"/>
          <p:cNvSpPr txBox="1">
            <a:spLocks noGrp="1"/>
          </p:cNvSpPr>
          <p:nvPr>
            <p:ph type="body" idx="1"/>
          </p:nvPr>
        </p:nvSpPr>
        <p:spPr>
          <a:xfrm>
            <a:off x="2590800" y="152400"/>
            <a:ext cx="9383486" cy="6574971"/>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To ensure that these difficulties do not arAI&amp;ML, we require that the writers have exclusive access to the shared database.</a:t>
            </a:r>
            <a:endParaRPr/>
          </a:p>
          <a:p>
            <a:pPr marL="0" lvl="0" indent="0" algn="just" rtl="0">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This synchronous problem is referred to as the readers – writers problem. </a:t>
            </a:r>
            <a:endParaRPr/>
          </a:p>
          <a:p>
            <a:pPr marL="0" lvl="0" indent="0" algn="just" rtl="0">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Solution to the readers – writers problem using semaphores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We will make use of two semaphores and an integer variable.</a:t>
            </a:r>
            <a:endParaRPr/>
          </a:p>
          <a:p>
            <a:pPr marL="457200" lvl="0" indent="-457200" algn="just" rtl="0">
              <a:lnSpc>
                <a:spcPct val="150000"/>
              </a:lnSpc>
              <a:spcBef>
                <a:spcPts val="1000"/>
              </a:spcBef>
              <a:spcAft>
                <a:spcPts val="0"/>
              </a:spcAft>
              <a:buClr>
                <a:srgbClr val="0000FF"/>
              </a:buClr>
              <a:buSzPts val="2000"/>
              <a:buAutoNum type="arabicPeriod"/>
            </a:pPr>
            <a:r>
              <a:rPr lang="en-US" sz="2000">
                <a:solidFill>
                  <a:srgbClr val="0000FF"/>
                </a:solidFill>
                <a:latin typeface="Calibri"/>
                <a:ea typeface="Calibri"/>
                <a:cs typeface="Calibri"/>
                <a:sym typeface="Calibri"/>
              </a:rPr>
              <a:t>mutex</a:t>
            </a:r>
            <a:r>
              <a:rPr lang="en-US" sz="2000">
                <a:latin typeface="Calibri"/>
                <a:ea typeface="Calibri"/>
                <a:cs typeface="Calibri"/>
                <a:sym typeface="Calibri"/>
              </a:rPr>
              <a:t>, a semaphore(initialized to 1) which is used to ensure mutual exclusion when the variable </a:t>
            </a:r>
            <a:r>
              <a:rPr lang="en-US" sz="2000">
                <a:solidFill>
                  <a:srgbClr val="0000FF"/>
                </a:solidFill>
                <a:latin typeface="Calibri"/>
                <a:ea typeface="Calibri"/>
                <a:cs typeface="Calibri"/>
                <a:sym typeface="Calibri"/>
              </a:rPr>
              <a:t>readcount </a:t>
            </a:r>
            <a:r>
              <a:rPr lang="en-US" sz="2000">
                <a:latin typeface="Calibri"/>
                <a:ea typeface="Calibri"/>
                <a:cs typeface="Calibri"/>
                <a:sym typeface="Calibri"/>
              </a:rPr>
              <a:t>is updated, that is when any reader enters or exit from the critical section. </a:t>
            </a:r>
            <a:endParaRPr/>
          </a:p>
          <a:p>
            <a:pPr marL="457200" lvl="0" indent="-457200" algn="just" rtl="0">
              <a:lnSpc>
                <a:spcPct val="150000"/>
              </a:lnSpc>
              <a:spcBef>
                <a:spcPts val="1000"/>
              </a:spcBef>
              <a:spcAft>
                <a:spcPts val="0"/>
              </a:spcAft>
              <a:buClr>
                <a:srgbClr val="0000FF"/>
              </a:buClr>
              <a:buSzPts val="2000"/>
              <a:buAutoNum type="arabicPeriod"/>
            </a:pPr>
            <a:r>
              <a:rPr lang="en-US" sz="2000">
                <a:solidFill>
                  <a:srgbClr val="0000FF"/>
                </a:solidFill>
                <a:latin typeface="Calibri"/>
                <a:ea typeface="Calibri"/>
                <a:cs typeface="Calibri"/>
                <a:sym typeface="Calibri"/>
              </a:rPr>
              <a:t>wrt</a:t>
            </a:r>
            <a:r>
              <a:rPr lang="en-US" sz="2000">
                <a:latin typeface="Calibri"/>
                <a:ea typeface="Calibri"/>
                <a:cs typeface="Calibri"/>
                <a:sym typeface="Calibri"/>
              </a:rPr>
              <a:t>, a semaphore (initialized to 1) common to both reader and writer processes.</a:t>
            </a:r>
            <a:endParaRPr/>
          </a:p>
          <a:p>
            <a:pPr marL="457200" lvl="0" indent="-457200" algn="just" rtl="0">
              <a:lnSpc>
                <a:spcPct val="150000"/>
              </a:lnSpc>
              <a:spcBef>
                <a:spcPts val="1000"/>
              </a:spcBef>
              <a:spcAft>
                <a:spcPts val="0"/>
              </a:spcAft>
              <a:buClr>
                <a:srgbClr val="0000FF"/>
              </a:buClr>
              <a:buSzPts val="2000"/>
              <a:buAutoNum type="arabicPeriod"/>
            </a:pPr>
            <a:r>
              <a:rPr lang="en-US" sz="2000">
                <a:solidFill>
                  <a:srgbClr val="0000FF"/>
                </a:solidFill>
                <a:latin typeface="Calibri"/>
                <a:ea typeface="Calibri"/>
                <a:cs typeface="Calibri"/>
                <a:sym typeface="Calibri"/>
              </a:rPr>
              <a:t>readcount, </a:t>
            </a:r>
            <a:r>
              <a:rPr lang="en-US" sz="2000">
                <a:latin typeface="Calibri"/>
                <a:ea typeface="Calibri"/>
                <a:cs typeface="Calibri"/>
                <a:sym typeface="Calibri"/>
              </a:rPr>
              <a:t>an integer variable (initialized to 0) that keeps track of how many processes are currently reading the object.</a:t>
            </a:r>
            <a:endParaRPr/>
          </a:p>
          <a:p>
            <a:pPr marL="0" lvl="0" indent="0" algn="just" rtl="0">
              <a:lnSpc>
                <a:spcPct val="15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pic>
        <p:nvPicPr>
          <p:cNvPr id="724" name="Google Shape;724;p92"/>
          <p:cNvPicPr preferRelativeResize="0">
            <a:picLocks noGrp="1"/>
          </p:cNvPicPr>
          <p:nvPr>
            <p:ph type="body" idx="1"/>
          </p:nvPr>
        </p:nvPicPr>
        <p:blipFill rotWithShape="1">
          <a:blip r:embed="rId3">
            <a:alphaModFix/>
          </a:blip>
          <a:srcRect/>
          <a:stretch/>
        </p:blipFill>
        <p:spPr>
          <a:xfrm>
            <a:off x="3113313" y="310414"/>
            <a:ext cx="6847115" cy="4108055"/>
          </a:xfrm>
          <a:prstGeom prst="rect">
            <a:avLst/>
          </a:prstGeom>
          <a:noFill/>
          <a:ln>
            <a:noFill/>
          </a:ln>
        </p:spPr>
      </p:pic>
      <p:sp>
        <p:nvSpPr>
          <p:cNvPr id="725" name="Google Shape;725;p92"/>
          <p:cNvSpPr txBox="1"/>
          <p:nvPr/>
        </p:nvSpPr>
        <p:spPr>
          <a:xfrm>
            <a:off x="3303816" y="4418469"/>
            <a:ext cx="6106884" cy="506292"/>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000">
                <a:solidFill>
                  <a:schemeClr val="dk1"/>
                </a:solidFill>
                <a:latin typeface="Calibri"/>
                <a:ea typeface="Calibri"/>
                <a:cs typeface="Calibri"/>
                <a:sym typeface="Calibri"/>
              </a:rPr>
              <a:t>The structure of writer process.</a:t>
            </a:r>
            <a:endParaRPr sz="2000">
              <a:solidFill>
                <a:schemeClr val="dk1"/>
              </a:solidFill>
              <a:latin typeface="Calibri"/>
              <a:ea typeface="Calibri"/>
              <a:cs typeface="Calibri"/>
              <a:sym typeface="Calibri"/>
            </a:endParaRPr>
          </a:p>
        </p:txBody>
      </p:sp>
      <p:sp>
        <p:nvSpPr>
          <p:cNvPr id="726" name="Google Shape;726;p92"/>
          <p:cNvSpPr txBox="1"/>
          <p:nvPr/>
        </p:nvSpPr>
        <p:spPr>
          <a:xfrm>
            <a:off x="7004958" y="688523"/>
            <a:ext cx="6106884"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Writer requests to the critical section </a:t>
            </a:r>
            <a:endParaRPr sz="1800">
              <a:solidFill>
                <a:srgbClr val="0000FF"/>
              </a:solidFill>
              <a:latin typeface="Calibri"/>
              <a:ea typeface="Calibri"/>
              <a:cs typeface="Calibri"/>
              <a:sym typeface="Calibri"/>
            </a:endParaRPr>
          </a:p>
        </p:txBody>
      </p:sp>
      <p:sp>
        <p:nvSpPr>
          <p:cNvPr id="727" name="Google Shape;727;p92"/>
          <p:cNvSpPr txBox="1"/>
          <p:nvPr/>
        </p:nvSpPr>
        <p:spPr>
          <a:xfrm>
            <a:off x="7146472" y="2568218"/>
            <a:ext cx="6564084" cy="774507"/>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Performs the write</a:t>
            </a:r>
            <a:endParaRPr sz="1800">
              <a:solidFill>
                <a:srgbClr val="0000FF"/>
              </a:solidFill>
              <a:latin typeface="Calibri"/>
              <a:ea typeface="Calibri"/>
              <a:cs typeface="Calibri"/>
              <a:sym typeface="Calibri"/>
            </a:endParaRPr>
          </a:p>
          <a:p>
            <a:pPr marL="0" marR="0" lvl="0" indent="0" algn="l" rtl="0">
              <a:lnSpc>
                <a:spcPct val="107000"/>
              </a:lnSpc>
              <a:spcBef>
                <a:spcPts val="800"/>
              </a:spcBef>
              <a:spcAft>
                <a:spcPts val="0"/>
              </a:spcAft>
              <a:buNone/>
            </a:pPr>
            <a:r>
              <a:rPr lang="en-US" sz="1800">
                <a:solidFill>
                  <a:srgbClr val="0000FF"/>
                </a:solidFill>
                <a:latin typeface="Calibri"/>
                <a:ea typeface="Calibri"/>
                <a:cs typeface="Calibri"/>
                <a:sym typeface="Calibri"/>
              </a:rPr>
              <a:t>Leaves the critical section </a:t>
            </a:r>
            <a:endParaRPr sz="1800">
              <a:solidFill>
                <a:srgbClr val="0000FF"/>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pic>
        <p:nvPicPr>
          <p:cNvPr id="732" name="Google Shape;732;p93"/>
          <p:cNvPicPr preferRelativeResize="0">
            <a:picLocks noGrp="1"/>
          </p:cNvPicPr>
          <p:nvPr>
            <p:ph type="body" idx="1"/>
          </p:nvPr>
        </p:nvPicPr>
        <p:blipFill rotWithShape="1">
          <a:blip r:embed="rId3">
            <a:alphaModFix/>
          </a:blip>
          <a:srcRect/>
          <a:stretch/>
        </p:blipFill>
        <p:spPr>
          <a:xfrm>
            <a:off x="810760" y="417910"/>
            <a:ext cx="6879770" cy="5015930"/>
          </a:xfrm>
          <a:prstGeom prst="rect">
            <a:avLst/>
          </a:prstGeom>
          <a:noFill/>
          <a:ln>
            <a:noFill/>
          </a:ln>
        </p:spPr>
      </p:pic>
      <p:sp>
        <p:nvSpPr>
          <p:cNvPr id="733" name="Google Shape;733;p93"/>
          <p:cNvSpPr txBox="1"/>
          <p:nvPr/>
        </p:nvSpPr>
        <p:spPr>
          <a:xfrm>
            <a:off x="4250645" y="5484017"/>
            <a:ext cx="6694714" cy="463397"/>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800">
                <a:solidFill>
                  <a:schemeClr val="dk1"/>
                </a:solidFill>
                <a:latin typeface="Calibri"/>
                <a:ea typeface="Calibri"/>
                <a:cs typeface="Calibri"/>
                <a:sym typeface="Calibri"/>
              </a:rPr>
              <a:t>The structure of writer process.</a:t>
            </a:r>
            <a:endParaRPr sz="1800">
              <a:solidFill>
                <a:schemeClr val="dk1"/>
              </a:solidFill>
              <a:latin typeface="Calibri"/>
              <a:ea typeface="Calibri"/>
              <a:cs typeface="Calibri"/>
              <a:sym typeface="Calibri"/>
            </a:endParaRPr>
          </a:p>
        </p:txBody>
      </p:sp>
      <p:sp>
        <p:nvSpPr>
          <p:cNvPr id="734" name="Google Shape;734;p93"/>
          <p:cNvSpPr txBox="1"/>
          <p:nvPr/>
        </p:nvSpPr>
        <p:spPr>
          <a:xfrm>
            <a:off x="6866051" y="1110007"/>
            <a:ext cx="6106884"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The number of readers is increased by 1</a:t>
            </a:r>
            <a:endParaRPr sz="1800">
              <a:solidFill>
                <a:srgbClr val="0000FF"/>
              </a:solidFill>
              <a:latin typeface="Calibri"/>
              <a:ea typeface="Calibri"/>
              <a:cs typeface="Calibri"/>
              <a:sym typeface="Calibri"/>
            </a:endParaRPr>
          </a:p>
        </p:txBody>
      </p:sp>
      <p:sp>
        <p:nvSpPr>
          <p:cNvPr id="735" name="Google Shape;735;p93"/>
          <p:cNvSpPr txBox="1"/>
          <p:nvPr/>
        </p:nvSpPr>
        <p:spPr>
          <a:xfrm>
            <a:off x="6474165" y="1751927"/>
            <a:ext cx="5717835"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This ensures no writer can enter if there is even one reader</a:t>
            </a:r>
            <a:endParaRPr sz="1800">
              <a:solidFill>
                <a:srgbClr val="0000FF"/>
              </a:solidFill>
              <a:latin typeface="Calibri"/>
              <a:ea typeface="Calibri"/>
              <a:cs typeface="Calibri"/>
              <a:sym typeface="Calibri"/>
            </a:endParaRPr>
          </a:p>
        </p:txBody>
      </p:sp>
      <p:sp>
        <p:nvSpPr>
          <p:cNvPr id="736" name="Google Shape;736;p93"/>
          <p:cNvSpPr txBox="1"/>
          <p:nvPr/>
        </p:nvSpPr>
        <p:spPr>
          <a:xfrm>
            <a:off x="6866051" y="2097484"/>
            <a:ext cx="6498770" cy="671915"/>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Other readers can enter while this current reader is inside the critical section</a:t>
            </a:r>
            <a:endParaRPr sz="1800">
              <a:solidFill>
                <a:srgbClr val="0000FF"/>
              </a:solidFill>
              <a:latin typeface="Calibri"/>
              <a:ea typeface="Calibri"/>
              <a:cs typeface="Calibri"/>
              <a:sym typeface="Calibri"/>
            </a:endParaRPr>
          </a:p>
        </p:txBody>
      </p:sp>
      <p:sp>
        <p:nvSpPr>
          <p:cNvPr id="737" name="Google Shape;737;p93"/>
          <p:cNvSpPr txBox="1"/>
          <p:nvPr/>
        </p:nvSpPr>
        <p:spPr>
          <a:xfrm>
            <a:off x="5382986" y="3109236"/>
            <a:ext cx="6694714"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Current reader performs reading here</a:t>
            </a:r>
            <a:endParaRPr sz="1800">
              <a:solidFill>
                <a:srgbClr val="0000FF"/>
              </a:solidFill>
              <a:latin typeface="Calibri"/>
              <a:ea typeface="Calibri"/>
              <a:cs typeface="Calibri"/>
              <a:sym typeface="Calibri"/>
            </a:endParaRPr>
          </a:p>
        </p:txBody>
      </p:sp>
      <p:sp>
        <p:nvSpPr>
          <p:cNvPr id="738" name="Google Shape;738;p93"/>
          <p:cNvSpPr txBox="1"/>
          <p:nvPr/>
        </p:nvSpPr>
        <p:spPr>
          <a:xfrm>
            <a:off x="5709558" y="3581237"/>
            <a:ext cx="6694714"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A reader wants to leave</a:t>
            </a:r>
            <a:endParaRPr sz="1800">
              <a:solidFill>
                <a:srgbClr val="0000FF"/>
              </a:solidFill>
              <a:latin typeface="Calibri"/>
              <a:ea typeface="Calibri"/>
              <a:cs typeface="Calibri"/>
              <a:sym typeface="Calibri"/>
            </a:endParaRPr>
          </a:p>
        </p:txBody>
      </p:sp>
      <p:sp>
        <p:nvSpPr>
          <p:cNvPr id="739" name="Google Shape;739;p93"/>
          <p:cNvSpPr txBox="1"/>
          <p:nvPr/>
        </p:nvSpPr>
        <p:spPr>
          <a:xfrm>
            <a:off x="6245337" y="3979608"/>
            <a:ext cx="6694714" cy="1173463"/>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a:solidFill>
                  <a:srgbClr val="0000FF"/>
                </a:solidFill>
                <a:latin typeface="Calibri"/>
                <a:ea typeface="Calibri"/>
                <a:cs typeface="Calibri"/>
                <a:sym typeface="Calibri"/>
              </a:rPr>
              <a:t>No reader is left in the critical section </a:t>
            </a:r>
            <a:endParaRPr sz="1800">
              <a:solidFill>
                <a:srgbClr val="0000FF"/>
              </a:solidFill>
              <a:latin typeface="Calibri"/>
              <a:ea typeface="Calibri"/>
              <a:cs typeface="Calibri"/>
              <a:sym typeface="Calibri"/>
            </a:endParaRPr>
          </a:p>
          <a:p>
            <a:pPr marL="0" marR="0" lvl="0" indent="0" algn="l" rtl="0">
              <a:lnSpc>
                <a:spcPct val="107000"/>
              </a:lnSpc>
              <a:spcBef>
                <a:spcPts val="800"/>
              </a:spcBef>
              <a:spcAft>
                <a:spcPts val="0"/>
              </a:spcAft>
              <a:buNone/>
            </a:pPr>
            <a:r>
              <a:rPr lang="en-US" sz="1800">
                <a:solidFill>
                  <a:srgbClr val="0000FF"/>
                </a:solidFill>
                <a:latin typeface="Calibri"/>
                <a:ea typeface="Calibri"/>
                <a:cs typeface="Calibri"/>
                <a:sym typeface="Calibri"/>
              </a:rPr>
              <a:t>Writers can enter</a:t>
            </a:r>
            <a:endParaRPr sz="1800">
              <a:solidFill>
                <a:srgbClr val="0000FF"/>
              </a:solidFill>
              <a:latin typeface="Calibri"/>
              <a:ea typeface="Calibri"/>
              <a:cs typeface="Calibri"/>
              <a:sym typeface="Calibri"/>
            </a:endParaRPr>
          </a:p>
          <a:p>
            <a:pPr marL="0" marR="0" lvl="0" indent="0" algn="l" rtl="0">
              <a:lnSpc>
                <a:spcPct val="107000"/>
              </a:lnSpc>
              <a:spcBef>
                <a:spcPts val="800"/>
              </a:spcBef>
              <a:spcAft>
                <a:spcPts val="0"/>
              </a:spcAft>
              <a:buNone/>
            </a:pPr>
            <a:r>
              <a:rPr lang="en-US" sz="1800">
                <a:solidFill>
                  <a:srgbClr val="0000FF"/>
                </a:solidFill>
                <a:latin typeface="Calibri"/>
                <a:ea typeface="Calibri"/>
                <a:cs typeface="Calibri"/>
                <a:sym typeface="Calibri"/>
              </a:rPr>
              <a:t>Reader leaves </a:t>
            </a:r>
            <a:endParaRPr sz="1800">
              <a:solidFill>
                <a:srgbClr val="0000FF"/>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94"/>
          <p:cNvSpPr txBox="1">
            <a:spLocks noGrp="1"/>
          </p:cNvSpPr>
          <p:nvPr>
            <p:ph type="body" idx="1"/>
          </p:nvPr>
        </p:nvSpPr>
        <p:spPr>
          <a:xfrm>
            <a:off x="2612571" y="152399"/>
            <a:ext cx="9383486" cy="649877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The Dining-Philosophers Problem</a:t>
            </a:r>
            <a:endParaRPr sz="2400">
              <a:solidFill>
                <a:srgbClr val="FF0000"/>
              </a:solidFill>
              <a:latin typeface="Calibri"/>
              <a:ea typeface="Calibri"/>
              <a:cs typeface="Calibri"/>
              <a:sym typeface="Calibri"/>
            </a:endParaRPr>
          </a:p>
          <a:p>
            <a:pPr marL="228600" lvl="0" indent="-10160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pic>
        <p:nvPicPr>
          <p:cNvPr id="745" name="Google Shape;745;p94"/>
          <p:cNvPicPr preferRelativeResize="0"/>
          <p:nvPr/>
        </p:nvPicPr>
        <p:blipFill rotWithShape="1">
          <a:blip r:embed="rId3">
            <a:alphaModFix/>
          </a:blip>
          <a:srcRect/>
          <a:stretch/>
        </p:blipFill>
        <p:spPr>
          <a:xfrm>
            <a:off x="3167743" y="1020533"/>
            <a:ext cx="7668423" cy="5124345"/>
          </a:xfrm>
          <a:prstGeom prst="rect">
            <a:avLst/>
          </a:prstGeom>
          <a:noFill/>
          <a:ln>
            <a:noFill/>
          </a:ln>
        </p:spPr>
      </p:pic>
      <p:sp>
        <p:nvSpPr>
          <p:cNvPr id="746" name="Google Shape;746;p94"/>
          <p:cNvSpPr txBox="1"/>
          <p:nvPr/>
        </p:nvSpPr>
        <p:spPr>
          <a:xfrm>
            <a:off x="4250872" y="6144878"/>
            <a:ext cx="6106884" cy="506292"/>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000">
                <a:solidFill>
                  <a:schemeClr val="dk1"/>
                </a:solidFill>
                <a:latin typeface="Calibri"/>
                <a:ea typeface="Calibri"/>
                <a:cs typeface="Calibri"/>
                <a:sym typeface="Calibri"/>
              </a:rPr>
              <a:t>The situation of dining philosophers.</a:t>
            </a:r>
            <a:endParaRPr sz="2000">
              <a:solidFill>
                <a:schemeClr val="dk1"/>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95"/>
          <p:cNvSpPr txBox="1">
            <a:spLocks noGrp="1"/>
          </p:cNvSpPr>
          <p:nvPr>
            <p:ph type="body" idx="1"/>
          </p:nvPr>
        </p:nvSpPr>
        <p:spPr>
          <a:xfrm>
            <a:off x="2579914" y="152400"/>
            <a:ext cx="9383486" cy="6498771"/>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000"/>
              <a:buChar char="•"/>
            </a:pPr>
            <a:r>
              <a:rPr lang="en-US" sz="2000">
                <a:latin typeface="Calibri"/>
                <a:ea typeface="Calibri"/>
                <a:cs typeface="Calibri"/>
                <a:sym typeface="Calibri"/>
              </a:rPr>
              <a:t>Philosopher either thinks or eats</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Thinks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When a philosopher thinks, he does not interact with his colleagues.</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Eats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When a philosopher gets hungry he tries to pick up the two forks that are closet to him (left or right). A philosopher may pick up only one fork at a time.</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One cannot pick up a fork that is already in the hand of a neighbour.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When a hungry philosopher has both his forks at the same time, he eats without releasing his forks.</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 When he has finished eating, he puts down both of his forks and starts thinking again. </a:t>
            </a:r>
            <a:endParaRPr/>
          </a:p>
          <a:p>
            <a:pPr marL="0" lvl="0" indent="0" algn="just" rtl="0">
              <a:lnSpc>
                <a:spcPct val="150000"/>
              </a:lnSpc>
              <a:spcBef>
                <a:spcPts val="1000"/>
              </a:spcBef>
              <a:spcAft>
                <a:spcPts val="0"/>
              </a:spcAft>
              <a:buClr>
                <a:schemeClr val="dk1"/>
              </a:buClr>
              <a:buSzPts val="2000"/>
              <a:buNone/>
            </a:pPr>
            <a:endParaRPr sz="2000">
              <a:latin typeface="Calibri"/>
              <a:ea typeface="Calibri"/>
              <a:cs typeface="Calibri"/>
              <a:sym typeface="Calibri"/>
            </a:endParaRPr>
          </a:p>
          <a:p>
            <a:pPr marL="0" lvl="0" indent="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96"/>
          <p:cNvSpPr txBox="1">
            <a:spLocks noGrp="1"/>
          </p:cNvSpPr>
          <p:nvPr>
            <p:ph type="body" idx="1"/>
          </p:nvPr>
        </p:nvSpPr>
        <p:spPr>
          <a:xfrm>
            <a:off x="2569029" y="163286"/>
            <a:ext cx="9492342" cy="654231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One simple solution is to represent each chopstick/fork with a semaphore.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A philosopher tries to grab a chopstick by executing a wait () operation on that semaphore.</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 She releases her chopsticks/fork by executing the signal () operation on the appropriate semaphores. </a:t>
            </a:r>
            <a:endParaRPr/>
          </a:p>
          <a:p>
            <a:pPr marL="0" lvl="0" indent="0" algn="ctr" rtl="0">
              <a:lnSpc>
                <a:spcPct val="150000"/>
              </a:lnSpc>
              <a:spcBef>
                <a:spcPts val="1000"/>
              </a:spcBef>
              <a:spcAft>
                <a:spcPts val="0"/>
              </a:spcAft>
              <a:buClr>
                <a:schemeClr val="dk1"/>
              </a:buClr>
              <a:buSzPts val="2000"/>
              <a:buNone/>
            </a:pPr>
            <a:r>
              <a:rPr lang="en-US" sz="2000">
                <a:latin typeface="Calibri"/>
                <a:ea typeface="Calibri"/>
                <a:cs typeface="Calibri"/>
                <a:sym typeface="Calibri"/>
              </a:rPr>
              <a:t>Thus, the shared data are</a:t>
            </a:r>
            <a:endParaRPr sz="2000">
              <a:latin typeface="Calibri"/>
              <a:ea typeface="Calibri"/>
              <a:cs typeface="Calibri"/>
              <a:sym typeface="Calibri"/>
            </a:endParaRPr>
          </a:p>
          <a:p>
            <a:pPr marL="0" lvl="0" indent="0" algn="ctr" rtl="0">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semaphore chopstick [5];</a:t>
            </a:r>
            <a:endParaRPr/>
          </a:p>
          <a:p>
            <a:pPr marL="0" lvl="0" indent="0" algn="ctr" rtl="0">
              <a:lnSpc>
                <a:spcPct val="150000"/>
              </a:lnSpc>
              <a:spcBef>
                <a:spcPts val="1000"/>
              </a:spcBef>
              <a:spcAft>
                <a:spcPts val="0"/>
              </a:spcAft>
              <a:buClr>
                <a:schemeClr val="dk1"/>
              </a:buClr>
              <a:buSzPts val="2000"/>
              <a:buNone/>
            </a:pPr>
            <a:r>
              <a:rPr lang="en-US" sz="2000">
                <a:latin typeface="Calibri"/>
                <a:ea typeface="Calibri"/>
                <a:cs typeface="Calibri"/>
                <a:sym typeface="Calibri"/>
              </a:rPr>
              <a:t>Where all the elements are fork are initialized to 1.</a:t>
            </a:r>
            <a:endParaRPr sz="2000">
              <a:latin typeface="Calibri"/>
              <a:ea typeface="Calibri"/>
              <a:cs typeface="Calibri"/>
              <a:sym typeface="Calibri"/>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pic>
        <p:nvPicPr>
          <p:cNvPr id="761" name="Google Shape;761;p97"/>
          <p:cNvPicPr preferRelativeResize="0">
            <a:picLocks noGrp="1"/>
          </p:cNvPicPr>
          <p:nvPr>
            <p:ph type="body" idx="1"/>
          </p:nvPr>
        </p:nvPicPr>
        <p:blipFill rotWithShape="1">
          <a:blip r:embed="rId3">
            <a:alphaModFix/>
          </a:blip>
          <a:srcRect/>
          <a:stretch/>
        </p:blipFill>
        <p:spPr>
          <a:xfrm>
            <a:off x="3428999" y="489857"/>
            <a:ext cx="6923315" cy="4627815"/>
          </a:xfrm>
          <a:prstGeom prst="rect">
            <a:avLst/>
          </a:prstGeom>
          <a:noFill/>
          <a:ln>
            <a:noFill/>
          </a:ln>
        </p:spPr>
      </p:pic>
      <p:sp>
        <p:nvSpPr>
          <p:cNvPr id="762" name="Google Shape;762;p97"/>
          <p:cNvSpPr txBox="1"/>
          <p:nvPr/>
        </p:nvSpPr>
        <p:spPr>
          <a:xfrm>
            <a:off x="3282043" y="5292802"/>
            <a:ext cx="6106884" cy="506292"/>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000" b="1">
                <a:solidFill>
                  <a:schemeClr val="dk1"/>
                </a:solidFill>
                <a:latin typeface="Calibri"/>
                <a:ea typeface="Calibri"/>
                <a:cs typeface="Calibri"/>
                <a:sym typeface="Calibri"/>
              </a:rPr>
              <a:t>The structure of philosophers i</a:t>
            </a:r>
            <a:endParaRPr sz="2000" b="1">
              <a:solidFill>
                <a:schemeClr val="dk1"/>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98"/>
          <p:cNvSpPr txBox="1">
            <a:spLocks noGrp="1"/>
          </p:cNvSpPr>
          <p:nvPr>
            <p:ph type="body" idx="1"/>
          </p:nvPr>
        </p:nvSpPr>
        <p:spPr>
          <a:xfrm>
            <a:off x="2558143" y="76200"/>
            <a:ext cx="9525000" cy="666205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Although this solution guarantees that no two neighbors are eating simultaneously, it nevertheless must be rejected because it could create a deadlock.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Suppose that all five philosophers become hungry simultaneously and each grabs her left chopstick. All the elements of chopstick will now be equal to 0.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When each philosopher tries to grab her right chopstick, she will be delayed forever.</a:t>
            </a:r>
            <a:endParaRPr/>
          </a:p>
          <a:p>
            <a:pPr marL="0" lvl="0" indent="0" algn="just" rtl="0">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Some possible remedies to avoid deadlocks.</a:t>
            </a:r>
            <a:endParaRPr/>
          </a:p>
          <a:p>
            <a:pPr marL="228600" lvl="0" indent="-228600" algn="just" rtl="0">
              <a:lnSpc>
                <a:spcPct val="150000"/>
              </a:lnSpc>
              <a:spcBef>
                <a:spcPts val="1000"/>
              </a:spcBef>
              <a:spcAft>
                <a:spcPts val="0"/>
              </a:spcAft>
              <a:buClr>
                <a:srgbClr val="000000"/>
              </a:buClr>
              <a:buSzPts val="2000"/>
              <a:buFont typeface="Noto Sans Symbols"/>
              <a:buChar char="✔"/>
            </a:pPr>
            <a:r>
              <a:rPr lang="en-US" sz="2000">
                <a:solidFill>
                  <a:srgbClr val="000000"/>
                </a:solidFill>
                <a:latin typeface="Calibri"/>
                <a:ea typeface="Calibri"/>
                <a:cs typeface="Calibri"/>
                <a:sym typeface="Calibri"/>
              </a:rPr>
              <a:t>Allow at most four philosophers to be sitting simultaneously at the table.</a:t>
            </a:r>
            <a:endParaRPr sz="2000">
              <a:solidFill>
                <a:srgbClr val="000000"/>
              </a:solidFill>
              <a:latin typeface="Calibri"/>
              <a:ea typeface="Calibri"/>
              <a:cs typeface="Calibri"/>
              <a:sym typeface="Calibri"/>
            </a:endParaRPr>
          </a:p>
          <a:p>
            <a:pPr marL="228600" lvl="0" indent="-228600" algn="just" rtl="0">
              <a:lnSpc>
                <a:spcPct val="150000"/>
              </a:lnSpc>
              <a:spcBef>
                <a:spcPts val="1000"/>
              </a:spcBef>
              <a:spcAft>
                <a:spcPts val="0"/>
              </a:spcAft>
              <a:buClr>
                <a:srgbClr val="000000"/>
              </a:buClr>
              <a:buSzPts val="2000"/>
              <a:buFont typeface="Noto Sans Symbols"/>
              <a:buChar char="✔"/>
            </a:pPr>
            <a:r>
              <a:rPr lang="en-US" sz="2000">
                <a:solidFill>
                  <a:srgbClr val="000000"/>
                </a:solidFill>
                <a:latin typeface="Calibri"/>
                <a:ea typeface="Calibri"/>
                <a:cs typeface="Calibri"/>
                <a:sym typeface="Calibri"/>
              </a:rPr>
              <a:t>Allow a philosopher to pick up her chopsticks only if both chopsticks are available </a:t>
            </a:r>
            <a:endParaRPr/>
          </a:p>
          <a:p>
            <a:pPr marL="228600" lvl="0" indent="-228600" algn="just" rtl="0">
              <a:lnSpc>
                <a:spcPct val="150000"/>
              </a:lnSpc>
              <a:spcBef>
                <a:spcPts val="1015"/>
              </a:spcBef>
              <a:spcAft>
                <a:spcPts val="0"/>
              </a:spcAft>
              <a:buClr>
                <a:schemeClr val="dk1"/>
              </a:buClr>
              <a:buSzPts val="2000"/>
              <a:buFont typeface="Noto Sans Symbols"/>
              <a:buChar char="✔"/>
            </a:pPr>
            <a:r>
              <a:rPr lang="en-US" sz="2000">
                <a:latin typeface="Calibri"/>
                <a:ea typeface="Calibri"/>
                <a:cs typeface="Calibri"/>
                <a:sym typeface="Calibri"/>
              </a:rPr>
              <a:t>Use an asymmetric solution; that is, an odd philosopher picks up first her left chopstick and then her right chopstick, whereas an even philosopher picks up her right chopstick and then her left chopstick.</a:t>
            </a:r>
            <a:endParaRPr sz="2000">
              <a:latin typeface="Calibri"/>
              <a:ea typeface="Calibri"/>
              <a:cs typeface="Calibri"/>
              <a:sym typeface="Calibri"/>
            </a:endParaRPr>
          </a:p>
          <a:p>
            <a:pPr marL="228600" lvl="0" indent="-101600" algn="just" rtl="0">
              <a:lnSpc>
                <a:spcPct val="150000"/>
              </a:lnSpc>
              <a:spcBef>
                <a:spcPts val="1015"/>
              </a:spcBef>
              <a:spcAft>
                <a:spcPts val="0"/>
              </a:spcAft>
              <a:buClr>
                <a:schemeClr val="dk1"/>
              </a:buClr>
              <a:buSzPts val="2000"/>
              <a:buNone/>
            </a:pPr>
            <a:endParaRPr sz="2000">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99"/>
          <p:cNvSpPr txBox="1">
            <a:spLocks noGrp="1"/>
          </p:cNvSpPr>
          <p:nvPr>
            <p:ph type="body" idx="1"/>
          </p:nvPr>
        </p:nvSpPr>
        <p:spPr>
          <a:xfrm>
            <a:off x="2536371" y="152400"/>
            <a:ext cx="9568543" cy="6618514"/>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FF0000"/>
              </a:buClr>
              <a:buSzPts val="2400"/>
              <a:buNone/>
            </a:pPr>
            <a:r>
              <a:rPr lang="en-US" sz="2400" b="1">
                <a:solidFill>
                  <a:srgbClr val="FF0000"/>
                </a:solidFill>
                <a:latin typeface="Calibri"/>
                <a:ea typeface="Calibri"/>
                <a:cs typeface="Calibri"/>
                <a:sym typeface="Calibri"/>
              </a:rPr>
              <a:t>Monitors</a:t>
            </a:r>
            <a:endParaRPr sz="2400" b="1">
              <a:solidFill>
                <a:srgbClr val="FF0000"/>
              </a:solidFill>
              <a:latin typeface="Calibri"/>
              <a:ea typeface="Calibri"/>
              <a:cs typeface="Calibri"/>
              <a:sym typeface="Calibri"/>
            </a:endParaRPr>
          </a:p>
          <a:p>
            <a:pPr marL="0" lvl="0" indent="0" algn="just" rtl="0">
              <a:lnSpc>
                <a:spcPct val="150000"/>
              </a:lnSpc>
              <a:spcBef>
                <a:spcPts val="1800"/>
              </a:spcBef>
              <a:spcAft>
                <a:spcPts val="0"/>
              </a:spcAft>
              <a:buClr>
                <a:schemeClr val="dk1"/>
              </a:buClr>
              <a:buSzPts val="2400"/>
              <a:buNone/>
            </a:pPr>
            <a:r>
              <a:rPr lang="en-US" sz="2400">
                <a:latin typeface="Calibri"/>
                <a:ea typeface="Calibri"/>
                <a:cs typeface="Calibri"/>
                <a:sym typeface="Calibri"/>
              </a:rPr>
              <a:t>A high level abstraction that provides a convenient and effective mechanism for process synchronization.</a:t>
            </a:r>
            <a:endParaRPr/>
          </a:p>
          <a:p>
            <a:pPr marL="0" lvl="0" indent="0" algn="just" rtl="0">
              <a:lnSpc>
                <a:spcPct val="150000"/>
              </a:lnSpc>
              <a:spcBef>
                <a:spcPts val="1000"/>
              </a:spcBef>
              <a:spcAft>
                <a:spcPts val="0"/>
              </a:spcAft>
              <a:buClr>
                <a:schemeClr val="dk1"/>
              </a:buClr>
              <a:buSzPts val="2400"/>
              <a:buNone/>
            </a:pPr>
            <a:r>
              <a:rPr lang="en-US" sz="2400">
                <a:latin typeface="Calibri"/>
                <a:ea typeface="Calibri"/>
                <a:cs typeface="Calibri"/>
                <a:sym typeface="Calibri"/>
              </a:rPr>
              <a:t>A monitor type presents a set of programmer – defined operations that provide mutual exclusion within the monitor.</a:t>
            </a:r>
            <a:endParaRPr/>
          </a:p>
          <a:p>
            <a:pPr marL="0" lvl="0" indent="0" algn="just" rtl="0">
              <a:lnSpc>
                <a:spcPct val="150000"/>
              </a:lnSpc>
              <a:spcBef>
                <a:spcPts val="1000"/>
              </a:spcBef>
              <a:spcAft>
                <a:spcPts val="0"/>
              </a:spcAft>
              <a:buClr>
                <a:srgbClr val="000000"/>
              </a:buClr>
              <a:buSzPts val="2400"/>
              <a:buNone/>
            </a:pPr>
            <a:r>
              <a:rPr lang="en-US" sz="2400">
                <a:solidFill>
                  <a:srgbClr val="000000"/>
                </a:solidFill>
                <a:latin typeface="Calibri"/>
                <a:ea typeface="Calibri"/>
                <a:cs typeface="Calibri"/>
                <a:sym typeface="Calibri"/>
              </a:rPr>
              <a:t>The monitor type also  contains the declaration of variables whose values define the state of an instance of that type, along  with the bodies of procedures or functions that operate on those variables.</a:t>
            </a:r>
            <a:endParaRPr/>
          </a:p>
          <a:p>
            <a:pPr marL="0" lvl="0" indent="0" algn="just" rtl="0">
              <a:lnSpc>
                <a:spcPct val="150000"/>
              </a:lnSpc>
              <a:spcBef>
                <a:spcPts val="1000"/>
              </a:spcBef>
              <a:spcAft>
                <a:spcPts val="0"/>
              </a:spcAft>
              <a:buClr>
                <a:schemeClr val="dk1"/>
              </a:buClr>
              <a:buSzPts val="2000"/>
              <a:buNone/>
            </a:pPr>
            <a:endParaRPr sz="2000">
              <a:solidFill>
                <a:srgbClr val="000000"/>
              </a:solidFill>
              <a:latin typeface="Calibri"/>
              <a:ea typeface="Calibri"/>
              <a:cs typeface="Calibri"/>
              <a:sym typeface="Calibri"/>
            </a:endParaRPr>
          </a:p>
          <a:p>
            <a:pPr marL="0" lvl="0" indent="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pic>
        <p:nvPicPr>
          <p:cNvPr id="777" name="Google Shape;777;p100"/>
          <p:cNvPicPr preferRelativeResize="0">
            <a:picLocks noGrp="1"/>
          </p:cNvPicPr>
          <p:nvPr>
            <p:ph type="body" idx="1"/>
          </p:nvPr>
        </p:nvPicPr>
        <p:blipFill rotWithShape="1">
          <a:blip r:embed="rId3">
            <a:alphaModFix/>
          </a:blip>
          <a:srcRect/>
          <a:stretch/>
        </p:blipFill>
        <p:spPr>
          <a:xfrm>
            <a:off x="3135086" y="250580"/>
            <a:ext cx="8229600" cy="5622654"/>
          </a:xfrm>
          <a:prstGeom prst="rect">
            <a:avLst/>
          </a:prstGeom>
          <a:noFill/>
          <a:ln>
            <a:noFill/>
          </a:ln>
        </p:spPr>
      </p:pic>
      <p:sp>
        <p:nvSpPr>
          <p:cNvPr id="778" name="Google Shape;778;p100"/>
          <p:cNvSpPr txBox="1"/>
          <p:nvPr/>
        </p:nvSpPr>
        <p:spPr>
          <a:xfrm>
            <a:off x="6096000" y="5873234"/>
            <a:ext cx="610688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Syntax of a monitor</a:t>
            </a:r>
            <a:endParaRPr sz="2000">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101"/>
          <p:cNvSpPr txBox="1">
            <a:spLocks noGrp="1"/>
          </p:cNvSpPr>
          <p:nvPr>
            <p:ph type="body" idx="1"/>
          </p:nvPr>
        </p:nvSpPr>
        <p:spPr>
          <a:xfrm>
            <a:off x="2536371" y="152400"/>
            <a:ext cx="9568543" cy="661851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A procedure defined within a monitor can access only those variables declared locally within the monitor and its formal-parameters.</a:t>
            </a:r>
            <a:endParaRPr sz="2000">
              <a:solidFill>
                <a:srgbClr val="000000"/>
              </a:solidFill>
              <a:latin typeface="Calibri"/>
              <a:ea typeface="Calibri"/>
              <a:cs typeface="Calibri"/>
              <a:sym typeface="Calibri"/>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Similarly, the local-variables of a monitor can be accessed by only the local-procedures.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monitor construct ensures  that only one process at a time can be active within the monitor. </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Condition construct: condition  x,y;</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only operations that can be invoked on a condition variable are wait() and signal()</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The operation x.wait(); means that the process invoking this operation is suspended until other process invokes x.signal(),</a:t>
            </a:r>
            <a:endParaRPr/>
          </a:p>
          <a:p>
            <a:pPr marL="0" lvl="0" indent="0" algn="just" rtl="0">
              <a:lnSpc>
                <a:spcPct val="150000"/>
              </a:lnSpc>
              <a:spcBef>
                <a:spcPts val="1000"/>
              </a:spcBef>
              <a:spcAft>
                <a:spcPts val="0"/>
              </a:spcAft>
              <a:buClr>
                <a:schemeClr val="dk1"/>
              </a:buClr>
              <a:buSzPts val="2000"/>
              <a:buNone/>
            </a:pPr>
            <a:r>
              <a:rPr lang="en-US" sz="2000">
                <a:latin typeface="Calibri"/>
                <a:ea typeface="Calibri"/>
                <a:cs typeface="Calibri"/>
                <a:sym typeface="Calibri"/>
              </a:rPr>
              <a:t> The x.signal() operation resumes exactly one suspended process.</a:t>
            </a:r>
            <a:endParaRPr sz="2000">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pic>
        <p:nvPicPr>
          <p:cNvPr id="788" name="Google Shape;788;p102"/>
          <p:cNvPicPr preferRelativeResize="0">
            <a:picLocks noGrp="1"/>
          </p:cNvPicPr>
          <p:nvPr>
            <p:ph type="body" idx="1"/>
          </p:nvPr>
        </p:nvPicPr>
        <p:blipFill rotWithShape="1">
          <a:blip r:embed="rId3">
            <a:alphaModFix/>
          </a:blip>
          <a:srcRect/>
          <a:stretch/>
        </p:blipFill>
        <p:spPr>
          <a:xfrm>
            <a:off x="3222171" y="239264"/>
            <a:ext cx="7881257" cy="4746387"/>
          </a:xfrm>
          <a:prstGeom prst="rect">
            <a:avLst/>
          </a:prstGeom>
          <a:noFill/>
          <a:ln>
            <a:noFill/>
          </a:ln>
        </p:spPr>
      </p:pic>
      <p:sp>
        <p:nvSpPr>
          <p:cNvPr id="789" name="Google Shape;789;p102"/>
          <p:cNvSpPr txBox="1"/>
          <p:nvPr/>
        </p:nvSpPr>
        <p:spPr>
          <a:xfrm>
            <a:off x="5004707" y="5627910"/>
            <a:ext cx="3271157"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Schematic view of a monitor</a:t>
            </a:r>
            <a:endParaRPr sz="2000">
              <a:solidFill>
                <a:schemeClr val="dk1"/>
              </a:solidFill>
              <a:latin typeface="Calibri"/>
              <a:ea typeface="Calibri"/>
              <a:cs typeface="Calibri"/>
              <a:sym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103"/>
          <p:cNvSpPr txBox="1">
            <a:spLocks noGrp="1"/>
          </p:cNvSpPr>
          <p:nvPr>
            <p:ph type="body" idx="1"/>
          </p:nvPr>
        </p:nvSpPr>
        <p:spPr>
          <a:xfrm>
            <a:off x="2558143" y="195942"/>
            <a:ext cx="9459686" cy="649877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0000"/>
              </a:buClr>
              <a:buSzPts val="2400"/>
              <a:buNone/>
            </a:pPr>
            <a:r>
              <a:rPr lang="en-US" sz="2400" b="1">
                <a:solidFill>
                  <a:srgbClr val="FF0000"/>
                </a:solidFill>
                <a:latin typeface="Times New Roman"/>
                <a:ea typeface="Times New Roman"/>
                <a:cs typeface="Times New Roman"/>
                <a:sym typeface="Times New Roman"/>
              </a:rPr>
              <a:t>Dining-Philosophers Solution Using Monitors</a:t>
            </a:r>
            <a:endParaRPr sz="2400">
              <a:solidFill>
                <a:srgbClr val="FF0000"/>
              </a:solidFill>
              <a:latin typeface="Calibri"/>
              <a:ea typeface="Calibri"/>
              <a:cs typeface="Calibri"/>
              <a:sym typeface="Calibri"/>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We now illustrate monitor concepts by presenting a deadlock-free solution to the dining-philosophers problem. </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This solution imposes the restriction that a philosopher may pick up her chopsticks only if both of them are available.</a:t>
            </a:r>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To code this solution, we need to distinguish among three states in which we may find a philosopher. For this purpose, we introduced the following data structure.</a:t>
            </a:r>
            <a:endParaRPr/>
          </a:p>
          <a:p>
            <a:pPr marL="0" lvl="0" indent="0" algn="ctr" rtl="0">
              <a:lnSpc>
                <a:spcPct val="150000"/>
              </a:lnSpc>
              <a:spcBef>
                <a:spcPts val="1000"/>
              </a:spcBef>
              <a:spcAft>
                <a:spcPts val="0"/>
              </a:spcAft>
              <a:buClr>
                <a:schemeClr val="dk1"/>
              </a:buClr>
              <a:buSzPts val="2000"/>
              <a:buNone/>
            </a:pPr>
            <a:r>
              <a:rPr lang="en-US" sz="2000" b="1">
                <a:latin typeface="Calibri"/>
                <a:ea typeface="Calibri"/>
                <a:cs typeface="Calibri"/>
                <a:sym typeface="Calibri"/>
              </a:rPr>
              <a:t>enum{thinking, hungry, eating} state [5] ;</a:t>
            </a:r>
            <a:endParaRPr sz="2000" b="1">
              <a:latin typeface="Calibri"/>
              <a:ea typeface="Calibri"/>
              <a:cs typeface="Calibri"/>
              <a:sym typeface="Calibri"/>
            </a:endParaRPr>
          </a:p>
          <a:p>
            <a:pPr marL="228600" lvl="0" indent="-228600" algn="just" rtl="0">
              <a:lnSpc>
                <a:spcPct val="150000"/>
              </a:lnSpc>
              <a:spcBef>
                <a:spcPts val="1000"/>
              </a:spcBef>
              <a:spcAft>
                <a:spcPts val="0"/>
              </a:spcAft>
              <a:buClr>
                <a:schemeClr val="dk1"/>
              </a:buClr>
              <a:buSzPts val="2000"/>
              <a:buChar char="•"/>
            </a:pPr>
            <a:r>
              <a:rPr lang="en-US" sz="2000">
                <a:latin typeface="Calibri"/>
                <a:ea typeface="Calibri"/>
                <a:cs typeface="Calibri"/>
                <a:sym typeface="Calibri"/>
              </a:rPr>
              <a:t>Philosopher i can set the variable state[i] = eating only if her two neighbors are not eating(state[(i+4) %5] != eating)and(state[(i+1) %5] ! = eating).</a:t>
            </a:r>
            <a:endParaRPr sz="2000">
              <a:latin typeface="Calibri"/>
              <a:ea typeface="Calibri"/>
              <a:cs typeface="Calibri"/>
              <a:sym typeface="Calibri"/>
            </a:endParaRPr>
          </a:p>
          <a:p>
            <a:pPr marL="228600" lvl="0" indent="-101600" algn="just" rtl="0">
              <a:lnSpc>
                <a:spcPct val="15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04"/>
          <p:cNvSpPr txBox="1">
            <a:spLocks noGrp="1"/>
          </p:cNvSpPr>
          <p:nvPr>
            <p:ph type="body" idx="1"/>
          </p:nvPr>
        </p:nvSpPr>
        <p:spPr>
          <a:xfrm>
            <a:off x="2558143" y="195942"/>
            <a:ext cx="9459686" cy="6498771"/>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US" sz="2000">
                <a:latin typeface="Calibri"/>
                <a:ea typeface="Calibri"/>
                <a:cs typeface="Calibri"/>
                <a:sym typeface="Calibri"/>
              </a:rPr>
              <a:t>We also need to declare</a:t>
            </a:r>
            <a:endParaRPr sz="2000">
              <a:latin typeface="Calibri"/>
              <a:ea typeface="Calibri"/>
              <a:cs typeface="Calibri"/>
              <a:sym typeface="Calibri"/>
            </a:endParaRPr>
          </a:p>
          <a:p>
            <a:pPr marL="228600" lvl="0" indent="-228600" algn="just" rtl="0">
              <a:lnSpc>
                <a:spcPct val="150000"/>
              </a:lnSpc>
              <a:spcBef>
                <a:spcPts val="1800"/>
              </a:spcBef>
              <a:spcAft>
                <a:spcPts val="0"/>
              </a:spcAft>
              <a:buClr>
                <a:schemeClr val="dk1"/>
              </a:buClr>
              <a:buSzPts val="2000"/>
              <a:buChar char="•"/>
            </a:pPr>
            <a:r>
              <a:rPr lang="en-US" sz="2000" b="1">
                <a:latin typeface="Calibri"/>
                <a:ea typeface="Calibri"/>
                <a:cs typeface="Calibri"/>
                <a:sym typeface="Calibri"/>
              </a:rPr>
              <a:t>condition self [5] ;</a:t>
            </a:r>
            <a:endParaRPr sz="2000">
              <a:latin typeface="Calibri"/>
              <a:ea typeface="Calibri"/>
              <a:cs typeface="Calibri"/>
              <a:sym typeface="Calibri"/>
            </a:endParaRPr>
          </a:p>
          <a:p>
            <a:pPr marL="228600" lvl="0" indent="-228600" algn="just" rtl="0">
              <a:lnSpc>
                <a:spcPct val="150000"/>
              </a:lnSpc>
              <a:spcBef>
                <a:spcPts val="1800"/>
              </a:spcBef>
              <a:spcAft>
                <a:spcPts val="0"/>
              </a:spcAft>
              <a:buClr>
                <a:schemeClr val="dk1"/>
              </a:buClr>
              <a:buSzPts val="2000"/>
              <a:buChar char="•"/>
            </a:pPr>
            <a:r>
              <a:rPr lang="en-US" sz="2000">
                <a:latin typeface="Calibri"/>
                <a:ea typeface="Calibri"/>
                <a:cs typeface="Calibri"/>
                <a:sym typeface="Calibri"/>
              </a:rPr>
              <a:t>where philosopher i can delay herself when she is hungry but is unable to obtain the chopsticks she needs.</a:t>
            </a:r>
            <a:endParaRPr/>
          </a:p>
          <a:p>
            <a:pPr marL="228600" lvl="0" indent="-101600" algn="just" rtl="0">
              <a:lnSpc>
                <a:spcPct val="15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pic>
        <p:nvPicPr>
          <p:cNvPr id="804" name="Google Shape;804;p105"/>
          <p:cNvPicPr preferRelativeResize="0"/>
          <p:nvPr/>
        </p:nvPicPr>
        <p:blipFill rotWithShape="1">
          <a:blip r:embed="rId3">
            <a:alphaModFix/>
          </a:blip>
          <a:srcRect/>
          <a:stretch/>
        </p:blipFill>
        <p:spPr>
          <a:xfrm>
            <a:off x="3156857" y="195941"/>
            <a:ext cx="8142514" cy="6400801"/>
          </a:xfrm>
          <a:prstGeom prst="rect">
            <a:avLst/>
          </a:prstGeom>
          <a:noFill/>
          <a:ln>
            <a:noFill/>
          </a:ln>
        </p:spPr>
      </p:pic>
      <p:sp>
        <p:nvSpPr>
          <p:cNvPr id="805" name="Google Shape;805;p105"/>
          <p:cNvSpPr txBox="1"/>
          <p:nvPr/>
        </p:nvSpPr>
        <p:spPr>
          <a:xfrm>
            <a:off x="6966859" y="6347731"/>
            <a:ext cx="6106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A monitor solution to dining philosopher problem</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8947</Words>
  <Application>Microsoft Office PowerPoint</Application>
  <PresentationFormat>Widescreen</PresentationFormat>
  <Paragraphs>755</Paragraphs>
  <Slides>107</Slides>
  <Notes>106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107</vt:i4>
      </vt:variant>
    </vt:vector>
  </HeadingPairs>
  <TitlesOfParts>
    <vt:vector size="112" baseType="lpstr">
      <vt:lpstr>Arial</vt:lpstr>
      <vt:lpstr>Calibri</vt:lpstr>
      <vt:lpstr>Noto Sans Symbols</vt:lpstr>
      <vt:lpstr>Times New Roman</vt:lpstr>
      <vt:lpstr>Office Theme</vt:lpstr>
      <vt:lpstr>  OPERATING SYSTEMS(21CS44) Module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2</vt:lpstr>
      <vt:lpstr>PowerPoint Presentation</vt:lpstr>
      <vt:lpstr>PowerPoint Presentation</vt:lpstr>
      <vt:lpstr>PowerPoint Presentation</vt:lpstr>
      <vt:lpstr>PowerPoint Presentation</vt:lpstr>
      <vt:lpstr>Types of threads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Rajeev Bilagi</dc:creator>
  <cp:lastModifiedBy>Hi</cp:lastModifiedBy>
  <cp:revision>2</cp:revision>
  <dcterms:created xsi:type="dcterms:W3CDTF">2023-04-27T06:36:45Z</dcterms:created>
  <dcterms:modified xsi:type="dcterms:W3CDTF">2025-11-23T15:59:35Z</dcterms:modified>
</cp:coreProperties>
</file>