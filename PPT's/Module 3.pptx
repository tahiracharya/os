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Lst>
  <p:sldSz cy="6858000" cx="12192000"/>
  <p:notesSz cx="6858000" cy="9144000"/>
  <p:embeddedFontLst>
    <p:embeddedFont>
      <p:font typeface="Play"/>
      <p:regular r:id="rId134"/>
      <p:bold r:id="rId1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6" roundtripDataSignature="AMtx7miPA5cj696Dakiuh/T1MlkGT8rR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49DD23-6F04-43C5-890A-893E10268F7A}">
  <a:tblStyle styleId="{EA49DD23-6F04-43C5-890A-893E10268F7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customschemas.google.com/relationships/presentationmetadata" Target="metadata"/><Relationship Id="rId135" Type="http://schemas.openxmlformats.org/officeDocument/2006/relationships/font" Target="fonts/Play-bold.fntdata"/><Relationship Id="rId134" Type="http://schemas.openxmlformats.org/officeDocument/2006/relationships/font" Target="fonts/Play-regular.fntdata"/><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cee2a9cc0cf6217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g3cee2a9cc0cf621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4" name="Google Shape;56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0" name="Google Shape;570;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5" name="Google Shape;595;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5" name="Google Shape;625;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3" name="Google Shape;643;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 name="Google Shape;696;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3" name="Google Shape;703;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2" name="Google Shape;712;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7" name="Google Shape;747;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 name="Google Shape;753;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3" name="Google Shape;773;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5" name="Google Shape;785;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2" name="Google Shape;792;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7" name="Google Shape;817;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5" name="Google Shape;825;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9" name="Google Shape;839;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5" name="Google Shape;845;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1" name="Google Shape;851;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8" name="Google Shape;858;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0" name="Google Shape;870;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6" name="Google Shape;876;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2" name="Google Shape;882;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9" name="Google Shape;889;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 name="Google Shape;895;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1" name="Google Shape;901;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8" name="Google Shape;908;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4" name="Google Shape;914;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1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0" name="Google Shape;920;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7" name="Google Shape;927;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1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4" name="Google Shape;934;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0" name="Google Shape;940;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1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6" name="Google Shape;946;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1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4" name="Google Shape;954;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9"/>
          <p:cNvSpPr txBox="1"/>
          <p:nvPr>
            <p:ph type="ctrTitle"/>
          </p:nvPr>
        </p:nvSpPr>
        <p:spPr>
          <a:xfrm>
            <a:off x="2203938" y="3144437"/>
            <a:ext cx="9355016" cy="87407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400"/>
              <a:buFont typeface="Calibri"/>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9"/>
          <p:cNvSpPr txBox="1"/>
          <p:nvPr>
            <p:ph idx="1" type="subTitle"/>
          </p:nvPr>
        </p:nvSpPr>
        <p:spPr>
          <a:xfrm>
            <a:off x="2203938" y="4190045"/>
            <a:ext cx="9355016" cy="64627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Image" id="21" name="Google Shape;21;p129"/>
          <p:cNvPicPr preferRelativeResize="0"/>
          <p:nvPr/>
        </p:nvPicPr>
        <p:blipFill rotWithShape="1">
          <a:blip r:embed="rId2">
            <a:alphaModFix/>
          </a:blip>
          <a:srcRect b="0" l="0" r="0" t="0"/>
          <a:stretch/>
        </p:blipFill>
        <p:spPr>
          <a:xfrm>
            <a:off x="5567256" y="513406"/>
            <a:ext cx="2628380" cy="2071383"/>
          </a:xfrm>
          <a:prstGeom prst="rect">
            <a:avLst/>
          </a:prstGeom>
          <a:noFill/>
          <a:ln>
            <a:noFill/>
          </a:ln>
        </p:spPr>
      </p:pic>
      <p:sp>
        <p:nvSpPr>
          <p:cNvPr id="22" name="Google Shape;22;p129"/>
          <p:cNvSpPr/>
          <p:nvPr/>
        </p:nvSpPr>
        <p:spPr>
          <a:xfrm>
            <a:off x="381000" y="0"/>
            <a:ext cx="1620010" cy="6858000"/>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 id="23" name="Google Shape;23;p129"/>
          <p:cNvPicPr preferRelativeResize="0"/>
          <p:nvPr/>
        </p:nvPicPr>
        <p:blipFill rotWithShape="1">
          <a:blip r:embed="rId3">
            <a:alphaModFix/>
          </a:blip>
          <a:srcRect b="0" l="0" r="0" t="0"/>
          <a:stretch/>
        </p:blipFill>
        <p:spPr>
          <a:xfrm>
            <a:off x="-303522" y="4836315"/>
            <a:ext cx="13631195" cy="2877470"/>
          </a:xfrm>
          <a:prstGeom prst="rect">
            <a:avLst/>
          </a:prstGeom>
          <a:noFill/>
          <a:ln>
            <a:noFill/>
          </a:ln>
        </p:spPr>
      </p:pic>
      <p:sp>
        <p:nvSpPr>
          <p:cNvPr id="24" name="Google Shape;24;p129"/>
          <p:cNvSpPr txBox="1"/>
          <p:nvPr/>
        </p:nvSpPr>
        <p:spPr>
          <a:xfrm>
            <a:off x="5750719" y="2694582"/>
            <a:ext cx="226145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2F4582"/>
                </a:solidFill>
                <a:latin typeface="Calibri"/>
                <a:ea typeface="Calibri"/>
                <a:cs typeface="Calibri"/>
                <a:sym typeface="Calibri"/>
              </a:rPr>
              <a:t>www.acharya.ac.in</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30"/>
          <p:cNvSpPr txBox="1"/>
          <p:nvPr>
            <p:ph type="title"/>
          </p:nvPr>
        </p:nvSpPr>
        <p:spPr>
          <a:xfrm>
            <a:off x="2708694" y="365125"/>
            <a:ext cx="8645106"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30"/>
          <p:cNvSpPr txBox="1"/>
          <p:nvPr>
            <p:ph idx="1" type="body"/>
          </p:nvPr>
        </p:nvSpPr>
        <p:spPr>
          <a:xfrm>
            <a:off x="2708694" y="1825625"/>
            <a:ext cx="8645106"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Char char="•"/>
              <a:defRPr>
                <a:latin typeface="Arial"/>
                <a:ea typeface="Arial"/>
                <a:cs typeface="Arial"/>
                <a:sym typeface="Arial"/>
              </a:defRPr>
            </a:lvl2pPr>
            <a:lvl3pPr indent="-355600" lvl="2" marL="1371600" algn="l">
              <a:lnSpc>
                <a:spcPct val="90000"/>
              </a:lnSpc>
              <a:spcBef>
                <a:spcPts val="500"/>
              </a:spcBef>
              <a:spcAft>
                <a:spcPts val="0"/>
              </a:spcAft>
              <a:buClr>
                <a:schemeClr val="dk1"/>
              </a:buClr>
              <a:buSzPts val="2000"/>
              <a:buChar char="•"/>
              <a:defRPr>
                <a:latin typeface="Arial"/>
                <a:ea typeface="Arial"/>
                <a:cs typeface="Arial"/>
                <a:sym typeface="Arial"/>
              </a:defRPr>
            </a:lvl3pPr>
            <a:lvl4pPr indent="-342900" lvl="3" marL="1828800" algn="l">
              <a:lnSpc>
                <a:spcPct val="90000"/>
              </a:lnSpc>
              <a:spcBef>
                <a:spcPts val="500"/>
              </a:spcBef>
              <a:spcAft>
                <a:spcPts val="0"/>
              </a:spcAft>
              <a:buClr>
                <a:schemeClr val="dk1"/>
              </a:buClr>
              <a:buSzPts val="1800"/>
              <a:buChar char="•"/>
              <a:defRPr>
                <a:latin typeface="Arial"/>
                <a:ea typeface="Arial"/>
                <a:cs typeface="Arial"/>
                <a:sym typeface="Arial"/>
              </a:defRPr>
            </a:lvl4pPr>
            <a:lvl5pPr indent="-342900" lvl="4" marL="2286000" algn="l">
              <a:lnSpc>
                <a:spcPct val="90000"/>
              </a:lnSpc>
              <a:spcBef>
                <a:spcPts val="5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30"/>
          <p:cNvSpPr txBox="1"/>
          <p:nvPr>
            <p:ph idx="10" type="dt"/>
          </p:nvPr>
        </p:nvSpPr>
        <p:spPr>
          <a:xfrm>
            <a:off x="2093842" y="6356350"/>
            <a:ext cx="14875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130"/>
          <p:cNvSpPr/>
          <p:nvPr/>
        </p:nvSpPr>
        <p:spPr>
          <a:xfrm>
            <a:off x="381000" y="-6252"/>
            <a:ext cx="1620010" cy="6864252"/>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130"/>
          <p:cNvSpPr/>
          <p:nvPr/>
        </p:nvSpPr>
        <p:spPr>
          <a:xfrm>
            <a:off x="-19498" y="2035445"/>
            <a:ext cx="2533482" cy="3040884"/>
          </a:xfrm>
          <a:prstGeom prst="rect">
            <a:avLst/>
          </a:prstGeom>
          <a:solidFill>
            <a:srgbClr val="595959"/>
          </a:solidFill>
          <a:ln>
            <a:noFill/>
          </a:ln>
        </p:spPr>
        <p:txBody>
          <a:bodyPr anchorCtr="0" anchor="ctr" bIns="50800" lIns="50800" spcFirstLastPara="1" rIns="50800" wrap="square" tIns="50800">
            <a:noAutofit/>
          </a:bodyPr>
          <a:lstStyle/>
          <a:p>
            <a:pPr indent="0" lvl="0" marL="0" marR="0" rtl="0" algn="r">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130"/>
          <p:cNvSpPr/>
          <p:nvPr/>
        </p:nvSpPr>
        <p:spPr>
          <a:xfrm>
            <a:off x="943056" y="4709179"/>
            <a:ext cx="495897" cy="94934"/>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 id="34" name="Google Shape;34;p130"/>
          <p:cNvPicPr preferRelativeResize="0"/>
          <p:nvPr/>
        </p:nvPicPr>
        <p:blipFill rotWithShape="1">
          <a:blip r:embed="rId2">
            <a:alphaModFix/>
          </a:blip>
          <a:srcRect b="0" l="0" r="0" t="0"/>
          <a:stretch/>
        </p:blipFill>
        <p:spPr>
          <a:xfrm>
            <a:off x="768008" y="2389152"/>
            <a:ext cx="845994" cy="1046690"/>
          </a:xfrm>
          <a:prstGeom prst="rect">
            <a:avLst/>
          </a:prstGeom>
          <a:noFill/>
          <a:ln>
            <a:noFill/>
          </a:ln>
        </p:spPr>
      </p:pic>
      <p:sp>
        <p:nvSpPr>
          <p:cNvPr id="35" name="Google Shape;35;p130"/>
          <p:cNvSpPr txBox="1"/>
          <p:nvPr/>
        </p:nvSpPr>
        <p:spPr>
          <a:xfrm>
            <a:off x="530567" y="3429000"/>
            <a:ext cx="1320874" cy="780278"/>
          </a:xfrm>
          <a:prstGeom prst="rect">
            <a:avLst/>
          </a:prstGeom>
          <a:noFill/>
          <a:ln>
            <a:noFill/>
          </a:ln>
        </p:spPr>
        <p:txBody>
          <a:bodyPr anchorCtr="0" anchor="ctr" bIns="50800" lIns="50800" spcFirstLastPara="1" rIns="50800" wrap="square" tIns="50800">
            <a:spAutoFit/>
          </a:bodyPr>
          <a:lstStyle/>
          <a:p>
            <a:pPr indent="0" lvl="0" marL="0" marR="0" rtl="0" algn="l">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131"/>
          <p:cNvSpPr txBox="1"/>
          <p:nvPr>
            <p:ph type="title"/>
          </p:nvPr>
        </p:nvSpPr>
        <p:spPr>
          <a:xfrm>
            <a:off x="2663550" y="1709738"/>
            <a:ext cx="8683899"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31"/>
          <p:cNvSpPr txBox="1"/>
          <p:nvPr>
            <p:ph idx="1" type="body"/>
          </p:nvPr>
        </p:nvSpPr>
        <p:spPr>
          <a:xfrm>
            <a:off x="2663550" y="4589463"/>
            <a:ext cx="86839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1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2" name="Google Shape;42;p131"/>
          <p:cNvSpPr/>
          <p:nvPr/>
        </p:nvSpPr>
        <p:spPr>
          <a:xfrm>
            <a:off x="381000" y="-6252"/>
            <a:ext cx="1620010" cy="6844316"/>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131"/>
          <p:cNvSpPr/>
          <p:nvPr/>
        </p:nvSpPr>
        <p:spPr>
          <a:xfrm>
            <a:off x="-19498" y="2035445"/>
            <a:ext cx="2533482" cy="3040884"/>
          </a:xfrm>
          <a:prstGeom prst="rect">
            <a:avLst/>
          </a:prstGeom>
          <a:solidFill>
            <a:srgbClr val="595959"/>
          </a:solidFill>
          <a:ln>
            <a:noFill/>
          </a:ln>
        </p:spPr>
        <p:txBody>
          <a:bodyPr anchorCtr="0" anchor="ctr" bIns="50800" lIns="50800" spcFirstLastPara="1" rIns="50800" wrap="square" tIns="50800">
            <a:noAutofit/>
          </a:bodyPr>
          <a:lstStyle/>
          <a:p>
            <a:pPr indent="0" lvl="0" marL="0" marR="0" rtl="0" algn="r">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131"/>
          <p:cNvSpPr/>
          <p:nvPr/>
        </p:nvSpPr>
        <p:spPr>
          <a:xfrm>
            <a:off x="943056" y="4709179"/>
            <a:ext cx="495897" cy="94934"/>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 id="45" name="Google Shape;45;p131"/>
          <p:cNvPicPr preferRelativeResize="0"/>
          <p:nvPr/>
        </p:nvPicPr>
        <p:blipFill rotWithShape="1">
          <a:blip r:embed="rId2">
            <a:alphaModFix/>
          </a:blip>
          <a:srcRect b="0" l="0" r="0" t="0"/>
          <a:stretch/>
        </p:blipFill>
        <p:spPr>
          <a:xfrm>
            <a:off x="768008" y="2389152"/>
            <a:ext cx="845994" cy="1046690"/>
          </a:xfrm>
          <a:prstGeom prst="rect">
            <a:avLst/>
          </a:prstGeom>
          <a:noFill/>
          <a:ln>
            <a:noFill/>
          </a:ln>
        </p:spPr>
      </p:pic>
      <p:sp>
        <p:nvSpPr>
          <p:cNvPr id="46" name="Google Shape;46;p131"/>
          <p:cNvSpPr txBox="1"/>
          <p:nvPr/>
        </p:nvSpPr>
        <p:spPr>
          <a:xfrm>
            <a:off x="530567" y="3429000"/>
            <a:ext cx="1320874" cy="780278"/>
          </a:xfrm>
          <a:prstGeom prst="rect">
            <a:avLst/>
          </a:prstGeom>
          <a:noFill/>
          <a:ln>
            <a:noFill/>
          </a:ln>
        </p:spPr>
        <p:txBody>
          <a:bodyPr anchorCtr="0" anchor="ctr" bIns="50800" lIns="50800" spcFirstLastPara="1" rIns="50800" wrap="square" tIns="50800">
            <a:spAutoFit/>
          </a:bodyPr>
          <a:lstStyle/>
          <a:p>
            <a:pPr indent="0" lvl="0" marL="0" marR="0" rtl="0" algn="l">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132"/>
          <p:cNvSpPr txBox="1"/>
          <p:nvPr>
            <p:ph type="title"/>
          </p:nvPr>
        </p:nvSpPr>
        <p:spPr>
          <a:xfrm>
            <a:off x="2676938" y="365125"/>
            <a:ext cx="8676861"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32"/>
          <p:cNvSpPr txBox="1"/>
          <p:nvPr>
            <p:ph idx="1" type="body"/>
          </p:nvPr>
        </p:nvSpPr>
        <p:spPr>
          <a:xfrm>
            <a:off x="2676939" y="1825625"/>
            <a:ext cx="4412492"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Char char="•"/>
              <a:defRPr>
                <a:latin typeface="Arial"/>
                <a:ea typeface="Arial"/>
                <a:cs typeface="Arial"/>
                <a:sym typeface="Arial"/>
              </a:defRPr>
            </a:lvl2pPr>
            <a:lvl3pPr indent="-355600" lvl="2" marL="1371600" algn="l">
              <a:lnSpc>
                <a:spcPct val="90000"/>
              </a:lnSpc>
              <a:spcBef>
                <a:spcPts val="500"/>
              </a:spcBef>
              <a:spcAft>
                <a:spcPts val="0"/>
              </a:spcAft>
              <a:buClr>
                <a:schemeClr val="dk1"/>
              </a:buClr>
              <a:buSzPts val="2000"/>
              <a:buChar char="•"/>
              <a:defRPr>
                <a:latin typeface="Arial"/>
                <a:ea typeface="Arial"/>
                <a:cs typeface="Arial"/>
                <a:sym typeface="Arial"/>
              </a:defRPr>
            </a:lvl3pPr>
            <a:lvl4pPr indent="-342900" lvl="3" marL="1828800" algn="l">
              <a:lnSpc>
                <a:spcPct val="90000"/>
              </a:lnSpc>
              <a:spcBef>
                <a:spcPts val="500"/>
              </a:spcBef>
              <a:spcAft>
                <a:spcPts val="0"/>
              </a:spcAft>
              <a:buClr>
                <a:schemeClr val="dk1"/>
              </a:buClr>
              <a:buSzPts val="1800"/>
              <a:buChar char="•"/>
              <a:defRPr>
                <a:latin typeface="Arial"/>
                <a:ea typeface="Arial"/>
                <a:cs typeface="Arial"/>
                <a:sym typeface="Arial"/>
              </a:defRPr>
            </a:lvl4pPr>
            <a:lvl5pPr indent="-342900" lvl="4" marL="2286000" algn="l">
              <a:lnSpc>
                <a:spcPct val="90000"/>
              </a:lnSpc>
              <a:spcBef>
                <a:spcPts val="5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32"/>
          <p:cNvSpPr txBox="1"/>
          <p:nvPr>
            <p:ph idx="2" type="body"/>
          </p:nvPr>
        </p:nvSpPr>
        <p:spPr>
          <a:xfrm>
            <a:off x="7238999" y="1825625"/>
            <a:ext cx="41148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Char char="•"/>
              <a:defRPr>
                <a:latin typeface="Arial"/>
                <a:ea typeface="Arial"/>
                <a:cs typeface="Arial"/>
                <a:sym typeface="Arial"/>
              </a:defRPr>
            </a:lvl2pPr>
            <a:lvl3pPr indent="-355600" lvl="2" marL="1371600" algn="l">
              <a:lnSpc>
                <a:spcPct val="90000"/>
              </a:lnSpc>
              <a:spcBef>
                <a:spcPts val="500"/>
              </a:spcBef>
              <a:spcAft>
                <a:spcPts val="0"/>
              </a:spcAft>
              <a:buClr>
                <a:schemeClr val="dk1"/>
              </a:buClr>
              <a:buSzPts val="2000"/>
              <a:buChar char="•"/>
              <a:defRPr>
                <a:latin typeface="Arial"/>
                <a:ea typeface="Arial"/>
                <a:cs typeface="Arial"/>
                <a:sym typeface="Arial"/>
              </a:defRPr>
            </a:lvl3pPr>
            <a:lvl4pPr indent="-342900" lvl="3" marL="1828800" algn="l">
              <a:lnSpc>
                <a:spcPct val="90000"/>
              </a:lnSpc>
              <a:spcBef>
                <a:spcPts val="500"/>
              </a:spcBef>
              <a:spcAft>
                <a:spcPts val="0"/>
              </a:spcAft>
              <a:buClr>
                <a:schemeClr val="dk1"/>
              </a:buClr>
              <a:buSzPts val="1800"/>
              <a:buChar char="•"/>
              <a:defRPr>
                <a:latin typeface="Arial"/>
                <a:ea typeface="Arial"/>
                <a:cs typeface="Arial"/>
                <a:sym typeface="Arial"/>
              </a:defRPr>
            </a:lvl4pPr>
            <a:lvl5pPr indent="-342900" lvl="4" marL="2286000" algn="l">
              <a:lnSpc>
                <a:spcPct val="90000"/>
              </a:lnSpc>
              <a:spcBef>
                <a:spcPts val="5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32"/>
          <p:cNvSpPr txBox="1"/>
          <p:nvPr>
            <p:ph idx="10" type="dt"/>
          </p:nvPr>
        </p:nvSpPr>
        <p:spPr>
          <a:xfrm>
            <a:off x="2093842" y="6356350"/>
            <a:ext cx="14875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132"/>
          <p:cNvSpPr/>
          <p:nvPr/>
        </p:nvSpPr>
        <p:spPr>
          <a:xfrm>
            <a:off x="381000" y="-6252"/>
            <a:ext cx="1620010" cy="6864252"/>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132"/>
          <p:cNvSpPr/>
          <p:nvPr/>
        </p:nvSpPr>
        <p:spPr>
          <a:xfrm>
            <a:off x="-19498" y="2035445"/>
            <a:ext cx="2533482" cy="3040884"/>
          </a:xfrm>
          <a:prstGeom prst="rect">
            <a:avLst/>
          </a:prstGeom>
          <a:solidFill>
            <a:srgbClr val="595959"/>
          </a:solidFill>
          <a:ln>
            <a:noFill/>
          </a:ln>
        </p:spPr>
        <p:txBody>
          <a:bodyPr anchorCtr="0" anchor="ctr" bIns="50800" lIns="50800" spcFirstLastPara="1" rIns="50800" wrap="square" tIns="50800">
            <a:noAutofit/>
          </a:bodyPr>
          <a:lstStyle/>
          <a:p>
            <a:pPr indent="0" lvl="0" marL="0" marR="0" rtl="0" algn="r">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132"/>
          <p:cNvSpPr/>
          <p:nvPr/>
        </p:nvSpPr>
        <p:spPr>
          <a:xfrm>
            <a:off x="943056" y="4709179"/>
            <a:ext cx="495897" cy="94934"/>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 id="57" name="Google Shape;57;p132"/>
          <p:cNvPicPr preferRelativeResize="0"/>
          <p:nvPr/>
        </p:nvPicPr>
        <p:blipFill rotWithShape="1">
          <a:blip r:embed="rId2">
            <a:alphaModFix/>
          </a:blip>
          <a:srcRect b="0" l="0" r="0" t="0"/>
          <a:stretch/>
        </p:blipFill>
        <p:spPr>
          <a:xfrm>
            <a:off x="768008" y="2389152"/>
            <a:ext cx="845994" cy="1046690"/>
          </a:xfrm>
          <a:prstGeom prst="rect">
            <a:avLst/>
          </a:prstGeom>
          <a:noFill/>
          <a:ln>
            <a:noFill/>
          </a:ln>
        </p:spPr>
      </p:pic>
      <p:sp>
        <p:nvSpPr>
          <p:cNvPr id="58" name="Google Shape;58;p132"/>
          <p:cNvSpPr txBox="1"/>
          <p:nvPr/>
        </p:nvSpPr>
        <p:spPr>
          <a:xfrm>
            <a:off x="530567" y="3429000"/>
            <a:ext cx="1320874" cy="780278"/>
          </a:xfrm>
          <a:prstGeom prst="rect">
            <a:avLst/>
          </a:prstGeom>
          <a:noFill/>
          <a:ln>
            <a:noFill/>
          </a:ln>
        </p:spPr>
        <p:txBody>
          <a:bodyPr anchorCtr="0" anchor="ctr" bIns="50800" lIns="50800" spcFirstLastPara="1" rIns="50800" wrap="square" tIns="50800">
            <a:spAutoFit/>
          </a:bodyPr>
          <a:lstStyle/>
          <a:p>
            <a:pPr indent="0" lvl="0" marL="0" marR="0" rtl="0" algn="l">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33"/>
          <p:cNvSpPr txBox="1"/>
          <p:nvPr>
            <p:ph type="title"/>
          </p:nvPr>
        </p:nvSpPr>
        <p:spPr>
          <a:xfrm>
            <a:off x="2650434" y="365125"/>
            <a:ext cx="8703365"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33"/>
          <p:cNvSpPr txBox="1"/>
          <p:nvPr>
            <p:ph idx="10" type="dt"/>
          </p:nvPr>
        </p:nvSpPr>
        <p:spPr>
          <a:xfrm>
            <a:off x="2173356" y="6356350"/>
            <a:ext cx="140804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4" name="Google Shape;64;p133"/>
          <p:cNvSpPr/>
          <p:nvPr/>
        </p:nvSpPr>
        <p:spPr>
          <a:xfrm>
            <a:off x="381000" y="-6252"/>
            <a:ext cx="1620010" cy="6864252"/>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133"/>
          <p:cNvSpPr/>
          <p:nvPr/>
        </p:nvSpPr>
        <p:spPr>
          <a:xfrm>
            <a:off x="-19498" y="2035445"/>
            <a:ext cx="2533482" cy="3040884"/>
          </a:xfrm>
          <a:prstGeom prst="rect">
            <a:avLst/>
          </a:prstGeom>
          <a:solidFill>
            <a:srgbClr val="595959"/>
          </a:solidFill>
          <a:ln>
            <a:noFill/>
          </a:ln>
        </p:spPr>
        <p:txBody>
          <a:bodyPr anchorCtr="0" anchor="ctr" bIns="50800" lIns="50800" spcFirstLastPara="1" rIns="50800" wrap="square" tIns="50800">
            <a:noAutofit/>
          </a:bodyPr>
          <a:lstStyle/>
          <a:p>
            <a:pPr indent="0" lvl="0" marL="0" marR="0" rtl="0" algn="r">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133"/>
          <p:cNvSpPr/>
          <p:nvPr/>
        </p:nvSpPr>
        <p:spPr>
          <a:xfrm>
            <a:off x="943056" y="4709179"/>
            <a:ext cx="495897" cy="94934"/>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 id="67" name="Google Shape;67;p133"/>
          <p:cNvPicPr preferRelativeResize="0"/>
          <p:nvPr/>
        </p:nvPicPr>
        <p:blipFill rotWithShape="1">
          <a:blip r:embed="rId2">
            <a:alphaModFix/>
          </a:blip>
          <a:srcRect b="0" l="0" r="0" t="0"/>
          <a:stretch/>
        </p:blipFill>
        <p:spPr>
          <a:xfrm>
            <a:off x="768008" y="2389152"/>
            <a:ext cx="845994" cy="1046690"/>
          </a:xfrm>
          <a:prstGeom prst="rect">
            <a:avLst/>
          </a:prstGeom>
          <a:noFill/>
          <a:ln>
            <a:noFill/>
          </a:ln>
        </p:spPr>
      </p:pic>
      <p:sp>
        <p:nvSpPr>
          <p:cNvPr id="68" name="Google Shape;68;p133"/>
          <p:cNvSpPr txBox="1"/>
          <p:nvPr/>
        </p:nvSpPr>
        <p:spPr>
          <a:xfrm>
            <a:off x="530567" y="3429000"/>
            <a:ext cx="1320874" cy="780278"/>
          </a:xfrm>
          <a:prstGeom prst="rect">
            <a:avLst/>
          </a:prstGeom>
          <a:noFill/>
          <a:ln>
            <a:noFill/>
          </a:ln>
        </p:spPr>
        <p:txBody>
          <a:bodyPr anchorCtr="0" anchor="ctr" bIns="50800" lIns="50800" spcFirstLastPara="1" rIns="50800" wrap="square" tIns="50800">
            <a:spAutoFit/>
          </a:bodyPr>
          <a:lstStyle/>
          <a:p>
            <a:pPr indent="0" lvl="0" marL="0" marR="0" rtl="0" algn="l">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134"/>
          <p:cNvSpPr txBox="1"/>
          <p:nvPr>
            <p:ph idx="10" type="dt"/>
          </p:nvPr>
        </p:nvSpPr>
        <p:spPr>
          <a:xfrm>
            <a:off x="2173356" y="6356350"/>
            <a:ext cx="140804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3" name="Google Shape;73;p134"/>
          <p:cNvSpPr/>
          <p:nvPr/>
        </p:nvSpPr>
        <p:spPr>
          <a:xfrm>
            <a:off x="381000" y="-6252"/>
            <a:ext cx="1620010" cy="6864252"/>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134"/>
          <p:cNvSpPr/>
          <p:nvPr/>
        </p:nvSpPr>
        <p:spPr>
          <a:xfrm>
            <a:off x="-19498" y="2035445"/>
            <a:ext cx="2533482" cy="3040884"/>
          </a:xfrm>
          <a:prstGeom prst="rect">
            <a:avLst/>
          </a:prstGeom>
          <a:solidFill>
            <a:srgbClr val="595959"/>
          </a:solidFill>
          <a:ln>
            <a:noFill/>
          </a:ln>
        </p:spPr>
        <p:txBody>
          <a:bodyPr anchorCtr="0" anchor="ctr" bIns="50800" lIns="50800" spcFirstLastPara="1" rIns="50800" wrap="square" tIns="50800">
            <a:noAutofit/>
          </a:bodyPr>
          <a:lstStyle/>
          <a:p>
            <a:pPr indent="0" lvl="0" marL="0" marR="0" rtl="0" algn="r">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134"/>
          <p:cNvSpPr/>
          <p:nvPr/>
        </p:nvSpPr>
        <p:spPr>
          <a:xfrm>
            <a:off x="943056" y="4709179"/>
            <a:ext cx="495897" cy="94934"/>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 id="76" name="Google Shape;76;p134"/>
          <p:cNvPicPr preferRelativeResize="0"/>
          <p:nvPr/>
        </p:nvPicPr>
        <p:blipFill rotWithShape="1">
          <a:blip r:embed="rId2">
            <a:alphaModFix/>
          </a:blip>
          <a:srcRect b="0" l="0" r="0" t="0"/>
          <a:stretch/>
        </p:blipFill>
        <p:spPr>
          <a:xfrm>
            <a:off x="768008" y="2389152"/>
            <a:ext cx="845994" cy="1046690"/>
          </a:xfrm>
          <a:prstGeom prst="rect">
            <a:avLst/>
          </a:prstGeom>
          <a:noFill/>
          <a:ln>
            <a:noFill/>
          </a:ln>
        </p:spPr>
      </p:pic>
      <p:sp>
        <p:nvSpPr>
          <p:cNvPr id="77" name="Google Shape;77;p134"/>
          <p:cNvSpPr txBox="1"/>
          <p:nvPr/>
        </p:nvSpPr>
        <p:spPr>
          <a:xfrm>
            <a:off x="530567" y="3429000"/>
            <a:ext cx="1320874" cy="780278"/>
          </a:xfrm>
          <a:prstGeom prst="rect">
            <a:avLst/>
          </a:prstGeom>
          <a:noFill/>
          <a:ln>
            <a:noFill/>
          </a:ln>
        </p:spPr>
        <p:txBody>
          <a:bodyPr anchorCtr="0" anchor="ctr" bIns="50800" lIns="50800" spcFirstLastPara="1" rIns="50800" wrap="square" tIns="50800">
            <a:spAutoFit/>
          </a:bodyPr>
          <a:lstStyle/>
          <a:p>
            <a:pPr indent="0" lvl="0" marL="0" marR="0" rtl="0" algn="l">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135"/>
          <p:cNvSpPr txBox="1"/>
          <p:nvPr>
            <p:ph type="title"/>
          </p:nvPr>
        </p:nvSpPr>
        <p:spPr>
          <a:xfrm>
            <a:off x="2751425" y="435245"/>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35"/>
          <p:cNvSpPr txBox="1"/>
          <p:nvPr>
            <p:ph idx="1" type="body"/>
          </p:nvPr>
        </p:nvSpPr>
        <p:spPr>
          <a:xfrm>
            <a:off x="6921103" y="987425"/>
            <a:ext cx="4434284"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atin typeface="Arial"/>
                <a:ea typeface="Arial"/>
                <a:cs typeface="Arial"/>
                <a:sym typeface="Arial"/>
              </a:defRPr>
            </a:lvl1pPr>
            <a:lvl2pPr indent="-406400" lvl="1" marL="914400" algn="l">
              <a:lnSpc>
                <a:spcPct val="90000"/>
              </a:lnSpc>
              <a:spcBef>
                <a:spcPts val="500"/>
              </a:spcBef>
              <a:spcAft>
                <a:spcPts val="0"/>
              </a:spcAft>
              <a:buClr>
                <a:schemeClr val="dk1"/>
              </a:buClr>
              <a:buSzPts val="2800"/>
              <a:buChar char="•"/>
              <a:defRPr sz="2800">
                <a:latin typeface="Arial"/>
                <a:ea typeface="Arial"/>
                <a:cs typeface="Arial"/>
                <a:sym typeface="Arial"/>
              </a:defRPr>
            </a:lvl2pPr>
            <a:lvl3pPr indent="-381000" lvl="2" marL="1371600" algn="l">
              <a:lnSpc>
                <a:spcPct val="90000"/>
              </a:lnSpc>
              <a:spcBef>
                <a:spcPts val="500"/>
              </a:spcBef>
              <a:spcAft>
                <a:spcPts val="0"/>
              </a:spcAft>
              <a:buClr>
                <a:schemeClr val="dk1"/>
              </a:buClr>
              <a:buSzPts val="2400"/>
              <a:buChar char="•"/>
              <a:defRPr sz="2400">
                <a:latin typeface="Arial"/>
                <a:ea typeface="Arial"/>
                <a:cs typeface="Arial"/>
                <a:sym typeface="Arial"/>
              </a:defRPr>
            </a:lvl3pPr>
            <a:lvl4pPr indent="-355600" lvl="3" marL="1828800" algn="l">
              <a:lnSpc>
                <a:spcPct val="90000"/>
              </a:lnSpc>
              <a:spcBef>
                <a:spcPts val="500"/>
              </a:spcBef>
              <a:spcAft>
                <a:spcPts val="0"/>
              </a:spcAft>
              <a:buClr>
                <a:schemeClr val="dk1"/>
              </a:buClr>
              <a:buSzPts val="2000"/>
              <a:buChar char="•"/>
              <a:defRPr sz="2000">
                <a:latin typeface="Arial"/>
                <a:ea typeface="Arial"/>
                <a:cs typeface="Arial"/>
                <a:sym typeface="Arial"/>
              </a:defRPr>
            </a:lvl4pPr>
            <a:lvl5pPr indent="-355600" lvl="4" marL="2286000" algn="l">
              <a:lnSpc>
                <a:spcPct val="90000"/>
              </a:lnSpc>
              <a:spcBef>
                <a:spcPts val="500"/>
              </a:spcBef>
              <a:spcAft>
                <a:spcPts val="0"/>
              </a:spcAft>
              <a:buClr>
                <a:schemeClr val="dk1"/>
              </a:buClr>
              <a:buSzPts val="2000"/>
              <a:buChar char="•"/>
              <a:defRPr sz="2000">
                <a:latin typeface="Arial"/>
                <a:ea typeface="Arial"/>
                <a:cs typeface="Arial"/>
                <a:sym typeface="Arial"/>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1" name="Google Shape;81;p135"/>
          <p:cNvSpPr txBox="1"/>
          <p:nvPr>
            <p:ph idx="2" type="body"/>
          </p:nvPr>
        </p:nvSpPr>
        <p:spPr>
          <a:xfrm>
            <a:off x="2751425" y="2035445"/>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 name="Google Shape;82;p135"/>
          <p:cNvSpPr txBox="1"/>
          <p:nvPr>
            <p:ph idx="10" type="dt"/>
          </p:nvPr>
        </p:nvSpPr>
        <p:spPr>
          <a:xfrm>
            <a:off x="2120348" y="6356350"/>
            <a:ext cx="146105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5" name="Google Shape;85;p135"/>
          <p:cNvSpPr/>
          <p:nvPr/>
        </p:nvSpPr>
        <p:spPr>
          <a:xfrm>
            <a:off x="381000" y="-6252"/>
            <a:ext cx="1620010" cy="6864252"/>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135"/>
          <p:cNvSpPr/>
          <p:nvPr/>
        </p:nvSpPr>
        <p:spPr>
          <a:xfrm>
            <a:off x="-19498" y="2035445"/>
            <a:ext cx="2533482" cy="3040884"/>
          </a:xfrm>
          <a:prstGeom prst="rect">
            <a:avLst/>
          </a:prstGeom>
          <a:solidFill>
            <a:srgbClr val="595959"/>
          </a:solidFill>
          <a:ln>
            <a:noFill/>
          </a:ln>
        </p:spPr>
        <p:txBody>
          <a:bodyPr anchorCtr="0" anchor="ctr" bIns="50800" lIns="50800" spcFirstLastPara="1" rIns="50800" wrap="square" tIns="50800">
            <a:noAutofit/>
          </a:bodyPr>
          <a:lstStyle/>
          <a:p>
            <a:pPr indent="0" lvl="0" marL="0" marR="0" rtl="0" algn="r">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135"/>
          <p:cNvSpPr/>
          <p:nvPr/>
        </p:nvSpPr>
        <p:spPr>
          <a:xfrm>
            <a:off x="943056" y="4709179"/>
            <a:ext cx="495897" cy="94934"/>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 id="88" name="Google Shape;88;p135"/>
          <p:cNvPicPr preferRelativeResize="0"/>
          <p:nvPr/>
        </p:nvPicPr>
        <p:blipFill rotWithShape="1">
          <a:blip r:embed="rId2">
            <a:alphaModFix/>
          </a:blip>
          <a:srcRect b="0" l="0" r="0" t="0"/>
          <a:stretch/>
        </p:blipFill>
        <p:spPr>
          <a:xfrm>
            <a:off x="768008" y="2389152"/>
            <a:ext cx="845994" cy="1046690"/>
          </a:xfrm>
          <a:prstGeom prst="rect">
            <a:avLst/>
          </a:prstGeom>
          <a:noFill/>
          <a:ln>
            <a:noFill/>
          </a:ln>
        </p:spPr>
      </p:pic>
      <p:sp>
        <p:nvSpPr>
          <p:cNvPr id="89" name="Google Shape;89;p135"/>
          <p:cNvSpPr txBox="1"/>
          <p:nvPr/>
        </p:nvSpPr>
        <p:spPr>
          <a:xfrm>
            <a:off x="530567" y="3429000"/>
            <a:ext cx="1320874" cy="780278"/>
          </a:xfrm>
          <a:prstGeom prst="rect">
            <a:avLst/>
          </a:prstGeom>
          <a:noFill/>
          <a:ln>
            <a:noFill/>
          </a:ln>
        </p:spPr>
        <p:txBody>
          <a:bodyPr anchorCtr="0" anchor="ctr" bIns="50800" lIns="50800" spcFirstLastPara="1" rIns="50800" wrap="square" tIns="50800">
            <a:spAutoFit/>
          </a:bodyPr>
          <a:lstStyle/>
          <a:p>
            <a:pPr indent="0" lvl="0" marL="0" marR="0" rtl="0" algn="l">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0" name="Shape 90"/>
        <p:cNvGrpSpPr/>
        <p:nvPr/>
      </p:nvGrpSpPr>
      <p:grpSpPr>
        <a:xfrm>
          <a:off x="0" y="0"/>
          <a:ext cx="0" cy="0"/>
          <a:chOff x="0" y="0"/>
          <a:chExt cx="0" cy="0"/>
        </a:xfrm>
      </p:grpSpPr>
      <p:sp>
        <p:nvSpPr>
          <p:cNvPr id="91" name="Google Shape;91;p136"/>
          <p:cNvSpPr txBox="1"/>
          <p:nvPr>
            <p:ph type="title"/>
          </p:nvPr>
        </p:nvSpPr>
        <p:spPr>
          <a:xfrm>
            <a:off x="2663551" y="567882"/>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36"/>
          <p:cNvSpPr/>
          <p:nvPr>
            <p:ph idx="2" type="pic"/>
          </p:nvPr>
        </p:nvSpPr>
        <p:spPr>
          <a:xfrm>
            <a:off x="6745355" y="987425"/>
            <a:ext cx="4610033" cy="4873625"/>
          </a:xfrm>
          <a:prstGeom prst="rect">
            <a:avLst/>
          </a:prstGeom>
          <a:noFill/>
          <a:ln>
            <a:noFill/>
          </a:ln>
        </p:spPr>
      </p:sp>
      <p:sp>
        <p:nvSpPr>
          <p:cNvPr id="93" name="Google Shape;93;p136"/>
          <p:cNvSpPr txBox="1"/>
          <p:nvPr>
            <p:ph idx="1" type="body"/>
          </p:nvPr>
        </p:nvSpPr>
        <p:spPr>
          <a:xfrm>
            <a:off x="2663551" y="2168082"/>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atin typeface="Arial"/>
                <a:ea typeface="Arial"/>
                <a:cs typeface="Arial"/>
                <a:sym typeface="Aria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4" name="Google Shape;94;p136"/>
          <p:cNvSpPr txBox="1"/>
          <p:nvPr>
            <p:ph idx="10" type="dt"/>
          </p:nvPr>
        </p:nvSpPr>
        <p:spPr>
          <a:xfrm>
            <a:off x="2107096" y="6356350"/>
            <a:ext cx="147430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7" name="Google Shape;97;p136"/>
          <p:cNvSpPr/>
          <p:nvPr/>
        </p:nvSpPr>
        <p:spPr>
          <a:xfrm>
            <a:off x="381000" y="-6252"/>
            <a:ext cx="1620010" cy="6864252"/>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136"/>
          <p:cNvSpPr/>
          <p:nvPr/>
        </p:nvSpPr>
        <p:spPr>
          <a:xfrm>
            <a:off x="-19498" y="2035445"/>
            <a:ext cx="2533482" cy="3040884"/>
          </a:xfrm>
          <a:prstGeom prst="rect">
            <a:avLst/>
          </a:prstGeom>
          <a:solidFill>
            <a:srgbClr val="595959"/>
          </a:solidFill>
          <a:ln>
            <a:noFill/>
          </a:ln>
        </p:spPr>
        <p:txBody>
          <a:bodyPr anchorCtr="0" anchor="ctr" bIns="50800" lIns="50800" spcFirstLastPara="1" rIns="50800" wrap="square" tIns="50800">
            <a:noAutofit/>
          </a:bodyPr>
          <a:lstStyle/>
          <a:p>
            <a:pPr indent="0" lvl="0" marL="0" marR="0" rtl="0" algn="r">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136"/>
          <p:cNvSpPr/>
          <p:nvPr/>
        </p:nvSpPr>
        <p:spPr>
          <a:xfrm>
            <a:off x="943056" y="4709179"/>
            <a:ext cx="495897" cy="94934"/>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 id="100" name="Google Shape;100;p136"/>
          <p:cNvPicPr preferRelativeResize="0"/>
          <p:nvPr/>
        </p:nvPicPr>
        <p:blipFill rotWithShape="1">
          <a:blip r:embed="rId2">
            <a:alphaModFix/>
          </a:blip>
          <a:srcRect b="0" l="0" r="0" t="0"/>
          <a:stretch/>
        </p:blipFill>
        <p:spPr>
          <a:xfrm>
            <a:off x="768008" y="2389152"/>
            <a:ext cx="845994" cy="1046690"/>
          </a:xfrm>
          <a:prstGeom prst="rect">
            <a:avLst/>
          </a:prstGeom>
          <a:noFill/>
          <a:ln>
            <a:noFill/>
          </a:ln>
        </p:spPr>
      </p:pic>
      <p:sp>
        <p:nvSpPr>
          <p:cNvPr id="101" name="Google Shape;101;p136"/>
          <p:cNvSpPr txBox="1"/>
          <p:nvPr/>
        </p:nvSpPr>
        <p:spPr>
          <a:xfrm>
            <a:off x="530567" y="3429000"/>
            <a:ext cx="1320874" cy="780278"/>
          </a:xfrm>
          <a:prstGeom prst="rect">
            <a:avLst/>
          </a:prstGeom>
          <a:noFill/>
          <a:ln>
            <a:noFill/>
          </a:ln>
        </p:spPr>
        <p:txBody>
          <a:bodyPr anchorCtr="0" anchor="ctr" bIns="50800" lIns="50800" spcFirstLastPara="1" rIns="50800" wrap="square" tIns="50800">
            <a:spAutoFit/>
          </a:bodyPr>
          <a:lstStyle/>
          <a:p>
            <a:pPr indent="0" lvl="0" marL="0" marR="0" rtl="0" algn="l">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2" name="Shape 102"/>
        <p:cNvGrpSpPr/>
        <p:nvPr/>
      </p:nvGrpSpPr>
      <p:grpSpPr>
        <a:xfrm>
          <a:off x="0" y="0"/>
          <a:ext cx="0" cy="0"/>
          <a:chOff x="0" y="0"/>
          <a:chExt cx="0" cy="0"/>
        </a:xfrm>
      </p:grpSpPr>
      <p:sp>
        <p:nvSpPr>
          <p:cNvPr id="103" name="Google Shape;103;p137"/>
          <p:cNvSpPr txBox="1"/>
          <p:nvPr>
            <p:ph type="title"/>
          </p:nvPr>
        </p:nvSpPr>
        <p:spPr>
          <a:xfrm>
            <a:off x="2856280" y="365125"/>
            <a:ext cx="8497519"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37"/>
          <p:cNvSpPr txBox="1"/>
          <p:nvPr>
            <p:ph idx="1" type="body"/>
          </p:nvPr>
        </p:nvSpPr>
        <p:spPr>
          <a:xfrm rot="5400000">
            <a:off x="4824515" y="-234212"/>
            <a:ext cx="4351338" cy="8497519"/>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Char char="•"/>
              <a:defRPr>
                <a:latin typeface="Arial"/>
                <a:ea typeface="Arial"/>
                <a:cs typeface="Arial"/>
                <a:sym typeface="Arial"/>
              </a:defRPr>
            </a:lvl2pPr>
            <a:lvl3pPr indent="-355600" lvl="2" marL="1371600" algn="l">
              <a:lnSpc>
                <a:spcPct val="90000"/>
              </a:lnSpc>
              <a:spcBef>
                <a:spcPts val="500"/>
              </a:spcBef>
              <a:spcAft>
                <a:spcPts val="0"/>
              </a:spcAft>
              <a:buClr>
                <a:schemeClr val="dk1"/>
              </a:buClr>
              <a:buSzPts val="2000"/>
              <a:buChar char="•"/>
              <a:defRPr>
                <a:latin typeface="Arial"/>
                <a:ea typeface="Arial"/>
                <a:cs typeface="Arial"/>
                <a:sym typeface="Arial"/>
              </a:defRPr>
            </a:lvl3pPr>
            <a:lvl4pPr indent="-342900" lvl="3" marL="1828800" algn="l">
              <a:lnSpc>
                <a:spcPct val="90000"/>
              </a:lnSpc>
              <a:spcBef>
                <a:spcPts val="500"/>
              </a:spcBef>
              <a:spcAft>
                <a:spcPts val="0"/>
              </a:spcAft>
              <a:buClr>
                <a:schemeClr val="dk1"/>
              </a:buClr>
              <a:buSzPts val="1800"/>
              <a:buChar char="•"/>
              <a:defRPr>
                <a:latin typeface="Arial"/>
                <a:ea typeface="Arial"/>
                <a:cs typeface="Arial"/>
                <a:sym typeface="Arial"/>
              </a:defRPr>
            </a:lvl4pPr>
            <a:lvl5pPr indent="-342900" lvl="4" marL="2286000" algn="l">
              <a:lnSpc>
                <a:spcPct val="90000"/>
              </a:lnSpc>
              <a:spcBef>
                <a:spcPts val="5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137"/>
          <p:cNvSpPr txBox="1"/>
          <p:nvPr>
            <p:ph idx="10" type="dt"/>
          </p:nvPr>
        </p:nvSpPr>
        <p:spPr>
          <a:xfrm>
            <a:off x="2107096" y="6356350"/>
            <a:ext cx="147430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8" name="Google Shape;108;p137"/>
          <p:cNvSpPr/>
          <p:nvPr/>
        </p:nvSpPr>
        <p:spPr>
          <a:xfrm>
            <a:off x="381000" y="-6252"/>
            <a:ext cx="1620010" cy="6864252"/>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137"/>
          <p:cNvSpPr/>
          <p:nvPr/>
        </p:nvSpPr>
        <p:spPr>
          <a:xfrm>
            <a:off x="-19498" y="2035445"/>
            <a:ext cx="2533482" cy="3040884"/>
          </a:xfrm>
          <a:prstGeom prst="rect">
            <a:avLst/>
          </a:prstGeom>
          <a:solidFill>
            <a:srgbClr val="595959"/>
          </a:solidFill>
          <a:ln>
            <a:noFill/>
          </a:ln>
        </p:spPr>
        <p:txBody>
          <a:bodyPr anchorCtr="0" anchor="ctr" bIns="50800" lIns="50800" spcFirstLastPara="1" rIns="50800" wrap="square" tIns="50800">
            <a:noAutofit/>
          </a:bodyPr>
          <a:lstStyle/>
          <a:p>
            <a:pPr indent="0" lvl="0" marL="0" marR="0" rtl="0" algn="r">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137"/>
          <p:cNvSpPr/>
          <p:nvPr/>
        </p:nvSpPr>
        <p:spPr>
          <a:xfrm>
            <a:off x="943056" y="4709179"/>
            <a:ext cx="495897" cy="94934"/>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 id="111" name="Google Shape;111;p137"/>
          <p:cNvPicPr preferRelativeResize="0"/>
          <p:nvPr/>
        </p:nvPicPr>
        <p:blipFill rotWithShape="1">
          <a:blip r:embed="rId2">
            <a:alphaModFix/>
          </a:blip>
          <a:srcRect b="0" l="0" r="0" t="0"/>
          <a:stretch/>
        </p:blipFill>
        <p:spPr>
          <a:xfrm>
            <a:off x="768008" y="2389152"/>
            <a:ext cx="845994" cy="1046690"/>
          </a:xfrm>
          <a:prstGeom prst="rect">
            <a:avLst/>
          </a:prstGeom>
          <a:noFill/>
          <a:ln>
            <a:noFill/>
          </a:ln>
        </p:spPr>
      </p:pic>
      <p:sp>
        <p:nvSpPr>
          <p:cNvPr id="112" name="Google Shape;112;p137"/>
          <p:cNvSpPr txBox="1"/>
          <p:nvPr/>
        </p:nvSpPr>
        <p:spPr>
          <a:xfrm>
            <a:off x="530567" y="3429000"/>
            <a:ext cx="1320874" cy="780278"/>
          </a:xfrm>
          <a:prstGeom prst="rect">
            <a:avLst/>
          </a:prstGeom>
          <a:noFill/>
          <a:ln>
            <a:noFill/>
          </a:ln>
        </p:spPr>
        <p:txBody>
          <a:bodyPr anchorCtr="0" anchor="ctr" bIns="50800" lIns="50800" spcFirstLastPara="1" rIns="50800" wrap="square" tIns="50800">
            <a:spAutoFit/>
          </a:bodyPr>
          <a:lstStyle/>
          <a:p>
            <a:pPr indent="0" lvl="0" marL="0" marR="0" rtl="0" algn="l">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3" name="Shape 113"/>
        <p:cNvGrpSpPr/>
        <p:nvPr/>
      </p:nvGrpSpPr>
      <p:grpSpPr>
        <a:xfrm>
          <a:off x="0" y="0"/>
          <a:ext cx="0" cy="0"/>
          <a:chOff x="0" y="0"/>
          <a:chExt cx="0" cy="0"/>
        </a:xfrm>
      </p:grpSpPr>
      <p:sp>
        <p:nvSpPr>
          <p:cNvPr id="114" name="Google Shape;114;p1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138"/>
          <p:cNvSpPr txBox="1"/>
          <p:nvPr>
            <p:ph idx="1" type="body"/>
          </p:nvPr>
        </p:nvSpPr>
        <p:spPr>
          <a:xfrm rot="5400000">
            <a:off x="2756043" y="360506"/>
            <a:ext cx="5811838" cy="5821075"/>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Char char="•"/>
              <a:defRPr>
                <a:latin typeface="Arial"/>
                <a:ea typeface="Arial"/>
                <a:cs typeface="Arial"/>
                <a:sym typeface="Arial"/>
              </a:defRPr>
            </a:lvl2pPr>
            <a:lvl3pPr indent="-355600" lvl="2" marL="1371600" algn="l">
              <a:lnSpc>
                <a:spcPct val="90000"/>
              </a:lnSpc>
              <a:spcBef>
                <a:spcPts val="500"/>
              </a:spcBef>
              <a:spcAft>
                <a:spcPts val="0"/>
              </a:spcAft>
              <a:buClr>
                <a:schemeClr val="dk1"/>
              </a:buClr>
              <a:buSzPts val="2000"/>
              <a:buChar char="•"/>
              <a:defRPr>
                <a:latin typeface="Arial"/>
                <a:ea typeface="Arial"/>
                <a:cs typeface="Arial"/>
                <a:sym typeface="Arial"/>
              </a:defRPr>
            </a:lvl3pPr>
            <a:lvl4pPr indent="-342900" lvl="3" marL="1828800" algn="l">
              <a:lnSpc>
                <a:spcPct val="90000"/>
              </a:lnSpc>
              <a:spcBef>
                <a:spcPts val="500"/>
              </a:spcBef>
              <a:spcAft>
                <a:spcPts val="0"/>
              </a:spcAft>
              <a:buClr>
                <a:schemeClr val="dk1"/>
              </a:buClr>
              <a:buSzPts val="1800"/>
              <a:buChar char="•"/>
              <a:defRPr>
                <a:latin typeface="Arial"/>
                <a:ea typeface="Arial"/>
                <a:cs typeface="Arial"/>
                <a:sym typeface="Arial"/>
              </a:defRPr>
            </a:lvl4pPr>
            <a:lvl5pPr indent="-342900" lvl="4" marL="2286000" algn="l">
              <a:lnSpc>
                <a:spcPct val="90000"/>
              </a:lnSpc>
              <a:spcBef>
                <a:spcPts val="5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138"/>
          <p:cNvSpPr txBox="1"/>
          <p:nvPr>
            <p:ph idx="10" type="dt"/>
          </p:nvPr>
        </p:nvSpPr>
        <p:spPr>
          <a:xfrm>
            <a:off x="2133600" y="6356350"/>
            <a:ext cx="1447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9" name="Google Shape;119;p138"/>
          <p:cNvSpPr/>
          <p:nvPr/>
        </p:nvSpPr>
        <p:spPr>
          <a:xfrm>
            <a:off x="381000" y="-6252"/>
            <a:ext cx="1620010" cy="6864252"/>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138"/>
          <p:cNvSpPr/>
          <p:nvPr/>
        </p:nvSpPr>
        <p:spPr>
          <a:xfrm>
            <a:off x="-19498" y="2035445"/>
            <a:ext cx="2533482" cy="3040884"/>
          </a:xfrm>
          <a:prstGeom prst="rect">
            <a:avLst/>
          </a:prstGeom>
          <a:solidFill>
            <a:srgbClr val="595959"/>
          </a:solidFill>
          <a:ln>
            <a:noFill/>
          </a:ln>
        </p:spPr>
        <p:txBody>
          <a:bodyPr anchorCtr="0" anchor="ctr" bIns="50800" lIns="50800" spcFirstLastPara="1" rIns="50800" wrap="square" tIns="50800">
            <a:noAutofit/>
          </a:bodyPr>
          <a:lstStyle/>
          <a:p>
            <a:pPr indent="0" lvl="0" marL="0" marR="0" rtl="0" algn="r">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138"/>
          <p:cNvSpPr/>
          <p:nvPr/>
        </p:nvSpPr>
        <p:spPr>
          <a:xfrm>
            <a:off x="943056" y="4709179"/>
            <a:ext cx="495897" cy="94934"/>
          </a:xfrm>
          <a:prstGeom prst="rect">
            <a:avLst/>
          </a:prstGeom>
          <a:solidFill>
            <a:srgbClr val="E88B31"/>
          </a:solidFill>
          <a:ln>
            <a:noFill/>
          </a:ln>
        </p:spPr>
        <p:txBody>
          <a:bodyPr anchorCtr="0" anchor="ctr" bIns="50800" lIns="50800" spcFirstLastPara="1" rIns="50800" wrap="square" tIns="508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age" id="122" name="Google Shape;122;p138"/>
          <p:cNvPicPr preferRelativeResize="0"/>
          <p:nvPr/>
        </p:nvPicPr>
        <p:blipFill rotWithShape="1">
          <a:blip r:embed="rId2">
            <a:alphaModFix/>
          </a:blip>
          <a:srcRect b="0" l="0" r="0" t="0"/>
          <a:stretch/>
        </p:blipFill>
        <p:spPr>
          <a:xfrm>
            <a:off x="768008" y="2389152"/>
            <a:ext cx="845994" cy="1046690"/>
          </a:xfrm>
          <a:prstGeom prst="rect">
            <a:avLst/>
          </a:prstGeom>
          <a:noFill/>
          <a:ln>
            <a:noFill/>
          </a:ln>
        </p:spPr>
      </p:pic>
      <p:sp>
        <p:nvSpPr>
          <p:cNvPr id="123" name="Google Shape;123;p138"/>
          <p:cNvSpPr txBox="1"/>
          <p:nvPr/>
        </p:nvSpPr>
        <p:spPr>
          <a:xfrm>
            <a:off x="143560" y="3429000"/>
            <a:ext cx="2215327" cy="780278"/>
          </a:xfrm>
          <a:prstGeom prst="rect">
            <a:avLst/>
          </a:prstGeom>
          <a:noFill/>
          <a:ln>
            <a:noFill/>
          </a:ln>
        </p:spPr>
        <p:txBody>
          <a:bodyPr anchorCtr="0" anchor="ctr" bIns="50800" lIns="50800" spcFirstLastPara="1" rIns="50800" wrap="square" tIns="50800">
            <a:spAutoFit/>
          </a:bodyPr>
          <a:lstStyle/>
          <a:p>
            <a:pPr indent="0" lvl="0" marL="0" marR="0" rtl="0" algn="ctr">
              <a:lnSpc>
                <a:spcPct val="361111"/>
              </a:lnSpc>
              <a:spcBef>
                <a:spcPts val="0"/>
              </a:spcBef>
              <a:spcAft>
                <a:spcPts val="0"/>
              </a:spcAft>
              <a:buNone/>
            </a:pPr>
            <a:r>
              <a:rPr lang="en-US" sz="1800">
                <a:solidFill>
                  <a:srgbClr val="FFFFFF"/>
                </a:solidFill>
                <a:latin typeface="Arial"/>
                <a:ea typeface="Arial"/>
                <a:cs typeface="Arial"/>
                <a:sym typeface="Arial"/>
              </a:rPr>
              <a:t>Click to Edit</a:t>
            </a:r>
            <a:endParaRPr sz="1800">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18.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2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2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1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1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2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2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2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2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4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3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4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3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4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4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39.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3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38.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3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3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33.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40.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36.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txBox="1"/>
          <p:nvPr>
            <p:ph type="ctrTitle"/>
          </p:nvPr>
        </p:nvSpPr>
        <p:spPr>
          <a:xfrm>
            <a:off x="2236989" y="4394382"/>
            <a:ext cx="9355016" cy="736829"/>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1581AA"/>
              </a:buClr>
              <a:buSzPct val="100000"/>
              <a:buFont typeface="Times New Roman"/>
              <a:buNone/>
            </a:pPr>
            <a:br>
              <a:rPr b="1" i="0" lang="en-US" sz="4400" u="none" cap="none" strike="noStrike">
                <a:solidFill>
                  <a:srgbClr val="1581AA"/>
                </a:solidFill>
                <a:latin typeface="Times New Roman"/>
                <a:ea typeface="Times New Roman"/>
                <a:cs typeface="Times New Roman"/>
                <a:sym typeface="Times New Roman"/>
              </a:rPr>
            </a:br>
            <a:br>
              <a:rPr b="1" i="0" lang="en-US" sz="4400" u="none" cap="none" strike="noStrike">
                <a:solidFill>
                  <a:srgbClr val="1581AA"/>
                </a:solidFill>
                <a:latin typeface="Times New Roman"/>
                <a:ea typeface="Times New Roman"/>
                <a:cs typeface="Times New Roman"/>
                <a:sym typeface="Times New Roman"/>
              </a:rPr>
            </a:br>
            <a:r>
              <a:rPr b="1" i="0" lang="en-US" sz="4400" u="none" cap="none" strike="noStrike">
                <a:solidFill>
                  <a:srgbClr val="1581AA"/>
                </a:solidFill>
                <a:latin typeface="Times New Roman"/>
                <a:ea typeface="Times New Roman"/>
                <a:cs typeface="Times New Roman"/>
                <a:sym typeface="Times New Roman"/>
              </a:rPr>
              <a:t>OPERATING SYSTEMS</a:t>
            </a:r>
            <a:br>
              <a:rPr b="1" i="0" lang="en-US" sz="4400" u="none" cap="none" strike="noStrike">
                <a:solidFill>
                  <a:srgbClr val="1581AA"/>
                </a:solidFill>
                <a:latin typeface="Times New Roman"/>
                <a:ea typeface="Times New Roman"/>
                <a:cs typeface="Times New Roman"/>
                <a:sym typeface="Times New Roman"/>
              </a:rPr>
            </a:br>
            <a:r>
              <a:rPr b="1" i="0" lang="en-US" sz="4400" u="none" cap="none" strike="noStrike">
                <a:solidFill>
                  <a:srgbClr val="1581AA"/>
                </a:solidFill>
                <a:latin typeface="Times New Roman"/>
                <a:ea typeface="Times New Roman"/>
                <a:cs typeface="Times New Roman"/>
                <a:sym typeface="Times New Roman"/>
              </a:rPr>
              <a:t>Module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
          <p:cNvSpPr txBox="1"/>
          <p:nvPr>
            <p:ph idx="1" type="body"/>
          </p:nvPr>
        </p:nvSpPr>
        <p:spPr>
          <a:xfrm>
            <a:off x="2555913" y="0"/>
            <a:ext cx="9408405" cy="6753340"/>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Deadlocks  </a:t>
            </a:r>
            <a:endParaRPr/>
          </a:p>
          <a:p>
            <a:pPr indent="0" lvl="0" marL="0" rtl="0" algn="just">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In a multiprogramming environment, several processes may compete for a finite number of resources.</a:t>
            </a:r>
            <a:endParaRPr/>
          </a:p>
          <a:p>
            <a:pPr indent="0" lvl="0" marL="0" rtl="0" algn="just">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 </a:t>
            </a:r>
            <a:endParaRPr/>
          </a:p>
          <a:p>
            <a:pPr indent="0" lvl="0" marL="0" rtl="0" algn="just">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A process requests resources; and if the resources are not available at that time, the process enters a waiting state. </a:t>
            </a:r>
            <a:endParaRPr/>
          </a:p>
          <a:p>
            <a:pPr indent="0" lvl="0" marL="0" rtl="0" algn="just">
              <a:lnSpc>
                <a:spcPct val="150000"/>
              </a:lnSpc>
              <a:spcBef>
                <a:spcPts val="0"/>
              </a:spcBef>
              <a:spcAft>
                <a:spcPts val="0"/>
              </a:spcAft>
              <a:buClr>
                <a:schemeClr val="dk1"/>
              </a:buClr>
              <a:buSzPts val="2400"/>
              <a:buNone/>
            </a:pPr>
            <a:r>
              <a:t/>
            </a:r>
            <a:endParaRPr sz="2400">
              <a:solidFill>
                <a:srgbClr val="000000"/>
              </a:solidFill>
              <a:latin typeface="Calibri"/>
              <a:ea typeface="Calibri"/>
              <a:cs typeface="Calibri"/>
              <a:sym typeface="Calibri"/>
            </a:endParaRPr>
          </a:p>
          <a:p>
            <a:pPr indent="0" lvl="0" marL="0" rtl="0" algn="just">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Sometimes, a waiting process is never again able to change state, because the resources it has requested are held by other waiting processes. </a:t>
            </a:r>
            <a:endParaRPr/>
          </a:p>
          <a:p>
            <a:pPr indent="0" lvl="0" marL="0" rtl="0" algn="just">
              <a:lnSpc>
                <a:spcPct val="150000"/>
              </a:lnSpc>
              <a:spcBef>
                <a:spcPts val="0"/>
              </a:spcBef>
              <a:spcAft>
                <a:spcPts val="0"/>
              </a:spcAft>
              <a:buClr>
                <a:schemeClr val="dk1"/>
              </a:buClr>
              <a:buSzPts val="2400"/>
              <a:buNone/>
            </a:pPr>
            <a:r>
              <a:t/>
            </a:r>
            <a:endParaRPr sz="2400">
              <a:solidFill>
                <a:srgbClr val="000000"/>
              </a:solidFill>
              <a:latin typeface="Calibri"/>
              <a:ea typeface="Calibri"/>
              <a:cs typeface="Calibri"/>
              <a:sym typeface="Calibri"/>
            </a:endParaRPr>
          </a:p>
          <a:p>
            <a:pPr indent="0" lvl="0" marL="0" rtl="0" algn="just">
              <a:lnSpc>
                <a:spcPct val="150000"/>
              </a:lnSpc>
              <a:spcBef>
                <a:spcPts val="0"/>
              </a:spcBef>
              <a:spcAft>
                <a:spcPts val="0"/>
              </a:spcAft>
              <a:buClr>
                <a:srgbClr val="000000"/>
              </a:buClr>
              <a:buSzPts val="2400"/>
              <a:buNone/>
            </a:pPr>
            <a:r>
              <a:rPr lang="en-US" sz="2400">
                <a:solidFill>
                  <a:srgbClr val="000000"/>
                </a:solidFill>
                <a:latin typeface="Calibri"/>
                <a:ea typeface="Calibri"/>
                <a:cs typeface="Calibri"/>
                <a:sym typeface="Calibri"/>
              </a:rPr>
              <a:t>This situation is called a </a:t>
            </a:r>
            <a:r>
              <a:rPr b="1" lang="en-US" sz="2400">
                <a:solidFill>
                  <a:srgbClr val="0000FF"/>
                </a:solidFill>
                <a:latin typeface="Calibri"/>
                <a:ea typeface="Calibri"/>
                <a:cs typeface="Calibri"/>
                <a:sym typeface="Calibri"/>
              </a:rPr>
              <a:t>deadlock</a:t>
            </a:r>
            <a:r>
              <a:rPr lang="en-US" sz="2400">
                <a:solidFill>
                  <a:srgbClr val="0000FF"/>
                </a:solidFill>
                <a:latin typeface="Calibri"/>
                <a:ea typeface="Calibri"/>
                <a:cs typeface="Calibri"/>
                <a:sym typeface="Calibri"/>
              </a:rPr>
              <a:t>.</a:t>
            </a:r>
            <a:endParaRPr/>
          </a:p>
          <a:p>
            <a:pPr indent="0" lvl="0" marL="0" rtl="0" algn="just">
              <a:lnSpc>
                <a:spcPct val="170000"/>
              </a:lnSpc>
              <a:spcBef>
                <a:spcPts val="0"/>
              </a:spcBef>
              <a:spcAft>
                <a:spcPts val="0"/>
              </a:spcAft>
              <a:buClr>
                <a:schemeClr val="dk1"/>
              </a:buClr>
              <a:buSzPts val="2000"/>
              <a:buNone/>
            </a:pPr>
            <a:r>
              <a:t/>
            </a:r>
            <a:endParaRPr sz="2000">
              <a:latin typeface="Calibri"/>
              <a:ea typeface="Calibri"/>
              <a:cs typeface="Calibri"/>
              <a:sym typeface="Calibri"/>
            </a:endParaRPr>
          </a:p>
        </p:txBody>
      </p:sp>
      <p:sp>
        <p:nvSpPr>
          <p:cNvPr id="134" name="Google Shape;134;p2"/>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transition spd="slow" p14:dur="1500">
    <p:split orient="ver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
          <p:cNvSpPr txBox="1"/>
          <p:nvPr>
            <p:ph idx="1" type="body"/>
          </p:nvPr>
        </p:nvSpPr>
        <p:spPr>
          <a:xfrm>
            <a:off x="2555913" y="0"/>
            <a:ext cx="9408405" cy="6753340"/>
          </a:xfrm>
          <a:prstGeom prst="rect">
            <a:avLst/>
          </a:prstGeom>
          <a:noFill/>
          <a:ln>
            <a:noFill/>
          </a:ln>
        </p:spPr>
        <p:txBody>
          <a:bodyPr anchorCtr="0" anchor="t" bIns="45700" lIns="91425" spcFirstLastPara="1" rIns="91425" wrap="square" tIns="45700">
            <a:noAutofit/>
          </a:bodyPr>
          <a:lstStyle/>
          <a:p>
            <a:pPr indent="0" lvl="0" marL="0" rtl="0" algn="ctr">
              <a:lnSpc>
                <a:spcPct val="17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System Model</a:t>
            </a:r>
            <a:endParaRPr/>
          </a:p>
          <a:p>
            <a:pPr indent="0" lvl="0" marL="0" rtl="0" algn="ctr">
              <a:lnSpc>
                <a:spcPct val="170000"/>
              </a:lnSpc>
              <a:spcBef>
                <a:spcPts val="0"/>
              </a:spcBef>
              <a:spcAft>
                <a:spcPts val="0"/>
              </a:spcAft>
              <a:buClr>
                <a:schemeClr val="dk1"/>
              </a:buClr>
              <a:buSzPts val="2400"/>
              <a:buNone/>
            </a:pPr>
            <a:r>
              <a:t/>
            </a:r>
            <a:endParaRPr b="1" sz="2400">
              <a:solidFill>
                <a:srgbClr val="FF0000"/>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A system consists of a finite number of resources to be distributed among a number of competing processes.</a:t>
            </a:r>
            <a:endParaRPr/>
          </a:p>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The resources are partitioned into several types, each consisting of some number  of identical instances.</a:t>
            </a:r>
            <a:endParaRPr/>
          </a:p>
          <a:p>
            <a:pPr indent="0" lvl="0" marL="0" rtl="0" algn="just">
              <a:lnSpc>
                <a:spcPct val="150000"/>
              </a:lnSpc>
              <a:spcBef>
                <a:spcPts val="0"/>
              </a:spcBef>
              <a:spcAft>
                <a:spcPts val="0"/>
              </a:spcAft>
              <a:buClr>
                <a:schemeClr val="dk1"/>
              </a:buClr>
              <a:buSzPts val="2000"/>
              <a:buNone/>
            </a:pPr>
            <a:r>
              <a:t/>
            </a:r>
            <a:endParaRPr sz="2000">
              <a:latin typeface="Calibri"/>
              <a:ea typeface="Calibri"/>
              <a:cs typeface="Calibri"/>
              <a:sym typeface="Calibri"/>
            </a:endParaRPr>
          </a:p>
          <a:p>
            <a:pPr indent="0" lvl="0" marL="0" rtl="0" algn="just">
              <a:lnSpc>
                <a:spcPct val="150000"/>
              </a:lnSpc>
              <a:spcBef>
                <a:spcPts val="0"/>
              </a:spcBef>
              <a:spcAft>
                <a:spcPts val="0"/>
              </a:spcAft>
              <a:buClr>
                <a:srgbClr val="0000FF"/>
              </a:buClr>
              <a:buSzPts val="2000"/>
              <a:buNone/>
            </a:pPr>
            <a:r>
              <a:rPr lang="en-US" sz="2000">
                <a:solidFill>
                  <a:srgbClr val="0000FF"/>
                </a:solidFill>
                <a:latin typeface="Calibri"/>
                <a:ea typeface="Calibri"/>
                <a:cs typeface="Calibri"/>
                <a:sym typeface="Calibri"/>
              </a:rPr>
              <a:t>Example of resource types</a:t>
            </a:r>
            <a:endParaRPr sz="2000">
              <a:latin typeface="Calibri"/>
              <a:ea typeface="Calibri"/>
              <a:cs typeface="Calibri"/>
              <a:sym typeface="Calibri"/>
            </a:endParaRPr>
          </a:p>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Memory space</a:t>
            </a:r>
            <a:endParaRPr/>
          </a:p>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CPU cycles</a:t>
            </a:r>
            <a:endParaRPr/>
          </a:p>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Files</a:t>
            </a:r>
            <a:endParaRPr/>
          </a:p>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I/O devices :- Printers and DVD drives</a:t>
            </a:r>
            <a:endParaRPr/>
          </a:p>
        </p:txBody>
      </p:sp>
      <p:sp>
        <p:nvSpPr>
          <p:cNvPr id="140" name="Google Shape;140;p3"/>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transition spd="slow" p14:dur="1500">
    <p:split orient="ver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4"/>
          <p:cNvSpPr txBox="1"/>
          <p:nvPr>
            <p:ph idx="1" type="body"/>
          </p:nvPr>
        </p:nvSpPr>
        <p:spPr>
          <a:xfrm>
            <a:off x="2555913" y="0"/>
            <a:ext cx="9408405" cy="6753340"/>
          </a:xfrm>
          <a:prstGeom prst="rect">
            <a:avLst/>
          </a:prstGeom>
          <a:noFill/>
          <a:ln>
            <a:noFill/>
          </a:ln>
        </p:spPr>
        <p:txBody>
          <a:bodyPr anchorCtr="0" anchor="t" bIns="45700" lIns="91425" spcFirstLastPara="1" rIns="91425" wrap="square" tIns="45700">
            <a:noAutofit/>
          </a:bodyPr>
          <a:lstStyle/>
          <a:p>
            <a:pPr indent="0" lvl="0" marL="0" rtl="0" algn="just">
              <a:lnSpc>
                <a:spcPct val="170000"/>
              </a:lnSpc>
              <a:spcBef>
                <a:spcPts val="0"/>
              </a:spcBef>
              <a:spcAft>
                <a:spcPts val="0"/>
              </a:spcAft>
              <a:buClr>
                <a:schemeClr val="dk1"/>
              </a:buClr>
              <a:buSzPts val="2000"/>
              <a:buNone/>
            </a:pPr>
            <a:r>
              <a:rPr lang="en-US" sz="2000">
                <a:latin typeface="Calibri"/>
                <a:ea typeface="Calibri"/>
                <a:cs typeface="Calibri"/>
                <a:sym typeface="Calibri"/>
              </a:rPr>
              <a:t>Under the normal mode of operation, a process may utilize a resource in only the following sequence:</a:t>
            </a:r>
            <a:endParaRPr/>
          </a:p>
          <a:p>
            <a:pPr indent="0" lvl="0" marL="0" rtl="0" algn="just">
              <a:lnSpc>
                <a:spcPct val="170000"/>
              </a:lnSpc>
              <a:spcBef>
                <a:spcPts val="0"/>
              </a:spcBef>
              <a:spcAft>
                <a:spcPts val="0"/>
              </a:spcAft>
              <a:buClr>
                <a:srgbClr val="0000FF"/>
              </a:buClr>
              <a:buSzPts val="2000"/>
              <a:buNone/>
            </a:pPr>
            <a:r>
              <a:rPr lang="en-US" sz="2000">
                <a:solidFill>
                  <a:srgbClr val="0000FF"/>
                </a:solidFill>
                <a:latin typeface="Calibri"/>
                <a:ea typeface="Calibri"/>
                <a:cs typeface="Calibri"/>
                <a:sym typeface="Calibri"/>
              </a:rPr>
              <a:t>1 Request </a:t>
            </a:r>
            <a:endParaRPr/>
          </a:p>
          <a:p>
            <a:pPr indent="0" lvl="0" marL="0" rtl="0" algn="just">
              <a:lnSpc>
                <a:spcPct val="170000"/>
              </a:lnSpc>
              <a:spcBef>
                <a:spcPts val="0"/>
              </a:spcBef>
              <a:spcAft>
                <a:spcPts val="0"/>
              </a:spcAft>
              <a:buClr>
                <a:schemeClr val="dk1"/>
              </a:buClr>
              <a:buSzPts val="2000"/>
              <a:buNone/>
            </a:pPr>
            <a:r>
              <a:rPr lang="en-US" sz="2000">
                <a:latin typeface="Calibri"/>
                <a:ea typeface="Calibri"/>
                <a:cs typeface="Calibri"/>
                <a:sym typeface="Calibri"/>
              </a:rPr>
              <a:t>If the request cannot be granted immediately (for example, if the resource is being used by another process), then the requesting process must wait until it can acquire the resource.</a:t>
            </a:r>
            <a:endParaRPr/>
          </a:p>
          <a:p>
            <a:pPr indent="0" lvl="0" marL="0" rtl="0" algn="just">
              <a:lnSpc>
                <a:spcPct val="170000"/>
              </a:lnSpc>
              <a:spcBef>
                <a:spcPts val="0"/>
              </a:spcBef>
              <a:spcAft>
                <a:spcPts val="0"/>
              </a:spcAft>
              <a:buClr>
                <a:srgbClr val="0000FF"/>
              </a:buClr>
              <a:buSzPts val="2000"/>
              <a:buNone/>
            </a:pPr>
            <a:r>
              <a:rPr lang="en-US" sz="2000">
                <a:solidFill>
                  <a:srgbClr val="0000FF"/>
                </a:solidFill>
                <a:latin typeface="Calibri"/>
                <a:ea typeface="Calibri"/>
                <a:cs typeface="Calibri"/>
                <a:sym typeface="Calibri"/>
              </a:rPr>
              <a:t>2. Use</a:t>
            </a:r>
            <a:endParaRPr/>
          </a:p>
          <a:p>
            <a:pPr indent="0" lvl="0" marL="0" rtl="0" algn="just">
              <a:lnSpc>
                <a:spcPct val="170000"/>
              </a:lnSpc>
              <a:spcBef>
                <a:spcPts val="0"/>
              </a:spcBef>
              <a:spcAft>
                <a:spcPts val="0"/>
              </a:spcAft>
              <a:buClr>
                <a:schemeClr val="dk1"/>
              </a:buClr>
              <a:buSzPts val="2000"/>
              <a:buNone/>
            </a:pPr>
            <a:r>
              <a:rPr lang="en-US" sz="2000">
                <a:latin typeface="Calibri"/>
                <a:ea typeface="Calibri"/>
                <a:cs typeface="Calibri"/>
                <a:sym typeface="Calibri"/>
              </a:rPr>
              <a:t>The process can operate on the resource (for example, if the resource is a printer, the process can print on the printer)</a:t>
            </a:r>
            <a:endParaRPr/>
          </a:p>
          <a:p>
            <a:pPr indent="0" lvl="0" marL="0" rtl="0" algn="just">
              <a:lnSpc>
                <a:spcPct val="170000"/>
              </a:lnSpc>
              <a:spcBef>
                <a:spcPts val="0"/>
              </a:spcBef>
              <a:spcAft>
                <a:spcPts val="0"/>
              </a:spcAft>
              <a:buClr>
                <a:srgbClr val="0000FF"/>
              </a:buClr>
              <a:buSzPts val="2000"/>
              <a:buNone/>
            </a:pPr>
            <a:r>
              <a:rPr lang="en-US" sz="2000">
                <a:solidFill>
                  <a:srgbClr val="0000FF"/>
                </a:solidFill>
                <a:latin typeface="Calibri"/>
                <a:ea typeface="Calibri"/>
                <a:cs typeface="Calibri"/>
                <a:sym typeface="Calibri"/>
              </a:rPr>
              <a:t>3. Release</a:t>
            </a:r>
            <a:endParaRPr/>
          </a:p>
          <a:p>
            <a:pPr indent="0" lvl="0" marL="0" rtl="0" algn="just">
              <a:lnSpc>
                <a:spcPct val="170000"/>
              </a:lnSpc>
              <a:spcBef>
                <a:spcPts val="0"/>
              </a:spcBef>
              <a:spcAft>
                <a:spcPts val="0"/>
              </a:spcAft>
              <a:buClr>
                <a:schemeClr val="dk1"/>
              </a:buClr>
              <a:buSzPts val="2000"/>
              <a:buNone/>
            </a:pPr>
            <a:r>
              <a:rPr lang="en-US" sz="2000">
                <a:latin typeface="Calibri"/>
                <a:ea typeface="Calibri"/>
                <a:cs typeface="Calibri"/>
                <a:sym typeface="Calibri"/>
              </a:rPr>
              <a:t>The process releases the resource.</a:t>
            </a:r>
            <a:endParaRPr/>
          </a:p>
          <a:p>
            <a:pPr indent="0" lvl="0" marL="0" rtl="0" algn="just">
              <a:lnSpc>
                <a:spcPct val="170000"/>
              </a:lnSpc>
              <a:spcBef>
                <a:spcPts val="0"/>
              </a:spcBef>
              <a:spcAft>
                <a:spcPts val="0"/>
              </a:spcAft>
              <a:buClr>
                <a:schemeClr val="dk1"/>
              </a:buClr>
              <a:buSzPts val="2000"/>
              <a:buNone/>
            </a:pPr>
            <a:r>
              <a:t/>
            </a:r>
            <a:endParaRPr sz="2000">
              <a:latin typeface="Calibri"/>
              <a:ea typeface="Calibri"/>
              <a:cs typeface="Calibri"/>
              <a:sym typeface="Calibri"/>
            </a:endParaRPr>
          </a:p>
        </p:txBody>
      </p:sp>
      <p:sp>
        <p:nvSpPr>
          <p:cNvPr id="146" name="Google Shape;146;p4"/>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transition spd="slow" p14:dur="1500">
    <p:split orient="ver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5"/>
          <p:cNvSpPr txBox="1"/>
          <p:nvPr>
            <p:ph idx="1" type="body"/>
          </p:nvPr>
        </p:nvSpPr>
        <p:spPr>
          <a:xfrm>
            <a:off x="2555913" y="0"/>
            <a:ext cx="9408405" cy="6753340"/>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rgbClr val="1F3864"/>
              </a:buClr>
              <a:buSzPts val="2400"/>
              <a:buNone/>
            </a:pPr>
            <a:r>
              <a:rPr b="1" lang="en-US" sz="2400">
                <a:solidFill>
                  <a:srgbClr val="1F3864"/>
                </a:solidFill>
                <a:latin typeface="Calibri"/>
                <a:ea typeface="Calibri"/>
                <a:cs typeface="Calibri"/>
                <a:sym typeface="Calibri"/>
              </a:rPr>
              <a:t>Deadlock Characterization</a:t>
            </a:r>
            <a:endParaRPr b="1" sz="2400">
              <a:solidFill>
                <a:srgbClr val="1F3864"/>
              </a:solidFill>
              <a:latin typeface="Calibri"/>
              <a:ea typeface="Calibri"/>
              <a:cs typeface="Calibri"/>
              <a:sym typeface="Calibri"/>
            </a:endParaRPr>
          </a:p>
          <a:p>
            <a:pPr indent="0" lvl="0" marL="0" rtl="0" algn="just">
              <a:lnSpc>
                <a:spcPct val="150000"/>
              </a:lnSpc>
              <a:spcBef>
                <a:spcPts val="1000"/>
              </a:spcBef>
              <a:spcAft>
                <a:spcPts val="0"/>
              </a:spcAft>
              <a:buClr>
                <a:srgbClr val="000000"/>
              </a:buClr>
              <a:buSzPts val="2400"/>
              <a:buNone/>
            </a:pPr>
            <a:r>
              <a:rPr lang="en-US" sz="2400">
                <a:solidFill>
                  <a:srgbClr val="000000"/>
                </a:solidFill>
                <a:latin typeface="Calibri"/>
                <a:ea typeface="Calibri"/>
                <a:cs typeface="Calibri"/>
                <a:sym typeface="Calibri"/>
              </a:rPr>
              <a:t>In a deadlock, processes never finish executing, and system resources are tied up, preventing other jobs from starting. </a:t>
            </a:r>
            <a:endParaRPr/>
          </a:p>
          <a:p>
            <a:pPr indent="0" lvl="0" marL="0" rtl="0" algn="just">
              <a:lnSpc>
                <a:spcPct val="150000"/>
              </a:lnSpc>
              <a:spcBef>
                <a:spcPts val="1315"/>
              </a:spcBef>
              <a:spcAft>
                <a:spcPts val="0"/>
              </a:spcAft>
              <a:buClr>
                <a:srgbClr val="1F3864"/>
              </a:buClr>
              <a:buSzPts val="2400"/>
              <a:buNone/>
            </a:pPr>
            <a:r>
              <a:rPr lang="en-US" sz="2400">
                <a:solidFill>
                  <a:srgbClr val="1F3864"/>
                </a:solidFill>
                <a:latin typeface="Calibri"/>
                <a:ea typeface="Calibri"/>
                <a:cs typeface="Calibri"/>
                <a:sym typeface="Calibri"/>
              </a:rPr>
              <a:t>Features that characterize deadlocks:- Necessary conditions</a:t>
            </a:r>
            <a:endParaRPr sz="2400">
              <a:solidFill>
                <a:srgbClr val="1F3864"/>
              </a:solidFill>
              <a:latin typeface="Calibri"/>
              <a:ea typeface="Calibri"/>
              <a:cs typeface="Calibri"/>
              <a:sym typeface="Calibri"/>
            </a:endParaRPr>
          </a:p>
          <a:p>
            <a:pPr indent="0" lvl="0" marL="0" rtl="0" algn="just">
              <a:lnSpc>
                <a:spcPct val="150000"/>
              </a:lnSpc>
              <a:spcBef>
                <a:spcPts val="1315"/>
              </a:spcBef>
              <a:spcAft>
                <a:spcPts val="0"/>
              </a:spcAft>
              <a:buClr>
                <a:srgbClr val="2E75B5"/>
              </a:buClr>
              <a:buSzPts val="2400"/>
              <a:buNone/>
            </a:pPr>
            <a:r>
              <a:rPr lang="en-US" sz="2400">
                <a:solidFill>
                  <a:srgbClr val="2E75B5"/>
                </a:solidFill>
                <a:latin typeface="Calibri"/>
                <a:ea typeface="Calibri"/>
                <a:cs typeface="Calibri"/>
                <a:sym typeface="Calibri"/>
              </a:rPr>
              <a:t>A deadlock situation can arise if the following four conditions hold simultaneously in a system</a:t>
            </a:r>
            <a:r>
              <a:rPr lang="en-US" sz="2400">
                <a:solidFill>
                  <a:srgbClr val="000000"/>
                </a:solidFill>
                <a:latin typeface="Calibri"/>
                <a:ea typeface="Calibri"/>
                <a:cs typeface="Calibri"/>
                <a:sym typeface="Calibri"/>
              </a:rPr>
              <a:t>:</a:t>
            </a:r>
            <a:endParaRPr/>
          </a:p>
          <a:p>
            <a:pPr indent="-228600" lvl="0" marL="228600" rtl="0" algn="just">
              <a:lnSpc>
                <a:spcPct val="150000"/>
              </a:lnSpc>
              <a:spcBef>
                <a:spcPts val="1315"/>
              </a:spcBef>
              <a:spcAft>
                <a:spcPts val="0"/>
              </a:spcAft>
              <a:buClr>
                <a:srgbClr val="000000"/>
              </a:buClr>
              <a:buSzPts val="2400"/>
              <a:buChar char="•"/>
            </a:pPr>
            <a:r>
              <a:rPr b="1" lang="en-US" sz="2400">
                <a:solidFill>
                  <a:srgbClr val="000000"/>
                </a:solidFill>
                <a:latin typeface="Calibri"/>
                <a:ea typeface="Calibri"/>
                <a:cs typeface="Calibri"/>
                <a:sym typeface="Calibri"/>
              </a:rPr>
              <a:t>Mutual exclusion</a:t>
            </a:r>
            <a:r>
              <a:rPr lang="en-US" sz="2400">
                <a:solidFill>
                  <a:srgbClr val="000000"/>
                </a:solidFill>
                <a:latin typeface="Calibri"/>
                <a:ea typeface="Calibri"/>
                <a:cs typeface="Calibri"/>
                <a:sym typeface="Calibri"/>
              </a:rPr>
              <a:t>. At least one resource must be held in a non-sharable mode; that is, only one process at a time can use the resource. If another process requests that resource, the requesting process must be delayed until the resource has been released. </a:t>
            </a:r>
            <a:endParaRPr sz="2400">
              <a:latin typeface="Calibri"/>
              <a:ea typeface="Calibri"/>
              <a:cs typeface="Calibri"/>
              <a:sym typeface="Calibri"/>
            </a:endParaRPr>
          </a:p>
          <a:p>
            <a:pPr indent="0" lvl="0" marL="0" rtl="0" algn="just">
              <a:lnSpc>
                <a:spcPct val="150000"/>
              </a:lnSpc>
              <a:spcBef>
                <a:spcPts val="1315"/>
              </a:spcBef>
              <a:spcAft>
                <a:spcPts val="0"/>
              </a:spcAft>
              <a:buClr>
                <a:schemeClr val="dk1"/>
              </a:buClr>
              <a:buSzPts val="2000"/>
              <a:buNone/>
            </a:pPr>
            <a:r>
              <a:t/>
            </a:r>
            <a:endParaRPr sz="2000">
              <a:latin typeface="Calibri"/>
              <a:ea typeface="Calibri"/>
              <a:cs typeface="Calibri"/>
              <a:sym typeface="Calibri"/>
            </a:endParaRPr>
          </a:p>
          <a:p>
            <a:pPr indent="0" lvl="0" marL="0" rtl="0" algn="just">
              <a:lnSpc>
                <a:spcPct val="170000"/>
              </a:lnSpc>
              <a:spcBef>
                <a:spcPts val="315"/>
              </a:spcBef>
              <a:spcAft>
                <a:spcPts val="0"/>
              </a:spcAft>
              <a:buClr>
                <a:schemeClr val="dk1"/>
              </a:buClr>
              <a:buSzPts val="2000"/>
              <a:buNone/>
            </a:pPr>
            <a:r>
              <a:t/>
            </a:r>
            <a:endParaRPr sz="2000">
              <a:latin typeface="Calibri"/>
              <a:ea typeface="Calibri"/>
              <a:cs typeface="Calibri"/>
              <a:sym typeface="Calibri"/>
            </a:endParaRPr>
          </a:p>
        </p:txBody>
      </p:sp>
      <p:sp>
        <p:nvSpPr>
          <p:cNvPr id="153" name="Google Shape;153;p5"/>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transition spd="slow" p14:dur="1500">
    <p:split orient="ver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6"/>
          <p:cNvSpPr txBox="1"/>
          <p:nvPr>
            <p:ph idx="1" type="body"/>
          </p:nvPr>
        </p:nvSpPr>
        <p:spPr>
          <a:xfrm>
            <a:off x="2555913" y="648070"/>
            <a:ext cx="9408405" cy="6105270"/>
          </a:xfrm>
          <a:prstGeom prst="rect">
            <a:avLst/>
          </a:prstGeom>
          <a:noFill/>
          <a:ln>
            <a:noFill/>
          </a:ln>
        </p:spPr>
        <p:txBody>
          <a:bodyPr anchorCtr="0" anchor="t" bIns="45700" lIns="91425" spcFirstLastPara="1" rIns="91425" wrap="square" tIns="45700">
            <a:noAutofit/>
          </a:bodyPr>
          <a:lstStyle/>
          <a:p>
            <a:pPr indent="-228600" lvl="0" marL="228600" rtl="0" algn="just">
              <a:lnSpc>
                <a:spcPct val="150000"/>
              </a:lnSpc>
              <a:spcBef>
                <a:spcPts val="0"/>
              </a:spcBef>
              <a:spcAft>
                <a:spcPts val="0"/>
              </a:spcAft>
              <a:buClr>
                <a:srgbClr val="000000"/>
              </a:buClr>
              <a:buSzPts val="2400"/>
              <a:buChar char="•"/>
            </a:pPr>
            <a:r>
              <a:rPr b="1" lang="en-US" sz="2400">
                <a:solidFill>
                  <a:srgbClr val="000000"/>
                </a:solidFill>
                <a:latin typeface="Calibri"/>
                <a:ea typeface="Calibri"/>
                <a:cs typeface="Calibri"/>
                <a:sym typeface="Calibri"/>
              </a:rPr>
              <a:t>Hold and wait</a:t>
            </a:r>
            <a:r>
              <a:rPr lang="en-US" sz="2400">
                <a:solidFill>
                  <a:srgbClr val="000000"/>
                </a:solidFill>
                <a:latin typeface="Calibri"/>
                <a:ea typeface="Calibri"/>
                <a:cs typeface="Calibri"/>
                <a:sym typeface="Calibri"/>
              </a:rPr>
              <a:t>. A process must be holding at least one resource and waiting to acquire additional resources that are currently being held by other processes.</a:t>
            </a:r>
            <a:endParaRPr sz="2400">
              <a:latin typeface="Calibri"/>
              <a:ea typeface="Calibri"/>
              <a:cs typeface="Calibri"/>
              <a:sym typeface="Calibri"/>
            </a:endParaRPr>
          </a:p>
          <a:p>
            <a:pPr indent="-228600" lvl="0" marL="228600" rtl="0" algn="just">
              <a:lnSpc>
                <a:spcPct val="150000"/>
              </a:lnSpc>
              <a:spcBef>
                <a:spcPts val="1315"/>
              </a:spcBef>
              <a:spcAft>
                <a:spcPts val="0"/>
              </a:spcAft>
              <a:buClr>
                <a:srgbClr val="000000"/>
              </a:buClr>
              <a:buSzPts val="2400"/>
              <a:buChar char="•"/>
            </a:pPr>
            <a:r>
              <a:rPr b="1" lang="en-US" sz="2400">
                <a:solidFill>
                  <a:srgbClr val="000000"/>
                </a:solidFill>
                <a:latin typeface="Calibri"/>
                <a:ea typeface="Calibri"/>
                <a:cs typeface="Calibri"/>
                <a:sym typeface="Calibri"/>
              </a:rPr>
              <a:t>No preemption. </a:t>
            </a:r>
            <a:r>
              <a:rPr lang="en-US" sz="2400">
                <a:solidFill>
                  <a:srgbClr val="000000"/>
                </a:solidFill>
                <a:latin typeface="Calibri"/>
                <a:ea typeface="Calibri"/>
                <a:cs typeface="Calibri"/>
                <a:sym typeface="Calibri"/>
              </a:rPr>
              <a:t>Resources cannot be preempted; that is, a resource can be released only voluntarily by the process holding it, after that process has completed its task.</a:t>
            </a:r>
            <a:endParaRPr sz="2400">
              <a:latin typeface="Calibri"/>
              <a:ea typeface="Calibri"/>
              <a:cs typeface="Calibri"/>
              <a:sym typeface="Calibri"/>
            </a:endParaRPr>
          </a:p>
          <a:p>
            <a:pPr indent="-228600" lvl="0" marL="228600" rtl="0" algn="just">
              <a:lnSpc>
                <a:spcPct val="150000"/>
              </a:lnSpc>
              <a:spcBef>
                <a:spcPts val="1800"/>
              </a:spcBef>
              <a:spcAft>
                <a:spcPts val="0"/>
              </a:spcAft>
              <a:buClr>
                <a:srgbClr val="000000"/>
              </a:buClr>
              <a:buSzPts val="2400"/>
              <a:buChar char="•"/>
            </a:pPr>
            <a:r>
              <a:rPr b="1" lang="en-US" sz="2400">
                <a:solidFill>
                  <a:srgbClr val="000000"/>
                </a:solidFill>
                <a:latin typeface="Calibri"/>
                <a:ea typeface="Calibri"/>
                <a:cs typeface="Calibri"/>
                <a:sym typeface="Calibri"/>
              </a:rPr>
              <a:t>Circular wait.</a:t>
            </a:r>
            <a:r>
              <a:rPr lang="en-US" sz="2400">
                <a:solidFill>
                  <a:srgbClr val="000000"/>
                </a:solidFill>
                <a:latin typeface="Calibri"/>
                <a:ea typeface="Calibri"/>
                <a:cs typeface="Calibri"/>
                <a:sym typeface="Calibri"/>
              </a:rPr>
              <a:t> A set { P</a:t>
            </a:r>
            <a:r>
              <a:rPr baseline="-25000" lang="en-US" sz="2400">
                <a:solidFill>
                  <a:srgbClr val="000000"/>
                </a:solidFill>
                <a:latin typeface="Calibri"/>
                <a:ea typeface="Calibri"/>
                <a:cs typeface="Calibri"/>
                <a:sym typeface="Calibri"/>
              </a:rPr>
              <a:t>0</a:t>
            </a:r>
            <a:r>
              <a:rPr lang="en-US" sz="2400">
                <a:solidFill>
                  <a:srgbClr val="000000"/>
                </a:solidFill>
                <a:latin typeface="Calibri"/>
                <a:ea typeface="Calibri"/>
                <a:cs typeface="Calibri"/>
                <a:sym typeface="Calibri"/>
              </a:rPr>
              <a:t>, ••• , P</a:t>
            </a:r>
            <a:r>
              <a:rPr baseline="-25000" lang="en-US" sz="2400">
                <a:solidFill>
                  <a:srgbClr val="000000"/>
                </a:solidFill>
                <a:latin typeface="Calibri"/>
                <a:ea typeface="Calibri"/>
                <a:cs typeface="Calibri"/>
                <a:sym typeface="Calibri"/>
              </a:rPr>
              <a:t>n</a:t>
            </a:r>
            <a:r>
              <a:rPr lang="en-US" sz="2400">
                <a:solidFill>
                  <a:srgbClr val="000000"/>
                </a:solidFill>
                <a:latin typeface="Calibri"/>
                <a:ea typeface="Calibri"/>
                <a:cs typeface="Calibri"/>
                <a:sym typeface="Calibri"/>
              </a:rPr>
              <a:t>} of waiting processes must exist such that Po is waiting for a resource held by P</a:t>
            </a:r>
            <a:r>
              <a:rPr baseline="-25000" lang="en-US" sz="2400">
                <a:solidFill>
                  <a:srgbClr val="000000"/>
                </a:solidFill>
                <a:latin typeface="Calibri"/>
                <a:ea typeface="Calibri"/>
                <a:cs typeface="Calibri"/>
                <a:sym typeface="Calibri"/>
              </a:rPr>
              <a:t>1</a:t>
            </a:r>
            <a:r>
              <a:rPr lang="en-US" sz="2400">
                <a:solidFill>
                  <a:srgbClr val="000000"/>
                </a:solidFill>
                <a:latin typeface="Calibri"/>
                <a:ea typeface="Calibri"/>
                <a:cs typeface="Calibri"/>
                <a:sym typeface="Calibri"/>
              </a:rPr>
              <a:t>, P</a:t>
            </a:r>
            <a:r>
              <a:rPr baseline="-25000" lang="en-US" sz="2400">
                <a:solidFill>
                  <a:srgbClr val="000000"/>
                </a:solidFill>
                <a:latin typeface="Calibri"/>
                <a:ea typeface="Calibri"/>
                <a:cs typeface="Calibri"/>
                <a:sym typeface="Calibri"/>
              </a:rPr>
              <a:t>1</a:t>
            </a:r>
            <a:r>
              <a:rPr lang="en-US" sz="2400">
                <a:solidFill>
                  <a:srgbClr val="000000"/>
                </a:solidFill>
                <a:latin typeface="Calibri"/>
                <a:ea typeface="Calibri"/>
                <a:cs typeface="Calibri"/>
                <a:sym typeface="Calibri"/>
              </a:rPr>
              <a:t> is waiting for a resource held by P2 , ... , P</a:t>
            </a:r>
            <a:r>
              <a:rPr baseline="-25000" lang="en-US" sz="2400">
                <a:solidFill>
                  <a:srgbClr val="000000"/>
                </a:solidFill>
                <a:latin typeface="Calibri"/>
                <a:ea typeface="Calibri"/>
                <a:cs typeface="Calibri"/>
                <a:sym typeface="Calibri"/>
              </a:rPr>
              <a:t>n-1 </a:t>
            </a:r>
            <a:r>
              <a:rPr lang="en-US" sz="2400">
                <a:solidFill>
                  <a:srgbClr val="000000"/>
                </a:solidFill>
                <a:latin typeface="Calibri"/>
                <a:ea typeface="Calibri"/>
                <a:cs typeface="Calibri"/>
                <a:sym typeface="Calibri"/>
              </a:rPr>
              <a:t>is waiting for a resource held by Pn.</a:t>
            </a:r>
            <a:endParaRPr sz="24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400"/>
              <a:buNone/>
            </a:pPr>
            <a:r>
              <a:t/>
            </a:r>
            <a:endParaRPr sz="2400">
              <a:latin typeface="Calibri"/>
              <a:ea typeface="Calibri"/>
              <a:cs typeface="Calibri"/>
              <a:sym typeface="Calibri"/>
            </a:endParaRPr>
          </a:p>
          <a:p>
            <a:pPr indent="0" lvl="0" marL="0" rtl="0" algn="just">
              <a:lnSpc>
                <a:spcPct val="170000"/>
              </a:lnSpc>
              <a:spcBef>
                <a:spcPts val="315"/>
              </a:spcBef>
              <a:spcAft>
                <a:spcPts val="0"/>
              </a:spcAft>
              <a:buClr>
                <a:schemeClr val="dk1"/>
              </a:buClr>
              <a:buSzPts val="2000"/>
              <a:buNone/>
            </a:pPr>
            <a:r>
              <a:t/>
            </a:r>
            <a:endParaRPr sz="2000">
              <a:latin typeface="Calibri"/>
              <a:ea typeface="Calibri"/>
              <a:cs typeface="Calibri"/>
              <a:sym typeface="Calibri"/>
            </a:endParaRPr>
          </a:p>
        </p:txBody>
      </p:sp>
      <p:sp>
        <p:nvSpPr>
          <p:cNvPr id="159" name="Google Shape;159;p6"/>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transition spd="slow" p14:dur="1500">
    <p:split orient="ver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7"/>
          <p:cNvSpPr txBox="1"/>
          <p:nvPr>
            <p:ph idx="1" type="body"/>
          </p:nvPr>
        </p:nvSpPr>
        <p:spPr>
          <a:xfrm>
            <a:off x="2647788" y="1223427"/>
            <a:ext cx="9408405" cy="3916743"/>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002060"/>
              </a:buClr>
              <a:buSzPts val="2400"/>
              <a:buNone/>
            </a:pPr>
            <a:r>
              <a:rPr lang="en-US" sz="2400">
                <a:solidFill>
                  <a:srgbClr val="002060"/>
                </a:solidFill>
                <a:latin typeface="Calibri"/>
                <a:ea typeface="Calibri"/>
                <a:cs typeface="Calibri"/>
                <a:sym typeface="Calibri"/>
              </a:rPr>
              <a:t>We emphasize that all 4 conditions must hold for a deadlock to occur.</a:t>
            </a:r>
            <a:endParaRPr/>
          </a:p>
          <a:p>
            <a:pPr indent="-228600" lvl="0" marL="228600" rtl="0" algn="just">
              <a:lnSpc>
                <a:spcPct val="150000"/>
              </a:lnSpc>
              <a:spcBef>
                <a:spcPts val="1315"/>
              </a:spcBef>
              <a:spcAft>
                <a:spcPts val="0"/>
              </a:spcAft>
              <a:buClr>
                <a:schemeClr val="dk1"/>
              </a:buClr>
              <a:buSzPts val="2400"/>
              <a:buChar char="•"/>
            </a:pPr>
            <a:r>
              <a:rPr lang="en-US" sz="2400">
                <a:latin typeface="Calibri"/>
                <a:ea typeface="Calibri"/>
                <a:cs typeface="Calibri"/>
                <a:sym typeface="Calibri"/>
              </a:rPr>
              <a:t>Mutual exclusion</a:t>
            </a:r>
            <a:endParaRPr/>
          </a:p>
          <a:p>
            <a:pPr indent="-228600" lvl="0" marL="228600" rtl="0" algn="just">
              <a:lnSpc>
                <a:spcPct val="150000"/>
              </a:lnSpc>
              <a:spcBef>
                <a:spcPts val="1315"/>
              </a:spcBef>
              <a:spcAft>
                <a:spcPts val="0"/>
              </a:spcAft>
              <a:buClr>
                <a:schemeClr val="dk1"/>
              </a:buClr>
              <a:buSzPts val="2400"/>
              <a:buChar char="•"/>
            </a:pPr>
            <a:r>
              <a:rPr lang="en-US" sz="2400">
                <a:latin typeface="Calibri"/>
                <a:ea typeface="Calibri"/>
                <a:cs typeface="Calibri"/>
                <a:sym typeface="Calibri"/>
              </a:rPr>
              <a:t>Hold and wait</a:t>
            </a:r>
            <a:endParaRPr/>
          </a:p>
          <a:p>
            <a:pPr indent="-228600" lvl="0" marL="228600" rtl="0" algn="just">
              <a:lnSpc>
                <a:spcPct val="150000"/>
              </a:lnSpc>
              <a:spcBef>
                <a:spcPts val="1315"/>
              </a:spcBef>
              <a:spcAft>
                <a:spcPts val="0"/>
              </a:spcAft>
              <a:buClr>
                <a:schemeClr val="dk1"/>
              </a:buClr>
              <a:buSzPts val="2400"/>
              <a:buChar char="•"/>
            </a:pPr>
            <a:r>
              <a:rPr lang="en-US" sz="2400">
                <a:latin typeface="Calibri"/>
                <a:ea typeface="Calibri"/>
                <a:cs typeface="Calibri"/>
                <a:sym typeface="Calibri"/>
              </a:rPr>
              <a:t>No preemption </a:t>
            </a:r>
            <a:endParaRPr/>
          </a:p>
          <a:p>
            <a:pPr indent="-228600" lvl="0" marL="228600" rtl="0" algn="just">
              <a:lnSpc>
                <a:spcPct val="150000"/>
              </a:lnSpc>
              <a:spcBef>
                <a:spcPts val="1315"/>
              </a:spcBef>
              <a:spcAft>
                <a:spcPts val="0"/>
              </a:spcAft>
              <a:buClr>
                <a:schemeClr val="dk1"/>
              </a:buClr>
              <a:buSzPts val="2400"/>
              <a:buChar char="•"/>
            </a:pPr>
            <a:r>
              <a:rPr lang="en-US" sz="2400">
                <a:latin typeface="Calibri"/>
                <a:ea typeface="Calibri"/>
                <a:cs typeface="Calibri"/>
                <a:sym typeface="Calibri"/>
              </a:rPr>
              <a:t>Circular wait</a:t>
            </a:r>
            <a:endParaRPr sz="2400">
              <a:latin typeface="Calibri"/>
              <a:ea typeface="Calibri"/>
              <a:cs typeface="Calibri"/>
              <a:sym typeface="Calibri"/>
            </a:endParaRPr>
          </a:p>
          <a:p>
            <a:pPr indent="0" lvl="0" marL="0" rtl="0" algn="just">
              <a:lnSpc>
                <a:spcPct val="170000"/>
              </a:lnSpc>
              <a:spcBef>
                <a:spcPts val="315"/>
              </a:spcBef>
              <a:spcAft>
                <a:spcPts val="0"/>
              </a:spcAft>
              <a:buClr>
                <a:schemeClr val="dk1"/>
              </a:buClr>
              <a:buSzPts val="2000"/>
              <a:buNone/>
            </a:pPr>
            <a:r>
              <a:t/>
            </a:r>
            <a:endParaRPr sz="2000">
              <a:latin typeface="Calibri"/>
              <a:ea typeface="Calibri"/>
              <a:cs typeface="Calibri"/>
              <a:sym typeface="Calibri"/>
            </a:endParaRPr>
          </a:p>
        </p:txBody>
      </p:sp>
      <p:sp>
        <p:nvSpPr>
          <p:cNvPr id="165" name="Google Shape;165;p7"/>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transition spd="slow" p14:dur="1500">
    <p:split orient="ver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txBox="1"/>
          <p:nvPr>
            <p:ph idx="1" type="body"/>
          </p:nvPr>
        </p:nvSpPr>
        <p:spPr>
          <a:xfrm>
            <a:off x="2576767" y="87085"/>
            <a:ext cx="9517262" cy="6651171"/>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Resource Allocation Graph</a:t>
            </a:r>
            <a:endParaRPr sz="2400">
              <a:solidFill>
                <a:srgbClr val="FF0000"/>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2000"/>
              <a:buNone/>
            </a:pPr>
            <a:r>
              <a:t/>
            </a:r>
            <a:endParaRPr sz="2000">
              <a:solidFill>
                <a:srgbClr val="000000"/>
              </a:solidFill>
              <a:latin typeface="Calibri"/>
              <a:ea typeface="Calibri"/>
              <a:cs typeface="Calibri"/>
              <a:sym typeface="Calibri"/>
            </a:endParaRPr>
          </a:p>
          <a:p>
            <a:pPr indent="0" lvl="0" marL="0" rtl="0" algn="just">
              <a:lnSpc>
                <a:spcPct val="150000"/>
              </a:lnSpc>
              <a:spcBef>
                <a:spcPts val="0"/>
              </a:spcBef>
              <a:spcAft>
                <a:spcPts val="0"/>
              </a:spcAft>
              <a:buClr>
                <a:srgbClr val="002060"/>
              </a:buClr>
              <a:buSzPts val="2000"/>
              <a:buNone/>
            </a:pPr>
            <a:r>
              <a:rPr b="1" lang="en-US" sz="2000">
                <a:solidFill>
                  <a:srgbClr val="002060"/>
                </a:solidFill>
                <a:latin typeface="Calibri"/>
                <a:ea typeface="Calibri"/>
                <a:cs typeface="Calibri"/>
                <a:sym typeface="Calibri"/>
              </a:rPr>
              <a:t>Deadlocks can be described precisely with a DIRECTED GRAPH called system resource allocation graph. </a:t>
            </a:r>
            <a:endParaRPr/>
          </a:p>
          <a:p>
            <a:pPr indent="0" lvl="0" marL="0" rtl="0" algn="just">
              <a:lnSpc>
                <a:spcPct val="150000"/>
              </a:lnSpc>
              <a:spcBef>
                <a:spcPts val="0"/>
              </a:spcBef>
              <a:spcAft>
                <a:spcPts val="0"/>
              </a:spcAft>
              <a:buClr>
                <a:srgbClr val="000000"/>
              </a:buClr>
              <a:buSzPts val="2000"/>
              <a:buNone/>
            </a:pPr>
            <a:r>
              <a:rPr lang="en-US" sz="2000">
                <a:solidFill>
                  <a:srgbClr val="000000"/>
                </a:solidFill>
                <a:latin typeface="Calibri"/>
                <a:ea typeface="Calibri"/>
                <a:cs typeface="Calibri"/>
                <a:sym typeface="Calibri"/>
              </a:rPr>
              <a:t>This graph consists of a set of </a:t>
            </a:r>
            <a:r>
              <a:rPr lang="en-US" sz="2000">
                <a:solidFill>
                  <a:srgbClr val="0000FF"/>
                </a:solidFill>
                <a:latin typeface="Calibri"/>
                <a:ea typeface="Calibri"/>
                <a:cs typeface="Calibri"/>
                <a:sym typeface="Calibri"/>
              </a:rPr>
              <a:t>vertices V</a:t>
            </a:r>
            <a:r>
              <a:rPr lang="en-US" sz="2000">
                <a:solidFill>
                  <a:srgbClr val="000000"/>
                </a:solidFill>
                <a:latin typeface="Calibri"/>
                <a:ea typeface="Calibri"/>
                <a:cs typeface="Calibri"/>
                <a:sym typeface="Calibri"/>
              </a:rPr>
              <a:t> and a set of </a:t>
            </a:r>
            <a:r>
              <a:rPr lang="en-US" sz="2000">
                <a:solidFill>
                  <a:srgbClr val="0000FF"/>
                </a:solidFill>
                <a:latin typeface="Calibri"/>
                <a:ea typeface="Calibri"/>
                <a:cs typeface="Calibri"/>
                <a:sym typeface="Calibri"/>
              </a:rPr>
              <a:t>edges E. </a:t>
            </a:r>
            <a:endParaRPr/>
          </a:p>
          <a:p>
            <a:pPr indent="0" lvl="0" marL="0" rtl="0" algn="just">
              <a:lnSpc>
                <a:spcPct val="150000"/>
              </a:lnSpc>
              <a:spcBef>
                <a:spcPts val="0"/>
              </a:spcBef>
              <a:spcAft>
                <a:spcPts val="0"/>
              </a:spcAft>
              <a:buClr>
                <a:schemeClr val="dk1"/>
              </a:buClr>
              <a:buSzPts val="2000"/>
              <a:buNone/>
            </a:pPr>
            <a:r>
              <a:t/>
            </a:r>
            <a:endParaRPr sz="2000">
              <a:solidFill>
                <a:srgbClr val="000000"/>
              </a:solidFill>
              <a:latin typeface="Calibri"/>
              <a:ea typeface="Calibri"/>
              <a:cs typeface="Calibri"/>
              <a:sym typeface="Calibri"/>
            </a:endParaRPr>
          </a:p>
          <a:p>
            <a:pPr indent="0" lvl="0" marL="0" rtl="0" algn="just">
              <a:lnSpc>
                <a:spcPct val="150000"/>
              </a:lnSpc>
              <a:spcBef>
                <a:spcPts val="0"/>
              </a:spcBef>
              <a:spcAft>
                <a:spcPts val="0"/>
              </a:spcAft>
              <a:buClr>
                <a:srgbClr val="0000FF"/>
              </a:buClr>
              <a:buSzPts val="2000"/>
              <a:buNone/>
            </a:pPr>
            <a:r>
              <a:rPr lang="en-US" sz="2000">
                <a:solidFill>
                  <a:srgbClr val="0000FF"/>
                </a:solidFill>
                <a:latin typeface="Calibri"/>
                <a:ea typeface="Calibri"/>
                <a:cs typeface="Calibri"/>
                <a:sym typeface="Calibri"/>
              </a:rPr>
              <a:t>The set of vertices V is partitioned into two different types of nodes: </a:t>
            </a:r>
            <a:endParaRPr/>
          </a:p>
          <a:p>
            <a:pPr indent="0" lvl="0" marL="0" rtl="0" algn="just">
              <a:lnSpc>
                <a:spcPct val="150000"/>
              </a:lnSpc>
              <a:spcBef>
                <a:spcPts val="0"/>
              </a:spcBef>
              <a:spcAft>
                <a:spcPts val="0"/>
              </a:spcAft>
              <a:buClr>
                <a:srgbClr val="000000"/>
              </a:buClr>
              <a:buSzPts val="2000"/>
              <a:buNone/>
            </a:pPr>
            <a:r>
              <a:rPr lang="en-US" sz="2000">
                <a:solidFill>
                  <a:srgbClr val="000000"/>
                </a:solidFill>
                <a:latin typeface="Calibri"/>
                <a:ea typeface="Calibri"/>
                <a:cs typeface="Calibri"/>
                <a:sym typeface="Calibri"/>
              </a:rPr>
              <a:t>P = {P1, P2, . . . , Pn}, the set consisting of all the active processes in the system, and </a:t>
            </a:r>
            <a:endParaRPr/>
          </a:p>
          <a:p>
            <a:pPr indent="0" lvl="0" marL="0" rtl="0" algn="just">
              <a:lnSpc>
                <a:spcPct val="150000"/>
              </a:lnSpc>
              <a:spcBef>
                <a:spcPts val="0"/>
              </a:spcBef>
              <a:spcAft>
                <a:spcPts val="0"/>
              </a:spcAft>
              <a:buClr>
                <a:srgbClr val="000000"/>
              </a:buClr>
              <a:buSzPts val="2000"/>
              <a:buNone/>
            </a:pPr>
            <a:r>
              <a:rPr lang="en-US" sz="2000">
                <a:solidFill>
                  <a:srgbClr val="000000"/>
                </a:solidFill>
                <a:latin typeface="Calibri"/>
                <a:ea typeface="Calibri"/>
                <a:cs typeface="Calibri"/>
                <a:sym typeface="Calibri"/>
              </a:rPr>
              <a:t>R = {R1, R2, . . . , Rm} the set consisting of all resource types in the system. </a:t>
            </a:r>
            <a:endParaRPr/>
          </a:p>
          <a:p>
            <a:pPr indent="0" lvl="0" marL="0" rtl="0" algn="just">
              <a:lnSpc>
                <a:spcPct val="150000"/>
              </a:lnSpc>
              <a:spcBef>
                <a:spcPts val="0"/>
              </a:spcBef>
              <a:spcAft>
                <a:spcPts val="0"/>
              </a:spcAft>
              <a:buClr>
                <a:srgbClr val="000000"/>
              </a:buClr>
              <a:buSzPts val="2000"/>
              <a:buNone/>
            </a:pPr>
            <a:r>
              <a:rPr lang="en-US" sz="2000">
                <a:solidFill>
                  <a:srgbClr val="000000"/>
                </a:solidFill>
                <a:latin typeface="Calibri"/>
                <a:ea typeface="Calibri"/>
                <a:cs typeface="Calibri"/>
                <a:sym typeface="Calibri"/>
              </a:rPr>
              <a:t>                                                               </a:t>
            </a:r>
            <a:r>
              <a:rPr lang="en-US" sz="2000">
                <a:solidFill>
                  <a:srgbClr val="0000FF"/>
                </a:solidFill>
                <a:latin typeface="Calibri"/>
                <a:ea typeface="Calibri"/>
                <a:cs typeface="Calibri"/>
                <a:sym typeface="Calibri"/>
              </a:rPr>
              <a:t>[Request Edge]</a:t>
            </a:r>
            <a:endParaRPr/>
          </a:p>
          <a:p>
            <a:pPr indent="0" lvl="0" marL="0" rtl="0" algn="just">
              <a:lnSpc>
                <a:spcPct val="150000"/>
              </a:lnSpc>
              <a:spcBef>
                <a:spcPts val="0"/>
              </a:spcBef>
              <a:spcAft>
                <a:spcPts val="0"/>
              </a:spcAft>
              <a:buClr>
                <a:srgbClr val="000000"/>
              </a:buClr>
              <a:buSzPts val="2000"/>
              <a:buNone/>
            </a:pPr>
            <a:r>
              <a:rPr lang="en-US" sz="2000">
                <a:solidFill>
                  <a:srgbClr val="000000"/>
                </a:solidFill>
                <a:latin typeface="Calibri"/>
                <a:ea typeface="Calibri"/>
                <a:cs typeface="Calibri"/>
                <a:sym typeface="Calibri"/>
              </a:rPr>
              <a:t>A directed edge from process Pi to resource type R; is denoted by Pi -&gt; R</a:t>
            </a:r>
            <a:r>
              <a:rPr baseline="-25000" lang="en-US" sz="2000">
                <a:solidFill>
                  <a:srgbClr val="000000"/>
                </a:solidFill>
                <a:latin typeface="Calibri"/>
                <a:ea typeface="Calibri"/>
                <a:cs typeface="Calibri"/>
                <a:sym typeface="Calibri"/>
              </a:rPr>
              <a:t>j</a:t>
            </a:r>
            <a:r>
              <a:rPr lang="en-US" sz="2000">
                <a:solidFill>
                  <a:srgbClr val="000000"/>
                </a:solidFill>
                <a:latin typeface="Calibri"/>
                <a:ea typeface="Calibri"/>
                <a:cs typeface="Calibri"/>
                <a:sym typeface="Calibri"/>
              </a:rPr>
              <a:t>; it signifies that process Pi has requested an instance of resource type Rj and is currently waiting for that resource. </a:t>
            </a:r>
            <a:endParaRPr/>
          </a:p>
          <a:p>
            <a:pPr indent="0" lvl="0" marL="0" rtl="0" algn="just">
              <a:lnSpc>
                <a:spcPct val="150000"/>
              </a:lnSpc>
              <a:spcBef>
                <a:spcPts val="0"/>
              </a:spcBef>
              <a:spcAft>
                <a:spcPts val="0"/>
              </a:spcAft>
              <a:buClr>
                <a:schemeClr val="dk1"/>
              </a:buClr>
              <a:buSzPts val="2000"/>
              <a:buNone/>
            </a:pPr>
            <a:r>
              <a:t/>
            </a:r>
            <a:endParaRPr sz="2000">
              <a:latin typeface="Calibri"/>
              <a:ea typeface="Calibri"/>
              <a:cs typeface="Calibri"/>
              <a:sym typeface="Calibri"/>
            </a:endParaRPr>
          </a:p>
          <a:p>
            <a:pPr indent="0" lvl="0" marL="0" rtl="0" algn="just">
              <a:lnSpc>
                <a:spcPct val="170000"/>
              </a:lnSpc>
              <a:spcBef>
                <a:spcPts val="0"/>
              </a:spcBef>
              <a:spcAft>
                <a:spcPts val="0"/>
              </a:spcAft>
              <a:buClr>
                <a:schemeClr val="dk1"/>
              </a:buClr>
              <a:buSzPts val="2000"/>
              <a:buNone/>
            </a:pPr>
            <a:r>
              <a:t/>
            </a:r>
            <a:endParaRPr sz="2000">
              <a:latin typeface="Calibri"/>
              <a:ea typeface="Calibri"/>
              <a:cs typeface="Calibri"/>
              <a:sym typeface="Calibri"/>
            </a:endParaRPr>
          </a:p>
        </p:txBody>
      </p:sp>
      <p:sp>
        <p:nvSpPr>
          <p:cNvPr id="171" name="Google Shape;171;p8"/>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transition spd="slow" p14:dur="1500">
    <p:split orient="ver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9"/>
          <p:cNvSpPr txBox="1"/>
          <p:nvPr>
            <p:ph idx="1" type="body"/>
          </p:nvPr>
        </p:nvSpPr>
        <p:spPr>
          <a:xfrm>
            <a:off x="2590800" y="108857"/>
            <a:ext cx="9459686" cy="667294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FF"/>
              </a:buClr>
              <a:buSzPts val="2000"/>
              <a:buNone/>
            </a:pPr>
            <a:r>
              <a:rPr lang="en-US" sz="2000">
                <a:solidFill>
                  <a:srgbClr val="0000FF"/>
                </a:solidFill>
                <a:latin typeface="Calibri"/>
                <a:ea typeface="Calibri"/>
                <a:cs typeface="Calibri"/>
                <a:sym typeface="Calibri"/>
              </a:rPr>
              <a:t>                                        [Assignment Edge]</a:t>
            </a:r>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A directed edge from resource type Rj to process Pi is denoted by R</a:t>
            </a:r>
            <a:r>
              <a:rPr baseline="-25000" lang="en-US" sz="2000">
                <a:solidFill>
                  <a:srgbClr val="000000"/>
                </a:solidFill>
                <a:latin typeface="Calibri"/>
                <a:ea typeface="Calibri"/>
                <a:cs typeface="Calibri"/>
                <a:sym typeface="Calibri"/>
              </a:rPr>
              <a:t>j</a:t>
            </a:r>
            <a:r>
              <a:rPr lang="en-US" sz="2000">
                <a:solidFill>
                  <a:srgbClr val="000000"/>
                </a:solidFill>
                <a:latin typeface="Calibri"/>
                <a:ea typeface="Calibri"/>
                <a:cs typeface="Calibri"/>
                <a:sym typeface="Calibri"/>
              </a:rPr>
              <a:t>; 🡪Pi; it signifies that an instance of resource type Rj has been allocated to process Pi. </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Processes </a:t>
            </a:r>
            <a:r>
              <a:rPr lang="en-US" sz="2000">
                <a:latin typeface="Calibri"/>
                <a:ea typeface="Calibri"/>
                <a:cs typeface="Calibri"/>
                <a:sym typeface="Calibri"/>
              </a:rPr>
              <a:t>are represented using </a:t>
            </a:r>
            <a:r>
              <a:rPr lang="en-US" sz="2000">
                <a:solidFill>
                  <a:srgbClr val="0000FF"/>
                </a:solidFill>
                <a:latin typeface="Calibri"/>
                <a:ea typeface="Calibri"/>
                <a:cs typeface="Calibri"/>
                <a:sym typeface="Calibri"/>
              </a:rPr>
              <a:t>circles</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Resources </a:t>
            </a:r>
            <a:r>
              <a:rPr lang="en-US" sz="2000">
                <a:latin typeface="Calibri"/>
                <a:ea typeface="Calibri"/>
                <a:cs typeface="Calibri"/>
                <a:sym typeface="Calibri"/>
              </a:rPr>
              <a:t>are denoted using </a:t>
            </a:r>
            <a:r>
              <a:rPr lang="en-US" sz="2000">
                <a:solidFill>
                  <a:srgbClr val="0000FF"/>
                </a:solidFill>
                <a:latin typeface="Calibri"/>
                <a:ea typeface="Calibri"/>
                <a:cs typeface="Calibri"/>
                <a:sym typeface="Calibri"/>
              </a:rPr>
              <a:t>rectangles.</a:t>
            </a:r>
            <a:r>
              <a:rPr lang="en-US" sz="2000">
                <a:latin typeface="Calibri"/>
                <a:ea typeface="Calibri"/>
                <a:cs typeface="Calibri"/>
                <a:sym typeface="Calibri"/>
              </a:rPr>
              <a:t> </a:t>
            </a:r>
            <a:endParaRPr/>
          </a:p>
          <a:p>
            <a:pPr indent="0" lvl="0" marL="0" rtl="0" algn="just">
              <a:lnSpc>
                <a:spcPct val="150000"/>
              </a:lnSpc>
              <a:spcBef>
                <a:spcPts val="1000"/>
              </a:spcBef>
              <a:spcAft>
                <a:spcPts val="0"/>
              </a:spcAft>
              <a:buClr>
                <a:srgbClr val="002060"/>
              </a:buClr>
              <a:buSzPts val="2000"/>
              <a:buNone/>
            </a:pPr>
            <a:r>
              <a:rPr lang="en-US" sz="2000">
                <a:solidFill>
                  <a:srgbClr val="002060"/>
                </a:solidFill>
                <a:latin typeface="Calibri"/>
                <a:ea typeface="Calibri"/>
                <a:cs typeface="Calibri"/>
                <a:sym typeface="Calibri"/>
              </a:rPr>
              <a:t>Since a resource type Rj  may have more than one instance, we represent each such instance as a dot within the rectangle</a:t>
            </a:r>
            <a:r>
              <a:rPr lang="en-US" sz="2000">
                <a:latin typeface="Calibri"/>
                <a:ea typeface="Calibri"/>
                <a:cs typeface="Calibri"/>
                <a:sym typeface="Calibri"/>
              </a:rPr>
              <a:t>.</a:t>
            </a:r>
            <a:endParaRPr/>
          </a:p>
        </p:txBody>
      </p:sp>
      <p:pic>
        <p:nvPicPr>
          <p:cNvPr id="177" name="Google Shape;177;p9"/>
          <p:cNvPicPr preferRelativeResize="0"/>
          <p:nvPr/>
        </p:nvPicPr>
        <p:blipFill rotWithShape="1">
          <a:blip r:embed="rId3">
            <a:alphaModFix/>
          </a:blip>
          <a:srcRect b="0" l="0" r="0" t="0"/>
          <a:stretch/>
        </p:blipFill>
        <p:spPr>
          <a:xfrm>
            <a:off x="4136571" y="3979022"/>
            <a:ext cx="6658676" cy="2261979"/>
          </a:xfrm>
          <a:prstGeom prst="rect">
            <a:avLst/>
          </a:prstGeom>
          <a:noFill/>
          <a:ln>
            <a:noFill/>
          </a:ln>
        </p:spPr>
      </p:pic>
      <p:sp>
        <p:nvSpPr>
          <p:cNvPr id="178" name="Google Shape;178;p9"/>
          <p:cNvSpPr txBox="1"/>
          <p:nvPr/>
        </p:nvSpPr>
        <p:spPr>
          <a:xfrm>
            <a:off x="524064" y="3909202"/>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0"/>
          <p:cNvSpPr txBox="1"/>
          <p:nvPr/>
        </p:nvSpPr>
        <p:spPr>
          <a:xfrm>
            <a:off x="1480459" y="4998888"/>
            <a:ext cx="6106884"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000">
                <a:solidFill>
                  <a:schemeClr val="dk1"/>
                </a:solidFill>
                <a:latin typeface="Calibri"/>
                <a:ea typeface="Calibri"/>
                <a:cs typeface="Calibri"/>
                <a:sym typeface="Calibri"/>
              </a:rPr>
              <a:t>Resource allocation graph.</a:t>
            </a:r>
            <a:endParaRPr b="1" sz="2000">
              <a:solidFill>
                <a:schemeClr val="dk1"/>
              </a:solidFill>
              <a:latin typeface="Calibri"/>
              <a:ea typeface="Calibri"/>
              <a:cs typeface="Calibri"/>
              <a:sym typeface="Calibri"/>
            </a:endParaRPr>
          </a:p>
        </p:txBody>
      </p:sp>
      <p:sp>
        <p:nvSpPr>
          <p:cNvPr id="184" name="Google Shape;184;p10"/>
          <p:cNvSpPr txBox="1"/>
          <p:nvPr/>
        </p:nvSpPr>
        <p:spPr>
          <a:xfrm>
            <a:off x="6536872" y="557370"/>
            <a:ext cx="5513614" cy="5020349"/>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chemeClr val="dk1"/>
                </a:solidFill>
                <a:latin typeface="Calibri"/>
                <a:ea typeface="Calibri"/>
                <a:cs typeface="Calibri"/>
                <a:sym typeface="Calibri"/>
              </a:rPr>
              <a:t>P = {P1, P2, P3}</a:t>
            </a:r>
            <a:endParaRPr sz="20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R = { R1, R2, R3, R4}</a:t>
            </a:r>
            <a:endParaRPr sz="20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  = { P1 → R1, P2 →R3, R1 →P2, R2 →P2, R2 → P1, </a:t>
            </a:r>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R3→ P3}</a:t>
            </a:r>
            <a:endParaRPr sz="20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Resource instances:</a:t>
            </a:r>
            <a:endParaRPr sz="20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One instance of resource type R1</a:t>
            </a:r>
            <a:endParaRPr sz="20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Two instances of resource type R2</a:t>
            </a:r>
            <a:endParaRPr sz="20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One instance of resource type R3</a:t>
            </a:r>
            <a:endParaRPr sz="20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Three instances of resource type R4</a:t>
            </a:r>
            <a:endParaRPr sz="2000">
              <a:solidFill>
                <a:schemeClr val="dk1"/>
              </a:solidFill>
              <a:latin typeface="Calibri"/>
              <a:ea typeface="Calibri"/>
              <a:cs typeface="Calibri"/>
              <a:sym typeface="Calibri"/>
            </a:endParaRPr>
          </a:p>
        </p:txBody>
      </p:sp>
      <p:pic>
        <p:nvPicPr>
          <p:cNvPr descr="Resource Allocation Graph" id="185" name="Google Shape;185;p10"/>
          <p:cNvPicPr preferRelativeResize="0"/>
          <p:nvPr/>
        </p:nvPicPr>
        <p:blipFill rotWithShape="1">
          <a:blip r:embed="rId3">
            <a:alphaModFix/>
          </a:blip>
          <a:srcRect b="0" l="0" r="0" t="0"/>
          <a:stretch/>
        </p:blipFill>
        <p:spPr>
          <a:xfrm>
            <a:off x="2829618" y="663902"/>
            <a:ext cx="3266381" cy="4262448"/>
          </a:xfrm>
          <a:prstGeom prst="rect">
            <a:avLst/>
          </a:prstGeom>
          <a:noFill/>
          <a:ln>
            <a:noFill/>
          </a:ln>
        </p:spPr>
      </p:pic>
      <p:sp>
        <p:nvSpPr>
          <p:cNvPr id="186" name="Google Shape;186;p10"/>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11"/>
          <p:cNvPicPr preferRelativeResize="0"/>
          <p:nvPr>
            <p:ph idx="1" type="body"/>
          </p:nvPr>
        </p:nvPicPr>
        <p:blipFill rotWithShape="1">
          <a:blip r:embed="rId3">
            <a:alphaModFix/>
          </a:blip>
          <a:srcRect b="0" l="0" r="0" t="0"/>
          <a:stretch/>
        </p:blipFill>
        <p:spPr>
          <a:xfrm>
            <a:off x="2536375" y="511775"/>
            <a:ext cx="3849600" cy="5308800"/>
          </a:xfrm>
          <a:prstGeom prst="rect">
            <a:avLst/>
          </a:prstGeom>
          <a:noFill/>
          <a:ln>
            <a:noFill/>
          </a:ln>
        </p:spPr>
      </p:pic>
      <p:sp>
        <p:nvSpPr>
          <p:cNvPr id="192" name="Google Shape;192;p11"/>
          <p:cNvSpPr txBox="1"/>
          <p:nvPr/>
        </p:nvSpPr>
        <p:spPr>
          <a:xfrm>
            <a:off x="1653064" y="5820583"/>
            <a:ext cx="6106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800">
                <a:solidFill>
                  <a:schemeClr val="dk1"/>
                </a:solidFill>
                <a:latin typeface="Calibri"/>
                <a:ea typeface="Calibri"/>
                <a:cs typeface="Calibri"/>
                <a:sym typeface="Calibri"/>
              </a:rPr>
              <a:t>Resource allocation graph with a deadlock.</a:t>
            </a:r>
            <a:endParaRPr sz="1800">
              <a:solidFill>
                <a:schemeClr val="dk1"/>
              </a:solidFill>
              <a:latin typeface="Calibri"/>
              <a:ea typeface="Calibri"/>
              <a:cs typeface="Calibri"/>
              <a:sym typeface="Calibri"/>
            </a:endParaRPr>
          </a:p>
        </p:txBody>
      </p:sp>
      <p:sp>
        <p:nvSpPr>
          <p:cNvPr id="193" name="Google Shape;193;p11"/>
          <p:cNvSpPr txBox="1"/>
          <p:nvPr/>
        </p:nvSpPr>
        <p:spPr>
          <a:xfrm>
            <a:off x="6509700" y="318925"/>
            <a:ext cx="5503800" cy="3581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rgbClr val="833C0B"/>
                </a:solidFill>
                <a:latin typeface="Calibri"/>
                <a:ea typeface="Calibri"/>
                <a:cs typeface="Calibri"/>
                <a:sym typeface="Calibri"/>
              </a:rPr>
              <a:t>If the graph contains no cycles, then no process in the system is deadlocked</a:t>
            </a:r>
            <a:r>
              <a:rPr lang="en-US" sz="2000">
                <a:solidFill>
                  <a:srgbClr val="0000FF"/>
                </a:solidFill>
                <a:latin typeface="Calibri"/>
                <a:ea typeface="Calibri"/>
                <a:cs typeface="Calibri"/>
                <a:sym typeface="Calibri"/>
              </a:rPr>
              <a:t>.</a:t>
            </a:r>
            <a:endParaRPr sz="2000">
              <a:solidFill>
                <a:srgbClr val="0000FF"/>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rgbClr val="0000FF"/>
                </a:solidFill>
                <a:latin typeface="Calibri"/>
                <a:ea typeface="Calibri"/>
                <a:cs typeface="Calibri"/>
                <a:sym typeface="Calibri"/>
              </a:rPr>
              <a:t>If the graph does contain a cycle, then a deadlock may exist.</a:t>
            </a:r>
            <a:endParaRPr sz="2000">
              <a:solidFill>
                <a:srgbClr val="0000FF"/>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rgbClr val="002060"/>
                </a:solidFill>
                <a:latin typeface="Calibri"/>
                <a:ea typeface="Calibri"/>
                <a:cs typeface="Calibri"/>
                <a:sym typeface="Calibri"/>
              </a:rPr>
              <a:t>At this point, two minimal cycles exist in the system</a:t>
            </a:r>
            <a:endParaRPr sz="2000">
              <a:solidFill>
                <a:srgbClr val="002060"/>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rgbClr val="000000"/>
                </a:solidFill>
                <a:latin typeface="Calibri"/>
                <a:ea typeface="Calibri"/>
                <a:cs typeface="Calibri"/>
                <a:sym typeface="Calibri"/>
              </a:rPr>
              <a:t>P1 → R1 → P2 → R3 → P3 → R2 → P1 </a:t>
            </a:r>
            <a:endParaRPr/>
          </a:p>
          <a:p>
            <a:pPr indent="0" lvl="0" marL="0" marR="0" rtl="0" algn="just">
              <a:lnSpc>
                <a:spcPct val="150000"/>
              </a:lnSpc>
              <a:spcBef>
                <a:spcPts val="800"/>
              </a:spcBef>
              <a:spcAft>
                <a:spcPts val="0"/>
              </a:spcAft>
              <a:buNone/>
            </a:pPr>
            <a:r>
              <a:rPr lang="en-US" sz="2000">
                <a:solidFill>
                  <a:srgbClr val="000000"/>
                </a:solidFill>
                <a:latin typeface="Calibri"/>
                <a:ea typeface="Calibri"/>
                <a:cs typeface="Calibri"/>
                <a:sym typeface="Calibri"/>
              </a:rPr>
              <a:t>P2 → R3 → P3 → R2 → P2</a:t>
            </a:r>
            <a:endParaRPr sz="2000">
              <a:solidFill>
                <a:schemeClr val="dk1"/>
              </a:solidFill>
              <a:latin typeface="Calibri"/>
              <a:ea typeface="Calibri"/>
              <a:cs typeface="Calibri"/>
              <a:sym typeface="Calibri"/>
            </a:endParaRPr>
          </a:p>
        </p:txBody>
      </p:sp>
      <p:sp>
        <p:nvSpPr>
          <p:cNvPr id="194" name="Google Shape;194;p11"/>
          <p:cNvSpPr txBox="1"/>
          <p:nvPr/>
        </p:nvSpPr>
        <p:spPr>
          <a:xfrm>
            <a:off x="6509710" y="4357010"/>
            <a:ext cx="6106884" cy="40703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lang="en-US" sz="2000">
                <a:solidFill>
                  <a:schemeClr val="dk1"/>
                </a:solidFill>
                <a:latin typeface="Calibri"/>
                <a:ea typeface="Calibri"/>
                <a:cs typeface="Calibri"/>
                <a:sym typeface="Calibri"/>
              </a:rPr>
              <a:t>Processes P1, P2  and P3 are deadlocked</a:t>
            </a:r>
            <a:endParaRPr sz="2000">
              <a:solidFill>
                <a:schemeClr val="dk1"/>
              </a:solidFill>
              <a:latin typeface="Calibri"/>
              <a:ea typeface="Calibri"/>
              <a:cs typeface="Calibri"/>
              <a:sym typeface="Calibri"/>
            </a:endParaRPr>
          </a:p>
        </p:txBody>
      </p:sp>
      <p:sp>
        <p:nvSpPr>
          <p:cNvPr id="195" name="Google Shape;195;p11"/>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2"/>
          <p:cNvPicPr preferRelativeResize="0"/>
          <p:nvPr>
            <p:ph idx="1" type="body"/>
          </p:nvPr>
        </p:nvPicPr>
        <p:blipFill rotWithShape="1">
          <a:blip r:embed="rId3">
            <a:alphaModFix/>
          </a:blip>
          <a:srcRect b="0" l="0" r="0" t="0"/>
          <a:stretch/>
        </p:blipFill>
        <p:spPr>
          <a:xfrm>
            <a:off x="2522764" y="0"/>
            <a:ext cx="4135488" cy="4296855"/>
          </a:xfrm>
          <a:prstGeom prst="rect">
            <a:avLst/>
          </a:prstGeom>
          <a:noFill/>
          <a:ln>
            <a:noFill/>
          </a:ln>
        </p:spPr>
      </p:pic>
      <p:sp>
        <p:nvSpPr>
          <p:cNvPr id="201" name="Google Shape;201;p12"/>
          <p:cNvSpPr txBox="1"/>
          <p:nvPr/>
        </p:nvSpPr>
        <p:spPr>
          <a:xfrm>
            <a:off x="2620735" y="4206768"/>
            <a:ext cx="6106884"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000">
                <a:solidFill>
                  <a:schemeClr val="dk1"/>
                </a:solidFill>
                <a:latin typeface="Calibri"/>
                <a:ea typeface="Calibri"/>
                <a:cs typeface="Calibri"/>
                <a:sym typeface="Calibri"/>
              </a:rPr>
              <a:t>Resource allocation graph with a cycle but no deadlock.</a:t>
            </a:r>
            <a:endParaRPr sz="2000">
              <a:solidFill>
                <a:schemeClr val="dk1"/>
              </a:solidFill>
              <a:latin typeface="Calibri"/>
              <a:ea typeface="Calibri"/>
              <a:cs typeface="Calibri"/>
              <a:sym typeface="Calibri"/>
            </a:endParaRPr>
          </a:p>
        </p:txBody>
      </p:sp>
      <p:sp>
        <p:nvSpPr>
          <p:cNvPr id="202" name="Google Shape;202;p12"/>
          <p:cNvSpPr txBox="1"/>
          <p:nvPr/>
        </p:nvSpPr>
        <p:spPr>
          <a:xfrm>
            <a:off x="7342415" y="311355"/>
            <a:ext cx="4675414" cy="358405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chemeClr val="dk1"/>
                </a:solidFill>
                <a:latin typeface="Calibri"/>
                <a:ea typeface="Calibri"/>
                <a:cs typeface="Calibri"/>
                <a:sym typeface="Calibri"/>
              </a:rPr>
              <a:t>In this example also we have a cycle</a:t>
            </a:r>
            <a:endParaRPr sz="20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P1 → R1 → P3  → R2 → P1</a:t>
            </a:r>
            <a:endParaRPr sz="20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However, there is no deadlock.</a:t>
            </a:r>
            <a:endParaRPr sz="20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Observe that process P4 may release its instance of resource type R2. That resource can then be allocated to P3, breaking the cycle.</a:t>
            </a:r>
            <a:endParaRPr sz="2000">
              <a:solidFill>
                <a:schemeClr val="dk1"/>
              </a:solidFill>
              <a:latin typeface="Calibri"/>
              <a:ea typeface="Calibri"/>
              <a:cs typeface="Calibri"/>
              <a:sym typeface="Calibri"/>
            </a:endParaRPr>
          </a:p>
        </p:txBody>
      </p:sp>
      <p:sp>
        <p:nvSpPr>
          <p:cNvPr id="203" name="Google Shape;203;p12"/>
          <p:cNvSpPr txBox="1"/>
          <p:nvPr/>
        </p:nvSpPr>
        <p:spPr>
          <a:xfrm>
            <a:off x="2307771" y="5024415"/>
            <a:ext cx="9710057" cy="142962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rgbClr val="0000FF"/>
                </a:solidFill>
                <a:latin typeface="Calibri"/>
                <a:ea typeface="Calibri"/>
                <a:cs typeface="Calibri"/>
                <a:sym typeface="Calibri"/>
              </a:rPr>
              <a:t>If a resource-allocation graph does not have a cycle, then the system is not in a deadlocked state. </a:t>
            </a:r>
            <a:endParaRPr/>
          </a:p>
          <a:p>
            <a:pPr indent="0" lvl="0" marL="0" marR="0" rtl="0" algn="just">
              <a:lnSpc>
                <a:spcPct val="150000"/>
              </a:lnSpc>
              <a:spcBef>
                <a:spcPts val="0"/>
              </a:spcBef>
              <a:spcAft>
                <a:spcPts val="0"/>
              </a:spcAft>
              <a:buNone/>
            </a:pPr>
            <a:r>
              <a:rPr lang="en-US" sz="2000">
                <a:solidFill>
                  <a:srgbClr val="0000FF"/>
                </a:solidFill>
                <a:latin typeface="Calibri"/>
                <a:ea typeface="Calibri"/>
                <a:cs typeface="Calibri"/>
                <a:sym typeface="Calibri"/>
              </a:rPr>
              <a:t>If there is a cycle, then the system may or may not be in a deadlocked state. </a:t>
            </a:r>
            <a:endParaRPr sz="2000">
              <a:solidFill>
                <a:srgbClr val="0000FF"/>
              </a:solidFill>
              <a:latin typeface="Calibri"/>
              <a:ea typeface="Calibri"/>
              <a:cs typeface="Calibri"/>
              <a:sym typeface="Calibri"/>
            </a:endParaRPr>
          </a:p>
        </p:txBody>
      </p:sp>
      <p:sp>
        <p:nvSpPr>
          <p:cNvPr id="204" name="Google Shape;204;p12"/>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3"/>
          <p:cNvSpPr txBox="1"/>
          <p:nvPr>
            <p:ph idx="1" type="body"/>
          </p:nvPr>
        </p:nvSpPr>
        <p:spPr>
          <a:xfrm>
            <a:off x="2547257" y="119742"/>
            <a:ext cx="9448800" cy="6651171"/>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Methods for Handling Deadlocks</a:t>
            </a:r>
            <a:endParaRPr b="1" sz="2400">
              <a:solidFill>
                <a:srgbClr val="FF0000"/>
              </a:solidFill>
              <a:latin typeface="Calibri"/>
              <a:ea typeface="Calibri"/>
              <a:cs typeface="Calibri"/>
              <a:sym typeface="Calibri"/>
            </a:endParaRPr>
          </a:p>
          <a:p>
            <a:pPr indent="0" lvl="0" marL="0" rtl="0" algn="just">
              <a:lnSpc>
                <a:spcPct val="150000"/>
              </a:lnSpc>
              <a:spcBef>
                <a:spcPts val="1000"/>
              </a:spcBef>
              <a:spcAft>
                <a:spcPts val="0"/>
              </a:spcAft>
              <a:buClr>
                <a:srgbClr val="525252"/>
              </a:buClr>
              <a:buSzPts val="2000"/>
              <a:buNone/>
            </a:pPr>
            <a:r>
              <a:rPr b="1" lang="en-US" sz="2000">
                <a:solidFill>
                  <a:srgbClr val="525252"/>
                </a:solidFill>
                <a:latin typeface="Calibri"/>
                <a:ea typeface="Calibri"/>
                <a:cs typeface="Calibri"/>
                <a:sym typeface="Calibri"/>
              </a:rPr>
              <a:t>The deadlock problem can be solved in one of three ways:</a:t>
            </a:r>
            <a:endParaRPr b="1" sz="2000">
              <a:solidFill>
                <a:srgbClr val="525252"/>
              </a:solidFill>
              <a:latin typeface="Calibri"/>
              <a:ea typeface="Calibri"/>
              <a:cs typeface="Calibri"/>
              <a:sym typeface="Calibri"/>
            </a:endParaRPr>
          </a:p>
          <a:p>
            <a:pPr indent="-228600" lvl="0" marL="228600" rtl="0" algn="just">
              <a:lnSpc>
                <a:spcPct val="150000"/>
              </a:lnSpc>
              <a:spcBef>
                <a:spcPts val="1800"/>
              </a:spcBef>
              <a:spcAft>
                <a:spcPts val="0"/>
              </a:spcAft>
              <a:buClr>
                <a:srgbClr val="000000"/>
              </a:buClr>
              <a:buSzPts val="2000"/>
              <a:buChar char="•"/>
            </a:pPr>
            <a:r>
              <a:rPr lang="en-US" sz="2000">
                <a:solidFill>
                  <a:srgbClr val="000000"/>
                </a:solidFill>
                <a:latin typeface="Calibri"/>
                <a:ea typeface="Calibri"/>
                <a:cs typeface="Calibri"/>
                <a:sym typeface="Calibri"/>
              </a:rPr>
              <a:t>We can use </a:t>
            </a:r>
            <a:r>
              <a:rPr lang="en-US" sz="2000">
                <a:solidFill>
                  <a:srgbClr val="C55A11"/>
                </a:solidFill>
                <a:latin typeface="Calibri"/>
                <a:ea typeface="Calibri"/>
                <a:cs typeface="Calibri"/>
                <a:sym typeface="Calibri"/>
              </a:rPr>
              <a:t>a protocol</a:t>
            </a:r>
            <a:r>
              <a:rPr lang="en-US" sz="2000">
                <a:solidFill>
                  <a:srgbClr val="000000"/>
                </a:solidFill>
                <a:latin typeface="Calibri"/>
                <a:ea typeface="Calibri"/>
                <a:cs typeface="Calibri"/>
                <a:sym typeface="Calibri"/>
              </a:rPr>
              <a:t> to </a:t>
            </a:r>
            <a:r>
              <a:rPr lang="en-US" sz="2000">
                <a:solidFill>
                  <a:srgbClr val="0000FF"/>
                </a:solidFill>
                <a:latin typeface="Calibri"/>
                <a:ea typeface="Calibri"/>
                <a:cs typeface="Calibri"/>
                <a:sym typeface="Calibri"/>
              </a:rPr>
              <a:t>prevent or avoid deadlocks</a:t>
            </a:r>
            <a:r>
              <a:rPr lang="en-US" sz="2000">
                <a:solidFill>
                  <a:srgbClr val="000000"/>
                </a:solidFill>
                <a:latin typeface="Calibri"/>
                <a:ea typeface="Calibri"/>
                <a:cs typeface="Calibri"/>
                <a:sym typeface="Calibri"/>
              </a:rPr>
              <a:t>, ensuring that the system will never enter a deadlocked state.</a:t>
            </a:r>
            <a:endParaRPr sz="2000">
              <a:solidFill>
                <a:srgbClr val="000000"/>
              </a:solidFill>
              <a:latin typeface="Calibri"/>
              <a:ea typeface="Calibri"/>
              <a:cs typeface="Calibri"/>
              <a:sym typeface="Calibri"/>
            </a:endParaRPr>
          </a:p>
          <a:p>
            <a:pPr indent="-228600" lvl="0" marL="228600" rtl="0" algn="just">
              <a:lnSpc>
                <a:spcPct val="150000"/>
              </a:lnSpc>
              <a:spcBef>
                <a:spcPts val="1000"/>
              </a:spcBef>
              <a:spcAft>
                <a:spcPts val="0"/>
              </a:spcAft>
              <a:buClr>
                <a:srgbClr val="000000"/>
              </a:buClr>
              <a:buSzPts val="2000"/>
              <a:buChar char="•"/>
            </a:pPr>
            <a:r>
              <a:rPr lang="en-US" sz="2000">
                <a:solidFill>
                  <a:srgbClr val="000000"/>
                </a:solidFill>
                <a:latin typeface="Calibri"/>
                <a:ea typeface="Calibri"/>
                <a:cs typeface="Calibri"/>
                <a:sym typeface="Calibri"/>
              </a:rPr>
              <a:t>We can allow the system to enter a deadlocked state, </a:t>
            </a:r>
            <a:r>
              <a:rPr lang="en-US" sz="2000">
                <a:solidFill>
                  <a:srgbClr val="0000FF"/>
                </a:solidFill>
                <a:latin typeface="Calibri"/>
                <a:ea typeface="Calibri"/>
                <a:cs typeface="Calibri"/>
                <a:sym typeface="Calibri"/>
              </a:rPr>
              <a:t>detect it, and recover.</a:t>
            </a:r>
            <a:endParaRPr sz="2000">
              <a:solidFill>
                <a:srgbClr val="0000FF"/>
              </a:solidFill>
              <a:latin typeface="Calibri"/>
              <a:ea typeface="Calibri"/>
              <a:cs typeface="Calibri"/>
              <a:sym typeface="Calibri"/>
            </a:endParaRPr>
          </a:p>
          <a:p>
            <a:pPr indent="-228600" lvl="0" marL="228600" rtl="0" algn="just">
              <a:lnSpc>
                <a:spcPct val="150000"/>
              </a:lnSpc>
              <a:spcBef>
                <a:spcPts val="1000"/>
              </a:spcBef>
              <a:spcAft>
                <a:spcPts val="0"/>
              </a:spcAft>
              <a:buClr>
                <a:srgbClr val="000000"/>
              </a:buClr>
              <a:buSzPts val="2000"/>
              <a:buChar char="•"/>
            </a:pPr>
            <a:r>
              <a:rPr lang="en-US" sz="2000">
                <a:solidFill>
                  <a:srgbClr val="000000"/>
                </a:solidFill>
                <a:latin typeface="Calibri"/>
                <a:ea typeface="Calibri"/>
                <a:cs typeface="Calibri"/>
                <a:sym typeface="Calibri"/>
              </a:rPr>
              <a:t>We </a:t>
            </a:r>
            <a:r>
              <a:rPr lang="en-US" sz="2000">
                <a:solidFill>
                  <a:srgbClr val="0000FF"/>
                </a:solidFill>
                <a:latin typeface="Calibri"/>
                <a:ea typeface="Calibri"/>
                <a:cs typeface="Calibri"/>
                <a:sym typeface="Calibri"/>
              </a:rPr>
              <a:t>can ignore the problem altogether and pretend that deadlocks </a:t>
            </a:r>
            <a:r>
              <a:rPr lang="en-US" sz="2000">
                <a:solidFill>
                  <a:srgbClr val="000000"/>
                </a:solidFill>
                <a:latin typeface="Calibri"/>
                <a:ea typeface="Calibri"/>
                <a:cs typeface="Calibri"/>
                <a:sym typeface="Calibri"/>
              </a:rPr>
              <a:t>never occur in the system.</a:t>
            </a:r>
            <a:endParaRPr sz="2000">
              <a:solidFill>
                <a:srgbClr val="000000"/>
              </a:solidFill>
              <a:latin typeface="Calibri"/>
              <a:ea typeface="Calibri"/>
              <a:cs typeface="Calibri"/>
              <a:sym typeface="Calibri"/>
            </a:endParaRPr>
          </a:p>
          <a:p>
            <a:pPr indent="0" lvl="0" marL="0" rtl="0" algn="just">
              <a:lnSpc>
                <a:spcPct val="150000"/>
              </a:lnSpc>
              <a:spcBef>
                <a:spcPts val="1015"/>
              </a:spcBef>
              <a:spcAft>
                <a:spcPts val="0"/>
              </a:spcAft>
              <a:buClr>
                <a:schemeClr val="dk1"/>
              </a:buClr>
              <a:buSzPts val="2000"/>
              <a:buNone/>
            </a:pPr>
            <a:r>
              <a:rPr lang="en-US" sz="2000">
                <a:latin typeface="Calibri"/>
                <a:ea typeface="Calibri"/>
                <a:cs typeface="Calibri"/>
                <a:sym typeface="Calibri"/>
              </a:rPr>
              <a:t>To ensure that deadlocks never occur, the system can use either a </a:t>
            </a:r>
            <a:r>
              <a:rPr lang="en-US" sz="2000">
                <a:solidFill>
                  <a:srgbClr val="0000FF"/>
                </a:solidFill>
                <a:latin typeface="Calibri"/>
                <a:ea typeface="Calibri"/>
                <a:cs typeface="Calibri"/>
                <a:sym typeface="Calibri"/>
              </a:rPr>
              <a:t>deadlock prevention or a deadlock-avoidance scheme</a:t>
            </a:r>
            <a:r>
              <a:rPr lang="en-US" sz="2000">
                <a:latin typeface="Calibri"/>
                <a:ea typeface="Calibri"/>
                <a:cs typeface="Calibri"/>
                <a:sym typeface="Calibri"/>
              </a:rPr>
              <a:t>.</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Deadlock prevention provides </a:t>
            </a:r>
            <a:r>
              <a:rPr lang="en-US" sz="2000">
                <a:latin typeface="Calibri"/>
                <a:ea typeface="Calibri"/>
                <a:cs typeface="Calibri"/>
                <a:sym typeface="Calibri"/>
              </a:rPr>
              <a:t>a set of methods for ensuring that </a:t>
            </a:r>
            <a:r>
              <a:rPr lang="en-US" sz="2000">
                <a:solidFill>
                  <a:srgbClr val="525252"/>
                </a:solidFill>
                <a:latin typeface="Calibri"/>
                <a:ea typeface="Calibri"/>
                <a:cs typeface="Calibri"/>
                <a:sym typeface="Calibri"/>
              </a:rPr>
              <a:t>at least one of the necessary conditions cannot hold.(i.e., Mutual exclusion, Hold and wait, No preemption, Circular wait)</a:t>
            </a:r>
            <a:endParaRPr sz="2000">
              <a:solidFill>
                <a:srgbClr val="525252"/>
              </a:solidFill>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210" name="Google Shape;210;p13"/>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4"/>
          <p:cNvSpPr txBox="1"/>
          <p:nvPr>
            <p:ph idx="1" type="body"/>
          </p:nvPr>
        </p:nvSpPr>
        <p:spPr>
          <a:xfrm>
            <a:off x="2547257" y="119742"/>
            <a:ext cx="9448800" cy="6651171"/>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FF"/>
              </a:buClr>
              <a:buSzPts val="2000"/>
              <a:buNone/>
            </a:pPr>
            <a:r>
              <a:rPr b="1" lang="en-US" sz="2000">
                <a:solidFill>
                  <a:srgbClr val="0000FF"/>
                </a:solidFill>
                <a:latin typeface="Calibri"/>
                <a:ea typeface="Calibri"/>
                <a:cs typeface="Calibri"/>
                <a:sym typeface="Calibri"/>
              </a:rPr>
              <a:t>Deadlock avoidance </a:t>
            </a:r>
            <a:r>
              <a:rPr lang="en-US" sz="2000">
                <a:solidFill>
                  <a:srgbClr val="0000FF"/>
                </a:solidFill>
                <a:latin typeface="Calibri"/>
                <a:ea typeface="Calibri"/>
                <a:cs typeface="Calibri"/>
                <a:sym typeface="Calibri"/>
              </a:rPr>
              <a:t>requires </a:t>
            </a:r>
            <a:r>
              <a:rPr lang="en-US" sz="2000">
                <a:latin typeface="Calibri"/>
                <a:ea typeface="Calibri"/>
                <a:cs typeface="Calibri"/>
                <a:sym typeface="Calibri"/>
              </a:rPr>
              <a:t>that the operating system be given in advance additional information concerning which resources a process will request and use during its lifetime.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With this additional knowledge, it can decide for each request whether or not the process should wait. </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If the system does not employ either a deadlock prevention or a deadlock avoidance algorithm, then a deadlock situation may arise.</a:t>
            </a:r>
            <a:endParaRPr/>
          </a:p>
          <a:p>
            <a:pPr indent="-228600" lvl="0" marL="228600" rtl="0" algn="just">
              <a:lnSpc>
                <a:spcPct val="150000"/>
              </a:lnSpc>
              <a:spcBef>
                <a:spcPts val="1000"/>
              </a:spcBef>
              <a:spcAft>
                <a:spcPts val="0"/>
              </a:spcAft>
              <a:buClr>
                <a:schemeClr val="dk1"/>
              </a:buClr>
              <a:buSzPts val="2000"/>
              <a:buChar char="•"/>
            </a:pPr>
            <a:r>
              <a:rPr lang="en-US" sz="2000">
                <a:latin typeface="Calibri"/>
                <a:ea typeface="Calibri"/>
                <a:cs typeface="Calibri"/>
                <a:sym typeface="Calibri"/>
              </a:rPr>
              <a:t>In this environment, the system can provide an algorithm that examines the state of the system to determine whether a deadlock has occurred and an algorithm to recover from the deadlock(if a deadlock has indeed occurred)</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If a system neither ensures that a deadlock will never occur nor provides mechanism for deadlock detection  and recovery, then we may arrive at a situation where the system is in a deadlocked state yet has no way of recognizing what has happened. </a:t>
            </a:r>
            <a:endParaRPr/>
          </a:p>
        </p:txBody>
      </p:sp>
      <p:sp>
        <p:nvSpPr>
          <p:cNvPr id="216" name="Google Shape;216;p14"/>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5"/>
          <p:cNvSpPr txBox="1"/>
          <p:nvPr>
            <p:ph idx="1" type="body"/>
          </p:nvPr>
        </p:nvSpPr>
        <p:spPr>
          <a:xfrm>
            <a:off x="2618278" y="1770990"/>
            <a:ext cx="9448800" cy="315611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150000"/>
              </a:lnSpc>
              <a:spcBef>
                <a:spcPts val="0"/>
              </a:spcBef>
              <a:spcAft>
                <a:spcPts val="0"/>
              </a:spcAft>
              <a:buClr>
                <a:schemeClr val="dk1"/>
              </a:buClr>
              <a:buSzPct val="100000"/>
              <a:buNone/>
            </a:pPr>
            <a:r>
              <a:rPr lang="en-US" sz="2400">
                <a:latin typeface="Calibri"/>
                <a:ea typeface="Calibri"/>
                <a:cs typeface="Calibri"/>
                <a:sym typeface="Calibri"/>
              </a:rPr>
              <a:t>In this case, the undetected deadlock will result in deterioration of the system’s performance, because resources are being held by processes that cannot run and because more and more processes, as they make requests for resources, will enter a deadlocked state. </a:t>
            </a:r>
            <a:endParaRPr/>
          </a:p>
          <a:p>
            <a:pPr indent="0" lvl="0" marL="0" rtl="0" algn="just">
              <a:lnSpc>
                <a:spcPct val="150000"/>
              </a:lnSpc>
              <a:spcBef>
                <a:spcPts val="1000"/>
              </a:spcBef>
              <a:spcAft>
                <a:spcPts val="0"/>
              </a:spcAft>
              <a:buClr>
                <a:srgbClr val="0000FF"/>
              </a:buClr>
              <a:buSzPct val="100000"/>
              <a:buNone/>
            </a:pPr>
            <a:r>
              <a:rPr lang="en-US" sz="2400">
                <a:solidFill>
                  <a:srgbClr val="0000FF"/>
                </a:solidFill>
                <a:latin typeface="Calibri"/>
                <a:ea typeface="Calibri"/>
                <a:cs typeface="Calibri"/>
                <a:sym typeface="Calibri"/>
              </a:rPr>
              <a:t>Eventually, the system will stop functioning and will need to be restarted manually. </a:t>
            </a:r>
            <a:endParaRPr/>
          </a:p>
        </p:txBody>
      </p:sp>
      <p:sp>
        <p:nvSpPr>
          <p:cNvPr id="222" name="Google Shape;222;p15"/>
          <p:cNvSpPr txBox="1"/>
          <p:nvPr/>
        </p:nvSpPr>
        <p:spPr>
          <a:xfrm>
            <a:off x="524064" y="3909202"/>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6"/>
          <p:cNvSpPr txBox="1"/>
          <p:nvPr>
            <p:ph idx="1" type="body"/>
          </p:nvPr>
        </p:nvSpPr>
        <p:spPr>
          <a:xfrm>
            <a:off x="2547257" y="119742"/>
            <a:ext cx="9448800" cy="6651171"/>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200"/>
              <a:buNone/>
            </a:pPr>
            <a:r>
              <a:rPr b="1" lang="en-US" sz="2200">
                <a:solidFill>
                  <a:srgbClr val="FF0000"/>
                </a:solidFill>
                <a:latin typeface="Calibri"/>
                <a:ea typeface="Calibri"/>
                <a:cs typeface="Calibri"/>
                <a:sym typeface="Calibri"/>
              </a:rPr>
              <a:t>Deadlock Prevention</a:t>
            </a:r>
            <a:endParaRPr/>
          </a:p>
          <a:p>
            <a:pPr indent="0" lvl="0" marL="0" rtl="0" algn="just">
              <a:lnSpc>
                <a:spcPct val="150000"/>
              </a:lnSpc>
              <a:spcBef>
                <a:spcPts val="1800"/>
              </a:spcBef>
              <a:spcAft>
                <a:spcPts val="0"/>
              </a:spcAft>
              <a:buClr>
                <a:schemeClr val="dk1"/>
              </a:buClr>
              <a:buSzPts val="2200"/>
              <a:buNone/>
            </a:pPr>
            <a:r>
              <a:rPr b="1" lang="en-US" sz="2200">
                <a:latin typeface="Calibri"/>
                <a:ea typeface="Calibri"/>
                <a:cs typeface="Calibri"/>
                <a:sym typeface="Calibri"/>
              </a:rPr>
              <a:t>For a deadlock to occur, each of the four necessary conditions must hold.</a:t>
            </a:r>
            <a:endParaRPr/>
          </a:p>
          <a:p>
            <a:pPr indent="0" lvl="0" marL="0" rtl="0" algn="just">
              <a:lnSpc>
                <a:spcPct val="150000"/>
              </a:lnSpc>
              <a:spcBef>
                <a:spcPts val="1800"/>
              </a:spcBef>
              <a:spcAft>
                <a:spcPts val="0"/>
              </a:spcAft>
              <a:buClr>
                <a:schemeClr val="dk1"/>
              </a:buClr>
              <a:buSzPts val="2200"/>
              <a:buNone/>
            </a:pPr>
            <a:r>
              <a:rPr lang="en-US" sz="2200">
                <a:latin typeface="Calibri"/>
                <a:ea typeface="Calibri"/>
                <a:cs typeface="Calibri"/>
                <a:sym typeface="Calibri"/>
              </a:rPr>
              <a:t>By ensuring that at least one of these (Mutual Exclusion, Hold and Wait, No preemption, Circular Wait) conditions cannot hold, we can prevent the occurrence of a deadlock.</a:t>
            </a:r>
            <a:endParaRPr sz="2200">
              <a:latin typeface="Calibri"/>
              <a:ea typeface="Calibri"/>
              <a:cs typeface="Calibri"/>
              <a:sym typeface="Calibri"/>
            </a:endParaRPr>
          </a:p>
          <a:p>
            <a:pPr indent="0" lvl="0" marL="0" rtl="0" algn="just">
              <a:lnSpc>
                <a:spcPct val="150000"/>
              </a:lnSpc>
              <a:spcBef>
                <a:spcPts val="1800"/>
              </a:spcBef>
              <a:spcAft>
                <a:spcPts val="0"/>
              </a:spcAft>
              <a:buClr>
                <a:srgbClr val="000000"/>
              </a:buClr>
              <a:buSzPts val="2200"/>
              <a:buNone/>
            </a:pPr>
            <a:r>
              <a:rPr b="1" lang="en-US" sz="2200">
                <a:solidFill>
                  <a:srgbClr val="000000"/>
                </a:solidFill>
                <a:latin typeface="Calibri"/>
                <a:ea typeface="Calibri"/>
                <a:cs typeface="Calibri"/>
                <a:sym typeface="Calibri"/>
              </a:rPr>
              <a:t>Mutual exclusion</a:t>
            </a:r>
            <a:endParaRPr sz="2200">
              <a:solidFill>
                <a:srgbClr val="000000"/>
              </a:solidFill>
              <a:latin typeface="Calibri"/>
              <a:ea typeface="Calibri"/>
              <a:cs typeface="Calibri"/>
              <a:sym typeface="Calibri"/>
            </a:endParaRPr>
          </a:p>
          <a:p>
            <a:pPr indent="0" lvl="0" marL="0" rtl="0" algn="just">
              <a:lnSpc>
                <a:spcPct val="150000"/>
              </a:lnSpc>
              <a:spcBef>
                <a:spcPts val="1015"/>
              </a:spcBef>
              <a:spcAft>
                <a:spcPts val="0"/>
              </a:spcAft>
              <a:buClr>
                <a:schemeClr val="dk1"/>
              </a:buClr>
              <a:buSzPts val="2200"/>
              <a:buNone/>
            </a:pPr>
            <a:r>
              <a:rPr lang="en-US" sz="2200">
                <a:latin typeface="Calibri"/>
                <a:ea typeface="Calibri"/>
                <a:cs typeface="Calibri"/>
                <a:sym typeface="Calibri"/>
              </a:rPr>
              <a:t>The mutual-exclusion condition must hold for non-sharable resources. </a:t>
            </a:r>
            <a:endParaRPr/>
          </a:p>
          <a:p>
            <a:pPr indent="0" lvl="0" marL="0" rtl="0" algn="just">
              <a:lnSpc>
                <a:spcPct val="150000"/>
              </a:lnSpc>
              <a:spcBef>
                <a:spcPts val="1800"/>
              </a:spcBef>
              <a:spcAft>
                <a:spcPts val="0"/>
              </a:spcAft>
              <a:buClr>
                <a:srgbClr val="0000FF"/>
              </a:buClr>
              <a:buSzPts val="2200"/>
              <a:buNone/>
            </a:pPr>
            <a:r>
              <a:rPr lang="en-US" sz="2200">
                <a:solidFill>
                  <a:srgbClr val="0000FF"/>
                </a:solidFill>
                <a:latin typeface="Calibri"/>
                <a:ea typeface="Calibri"/>
                <a:cs typeface="Calibri"/>
                <a:sym typeface="Calibri"/>
              </a:rPr>
              <a:t>For example, a printer cannot be simultaneously shared by several processes</a:t>
            </a:r>
            <a:r>
              <a:rPr lang="en-US" sz="2200">
                <a:latin typeface="Calibri"/>
                <a:ea typeface="Calibri"/>
                <a:cs typeface="Calibri"/>
                <a:sym typeface="Calibri"/>
              </a:rPr>
              <a:t>. </a:t>
            </a:r>
            <a:endParaRPr/>
          </a:p>
          <a:p>
            <a:pPr indent="0" lvl="0" marL="0" rtl="0" algn="just">
              <a:lnSpc>
                <a:spcPct val="150000"/>
              </a:lnSpc>
              <a:spcBef>
                <a:spcPts val="1800"/>
              </a:spcBef>
              <a:spcAft>
                <a:spcPts val="0"/>
              </a:spcAft>
              <a:buClr>
                <a:srgbClr val="0000FF"/>
              </a:buClr>
              <a:buSzPts val="2200"/>
              <a:buNone/>
            </a:pPr>
            <a:r>
              <a:rPr lang="en-US" sz="2200">
                <a:solidFill>
                  <a:srgbClr val="0000FF"/>
                </a:solidFill>
                <a:latin typeface="Calibri"/>
                <a:ea typeface="Calibri"/>
                <a:cs typeface="Calibri"/>
                <a:sym typeface="Calibri"/>
              </a:rPr>
              <a:t>Sharable resources, in contrast, do not require mutually exclusive access and thus cannot be involved in a deadlock.</a:t>
            </a:r>
            <a:endParaRPr sz="2200">
              <a:solidFill>
                <a:srgbClr val="0000FF"/>
              </a:solidFill>
              <a:latin typeface="Calibri"/>
              <a:ea typeface="Calibri"/>
              <a:cs typeface="Calibri"/>
              <a:sym typeface="Calibri"/>
            </a:endParaRPr>
          </a:p>
          <a:p>
            <a:pPr indent="-101600" lvl="0" marL="228600" rtl="0" algn="l">
              <a:lnSpc>
                <a:spcPct val="90000"/>
              </a:lnSpc>
              <a:spcBef>
                <a:spcPts val="1800"/>
              </a:spcBef>
              <a:spcAft>
                <a:spcPts val="0"/>
              </a:spcAft>
              <a:buClr>
                <a:schemeClr val="dk1"/>
              </a:buClr>
              <a:buSzPts val="2000"/>
              <a:buNone/>
            </a:pPr>
            <a:r>
              <a:t/>
            </a:r>
            <a:endParaRPr sz="2000">
              <a:latin typeface="Calibri"/>
              <a:ea typeface="Calibri"/>
              <a:cs typeface="Calibri"/>
              <a:sym typeface="Calibri"/>
            </a:endParaRPr>
          </a:p>
        </p:txBody>
      </p:sp>
      <p:sp>
        <p:nvSpPr>
          <p:cNvPr id="228" name="Google Shape;228;p16"/>
          <p:cNvSpPr txBox="1"/>
          <p:nvPr/>
        </p:nvSpPr>
        <p:spPr>
          <a:xfrm>
            <a:off x="524064" y="3909202"/>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7"/>
          <p:cNvSpPr txBox="1"/>
          <p:nvPr>
            <p:ph idx="1" type="body"/>
          </p:nvPr>
        </p:nvSpPr>
        <p:spPr>
          <a:xfrm>
            <a:off x="2547257" y="119742"/>
            <a:ext cx="9448800" cy="6651171"/>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FF"/>
              </a:buClr>
              <a:buSzPts val="2000"/>
              <a:buNone/>
            </a:pPr>
            <a:r>
              <a:rPr lang="en-US" sz="2000">
                <a:solidFill>
                  <a:srgbClr val="0000FF"/>
                </a:solidFill>
                <a:latin typeface="Calibri"/>
                <a:ea typeface="Calibri"/>
                <a:cs typeface="Calibri"/>
                <a:sym typeface="Calibri"/>
              </a:rPr>
              <a:t>Example: read only files. If several processes attempt to open a red only file at the same time, they can be granted simultaneously access to the file. A process never needs to wait for a sharable resource. </a:t>
            </a:r>
            <a:endParaRPr/>
          </a:p>
          <a:p>
            <a:pPr indent="0" lvl="0" marL="0" rtl="0" algn="just">
              <a:lnSpc>
                <a:spcPct val="150000"/>
              </a:lnSpc>
              <a:spcBef>
                <a:spcPts val="1015"/>
              </a:spcBef>
              <a:spcAft>
                <a:spcPts val="0"/>
              </a:spcAft>
              <a:buClr>
                <a:srgbClr val="000000"/>
              </a:buClr>
              <a:buSzPts val="2000"/>
              <a:buNone/>
            </a:pPr>
            <a:r>
              <a:rPr lang="en-US" sz="2000">
                <a:solidFill>
                  <a:srgbClr val="000000"/>
                </a:solidFill>
                <a:latin typeface="Calibri"/>
                <a:ea typeface="Calibri"/>
                <a:cs typeface="Calibri"/>
                <a:sym typeface="Calibri"/>
              </a:rPr>
              <a:t>In general, however, we cannot prevent deadlocks by denying the mutual exclusion condition, because some resources are intrinsically non-sharable. </a:t>
            </a:r>
            <a:endParaRPr b="1" sz="2000">
              <a:solidFill>
                <a:srgbClr val="000000"/>
              </a:solidFill>
              <a:latin typeface="Calibri"/>
              <a:ea typeface="Calibri"/>
              <a:cs typeface="Calibri"/>
              <a:sym typeface="Calibri"/>
            </a:endParaRPr>
          </a:p>
          <a:p>
            <a:pPr indent="0" lvl="0" marL="0" rtl="0" algn="just">
              <a:lnSpc>
                <a:spcPct val="150000"/>
              </a:lnSpc>
              <a:spcBef>
                <a:spcPts val="1015"/>
              </a:spcBef>
              <a:spcAft>
                <a:spcPts val="0"/>
              </a:spcAft>
              <a:buClr>
                <a:srgbClr val="000000"/>
              </a:buClr>
              <a:buSzPts val="2000"/>
              <a:buNone/>
            </a:pPr>
            <a:r>
              <a:rPr b="1" lang="en-US" sz="2000">
                <a:solidFill>
                  <a:srgbClr val="000000"/>
                </a:solidFill>
                <a:latin typeface="Calibri"/>
                <a:ea typeface="Calibri"/>
                <a:cs typeface="Calibri"/>
                <a:sym typeface="Calibri"/>
              </a:rPr>
              <a:t>Hold and Wait</a:t>
            </a:r>
            <a:endParaRPr sz="2000">
              <a:solidFill>
                <a:srgbClr val="000000"/>
              </a:solidFill>
              <a:latin typeface="Calibri"/>
              <a:ea typeface="Calibri"/>
              <a:cs typeface="Calibri"/>
              <a:sym typeface="Calibri"/>
            </a:endParaRPr>
          </a:p>
          <a:p>
            <a:pPr indent="0" lvl="0" marL="0" rtl="0" algn="just">
              <a:lnSpc>
                <a:spcPct val="150000"/>
              </a:lnSpc>
              <a:spcBef>
                <a:spcPts val="1015"/>
              </a:spcBef>
              <a:spcAft>
                <a:spcPts val="0"/>
              </a:spcAft>
              <a:buClr>
                <a:schemeClr val="dk1"/>
              </a:buClr>
              <a:buSzPts val="2000"/>
              <a:buNone/>
            </a:pPr>
            <a:r>
              <a:rPr lang="en-US" sz="2000">
                <a:latin typeface="Calibri"/>
                <a:ea typeface="Calibri"/>
                <a:cs typeface="Calibri"/>
                <a:sym typeface="Calibri"/>
              </a:rPr>
              <a:t>To ensure th.at the hold-and-wait condition never occurs in the system, we must guarantee that, whenever a process requests a resource, it does not hold any other resources.</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One protocol that can be used requires each process to request and be allocated all its resources before it begins execution. </a:t>
            </a:r>
            <a:endParaRPr sz="2000">
              <a:latin typeface="Calibri"/>
              <a:ea typeface="Calibri"/>
              <a:cs typeface="Calibri"/>
              <a:sym typeface="Calibri"/>
            </a:endParaRPr>
          </a:p>
          <a:p>
            <a:pPr indent="0" lvl="0" marL="0" rtl="0" algn="l">
              <a:lnSpc>
                <a:spcPct val="90000"/>
              </a:lnSpc>
              <a:spcBef>
                <a:spcPts val="1800"/>
              </a:spcBef>
              <a:spcAft>
                <a:spcPts val="0"/>
              </a:spcAft>
              <a:buClr>
                <a:schemeClr val="dk1"/>
              </a:buClr>
              <a:buSzPts val="2000"/>
              <a:buNone/>
            </a:pPr>
            <a:r>
              <a:t/>
            </a:r>
            <a:endParaRPr sz="2000">
              <a:latin typeface="Calibri"/>
              <a:ea typeface="Calibri"/>
              <a:cs typeface="Calibri"/>
              <a:sym typeface="Calibri"/>
            </a:endParaRPr>
          </a:p>
        </p:txBody>
      </p:sp>
      <p:sp>
        <p:nvSpPr>
          <p:cNvPr id="234" name="Google Shape;234;p17"/>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8"/>
          <p:cNvSpPr txBox="1"/>
          <p:nvPr>
            <p:ph idx="1" type="body"/>
          </p:nvPr>
        </p:nvSpPr>
        <p:spPr>
          <a:xfrm>
            <a:off x="2547257" y="119742"/>
            <a:ext cx="9448800" cy="6651171"/>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An alternative protocol allows a process to request resources only when it has none. A process may request some resources and use them. Before it can request any additional resources, however, it must release all the resources that it is currently allocated.</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Both of these protocols have two main disadvantages:</a:t>
            </a:r>
            <a:endParaRPr/>
          </a:p>
          <a:p>
            <a:pPr indent="-457200" lvl="0" marL="457200" rtl="0" algn="just">
              <a:lnSpc>
                <a:spcPct val="150000"/>
              </a:lnSpc>
              <a:spcBef>
                <a:spcPts val="1000"/>
              </a:spcBef>
              <a:spcAft>
                <a:spcPts val="0"/>
              </a:spcAft>
              <a:buClr>
                <a:schemeClr val="dk1"/>
              </a:buClr>
              <a:buSzPts val="2000"/>
              <a:buAutoNum type="arabicPeriod"/>
            </a:pPr>
            <a:r>
              <a:rPr lang="en-US" sz="2000">
                <a:latin typeface="Calibri"/>
                <a:ea typeface="Calibri"/>
                <a:cs typeface="Calibri"/>
                <a:sym typeface="Calibri"/>
              </a:rPr>
              <a:t>Resource utilization may be low</a:t>
            </a:r>
            <a:endParaRPr/>
          </a:p>
          <a:p>
            <a:pPr indent="-457200" lvl="0" marL="457200" rtl="0" algn="just">
              <a:lnSpc>
                <a:spcPct val="150000"/>
              </a:lnSpc>
              <a:spcBef>
                <a:spcPts val="1000"/>
              </a:spcBef>
              <a:spcAft>
                <a:spcPts val="0"/>
              </a:spcAft>
              <a:buClr>
                <a:schemeClr val="dk1"/>
              </a:buClr>
              <a:buSzPts val="2000"/>
              <a:buAutoNum type="arabicPeriod"/>
            </a:pPr>
            <a:r>
              <a:rPr lang="en-US" sz="2000">
                <a:latin typeface="Calibri"/>
                <a:ea typeface="Calibri"/>
                <a:cs typeface="Calibri"/>
                <a:sym typeface="Calibri"/>
              </a:rPr>
              <a:t>Starvation is possible.</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330200" lvl="0" marL="45720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240" name="Google Shape;240;p18"/>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9"/>
          <p:cNvSpPr txBox="1"/>
          <p:nvPr>
            <p:ph idx="1" type="body"/>
          </p:nvPr>
        </p:nvSpPr>
        <p:spPr>
          <a:xfrm>
            <a:off x="2547257" y="119742"/>
            <a:ext cx="9448800" cy="6651171"/>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50000"/>
              </a:lnSpc>
              <a:spcBef>
                <a:spcPts val="0"/>
              </a:spcBef>
              <a:spcAft>
                <a:spcPts val="0"/>
              </a:spcAft>
              <a:buClr>
                <a:srgbClr val="000000"/>
              </a:buClr>
              <a:buSzPts val="2000"/>
              <a:buNone/>
            </a:pPr>
            <a:r>
              <a:rPr b="1" lang="en-US" sz="2000">
                <a:solidFill>
                  <a:srgbClr val="000000"/>
                </a:solidFill>
                <a:latin typeface="Calibri"/>
                <a:ea typeface="Calibri"/>
                <a:cs typeface="Calibri"/>
                <a:sym typeface="Calibri"/>
              </a:rPr>
              <a:t>No Preemption</a:t>
            </a:r>
            <a:endParaRPr sz="2000">
              <a:solidFill>
                <a:srgbClr val="000000"/>
              </a:solidFill>
              <a:latin typeface="Calibri"/>
              <a:ea typeface="Calibri"/>
              <a:cs typeface="Calibri"/>
              <a:sym typeface="Calibri"/>
            </a:endParaRPr>
          </a:p>
          <a:p>
            <a:pPr indent="0" lvl="0" marL="0" rtl="0" algn="just">
              <a:lnSpc>
                <a:spcPct val="150000"/>
              </a:lnSpc>
              <a:spcBef>
                <a:spcPts val="1015"/>
              </a:spcBef>
              <a:spcAft>
                <a:spcPts val="0"/>
              </a:spcAft>
              <a:buClr>
                <a:schemeClr val="dk1"/>
              </a:buClr>
              <a:buSzPts val="2000"/>
              <a:buNone/>
            </a:pPr>
            <a:r>
              <a:rPr lang="en-US" sz="2000">
                <a:latin typeface="Calibri"/>
                <a:ea typeface="Calibri"/>
                <a:cs typeface="Calibri"/>
                <a:sym typeface="Calibri"/>
              </a:rPr>
              <a:t>To ensure that this condition does not hold, we can use the following protocol.</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 If a process is holding some resources and requests another resource that cannot be immediately allocated to it (that is, the process must wait), then all resources currently being held are preempted. </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Alternatively, if a process requests some resources, we first check whether they are available. If they are, we allocate them. If they are not, we check whether they are allocated to some other process that is waiting for additional resources. If so, we pre-empt the desired resources from the waiting process and allocate them to the requesting process. </a:t>
            </a:r>
            <a:endParaRPr/>
          </a:p>
          <a:p>
            <a:pPr indent="0" lvl="0" marL="0" rtl="0" algn="just">
              <a:lnSpc>
                <a:spcPct val="160000"/>
              </a:lnSpc>
              <a:spcBef>
                <a:spcPts val="1000"/>
              </a:spcBef>
              <a:spcAft>
                <a:spcPts val="0"/>
              </a:spcAft>
              <a:buClr>
                <a:schemeClr val="dk1"/>
              </a:buClr>
              <a:buSzPts val="2000"/>
              <a:buNone/>
            </a:pPr>
            <a:r>
              <a:rPr lang="en-US" sz="2000">
                <a:latin typeface="Calibri"/>
                <a:ea typeface="Calibri"/>
                <a:cs typeface="Calibri"/>
                <a:sym typeface="Calibri"/>
              </a:rPr>
              <a:t>This protocol is often applied to resources whose state can be easily saved and restored later, such as CPU registers and memory space. It cannot be generally be applied to such resources as printers and tape drives.</a:t>
            </a:r>
            <a:endParaRPr/>
          </a:p>
        </p:txBody>
      </p:sp>
      <p:sp>
        <p:nvSpPr>
          <p:cNvPr id="246" name="Google Shape;246;p19"/>
          <p:cNvSpPr txBox="1"/>
          <p:nvPr/>
        </p:nvSpPr>
        <p:spPr>
          <a:xfrm>
            <a:off x="515186"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0"/>
          <p:cNvSpPr txBox="1"/>
          <p:nvPr>
            <p:ph idx="1" type="body"/>
          </p:nvPr>
        </p:nvSpPr>
        <p:spPr>
          <a:xfrm>
            <a:off x="2547257" y="119742"/>
            <a:ext cx="9448800" cy="6651171"/>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00"/>
              </a:buClr>
              <a:buSzPts val="2000"/>
              <a:buNone/>
            </a:pPr>
            <a:r>
              <a:rPr b="1" lang="en-US" sz="2000">
                <a:solidFill>
                  <a:srgbClr val="000000"/>
                </a:solidFill>
                <a:latin typeface="Calibri"/>
                <a:ea typeface="Calibri"/>
                <a:cs typeface="Calibri"/>
                <a:sym typeface="Calibri"/>
              </a:rPr>
              <a:t>Circular Wait</a:t>
            </a:r>
            <a:endParaRPr sz="2000">
              <a:solidFill>
                <a:srgbClr val="000000"/>
              </a:solidFill>
              <a:latin typeface="Calibri"/>
              <a:ea typeface="Calibri"/>
              <a:cs typeface="Calibri"/>
              <a:sym typeface="Calibri"/>
            </a:endParaRPr>
          </a:p>
          <a:p>
            <a:pPr indent="0" lvl="0" marL="0" rtl="0" algn="just">
              <a:lnSpc>
                <a:spcPct val="150000"/>
              </a:lnSpc>
              <a:spcBef>
                <a:spcPts val="1015"/>
              </a:spcBef>
              <a:spcAft>
                <a:spcPts val="0"/>
              </a:spcAft>
              <a:buClr>
                <a:schemeClr val="dk1"/>
              </a:buClr>
              <a:buSzPts val="2000"/>
              <a:buNone/>
            </a:pPr>
            <a:r>
              <a:rPr lang="en-US" sz="2000">
                <a:latin typeface="Calibri"/>
                <a:ea typeface="Calibri"/>
                <a:cs typeface="Calibri"/>
                <a:sym typeface="Calibri"/>
              </a:rPr>
              <a:t>A way to ensure that this condition never holds is to impose a total ordering of all resource types and to require that each process requests resources in an increasing order of enumeration.</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Example: Suppose Process P1 is allocated resource R5. Now if P1 requests for resources R4 and R3(which are lesser than R5), such requests will not be granted. Only request for resource greater then R5 will be granted.</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Developing an ordering, or hierarchy, in itself does not prevent deadlock. It is up to application developers to write programs that follow the ordering. </a:t>
            </a:r>
            <a:endParaRPr sz="20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000"/>
              <a:buNone/>
            </a:pPr>
            <a:r>
              <a:t/>
            </a:r>
            <a:endParaRPr sz="2000">
              <a:latin typeface="Calibri"/>
              <a:ea typeface="Calibri"/>
              <a:cs typeface="Calibri"/>
              <a:sym typeface="Calibri"/>
            </a:endParaRPr>
          </a:p>
          <a:p>
            <a:pPr indent="-101600" lvl="0" marL="228600" rtl="0" algn="l">
              <a:lnSpc>
                <a:spcPct val="90000"/>
              </a:lnSpc>
              <a:spcBef>
                <a:spcPts val="1800"/>
              </a:spcBef>
              <a:spcAft>
                <a:spcPts val="0"/>
              </a:spcAft>
              <a:buClr>
                <a:schemeClr val="dk1"/>
              </a:buClr>
              <a:buSzPts val="2000"/>
              <a:buNone/>
            </a:pPr>
            <a:r>
              <a:t/>
            </a:r>
            <a:endParaRPr sz="2000">
              <a:latin typeface="Calibri"/>
              <a:ea typeface="Calibri"/>
              <a:cs typeface="Calibri"/>
              <a:sym typeface="Calibri"/>
            </a:endParaRPr>
          </a:p>
        </p:txBody>
      </p:sp>
      <p:sp>
        <p:nvSpPr>
          <p:cNvPr id="252" name="Google Shape;252;p20"/>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1"/>
          <p:cNvSpPr txBox="1"/>
          <p:nvPr>
            <p:ph idx="1" type="body"/>
          </p:nvPr>
        </p:nvSpPr>
        <p:spPr>
          <a:xfrm>
            <a:off x="2547257" y="119742"/>
            <a:ext cx="9448800" cy="6651171"/>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Deadlock Avoidance</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An alternative method for avoiding deadlocks is to require additional information about how resources are to be requested.</a:t>
            </a:r>
            <a:endParaRPr/>
          </a:p>
          <a:p>
            <a:pPr indent="0" lvl="0" marL="0" rtl="0" algn="just">
              <a:lnSpc>
                <a:spcPct val="150000"/>
              </a:lnSpc>
              <a:spcBef>
                <a:spcPts val="1800"/>
              </a:spcBef>
              <a:spcAft>
                <a:spcPts val="0"/>
              </a:spcAft>
              <a:buClr>
                <a:srgbClr val="0000FF"/>
              </a:buClr>
              <a:buSzPts val="2000"/>
              <a:buNone/>
            </a:pPr>
            <a:r>
              <a:rPr lang="en-US" sz="2000">
                <a:solidFill>
                  <a:srgbClr val="0000FF"/>
                </a:solidFill>
                <a:latin typeface="Calibri"/>
                <a:ea typeface="Calibri"/>
                <a:cs typeface="Calibri"/>
                <a:sym typeface="Calibri"/>
              </a:rPr>
              <a:t>Example: In a system with one tape drive and one printer, the system might need to know that process P will request first the tape drive and then the printer before releasing both resources, whereas process Q will request first the printer and then tape drive. </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With this knowledge of the complete sequence of requests  for each process, the system can decide for each request whether or not the process should wait in order to avoid a possible future deadlock.</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 Each request requires that in making this decision the system consider the resources currently available, the resources currently allocated to each process, and the future requests and releases of each process.</a:t>
            </a:r>
            <a:endParaRPr sz="2000">
              <a:latin typeface="Calibri"/>
              <a:ea typeface="Calibri"/>
              <a:cs typeface="Calibri"/>
              <a:sym typeface="Calibri"/>
            </a:endParaRPr>
          </a:p>
        </p:txBody>
      </p:sp>
      <p:sp>
        <p:nvSpPr>
          <p:cNvPr id="258" name="Google Shape;258;p21"/>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2"/>
          <p:cNvSpPr txBox="1"/>
          <p:nvPr>
            <p:ph idx="1" type="body"/>
          </p:nvPr>
        </p:nvSpPr>
        <p:spPr>
          <a:xfrm>
            <a:off x="2547257" y="119742"/>
            <a:ext cx="9448800" cy="6651171"/>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b="1" lang="en-US" sz="2000">
                <a:latin typeface="Calibri"/>
                <a:ea typeface="Calibri"/>
                <a:cs typeface="Calibri"/>
                <a:sym typeface="Calibri"/>
              </a:rPr>
              <a:t>Safe state</a:t>
            </a:r>
            <a:endParaRPr sz="20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A state is safe if the system can allocate resources to each process (up to its maximum) in some order and still avoid a deadlock.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 system is in a safe state only if there exists a safe sequence. A sequence of processes &lt; P</a:t>
            </a:r>
            <a:r>
              <a:rPr baseline="-25000" lang="en-US" sz="2000">
                <a:latin typeface="Calibri"/>
                <a:ea typeface="Calibri"/>
                <a:cs typeface="Calibri"/>
                <a:sym typeface="Calibri"/>
              </a:rPr>
              <a:t>1</a:t>
            </a:r>
            <a:r>
              <a:rPr lang="en-US" sz="2000">
                <a:latin typeface="Calibri"/>
                <a:ea typeface="Calibri"/>
                <a:cs typeface="Calibri"/>
                <a:sym typeface="Calibri"/>
              </a:rPr>
              <a:t>,P</a:t>
            </a:r>
            <a:r>
              <a:rPr baseline="-25000" lang="en-US" sz="2000">
                <a:latin typeface="Calibri"/>
                <a:ea typeface="Calibri"/>
                <a:cs typeface="Calibri"/>
                <a:sym typeface="Calibri"/>
              </a:rPr>
              <a:t>2</a:t>
            </a:r>
            <a:r>
              <a:rPr lang="en-US" sz="2000">
                <a:latin typeface="Calibri"/>
                <a:ea typeface="Calibri"/>
                <a:cs typeface="Calibri"/>
                <a:sym typeface="Calibri"/>
              </a:rPr>
              <a:t>, ..., P</a:t>
            </a:r>
            <a:r>
              <a:rPr baseline="-25000" lang="en-US" sz="2000">
                <a:latin typeface="Calibri"/>
                <a:ea typeface="Calibri"/>
                <a:cs typeface="Calibri"/>
                <a:sym typeface="Calibri"/>
              </a:rPr>
              <a:t>n</a:t>
            </a:r>
            <a:r>
              <a:rPr lang="en-US" sz="2000">
                <a:latin typeface="Calibri"/>
                <a:ea typeface="Calibri"/>
                <a:cs typeface="Calibri"/>
                <a:sym typeface="Calibri"/>
              </a:rPr>
              <a:t>&gt; is a safe sequence for the current allocation state it for each Pi, the resource requests that Pi can still make can be satisfied by the currently available resources plus the resources held by all Pi</a:t>
            </a:r>
            <a:endParaRPr sz="20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pic>
        <p:nvPicPr>
          <p:cNvPr descr="Operating Systems: Deadlocks" id="264" name="Google Shape;264;p22"/>
          <p:cNvPicPr preferRelativeResize="0"/>
          <p:nvPr/>
        </p:nvPicPr>
        <p:blipFill rotWithShape="1">
          <a:blip r:embed="rId3">
            <a:alphaModFix/>
          </a:blip>
          <a:srcRect b="0" l="0" r="0" t="0"/>
          <a:stretch/>
        </p:blipFill>
        <p:spPr>
          <a:xfrm>
            <a:off x="5432024" y="3741568"/>
            <a:ext cx="3179316" cy="2819400"/>
          </a:xfrm>
          <a:prstGeom prst="rect">
            <a:avLst/>
          </a:prstGeom>
          <a:noFill/>
          <a:ln>
            <a:noFill/>
          </a:ln>
        </p:spPr>
      </p:pic>
      <p:sp>
        <p:nvSpPr>
          <p:cNvPr id="265" name="Google Shape;265;p22"/>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3"/>
          <p:cNvSpPr txBox="1"/>
          <p:nvPr>
            <p:ph idx="1" type="body"/>
          </p:nvPr>
        </p:nvSpPr>
        <p:spPr>
          <a:xfrm>
            <a:off x="2547257" y="119742"/>
            <a:ext cx="9448800" cy="6651171"/>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A safe state is not a deadlocked state. Conversely, a deadlocked state is an unsafe state. Not all unsafe states are deadlocks, however.</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 An unsafe state may lead to a deadlock. As long as the state is safe, the operating system can avoid unsafe (and deadlocked) states. In an unsafe state, the operating system cannot prevent processes from requesting resources such that a deadlock occurs: The behavior of the processes controls unsafe states.</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Consider a system with 12 magnetic tape drives and 3 processes:P</a:t>
            </a:r>
            <a:r>
              <a:rPr baseline="-25000" lang="en-US" sz="2000">
                <a:latin typeface="Calibri"/>
                <a:ea typeface="Calibri"/>
                <a:cs typeface="Calibri"/>
                <a:sym typeface="Calibri"/>
              </a:rPr>
              <a:t>0</a:t>
            </a:r>
            <a:r>
              <a:rPr lang="en-US" sz="2000">
                <a:latin typeface="Calibri"/>
                <a:ea typeface="Calibri"/>
                <a:cs typeface="Calibri"/>
                <a:sym typeface="Calibri"/>
              </a:rPr>
              <a:t>, P</a:t>
            </a:r>
            <a:r>
              <a:rPr baseline="-25000" lang="en-US" sz="2000">
                <a:latin typeface="Calibri"/>
                <a:ea typeface="Calibri"/>
                <a:cs typeface="Calibri"/>
                <a:sym typeface="Calibri"/>
              </a:rPr>
              <a:t>1</a:t>
            </a:r>
            <a:r>
              <a:rPr lang="en-US" sz="2000">
                <a:latin typeface="Calibri"/>
                <a:ea typeface="Calibri"/>
                <a:cs typeface="Calibri"/>
                <a:sym typeface="Calibri"/>
              </a:rPr>
              <a:t>, and P</a:t>
            </a:r>
            <a:r>
              <a:rPr baseline="-25000" lang="en-US" sz="2000">
                <a:latin typeface="Calibri"/>
                <a:ea typeface="Calibri"/>
                <a:cs typeface="Calibri"/>
                <a:sym typeface="Calibri"/>
              </a:rPr>
              <a:t>2</a:t>
            </a:r>
            <a:r>
              <a:rPr lang="en-US" sz="2000">
                <a:latin typeface="Calibri"/>
                <a:ea typeface="Calibri"/>
                <a:cs typeface="Calibri"/>
                <a:sym typeface="Calibri"/>
              </a:rPr>
              <a:t>.</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pic>
        <p:nvPicPr>
          <p:cNvPr id="271" name="Google Shape;271;p23"/>
          <p:cNvPicPr preferRelativeResize="0"/>
          <p:nvPr/>
        </p:nvPicPr>
        <p:blipFill rotWithShape="1">
          <a:blip r:embed="rId3">
            <a:alphaModFix/>
          </a:blip>
          <a:srcRect b="0" l="0" r="0" t="0"/>
          <a:stretch/>
        </p:blipFill>
        <p:spPr>
          <a:xfrm>
            <a:off x="5486399" y="3797810"/>
            <a:ext cx="4376691" cy="2601686"/>
          </a:xfrm>
          <a:prstGeom prst="rect">
            <a:avLst/>
          </a:prstGeom>
          <a:noFill/>
          <a:ln>
            <a:noFill/>
          </a:ln>
        </p:spPr>
      </p:pic>
      <p:sp>
        <p:nvSpPr>
          <p:cNvPr id="272" name="Google Shape;272;p23"/>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4"/>
          <p:cNvSpPr txBox="1"/>
          <p:nvPr>
            <p:ph idx="1" type="body"/>
          </p:nvPr>
        </p:nvSpPr>
        <p:spPr>
          <a:xfrm>
            <a:off x="2536371" y="152400"/>
            <a:ext cx="9492343" cy="6564086"/>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At time t</a:t>
            </a:r>
            <a:r>
              <a:rPr baseline="-25000" lang="en-US" sz="2000">
                <a:latin typeface="Calibri"/>
                <a:ea typeface="Calibri"/>
                <a:cs typeface="Calibri"/>
                <a:sym typeface="Calibri"/>
              </a:rPr>
              <a:t>0</a:t>
            </a:r>
            <a:r>
              <a:rPr lang="en-US" sz="2000">
                <a:latin typeface="Calibri"/>
                <a:ea typeface="Calibri"/>
                <a:cs typeface="Calibri"/>
                <a:sym typeface="Calibri"/>
              </a:rPr>
              <a:t>, the system is in a safe state.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sequence &lt; P</a:t>
            </a:r>
            <a:r>
              <a:rPr baseline="-25000" lang="en-US" sz="2000">
                <a:latin typeface="Calibri"/>
                <a:ea typeface="Calibri"/>
                <a:cs typeface="Calibri"/>
                <a:sym typeface="Calibri"/>
              </a:rPr>
              <a:t>1</a:t>
            </a:r>
            <a:r>
              <a:rPr lang="en-US" sz="2000">
                <a:latin typeface="Calibri"/>
                <a:ea typeface="Calibri"/>
                <a:cs typeface="Calibri"/>
                <a:sym typeface="Calibri"/>
              </a:rPr>
              <a:t>, P</a:t>
            </a:r>
            <a:r>
              <a:rPr baseline="-25000" lang="en-US" sz="2000">
                <a:latin typeface="Calibri"/>
                <a:ea typeface="Calibri"/>
                <a:cs typeface="Calibri"/>
                <a:sym typeface="Calibri"/>
              </a:rPr>
              <a:t>0</a:t>
            </a:r>
            <a:r>
              <a:rPr lang="en-US" sz="2000">
                <a:latin typeface="Calibri"/>
                <a:ea typeface="Calibri"/>
                <a:cs typeface="Calibri"/>
                <a:sym typeface="Calibri"/>
              </a:rPr>
              <a:t>, P</a:t>
            </a:r>
            <a:r>
              <a:rPr baseline="-25000" lang="en-US" sz="2000">
                <a:latin typeface="Calibri"/>
                <a:ea typeface="Calibri"/>
                <a:cs typeface="Calibri"/>
                <a:sym typeface="Calibri"/>
              </a:rPr>
              <a:t>2</a:t>
            </a:r>
            <a:r>
              <a:rPr lang="en-US" sz="2000">
                <a:latin typeface="Calibri"/>
                <a:ea typeface="Calibri"/>
                <a:cs typeface="Calibri"/>
                <a:sym typeface="Calibri"/>
              </a:rPr>
              <a:t> &gt; satisfies the safety condition.</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 system can go from a safe state to an unsafe state.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Suppose that, at time t</a:t>
            </a:r>
            <a:r>
              <a:rPr baseline="-25000" lang="en-US" sz="2000">
                <a:latin typeface="Calibri"/>
                <a:ea typeface="Calibri"/>
                <a:cs typeface="Calibri"/>
                <a:sym typeface="Calibri"/>
              </a:rPr>
              <a:t>1</a:t>
            </a:r>
            <a:r>
              <a:rPr lang="en-US" sz="2000">
                <a:latin typeface="Calibri"/>
                <a:ea typeface="Calibri"/>
                <a:cs typeface="Calibri"/>
                <a:sym typeface="Calibri"/>
              </a:rPr>
              <a:t>, process P2 requests and is allocated one more tape drive.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system is no longer in a safe state. </a:t>
            </a:r>
            <a:endParaRPr sz="2000">
              <a:latin typeface="Calibri"/>
              <a:ea typeface="Calibri"/>
              <a:cs typeface="Calibri"/>
              <a:sym typeface="Calibri"/>
            </a:endParaRPr>
          </a:p>
        </p:txBody>
      </p:sp>
      <p:sp>
        <p:nvSpPr>
          <p:cNvPr id="278" name="Google Shape;278;p24"/>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5"/>
          <p:cNvSpPr txBox="1"/>
          <p:nvPr>
            <p:ph idx="1" type="body"/>
          </p:nvPr>
        </p:nvSpPr>
        <p:spPr>
          <a:xfrm>
            <a:off x="2569029" y="152400"/>
            <a:ext cx="9416142" cy="6596743"/>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Resource-Allocation-Graph Algorithm</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In addition to the request and assignment edges we introduce a new type of edge, called a </a:t>
            </a:r>
            <a:r>
              <a:rPr lang="en-US" sz="2000">
                <a:solidFill>
                  <a:srgbClr val="0000FF"/>
                </a:solidFill>
                <a:latin typeface="Calibri"/>
                <a:ea typeface="Calibri"/>
                <a:cs typeface="Calibri"/>
                <a:sym typeface="Calibri"/>
              </a:rPr>
              <a:t>claim edge. </a:t>
            </a:r>
            <a:endParaRPr b="1" sz="2000">
              <a:solidFill>
                <a:srgbClr val="0000FF"/>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 claim edge Pi→Rj indicates that process Pi may request resource Rj at some time in the future.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It resembles a request edge in direction but is represented in the graph by a dashed line.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When process Pi requests resource Rj, the claim edge Pi→Rj is converted to a request edge.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Similarly, when a resource Rj is released by Pi the assignment edge Rj→Pi is reconverted to a claim edge Pi→Rj.</a:t>
            </a:r>
            <a:endParaRPr sz="20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284" name="Google Shape;284;p25"/>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26"/>
          <p:cNvPicPr preferRelativeResize="0"/>
          <p:nvPr>
            <p:ph idx="1" type="body"/>
          </p:nvPr>
        </p:nvPicPr>
        <p:blipFill rotWithShape="1">
          <a:blip r:embed="rId3">
            <a:alphaModFix/>
          </a:blip>
          <a:srcRect b="0" l="0" r="0" t="0"/>
          <a:stretch/>
        </p:blipFill>
        <p:spPr>
          <a:xfrm>
            <a:off x="3516086" y="674465"/>
            <a:ext cx="6106884" cy="3213953"/>
          </a:xfrm>
          <a:prstGeom prst="rect">
            <a:avLst/>
          </a:prstGeom>
          <a:noFill/>
          <a:ln>
            <a:noFill/>
          </a:ln>
        </p:spPr>
      </p:pic>
      <p:sp>
        <p:nvSpPr>
          <p:cNvPr id="290" name="Google Shape;290;p26"/>
          <p:cNvSpPr txBox="1"/>
          <p:nvPr/>
        </p:nvSpPr>
        <p:spPr>
          <a:xfrm>
            <a:off x="3799063" y="4738688"/>
            <a:ext cx="6106884"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000">
                <a:solidFill>
                  <a:schemeClr val="dk1"/>
                </a:solidFill>
                <a:latin typeface="Calibri"/>
                <a:ea typeface="Calibri"/>
                <a:cs typeface="Calibri"/>
                <a:sym typeface="Calibri"/>
              </a:rPr>
              <a:t>Resource-allocation graph for deadlock avoidance</a:t>
            </a:r>
            <a:r>
              <a:rPr b="1" lang="en-US" sz="1800">
                <a:solidFill>
                  <a:schemeClr val="dk1"/>
                </a:solidFill>
                <a:latin typeface="Times New Roman"/>
                <a:ea typeface="Times New Roman"/>
                <a:cs typeface="Times New Roman"/>
                <a:sym typeface="Times New Roman"/>
              </a:rPr>
              <a:t>.</a:t>
            </a:r>
            <a:endParaRPr sz="1600">
              <a:solidFill>
                <a:schemeClr val="dk1"/>
              </a:solidFill>
              <a:latin typeface="Calibri"/>
              <a:ea typeface="Calibri"/>
              <a:cs typeface="Calibri"/>
              <a:sym typeface="Calibri"/>
            </a:endParaRPr>
          </a:p>
        </p:txBody>
      </p:sp>
      <p:sp>
        <p:nvSpPr>
          <p:cNvPr id="291" name="Google Shape;291;p26"/>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7"/>
          <p:cNvSpPr txBox="1"/>
          <p:nvPr>
            <p:ph idx="1" type="body"/>
          </p:nvPr>
        </p:nvSpPr>
        <p:spPr>
          <a:xfrm>
            <a:off x="2558143" y="130629"/>
            <a:ext cx="9492343" cy="6596742"/>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The resource must be claimed prior in the system. That is, before process Pi starts executing, all its claim edges must already appear in the resource allocation graph.</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Suppose that process Pi requests resource Rj. The request can be granted only if converting the request edge Pi → Rj to an assignment edge Rj → Pi does not result in the formation of a cycle  in the resource allocation graph.</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Note that we check for safety by using a cycle detection algorithm.</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If no cycle exists,  then the allocation of the resource will leave the system in a safe state.</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If a cycle is found, then the allocation will put the system in an unsafe state. </a:t>
            </a:r>
            <a:endParaRPr/>
          </a:p>
        </p:txBody>
      </p:sp>
      <p:pic>
        <p:nvPicPr>
          <p:cNvPr id="297" name="Google Shape;297;p27"/>
          <p:cNvPicPr preferRelativeResize="0"/>
          <p:nvPr/>
        </p:nvPicPr>
        <p:blipFill rotWithShape="1">
          <a:blip r:embed="rId3">
            <a:alphaModFix/>
          </a:blip>
          <a:srcRect b="0" l="0" r="0" t="0"/>
          <a:stretch/>
        </p:blipFill>
        <p:spPr>
          <a:xfrm>
            <a:off x="6950528" y="4425042"/>
            <a:ext cx="3886200" cy="2166257"/>
          </a:xfrm>
          <a:prstGeom prst="rect">
            <a:avLst/>
          </a:prstGeom>
          <a:noFill/>
          <a:ln>
            <a:noFill/>
          </a:ln>
        </p:spPr>
      </p:pic>
      <p:sp>
        <p:nvSpPr>
          <p:cNvPr id="298" name="Google Shape;298;p27"/>
          <p:cNvSpPr txBox="1"/>
          <p:nvPr/>
        </p:nvSpPr>
        <p:spPr>
          <a:xfrm>
            <a:off x="6188529" y="6379042"/>
            <a:ext cx="6106884" cy="463397"/>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800">
                <a:solidFill>
                  <a:schemeClr val="dk1"/>
                </a:solidFill>
                <a:latin typeface="Times New Roman"/>
                <a:ea typeface="Times New Roman"/>
                <a:cs typeface="Times New Roman"/>
                <a:sym typeface="Times New Roman"/>
              </a:rPr>
              <a:t>An </a:t>
            </a:r>
            <a:r>
              <a:rPr b="1" lang="en-US" sz="1800">
                <a:solidFill>
                  <a:schemeClr val="dk1"/>
                </a:solidFill>
                <a:latin typeface="Calibri"/>
                <a:ea typeface="Calibri"/>
                <a:cs typeface="Calibri"/>
                <a:sym typeface="Calibri"/>
              </a:rPr>
              <a:t>unsafe state in a resource-allocation graph</a:t>
            </a:r>
            <a:r>
              <a:rPr b="1" lang="en-US" sz="1800">
                <a:solidFill>
                  <a:schemeClr val="dk1"/>
                </a:solidFill>
                <a:latin typeface="Times New Roman"/>
                <a:ea typeface="Times New Roman"/>
                <a:cs typeface="Times New Roman"/>
                <a:sym typeface="Times New Roman"/>
              </a:rPr>
              <a:t>.</a:t>
            </a:r>
            <a:endParaRPr sz="1600">
              <a:solidFill>
                <a:schemeClr val="dk1"/>
              </a:solidFill>
              <a:latin typeface="Calibri"/>
              <a:ea typeface="Calibri"/>
              <a:cs typeface="Calibri"/>
              <a:sym typeface="Calibri"/>
            </a:endParaRPr>
          </a:p>
        </p:txBody>
      </p:sp>
      <p:pic>
        <p:nvPicPr>
          <p:cNvPr id="299" name="Google Shape;299;p27"/>
          <p:cNvPicPr preferRelativeResize="0"/>
          <p:nvPr/>
        </p:nvPicPr>
        <p:blipFill rotWithShape="1">
          <a:blip r:embed="rId4">
            <a:alphaModFix/>
          </a:blip>
          <a:srcRect b="0" l="0" r="0" t="0"/>
          <a:stretch/>
        </p:blipFill>
        <p:spPr>
          <a:xfrm>
            <a:off x="2732314" y="4425042"/>
            <a:ext cx="3679372" cy="2001033"/>
          </a:xfrm>
          <a:prstGeom prst="rect">
            <a:avLst/>
          </a:prstGeom>
          <a:noFill/>
          <a:ln>
            <a:noFill/>
          </a:ln>
        </p:spPr>
      </p:pic>
      <p:sp>
        <p:nvSpPr>
          <p:cNvPr id="300" name="Google Shape;300;p27"/>
          <p:cNvSpPr txBox="1"/>
          <p:nvPr/>
        </p:nvSpPr>
        <p:spPr>
          <a:xfrm>
            <a:off x="1953987" y="6473107"/>
            <a:ext cx="61068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Resource-allocation graph for deadlock avoidance.</a:t>
            </a:r>
            <a:endParaRPr sz="1800">
              <a:solidFill>
                <a:schemeClr val="dk1"/>
              </a:solidFill>
              <a:latin typeface="Calibri"/>
              <a:ea typeface="Calibri"/>
              <a:cs typeface="Calibri"/>
              <a:sym typeface="Calibri"/>
            </a:endParaRPr>
          </a:p>
        </p:txBody>
      </p:sp>
      <p:sp>
        <p:nvSpPr>
          <p:cNvPr id="301" name="Google Shape;301;p27"/>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8"/>
          <p:cNvSpPr txBox="1"/>
          <p:nvPr>
            <p:ph idx="1" type="body"/>
          </p:nvPr>
        </p:nvSpPr>
        <p:spPr>
          <a:xfrm>
            <a:off x="2569029" y="119742"/>
            <a:ext cx="9470571" cy="6651171"/>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Deadlock Avoidance </a:t>
            </a:r>
            <a:endParaRPr/>
          </a:p>
          <a:p>
            <a:pPr indent="0" lvl="0" marL="0" rtl="0" algn="ctr">
              <a:lnSpc>
                <a:spcPct val="90000"/>
              </a:lnSpc>
              <a:spcBef>
                <a:spcPts val="1000"/>
              </a:spcBef>
              <a:spcAft>
                <a:spcPts val="0"/>
              </a:spcAft>
              <a:buClr>
                <a:srgbClr val="FF0000"/>
              </a:buClr>
              <a:buSzPts val="2400"/>
              <a:buNone/>
            </a:pPr>
            <a:r>
              <a:rPr b="1" lang="en-US" sz="2400">
                <a:solidFill>
                  <a:srgbClr val="FF0000"/>
                </a:solidFill>
                <a:latin typeface="Calibri"/>
                <a:ea typeface="Calibri"/>
                <a:cs typeface="Calibri"/>
                <a:sym typeface="Calibri"/>
              </a:rPr>
              <a:t>Banker’s algorithm</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An algorithm that can be used for deadlock Avoidance in resource allocation systems with multiple instances of each resource type.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It is given the name Banker’s algorithm because the algorithm could be used in a banking system to ensure that the bank never allocated its available cash in such a way that it could no longer satisfy the needs of all its customers.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 Let ‘n’ be the number of processes in the system and ‘m’ be the number of resource types.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Several </a:t>
            </a:r>
            <a:r>
              <a:rPr b="1" lang="en-US" sz="2000">
                <a:latin typeface="Calibri"/>
                <a:ea typeface="Calibri"/>
                <a:cs typeface="Calibri"/>
                <a:sym typeface="Calibri"/>
              </a:rPr>
              <a:t>data structures</a:t>
            </a:r>
            <a:r>
              <a:rPr lang="en-US" sz="2000">
                <a:latin typeface="Calibri"/>
                <a:ea typeface="Calibri"/>
                <a:cs typeface="Calibri"/>
                <a:sym typeface="Calibri"/>
              </a:rPr>
              <a:t> must be maintained to implement the banker's algorithm:</a:t>
            </a:r>
            <a:endParaRPr sz="2000">
              <a:latin typeface="Calibri"/>
              <a:ea typeface="Calibri"/>
              <a:cs typeface="Calibri"/>
              <a:sym typeface="Calibri"/>
            </a:endParaRPr>
          </a:p>
          <a:p>
            <a:pPr indent="0" lvl="0" marL="0" rtl="0" algn="just">
              <a:lnSpc>
                <a:spcPct val="150000"/>
              </a:lnSpc>
              <a:spcBef>
                <a:spcPts val="1800"/>
              </a:spcBef>
              <a:spcAft>
                <a:spcPts val="0"/>
              </a:spcAft>
              <a:buClr>
                <a:srgbClr val="000000"/>
              </a:buClr>
              <a:buSzPts val="2000"/>
              <a:buNone/>
            </a:pPr>
            <a:r>
              <a:rPr b="1" lang="en-US" sz="2000">
                <a:solidFill>
                  <a:srgbClr val="000000"/>
                </a:solidFill>
                <a:latin typeface="Calibri"/>
                <a:ea typeface="Calibri"/>
                <a:cs typeface="Calibri"/>
                <a:sym typeface="Calibri"/>
              </a:rPr>
              <a:t>Available</a:t>
            </a:r>
            <a:r>
              <a:rPr lang="en-US" sz="2000">
                <a:solidFill>
                  <a:srgbClr val="000000"/>
                </a:solidFill>
                <a:latin typeface="Calibri"/>
                <a:ea typeface="Calibri"/>
                <a:cs typeface="Calibri"/>
                <a:sym typeface="Calibri"/>
              </a:rPr>
              <a:t>. A 1 – D array of size ‘m’ indicating  the number of available resources of each type. </a:t>
            </a:r>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If Available[j] =  k, there are ‘k’ instances of resource type Rj available.</a:t>
            </a:r>
            <a:endParaRPr sz="2000">
              <a:solidFill>
                <a:srgbClr val="000000"/>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b="1" sz="2000">
              <a:solidFill>
                <a:srgbClr val="FF0000"/>
              </a:solidFill>
              <a:latin typeface="Calibri"/>
              <a:ea typeface="Calibri"/>
              <a:cs typeface="Calibri"/>
              <a:sym typeface="Calibri"/>
            </a:endParaRPr>
          </a:p>
        </p:txBody>
      </p:sp>
      <p:sp>
        <p:nvSpPr>
          <p:cNvPr id="307" name="Google Shape;307;p28"/>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9"/>
          <p:cNvSpPr txBox="1"/>
          <p:nvPr>
            <p:ph idx="1" type="body"/>
          </p:nvPr>
        </p:nvSpPr>
        <p:spPr>
          <a:xfrm>
            <a:off x="2569029" y="119742"/>
            <a:ext cx="9470571" cy="6651171"/>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lnSpc>
                <a:spcPct val="150000"/>
              </a:lnSpc>
              <a:spcBef>
                <a:spcPts val="0"/>
              </a:spcBef>
              <a:spcAft>
                <a:spcPts val="0"/>
              </a:spcAft>
              <a:buClr>
                <a:srgbClr val="000000"/>
              </a:buClr>
              <a:buSzPct val="100000"/>
              <a:buNone/>
            </a:pPr>
            <a:r>
              <a:rPr b="1" lang="en-US" sz="2200">
                <a:solidFill>
                  <a:srgbClr val="000000"/>
                </a:solidFill>
                <a:latin typeface="Calibri"/>
                <a:ea typeface="Calibri"/>
                <a:cs typeface="Calibri"/>
                <a:sym typeface="Calibri"/>
              </a:rPr>
              <a:t>Max</a:t>
            </a:r>
            <a:r>
              <a:rPr lang="en-US" sz="2200">
                <a:solidFill>
                  <a:srgbClr val="000000"/>
                </a:solidFill>
                <a:latin typeface="Calibri"/>
                <a:ea typeface="Calibri"/>
                <a:cs typeface="Calibri"/>
                <a:sym typeface="Calibri"/>
              </a:rPr>
              <a:t> </a:t>
            </a:r>
            <a:endParaRPr/>
          </a:p>
          <a:p>
            <a:pPr indent="0" lvl="0" marL="0" rtl="0" algn="just">
              <a:lnSpc>
                <a:spcPct val="150000"/>
              </a:lnSpc>
              <a:spcBef>
                <a:spcPts val="1000"/>
              </a:spcBef>
              <a:spcAft>
                <a:spcPts val="0"/>
              </a:spcAft>
              <a:buClr>
                <a:srgbClr val="000000"/>
              </a:buClr>
              <a:buSzPct val="100000"/>
              <a:buNone/>
            </a:pPr>
            <a:r>
              <a:rPr lang="en-US" sz="2200">
                <a:solidFill>
                  <a:srgbClr val="000000"/>
                </a:solidFill>
                <a:latin typeface="Calibri"/>
                <a:ea typeface="Calibri"/>
                <a:cs typeface="Calibri"/>
                <a:sym typeface="Calibri"/>
              </a:rPr>
              <a:t>A 2-D array of size  n x m  that specifies the maximum demand of each process in a system. </a:t>
            </a:r>
            <a:endParaRPr/>
          </a:p>
          <a:p>
            <a:pPr indent="0" lvl="0" marL="0" rtl="0" algn="just">
              <a:lnSpc>
                <a:spcPct val="150000"/>
              </a:lnSpc>
              <a:spcBef>
                <a:spcPts val="1000"/>
              </a:spcBef>
              <a:spcAft>
                <a:spcPts val="0"/>
              </a:spcAft>
              <a:buClr>
                <a:srgbClr val="000000"/>
              </a:buClr>
              <a:buSzPct val="100000"/>
              <a:buNone/>
            </a:pPr>
            <a:r>
              <a:rPr lang="en-US" sz="2200">
                <a:solidFill>
                  <a:srgbClr val="000000"/>
                </a:solidFill>
                <a:latin typeface="Calibri"/>
                <a:ea typeface="Calibri"/>
                <a:cs typeface="Calibri"/>
                <a:sym typeface="Calibri"/>
              </a:rPr>
              <a:t>If Max[I,j] = k, then process Pi may request at most ‘k’ instances of resource type Rj.</a:t>
            </a:r>
            <a:endParaRPr sz="2200">
              <a:solidFill>
                <a:srgbClr val="000000"/>
              </a:solidFill>
              <a:latin typeface="Calibri"/>
              <a:ea typeface="Calibri"/>
              <a:cs typeface="Calibri"/>
              <a:sym typeface="Calibri"/>
            </a:endParaRPr>
          </a:p>
          <a:p>
            <a:pPr indent="0" lvl="0" marL="0" rtl="0" algn="just">
              <a:lnSpc>
                <a:spcPct val="150000"/>
              </a:lnSpc>
              <a:spcBef>
                <a:spcPts val="1000"/>
              </a:spcBef>
              <a:spcAft>
                <a:spcPts val="0"/>
              </a:spcAft>
              <a:buClr>
                <a:srgbClr val="000000"/>
              </a:buClr>
              <a:buSzPct val="100000"/>
              <a:buNone/>
            </a:pPr>
            <a:r>
              <a:rPr b="1" lang="en-US" sz="2200">
                <a:solidFill>
                  <a:srgbClr val="000000"/>
                </a:solidFill>
                <a:latin typeface="Calibri"/>
                <a:ea typeface="Calibri"/>
                <a:cs typeface="Calibri"/>
                <a:sym typeface="Calibri"/>
              </a:rPr>
              <a:t>Allocation</a:t>
            </a:r>
            <a:r>
              <a:rPr lang="en-US" sz="2200">
                <a:solidFill>
                  <a:srgbClr val="000000"/>
                </a:solidFill>
                <a:latin typeface="Calibri"/>
                <a:ea typeface="Calibri"/>
                <a:cs typeface="Calibri"/>
                <a:sym typeface="Calibri"/>
              </a:rPr>
              <a:t> </a:t>
            </a:r>
            <a:endParaRPr/>
          </a:p>
          <a:p>
            <a:pPr indent="0" lvl="0" marL="0" rtl="0" algn="just">
              <a:lnSpc>
                <a:spcPct val="150000"/>
              </a:lnSpc>
              <a:spcBef>
                <a:spcPts val="1000"/>
              </a:spcBef>
              <a:spcAft>
                <a:spcPts val="0"/>
              </a:spcAft>
              <a:buClr>
                <a:srgbClr val="000000"/>
              </a:buClr>
              <a:buSzPct val="100000"/>
              <a:buNone/>
            </a:pPr>
            <a:r>
              <a:rPr lang="en-US" sz="2200">
                <a:solidFill>
                  <a:srgbClr val="000000"/>
                </a:solidFill>
                <a:latin typeface="Calibri"/>
                <a:ea typeface="Calibri"/>
                <a:cs typeface="Calibri"/>
                <a:sym typeface="Calibri"/>
              </a:rPr>
              <a:t>It is a 2-D array of size n x m that specifies the number of resources of each type currently allocated to each process. </a:t>
            </a:r>
            <a:endParaRPr/>
          </a:p>
          <a:p>
            <a:pPr indent="0" lvl="0" marL="0" rtl="0" algn="just">
              <a:lnSpc>
                <a:spcPct val="150000"/>
              </a:lnSpc>
              <a:spcBef>
                <a:spcPts val="1000"/>
              </a:spcBef>
              <a:spcAft>
                <a:spcPts val="0"/>
              </a:spcAft>
              <a:buClr>
                <a:srgbClr val="000000"/>
              </a:buClr>
              <a:buSzPct val="100000"/>
              <a:buNone/>
            </a:pPr>
            <a:r>
              <a:rPr lang="en-US" sz="2200">
                <a:solidFill>
                  <a:srgbClr val="000000"/>
                </a:solidFill>
                <a:latin typeface="Calibri"/>
                <a:ea typeface="Calibri"/>
                <a:cs typeface="Calibri"/>
                <a:sym typeface="Calibri"/>
              </a:rPr>
              <a:t>If Allocation [I,j] = k, then process Pi is currently allocated ‘k’ instances of resource type Rj </a:t>
            </a:r>
            <a:endParaRPr sz="2200">
              <a:solidFill>
                <a:srgbClr val="000000"/>
              </a:solidFill>
              <a:latin typeface="Calibri"/>
              <a:ea typeface="Calibri"/>
              <a:cs typeface="Calibri"/>
              <a:sym typeface="Calibri"/>
            </a:endParaRPr>
          </a:p>
          <a:p>
            <a:pPr indent="0" lvl="0" marL="0" rtl="0" algn="just">
              <a:lnSpc>
                <a:spcPct val="150000"/>
              </a:lnSpc>
              <a:spcBef>
                <a:spcPts val="1000"/>
              </a:spcBef>
              <a:spcAft>
                <a:spcPts val="0"/>
              </a:spcAft>
              <a:buClr>
                <a:srgbClr val="000000"/>
              </a:buClr>
              <a:buSzPct val="100000"/>
              <a:buNone/>
            </a:pPr>
            <a:r>
              <a:rPr b="1" lang="en-US" sz="2200">
                <a:solidFill>
                  <a:srgbClr val="000000"/>
                </a:solidFill>
                <a:latin typeface="Calibri"/>
                <a:ea typeface="Calibri"/>
                <a:cs typeface="Calibri"/>
                <a:sym typeface="Calibri"/>
              </a:rPr>
              <a:t>Need</a:t>
            </a:r>
            <a:r>
              <a:rPr lang="en-US" sz="2200">
                <a:solidFill>
                  <a:srgbClr val="000000"/>
                </a:solidFill>
                <a:latin typeface="Calibri"/>
                <a:ea typeface="Calibri"/>
                <a:cs typeface="Calibri"/>
                <a:sym typeface="Calibri"/>
              </a:rPr>
              <a:t> </a:t>
            </a:r>
            <a:endParaRPr/>
          </a:p>
          <a:p>
            <a:pPr indent="0" lvl="0" marL="0" rtl="0" algn="just">
              <a:lnSpc>
                <a:spcPct val="150000"/>
              </a:lnSpc>
              <a:spcBef>
                <a:spcPts val="1015"/>
              </a:spcBef>
              <a:spcAft>
                <a:spcPts val="0"/>
              </a:spcAft>
              <a:buClr>
                <a:srgbClr val="000000"/>
              </a:buClr>
              <a:buSzPct val="100000"/>
              <a:buNone/>
            </a:pPr>
            <a:r>
              <a:rPr lang="en-US" sz="2200">
                <a:solidFill>
                  <a:srgbClr val="000000"/>
                </a:solidFill>
                <a:latin typeface="Calibri"/>
                <a:ea typeface="Calibri"/>
                <a:cs typeface="Calibri"/>
                <a:sym typeface="Calibri"/>
              </a:rPr>
              <a:t>It is a 2-D array of size n x m that indicates the remaining resource needs of each process. </a:t>
            </a:r>
            <a:endParaRPr/>
          </a:p>
          <a:p>
            <a:pPr indent="0" lvl="0" marL="0" rtl="0" algn="just">
              <a:lnSpc>
                <a:spcPct val="150000"/>
              </a:lnSpc>
              <a:spcBef>
                <a:spcPts val="1015"/>
              </a:spcBef>
              <a:spcAft>
                <a:spcPts val="0"/>
              </a:spcAft>
              <a:buClr>
                <a:srgbClr val="000000"/>
              </a:buClr>
              <a:buSzPct val="100000"/>
              <a:buNone/>
            </a:pPr>
            <a:r>
              <a:rPr lang="en-US" sz="2200">
                <a:solidFill>
                  <a:srgbClr val="000000"/>
                </a:solidFill>
                <a:latin typeface="Calibri"/>
                <a:ea typeface="Calibri"/>
                <a:cs typeface="Calibri"/>
                <a:sym typeface="Calibri"/>
              </a:rPr>
              <a:t>If Need[I,j] = k  means process Pi currently need ‘k’ instances of resource type Rj for its execution </a:t>
            </a:r>
            <a:endParaRPr/>
          </a:p>
          <a:p>
            <a:pPr indent="0" lvl="0" marL="0" rtl="0" algn="just">
              <a:lnSpc>
                <a:spcPct val="150000"/>
              </a:lnSpc>
              <a:spcBef>
                <a:spcPts val="1015"/>
              </a:spcBef>
              <a:spcAft>
                <a:spcPts val="0"/>
              </a:spcAft>
              <a:buClr>
                <a:srgbClr val="000000"/>
              </a:buClr>
              <a:buSzPct val="100000"/>
              <a:buNone/>
            </a:pPr>
            <a:r>
              <a:rPr lang="en-US" sz="2200">
                <a:solidFill>
                  <a:srgbClr val="000000"/>
                </a:solidFill>
                <a:latin typeface="Calibri"/>
                <a:ea typeface="Calibri"/>
                <a:cs typeface="Calibri"/>
                <a:sym typeface="Calibri"/>
              </a:rPr>
              <a:t>Need[I,j] = Max[I,j] - Allocation[I,j].</a:t>
            </a:r>
            <a:endParaRPr sz="2200">
              <a:solidFill>
                <a:srgbClr val="000000"/>
              </a:solidFill>
              <a:latin typeface="Calibri"/>
              <a:ea typeface="Calibri"/>
              <a:cs typeface="Calibri"/>
              <a:sym typeface="Calibri"/>
            </a:endParaRPr>
          </a:p>
          <a:p>
            <a:pPr indent="-111125" lvl="0" marL="228600" rtl="0" algn="l">
              <a:lnSpc>
                <a:spcPct val="90000"/>
              </a:lnSpc>
              <a:spcBef>
                <a:spcPts val="1015"/>
              </a:spcBef>
              <a:spcAft>
                <a:spcPts val="0"/>
              </a:spcAft>
              <a:buClr>
                <a:schemeClr val="dk1"/>
              </a:buClr>
              <a:buSzPct val="100000"/>
              <a:buNone/>
            </a:pPr>
            <a:r>
              <a:t/>
            </a:r>
            <a:endParaRPr sz="2000">
              <a:latin typeface="Calibri"/>
              <a:ea typeface="Calibri"/>
              <a:cs typeface="Calibri"/>
              <a:sym typeface="Calibri"/>
            </a:endParaRPr>
          </a:p>
        </p:txBody>
      </p:sp>
      <p:sp>
        <p:nvSpPr>
          <p:cNvPr id="313" name="Google Shape;313;p29"/>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0"/>
          <p:cNvSpPr txBox="1"/>
          <p:nvPr>
            <p:ph idx="1" type="body"/>
          </p:nvPr>
        </p:nvSpPr>
        <p:spPr>
          <a:xfrm>
            <a:off x="2569029" y="119742"/>
            <a:ext cx="9470571" cy="6651171"/>
          </a:xfrm>
          <a:prstGeom prst="rect">
            <a:avLst/>
          </a:prstGeom>
          <a:noFill/>
          <a:ln>
            <a:noFill/>
          </a:ln>
        </p:spPr>
        <p:txBody>
          <a:bodyPr anchorCtr="0" anchor="t" bIns="45700" lIns="91425" spcFirstLastPara="1" rIns="91425" wrap="square" tIns="45700">
            <a:normAutofit/>
          </a:bodyPr>
          <a:lstStyle/>
          <a:p>
            <a:pPr indent="0" lvl="0" marL="0" rtl="0" algn="just">
              <a:lnSpc>
                <a:spcPct val="107000"/>
              </a:lnSpc>
              <a:spcBef>
                <a:spcPts val="0"/>
              </a:spcBef>
              <a:spcAft>
                <a:spcPts val="0"/>
              </a:spcAft>
              <a:buClr>
                <a:srgbClr val="0000FF"/>
              </a:buClr>
              <a:buSzPts val="2400"/>
              <a:buNone/>
            </a:pPr>
            <a:r>
              <a:rPr lang="en-US" sz="2400">
                <a:solidFill>
                  <a:srgbClr val="0000FF"/>
                </a:solidFill>
                <a:latin typeface="Calibri"/>
                <a:ea typeface="Calibri"/>
                <a:cs typeface="Calibri"/>
                <a:sym typeface="Calibri"/>
              </a:rPr>
              <a:t>Safety Algorithm</a:t>
            </a:r>
            <a:endParaRPr sz="2400">
              <a:solidFill>
                <a:srgbClr val="0000FF"/>
              </a:solidFill>
              <a:latin typeface="Calibri"/>
              <a:ea typeface="Calibri"/>
              <a:cs typeface="Calibri"/>
              <a:sym typeface="Calibri"/>
            </a:endParaRPr>
          </a:p>
          <a:p>
            <a:pPr indent="0" lvl="0" marL="0" rtl="0" algn="just">
              <a:lnSpc>
                <a:spcPct val="150000"/>
              </a:lnSpc>
              <a:spcBef>
                <a:spcPts val="1800"/>
              </a:spcBef>
              <a:spcAft>
                <a:spcPts val="0"/>
              </a:spcAft>
              <a:buClr>
                <a:schemeClr val="dk1"/>
              </a:buClr>
              <a:buSzPts val="2400"/>
              <a:buNone/>
            </a:pPr>
            <a:r>
              <a:rPr lang="en-US" sz="2400">
                <a:latin typeface="Calibri"/>
                <a:ea typeface="Calibri"/>
                <a:cs typeface="Calibri"/>
                <a:sym typeface="Calibri"/>
              </a:rPr>
              <a:t>1. Let Work and Finish be vectors of length ‘m’ and ‘n’ respectively.</a:t>
            </a:r>
            <a:endParaRPr sz="2400">
              <a:latin typeface="Calibri"/>
              <a:ea typeface="Calibri"/>
              <a:cs typeface="Calibri"/>
              <a:sym typeface="Calibri"/>
            </a:endParaRPr>
          </a:p>
          <a:p>
            <a:pPr indent="0" lvl="0" marL="22860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 Initialize </a:t>
            </a:r>
            <a:endParaRPr/>
          </a:p>
          <a:p>
            <a:pPr indent="0" lvl="0" marL="22860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Work=Available   </a:t>
            </a:r>
            <a:endParaRPr sz="2400">
              <a:latin typeface="Calibri"/>
              <a:ea typeface="Calibri"/>
              <a:cs typeface="Calibri"/>
              <a:sym typeface="Calibri"/>
            </a:endParaRPr>
          </a:p>
          <a:p>
            <a:pPr indent="0" lvl="0" marL="22860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 Finish[i] = false for i=0, 1, 2, ……, n-1.</a:t>
            </a:r>
            <a:endParaRPr sz="24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400"/>
              <a:buNone/>
            </a:pPr>
            <a:r>
              <a:rPr b="1" lang="en-US" sz="2400">
                <a:latin typeface="Calibri"/>
                <a:ea typeface="Calibri"/>
                <a:cs typeface="Calibri"/>
                <a:sym typeface="Calibri"/>
              </a:rPr>
              <a:t>2. </a:t>
            </a:r>
            <a:r>
              <a:rPr lang="en-US" sz="2400">
                <a:latin typeface="Calibri"/>
                <a:ea typeface="Calibri"/>
                <a:cs typeface="Calibri"/>
                <a:sym typeface="Calibri"/>
              </a:rPr>
              <a:t> Find an index i such that both</a:t>
            </a:r>
            <a:endParaRPr sz="24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400"/>
              <a:buNone/>
            </a:pPr>
            <a:r>
              <a:rPr b="1" lang="en-US" sz="2400">
                <a:latin typeface="Calibri"/>
                <a:ea typeface="Calibri"/>
                <a:cs typeface="Calibri"/>
                <a:sym typeface="Calibri"/>
              </a:rPr>
              <a:t>a</a:t>
            </a:r>
            <a:r>
              <a:rPr lang="en-US" sz="2400">
                <a:latin typeface="Calibri"/>
                <a:ea typeface="Calibri"/>
                <a:cs typeface="Calibri"/>
                <a:sym typeface="Calibri"/>
              </a:rPr>
              <a:t>. Finish[i] == false</a:t>
            </a:r>
            <a:endParaRPr sz="24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400"/>
              <a:buNone/>
            </a:pPr>
            <a:r>
              <a:rPr b="1" lang="en-US" sz="2400">
                <a:latin typeface="Calibri"/>
                <a:ea typeface="Calibri"/>
                <a:cs typeface="Calibri"/>
                <a:sym typeface="Calibri"/>
              </a:rPr>
              <a:t>b</a:t>
            </a:r>
            <a:r>
              <a:rPr lang="en-US" sz="2400">
                <a:latin typeface="Calibri"/>
                <a:ea typeface="Calibri"/>
                <a:cs typeface="Calibri"/>
                <a:sym typeface="Calibri"/>
              </a:rPr>
              <a:t>. Need</a:t>
            </a:r>
            <a:r>
              <a:rPr baseline="-25000" lang="en-US" sz="2400">
                <a:latin typeface="Calibri"/>
                <a:ea typeface="Calibri"/>
                <a:cs typeface="Calibri"/>
                <a:sym typeface="Calibri"/>
              </a:rPr>
              <a:t>i</a:t>
            </a:r>
            <a:r>
              <a:rPr lang="en-US" sz="2400">
                <a:latin typeface="Calibri"/>
                <a:ea typeface="Calibri"/>
                <a:cs typeface="Calibri"/>
                <a:sym typeface="Calibri"/>
              </a:rPr>
              <a:t> ≤ Work</a:t>
            </a:r>
            <a:endParaRPr sz="24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400"/>
              <a:buNone/>
            </a:pPr>
            <a:r>
              <a:rPr lang="en-US" sz="2400">
                <a:latin typeface="Calibri"/>
                <a:ea typeface="Calibri"/>
                <a:cs typeface="Calibri"/>
                <a:sym typeface="Calibri"/>
              </a:rPr>
              <a:t>if no such i exists, go to step 4</a:t>
            </a:r>
            <a:endParaRPr sz="2400">
              <a:latin typeface="Calibri"/>
              <a:ea typeface="Calibri"/>
              <a:cs typeface="Calibri"/>
              <a:sym typeface="Calibri"/>
            </a:endParaRPr>
          </a:p>
          <a:p>
            <a:pPr indent="0" lvl="0" marL="0" rtl="0" algn="l">
              <a:lnSpc>
                <a:spcPct val="90000"/>
              </a:lnSpc>
              <a:spcBef>
                <a:spcPts val="1800"/>
              </a:spcBef>
              <a:spcAft>
                <a:spcPts val="0"/>
              </a:spcAft>
              <a:buClr>
                <a:schemeClr val="dk1"/>
              </a:buClr>
              <a:buSzPts val="2000"/>
              <a:buNone/>
            </a:pPr>
            <a:r>
              <a:t/>
            </a:r>
            <a:endParaRPr sz="2000">
              <a:latin typeface="Calibri"/>
              <a:ea typeface="Calibri"/>
              <a:cs typeface="Calibri"/>
              <a:sym typeface="Calibri"/>
            </a:endParaRPr>
          </a:p>
        </p:txBody>
      </p:sp>
      <p:sp>
        <p:nvSpPr>
          <p:cNvPr id="319" name="Google Shape;319;p30"/>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
        <p:nvSpPr>
          <p:cNvPr id="320" name="Google Shape;320;p30"/>
          <p:cNvSpPr txBox="1"/>
          <p:nvPr/>
        </p:nvSpPr>
        <p:spPr>
          <a:xfrm>
            <a:off x="7673689" y="3022741"/>
            <a:ext cx="4518311" cy="3919598"/>
          </a:xfrm>
          <a:prstGeom prst="rect">
            <a:avLst/>
          </a:prstGeom>
          <a:noFill/>
          <a:ln>
            <a:noFill/>
          </a:ln>
        </p:spPr>
        <p:txBody>
          <a:bodyPr anchorCtr="0" anchor="t" bIns="45700" lIns="91425" spcFirstLastPara="1" rIns="91425" wrap="square" tIns="45700">
            <a:normAutofit/>
          </a:bodyPr>
          <a:lstStyle/>
          <a:p>
            <a:pPr indent="0" lvl="0" marL="0" marR="0" rtl="0" algn="just">
              <a:lnSpc>
                <a:spcPct val="150000"/>
              </a:lnSpc>
              <a:spcBef>
                <a:spcPts val="0"/>
              </a:spcBef>
              <a:spcAft>
                <a:spcPts val="0"/>
              </a:spcAft>
              <a:buClr>
                <a:schemeClr val="dk1"/>
              </a:buClr>
              <a:buSzPts val="2400"/>
              <a:buFont typeface="Arial"/>
              <a:buNone/>
            </a:pPr>
            <a:r>
              <a:rPr b="1" lang="en-US" sz="2400">
                <a:solidFill>
                  <a:schemeClr val="dk1"/>
                </a:solidFill>
                <a:latin typeface="Calibri"/>
                <a:ea typeface="Calibri"/>
                <a:cs typeface="Calibri"/>
                <a:sym typeface="Calibri"/>
              </a:rPr>
              <a:t>3</a:t>
            </a:r>
            <a:r>
              <a:rPr lang="en-US" sz="2400">
                <a:solidFill>
                  <a:schemeClr val="dk1"/>
                </a:solidFill>
                <a:latin typeface="Calibri"/>
                <a:ea typeface="Calibri"/>
                <a:cs typeface="Calibri"/>
                <a:sym typeface="Calibri"/>
              </a:rPr>
              <a:t>. Work = Work +Allocation[i]</a:t>
            </a:r>
            <a:endParaRPr sz="2400">
              <a:solidFill>
                <a:schemeClr val="dk1"/>
              </a:solidFill>
              <a:latin typeface="Calibri"/>
              <a:ea typeface="Calibri"/>
              <a:cs typeface="Calibri"/>
              <a:sym typeface="Calibri"/>
            </a:endParaRPr>
          </a:p>
          <a:p>
            <a:pPr indent="0" lvl="0" marL="0" marR="0" rtl="0" algn="just">
              <a:lnSpc>
                <a:spcPct val="150000"/>
              </a:lnSpc>
              <a:spcBef>
                <a:spcPts val="18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Finish[i] = true</a:t>
            </a:r>
            <a:endParaRPr sz="2400">
              <a:solidFill>
                <a:schemeClr val="dk1"/>
              </a:solidFill>
              <a:latin typeface="Calibri"/>
              <a:ea typeface="Calibri"/>
              <a:cs typeface="Calibri"/>
              <a:sym typeface="Calibri"/>
            </a:endParaRPr>
          </a:p>
          <a:p>
            <a:pPr indent="0" lvl="0" marL="0" marR="0" rtl="0" algn="just">
              <a:lnSpc>
                <a:spcPct val="150000"/>
              </a:lnSpc>
              <a:spcBef>
                <a:spcPts val="1800"/>
              </a:spcBef>
              <a:spcAft>
                <a:spcPts val="0"/>
              </a:spcAft>
              <a:buClr>
                <a:schemeClr val="dk1"/>
              </a:buClr>
              <a:buSzPts val="2400"/>
              <a:buFont typeface="Arial"/>
              <a:buNone/>
            </a:pPr>
            <a:r>
              <a:rPr lang="en-US" sz="2400">
                <a:solidFill>
                  <a:schemeClr val="dk1"/>
                </a:solidFill>
                <a:latin typeface="Calibri"/>
                <a:ea typeface="Calibri"/>
                <a:cs typeface="Calibri"/>
                <a:sym typeface="Calibri"/>
              </a:rPr>
              <a:t>    Go to step 2.</a:t>
            </a:r>
            <a:endParaRPr sz="2400">
              <a:solidFill>
                <a:schemeClr val="dk1"/>
              </a:solidFill>
              <a:latin typeface="Calibri"/>
              <a:ea typeface="Calibri"/>
              <a:cs typeface="Calibri"/>
              <a:sym typeface="Calibri"/>
            </a:endParaRPr>
          </a:p>
          <a:p>
            <a:pPr indent="0" lvl="0" marL="0" marR="0" rtl="0" algn="just">
              <a:lnSpc>
                <a:spcPct val="150000"/>
              </a:lnSpc>
              <a:spcBef>
                <a:spcPts val="1800"/>
              </a:spcBef>
              <a:spcAft>
                <a:spcPts val="0"/>
              </a:spcAft>
              <a:buClr>
                <a:schemeClr val="dk1"/>
              </a:buClr>
              <a:buSzPts val="2400"/>
              <a:buFont typeface="Arial"/>
              <a:buNone/>
            </a:pPr>
            <a:r>
              <a:rPr b="1" lang="en-US" sz="2400">
                <a:solidFill>
                  <a:schemeClr val="dk1"/>
                </a:solidFill>
                <a:latin typeface="Calibri"/>
                <a:ea typeface="Calibri"/>
                <a:cs typeface="Calibri"/>
                <a:sym typeface="Calibri"/>
              </a:rPr>
              <a:t>4</a:t>
            </a:r>
            <a:r>
              <a:rPr lang="en-US" sz="2400">
                <a:solidFill>
                  <a:schemeClr val="dk1"/>
                </a:solidFill>
                <a:latin typeface="Calibri"/>
                <a:ea typeface="Calibri"/>
                <a:cs typeface="Calibri"/>
                <a:sym typeface="Calibri"/>
              </a:rPr>
              <a:t>. If Finish[i] == true for all i, </a:t>
            </a:r>
            <a:endParaRPr sz="2400">
              <a:solidFill>
                <a:schemeClr val="dk1"/>
              </a:solidFill>
              <a:latin typeface="Calibri"/>
              <a:ea typeface="Calibri"/>
              <a:cs typeface="Calibri"/>
              <a:sym typeface="Calibri"/>
            </a:endParaRPr>
          </a:p>
          <a:p>
            <a:pPr indent="0" lvl="0" marL="0" marR="0" rtl="0" algn="just">
              <a:lnSpc>
                <a:spcPct val="150000"/>
              </a:lnSpc>
              <a:spcBef>
                <a:spcPts val="1800"/>
              </a:spcBef>
              <a:spcAft>
                <a:spcPts val="0"/>
              </a:spcAft>
              <a:buClr>
                <a:schemeClr val="dk1"/>
              </a:buClr>
              <a:buSzPts val="2400"/>
              <a:buFont typeface="Arial"/>
              <a:buNone/>
            </a:pPr>
            <a:r>
              <a:rPr lang="en-US" sz="2400">
                <a:solidFill>
                  <a:schemeClr val="dk1"/>
                </a:solidFill>
                <a:latin typeface="Calibri"/>
                <a:ea typeface="Calibri"/>
                <a:cs typeface="Calibri"/>
                <a:sym typeface="Calibri"/>
              </a:rPr>
              <a:t>then the system is in a safe state.</a:t>
            </a:r>
            <a:endParaRPr sz="2400">
              <a:solidFill>
                <a:schemeClr val="dk1"/>
              </a:solidFill>
              <a:latin typeface="Calibri"/>
              <a:ea typeface="Calibri"/>
              <a:cs typeface="Calibri"/>
              <a:sym typeface="Calibri"/>
            </a:endParaRPr>
          </a:p>
          <a:p>
            <a:pPr indent="0" lvl="0" marL="0" marR="0" rtl="0" algn="l">
              <a:lnSpc>
                <a:spcPct val="90000"/>
              </a:lnSpc>
              <a:spcBef>
                <a:spcPts val="18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1"/>
          <p:cNvSpPr txBox="1"/>
          <p:nvPr>
            <p:ph idx="1" type="body"/>
          </p:nvPr>
        </p:nvSpPr>
        <p:spPr>
          <a:xfrm>
            <a:off x="2428994" y="103414"/>
            <a:ext cx="4175992" cy="665117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170000"/>
              </a:lnSpc>
              <a:spcBef>
                <a:spcPts val="0"/>
              </a:spcBef>
              <a:spcAft>
                <a:spcPts val="0"/>
              </a:spcAft>
              <a:buClr>
                <a:srgbClr val="0000FF"/>
              </a:buClr>
              <a:buSzPct val="100000"/>
              <a:buNone/>
            </a:pPr>
            <a:r>
              <a:rPr lang="en-US" sz="2400">
                <a:solidFill>
                  <a:srgbClr val="0000FF"/>
                </a:solidFill>
                <a:latin typeface="Calibri"/>
                <a:ea typeface="Calibri"/>
                <a:cs typeface="Calibri"/>
                <a:sym typeface="Calibri"/>
              </a:rPr>
              <a:t>Resource- Request Algorithm</a:t>
            </a:r>
            <a:endParaRPr sz="2400">
              <a:solidFill>
                <a:srgbClr val="0000FF"/>
              </a:solidFill>
              <a:latin typeface="Calibri"/>
              <a:ea typeface="Calibri"/>
              <a:cs typeface="Calibri"/>
              <a:sym typeface="Calibri"/>
            </a:endParaRPr>
          </a:p>
          <a:p>
            <a:pPr indent="0" lvl="0" marL="0" rtl="0" algn="just">
              <a:lnSpc>
                <a:spcPct val="170000"/>
              </a:lnSpc>
              <a:spcBef>
                <a:spcPts val="1800"/>
              </a:spcBef>
              <a:spcAft>
                <a:spcPts val="0"/>
              </a:spcAft>
              <a:buClr>
                <a:schemeClr val="dk1"/>
              </a:buClr>
              <a:buSzPct val="100000"/>
              <a:buNone/>
            </a:pPr>
            <a:r>
              <a:rPr lang="en-US" sz="2400">
                <a:latin typeface="Calibri"/>
                <a:ea typeface="Calibri"/>
                <a:cs typeface="Calibri"/>
                <a:sym typeface="Calibri"/>
              </a:rPr>
              <a:t>1. If Request</a:t>
            </a:r>
            <a:r>
              <a:rPr baseline="-25000" lang="en-US" sz="2400">
                <a:latin typeface="Calibri"/>
                <a:ea typeface="Calibri"/>
                <a:cs typeface="Calibri"/>
                <a:sym typeface="Calibri"/>
              </a:rPr>
              <a:t>i</a:t>
            </a:r>
            <a:r>
              <a:rPr lang="en-US" sz="2400">
                <a:latin typeface="Calibri"/>
                <a:ea typeface="Calibri"/>
                <a:cs typeface="Calibri"/>
                <a:sym typeface="Calibri"/>
              </a:rPr>
              <a:t> ≤ Need</a:t>
            </a:r>
            <a:r>
              <a:rPr baseline="-25000" lang="en-US" sz="2400">
                <a:latin typeface="Calibri"/>
                <a:ea typeface="Calibri"/>
                <a:cs typeface="Calibri"/>
                <a:sym typeface="Calibri"/>
              </a:rPr>
              <a:t>i</a:t>
            </a:r>
            <a:r>
              <a:rPr lang="en-US" sz="2400">
                <a:latin typeface="Calibri"/>
                <a:ea typeface="Calibri"/>
                <a:cs typeface="Calibri"/>
                <a:sym typeface="Calibri"/>
              </a:rPr>
              <a:t> </a:t>
            </a:r>
            <a:endParaRPr sz="2400">
              <a:latin typeface="Calibri"/>
              <a:ea typeface="Calibri"/>
              <a:cs typeface="Calibri"/>
              <a:sym typeface="Calibri"/>
            </a:endParaRPr>
          </a:p>
          <a:p>
            <a:pPr indent="0" lvl="0" marL="228600" rtl="0" algn="just">
              <a:lnSpc>
                <a:spcPct val="170000"/>
              </a:lnSpc>
              <a:spcBef>
                <a:spcPts val="1000"/>
              </a:spcBef>
              <a:spcAft>
                <a:spcPts val="0"/>
              </a:spcAft>
              <a:buClr>
                <a:schemeClr val="dk1"/>
              </a:buClr>
              <a:buSzPct val="100000"/>
              <a:buNone/>
            </a:pPr>
            <a:r>
              <a:rPr lang="en-US" sz="2400">
                <a:latin typeface="Calibri"/>
                <a:ea typeface="Calibri"/>
                <a:cs typeface="Calibri"/>
                <a:sym typeface="Calibri"/>
              </a:rPr>
              <a:t>go to step 2. </a:t>
            </a:r>
            <a:endParaRPr sz="2400">
              <a:latin typeface="Calibri"/>
              <a:ea typeface="Calibri"/>
              <a:cs typeface="Calibri"/>
              <a:sym typeface="Calibri"/>
            </a:endParaRPr>
          </a:p>
          <a:p>
            <a:pPr indent="0" lvl="0" marL="228600" rtl="0" algn="just">
              <a:lnSpc>
                <a:spcPct val="170000"/>
              </a:lnSpc>
              <a:spcBef>
                <a:spcPts val="1000"/>
              </a:spcBef>
              <a:spcAft>
                <a:spcPts val="0"/>
              </a:spcAft>
              <a:buClr>
                <a:schemeClr val="dk1"/>
              </a:buClr>
              <a:buSzPct val="100000"/>
              <a:buNone/>
            </a:pPr>
            <a:r>
              <a:rPr lang="en-US" sz="2400">
                <a:latin typeface="Calibri"/>
                <a:ea typeface="Calibri"/>
                <a:cs typeface="Calibri"/>
                <a:sym typeface="Calibri"/>
              </a:rPr>
              <a:t>Otherwise, raise an error condition, since the process has exceeded its maximum claim.</a:t>
            </a:r>
            <a:endParaRPr sz="2400">
              <a:latin typeface="Calibri"/>
              <a:ea typeface="Calibri"/>
              <a:cs typeface="Calibri"/>
              <a:sym typeface="Calibri"/>
            </a:endParaRPr>
          </a:p>
          <a:p>
            <a:pPr indent="0" lvl="0" marL="0" rtl="0" algn="just">
              <a:lnSpc>
                <a:spcPct val="170000"/>
              </a:lnSpc>
              <a:spcBef>
                <a:spcPts val="1000"/>
              </a:spcBef>
              <a:spcAft>
                <a:spcPts val="0"/>
              </a:spcAft>
              <a:buClr>
                <a:schemeClr val="dk1"/>
              </a:buClr>
              <a:buSzPct val="100000"/>
              <a:buNone/>
            </a:pPr>
            <a:r>
              <a:rPr lang="en-US" sz="2400">
                <a:latin typeface="Calibri"/>
                <a:ea typeface="Calibri"/>
                <a:cs typeface="Calibri"/>
                <a:sym typeface="Calibri"/>
              </a:rPr>
              <a:t>2. If Request</a:t>
            </a:r>
            <a:r>
              <a:rPr baseline="-25000" lang="en-US" sz="2400">
                <a:latin typeface="Calibri"/>
                <a:ea typeface="Calibri"/>
                <a:cs typeface="Calibri"/>
                <a:sym typeface="Calibri"/>
              </a:rPr>
              <a:t>i</a:t>
            </a:r>
            <a:r>
              <a:rPr lang="en-US" sz="2400">
                <a:latin typeface="Calibri"/>
                <a:ea typeface="Calibri"/>
                <a:cs typeface="Calibri"/>
                <a:sym typeface="Calibri"/>
              </a:rPr>
              <a:t> ≤ Available, </a:t>
            </a:r>
            <a:endParaRPr sz="2400">
              <a:latin typeface="Calibri"/>
              <a:ea typeface="Calibri"/>
              <a:cs typeface="Calibri"/>
              <a:sym typeface="Calibri"/>
            </a:endParaRPr>
          </a:p>
          <a:p>
            <a:pPr indent="0" lvl="0" marL="228600" rtl="0" algn="just">
              <a:lnSpc>
                <a:spcPct val="170000"/>
              </a:lnSpc>
              <a:spcBef>
                <a:spcPts val="1000"/>
              </a:spcBef>
              <a:spcAft>
                <a:spcPts val="0"/>
              </a:spcAft>
              <a:buClr>
                <a:schemeClr val="dk1"/>
              </a:buClr>
              <a:buSzPct val="100000"/>
              <a:buNone/>
            </a:pPr>
            <a:r>
              <a:rPr lang="en-US" sz="2400">
                <a:latin typeface="Calibri"/>
                <a:ea typeface="Calibri"/>
                <a:cs typeface="Calibri"/>
                <a:sym typeface="Calibri"/>
              </a:rPr>
              <a:t>go to step 3. </a:t>
            </a:r>
            <a:endParaRPr sz="2400">
              <a:latin typeface="Calibri"/>
              <a:ea typeface="Calibri"/>
              <a:cs typeface="Calibri"/>
              <a:sym typeface="Calibri"/>
            </a:endParaRPr>
          </a:p>
          <a:p>
            <a:pPr indent="0" lvl="0" marL="228600" rtl="0" algn="just">
              <a:lnSpc>
                <a:spcPct val="170000"/>
              </a:lnSpc>
              <a:spcBef>
                <a:spcPts val="1000"/>
              </a:spcBef>
              <a:spcAft>
                <a:spcPts val="0"/>
              </a:spcAft>
              <a:buClr>
                <a:schemeClr val="dk1"/>
              </a:buClr>
              <a:buSzPct val="100000"/>
              <a:buNone/>
            </a:pPr>
            <a:r>
              <a:rPr lang="en-US" sz="2400">
                <a:latin typeface="Calibri"/>
                <a:ea typeface="Calibri"/>
                <a:cs typeface="Calibri"/>
                <a:sym typeface="Calibri"/>
              </a:rPr>
              <a:t>Otherwise, Pi must wait, since the resources are not available.</a:t>
            </a:r>
            <a:endParaRPr sz="2400">
              <a:latin typeface="Calibri"/>
              <a:ea typeface="Calibri"/>
              <a:cs typeface="Calibri"/>
              <a:sym typeface="Calibri"/>
            </a:endParaRPr>
          </a:p>
          <a:p>
            <a:pPr indent="-111125" lvl="0" marL="228600" rtl="0" algn="l">
              <a:lnSpc>
                <a:spcPct val="90000"/>
              </a:lnSpc>
              <a:spcBef>
                <a:spcPts val="1000"/>
              </a:spcBef>
              <a:spcAft>
                <a:spcPts val="0"/>
              </a:spcAft>
              <a:buClr>
                <a:schemeClr val="dk1"/>
              </a:buClr>
              <a:buSzPct val="100000"/>
              <a:buNone/>
            </a:pPr>
            <a:r>
              <a:t/>
            </a:r>
            <a:endParaRPr sz="2000">
              <a:latin typeface="Calibri"/>
              <a:ea typeface="Calibri"/>
              <a:cs typeface="Calibri"/>
              <a:sym typeface="Calibri"/>
            </a:endParaRPr>
          </a:p>
        </p:txBody>
      </p:sp>
      <p:sp>
        <p:nvSpPr>
          <p:cNvPr id="326" name="Google Shape;326;p31"/>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
        <p:nvSpPr>
          <p:cNvPr id="327" name="Google Shape;327;p31"/>
          <p:cNvSpPr txBox="1"/>
          <p:nvPr/>
        </p:nvSpPr>
        <p:spPr>
          <a:xfrm>
            <a:off x="6968971" y="772869"/>
            <a:ext cx="5072109" cy="4359527"/>
          </a:xfrm>
          <a:prstGeom prst="rect">
            <a:avLst/>
          </a:prstGeom>
          <a:noFill/>
          <a:ln>
            <a:noFill/>
          </a:ln>
        </p:spPr>
        <p:txBody>
          <a:bodyPr anchorCtr="0" anchor="t" bIns="45700" lIns="91425" spcFirstLastPara="1" rIns="91425" wrap="square" tIns="45700">
            <a:spAutoFit/>
          </a:bodyPr>
          <a:lstStyle/>
          <a:p>
            <a:pPr indent="0" lvl="0" marL="0" marR="0" rtl="0" algn="just">
              <a:lnSpc>
                <a:spcPct val="170000"/>
              </a:lnSpc>
              <a:spcBef>
                <a:spcPts val="0"/>
              </a:spcBef>
              <a:spcAft>
                <a:spcPts val="0"/>
              </a:spcAft>
              <a:buClr>
                <a:schemeClr val="dk1"/>
              </a:buClr>
              <a:buSzPts val="2000"/>
              <a:buFont typeface="Calibri"/>
              <a:buNone/>
            </a:pPr>
            <a:r>
              <a:rPr lang="en-US" sz="2000">
                <a:solidFill>
                  <a:schemeClr val="dk1"/>
                </a:solidFill>
                <a:latin typeface="Calibri"/>
                <a:ea typeface="Calibri"/>
                <a:cs typeface="Calibri"/>
                <a:sym typeface="Calibri"/>
              </a:rPr>
              <a:t>3</a:t>
            </a:r>
            <a:r>
              <a:rPr lang="en-US" sz="1800">
                <a:solidFill>
                  <a:schemeClr val="dk1"/>
                </a:solidFill>
                <a:latin typeface="Calibri"/>
                <a:ea typeface="Calibri"/>
                <a:cs typeface="Calibri"/>
                <a:sym typeface="Calibri"/>
              </a:rPr>
              <a:t>. </a:t>
            </a:r>
            <a:r>
              <a:rPr lang="en-US" sz="2200">
                <a:solidFill>
                  <a:schemeClr val="dk1"/>
                </a:solidFill>
                <a:latin typeface="Calibri"/>
                <a:ea typeface="Calibri"/>
                <a:cs typeface="Calibri"/>
                <a:sym typeface="Calibri"/>
              </a:rPr>
              <a:t>Have the system pretend to have allocated the requested resources to process Pi by modifying the state as follows:</a:t>
            </a:r>
            <a:endParaRPr/>
          </a:p>
          <a:p>
            <a:pPr indent="0" lvl="0" marL="0" marR="0" rtl="0" algn="just">
              <a:lnSpc>
                <a:spcPct val="170000"/>
              </a:lnSpc>
              <a:spcBef>
                <a:spcPts val="800"/>
              </a:spcBef>
              <a:spcAft>
                <a:spcPts val="0"/>
              </a:spcAft>
              <a:buClr>
                <a:schemeClr val="dk1"/>
              </a:buClr>
              <a:buSzPts val="2200"/>
              <a:buFont typeface="Calibri"/>
              <a:buNone/>
            </a:pPr>
            <a:r>
              <a:rPr lang="en-US" sz="2200">
                <a:solidFill>
                  <a:schemeClr val="dk1"/>
                </a:solidFill>
                <a:latin typeface="Calibri"/>
                <a:ea typeface="Calibri"/>
                <a:cs typeface="Calibri"/>
                <a:sym typeface="Calibri"/>
              </a:rPr>
              <a:t>            Available= Available- Requesti</a:t>
            </a:r>
            <a:endParaRPr sz="2200">
              <a:solidFill>
                <a:schemeClr val="dk1"/>
              </a:solidFill>
              <a:latin typeface="Calibri"/>
              <a:ea typeface="Calibri"/>
              <a:cs typeface="Calibri"/>
              <a:sym typeface="Calibri"/>
            </a:endParaRPr>
          </a:p>
          <a:p>
            <a:pPr indent="0" lvl="0" marL="0" marR="0" rtl="0" algn="just">
              <a:lnSpc>
                <a:spcPct val="170000"/>
              </a:lnSpc>
              <a:spcBef>
                <a:spcPts val="800"/>
              </a:spcBef>
              <a:spcAft>
                <a:spcPts val="0"/>
              </a:spcAft>
              <a:buClr>
                <a:schemeClr val="dk1"/>
              </a:buClr>
              <a:buSzPts val="2200"/>
              <a:buFont typeface="Calibri"/>
              <a:buNone/>
            </a:pPr>
            <a:r>
              <a:rPr lang="en-US" sz="2200">
                <a:solidFill>
                  <a:schemeClr val="dk1"/>
                </a:solidFill>
                <a:latin typeface="Calibri"/>
                <a:ea typeface="Calibri"/>
                <a:cs typeface="Calibri"/>
                <a:sym typeface="Calibri"/>
              </a:rPr>
              <a:t>            Allocation(i) =Allocationi + Requesti</a:t>
            </a:r>
            <a:endParaRPr sz="2200">
              <a:solidFill>
                <a:schemeClr val="dk1"/>
              </a:solidFill>
              <a:latin typeface="Calibri"/>
              <a:ea typeface="Calibri"/>
              <a:cs typeface="Calibri"/>
              <a:sym typeface="Calibri"/>
            </a:endParaRPr>
          </a:p>
          <a:p>
            <a:pPr indent="0" lvl="0" marL="0" marR="0" rtl="0" algn="just">
              <a:lnSpc>
                <a:spcPct val="170000"/>
              </a:lnSpc>
              <a:spcBef>
                <a:spcPts val="800"/>
              </a:spcBef>
              <a:spcAft>
                <a:spcPts val="0"/>
              </a:spcAft>
              <a:buClr>
                <a:schemeClr val="dk1"/>
              </a:buClr>
              <a:buSzPts val="2200"/>
              <a:buFont typeface="Calibri"/>
              <a:buNone/>
            </a:pPr>
            <a:r>
              <a:rPr lang="en-US" sz="2200">
                <a:solidFill>
                  <a:schemeClr val="dk1"/>
                </a:solidFill>
                <a:latin typeface="Calibri"/>
                <a:ea typeface="Calibri"/>
                <a:cs typeface="Calibri"/>
                <a:sym typeface="Calibri"/>
              </a:rPr>
              <a:t>            Needi = Needi – Requesti</a:t>
            </a:r>
            <a:endParaRPr sz="22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2"/>
          <p:cNvSpPr txBox="1"/>
          <p:nvPr>
            <p:ph idx="1" type="body"/>
          </p:nvPr>
        </p:nvSpPr>
        <p:spPr>
          <a:xfrm>
            <a:off x="2547257" y="97970"/>
            <a:ext cx="9503229" cy="667294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FF"/>
              </a:buClr>
              <a:buSzPts val="2000"/>
              <a:buNone/>
            </a:pPr>
            <a:r>
              <a:rPr b="1" lang="en-US" sz="2000">
                <a:solidFill>
                  <a:srgbClr val="0000FF"/>
                </a:solidFill>
                <a:latin typeface="Calibri"/>
                <a:ea typeface="Calibri"/>
                <a:cs typeface="Calibri"/>
                <a:sym typeface="Calibri"/>
              </a:rPr>
              <a:t>Example of safety Algorithm in Banker’s Algorithm</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consider a system with five processes P</a:t>
            </a:r>
            <a:r>
              <a:rPr baseline="-25000" lang="en-US" sz="2000">
                <a:latin typeface="Calibri"/>
                <a:ea typeface="Calibri"/>
                <a:cs typeface="Calibri"/>
                <a:sym typeface="Calibri"/>
              </a:rPr>
              <a:t>0</a:t>
            </a:r>
            <a:r>
              <a:rPr lang="en-US" sz="2000">
                <a:latin typeface="Calibri"/>
                <a:ea typeface="Calibri"/>
                <a:cs typeface="Calibri"/>
                <a:sym typeface="Calibri"/>
              </a:rPr>
              <a:t> through P</a:t>
            </a:r>
            <a:r>
              <a:rPr baseline="-25000" lang="en-US" sz="2000">
                <a:latin typeface="Calibri"/>
                <a:ea typeface="Calibri"/>
                <a:cs typeface="Calibri"/>
                <a:sym typeface="Calibri"/>
              </a:rPr>
              <a:t>4</a:t>
            </a:r>
            <a:r>
              <a:rPr lang="en-US" sz="2000">
                <a:latin typeface="Calibri"/>
                <a:ea typeface="Calibri"/>
                <a:cs typeface="Calibri"/>
                <a:sym typeface="Calibri"/>
              </a:rPr>
              <a:t> and three resource types A, B, and C. Resource type A has 10 instances (as shown in figure 3.9) , resource type B has 5 instances, and resource type C has 7 instances.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Suppose that, at time T</a:t>
            </a:r>
            <a:r>
              <a:rPr baseline="-25000" lang="en-US" sz="2000">
                <a:latin typeface="Calibri"/>
                <a:ea typeface="Calibri"/>
                <a:cs typeface="Calibri"/>
                <a:sym typeface="Calibri"/>
              </a:rPr>
              <a:t>0</a:t>
            </a:r>
            <a:r>
              <a:rPr lang="en-US" sz="2000">
                <a:latin typeface="Calibri"/>
                <a:ea typeface="Calibri"/>
                <a:cs typeface="Calibri"/>
                <a:sym typeface="Calibri"/>
              </a:rPr>
              <a:t>, the following snapshot of the system has been taken:</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pic>
        <p:nvPicPr>
          <p:cNvPr id="333" name="Google Shape;333;p32"/>
          <p:cNvPicPr preferRelativeResize="0"/>
          <p:nvPr/>
        </p:nvPicPr>
        <p:blipFill rotWithShape="1">
          <a:blip r:embed="rId3">
            <a:alphaModFix/>
          </a:blip>
          <a:srcRect b="0" l="0" r="0" t="0"/>
          <a:stretch/>
        </p:blipFill>
        <p:spPr>
          <a:xfrm>
            <a:off x="7652657" y="2960913"/>
            <a:ext cx="4190999" cy="3559629"/>
          </a:xfrm>
          <a:prstGeom prst="rect">
            <a:avLst/>
          </a:prstGeom>
          <a:noFill/>
          <a:ln>
            <a:noFill/>
          </a:ln>
        </p:spPr>
      </p:pic>
      <p:sp>
        <p:nvSpPr>
          <p:cNvPr id="334" name="Google Shape;334;p32"/>
          <p:cNvSpPr txBox="1"/>
          <p:nvPr/>
        </p:nvSpPr>
        <p:spPr>
          <a:xfrm>
            <a:off x="2993575" y="6374368"/>
            <a:ext cx="61068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Snapshots of processes at time t</a:t>
            </a:r>
            <a:r>
              <a:rPr b="1" baseline="-25000" lang="en-US" sz="1800">
                <a:solidFill>
                  <a:schemeClr val="dk1"/>
                </a:solidFill>
                <a:latin typeface="Times New Roman"/>
                <a:ea typeface="Times New Roman"/>
                <a:cs typeface="Times New Roman"/>
                <a:sym typeface="Times New Roman"/>
              </a:rPr>
              <a:t>0</a:t>
            </a:r>
            <a:r>
              <a:rPr b="1" lang="en-US" sz="1800">
                <a:solidFill>
                  <a:schemeClr val="dk1"/>
                </a:solidFill>
                <a:latin typeface="Times New Roman"/>
                <a:ea typeface="Times New Roman"/>
                <a:cs typeface="Times New Roman"/>
                <a:sym typeface="Times New Roman"/>
              </a:rPr>
              <a:t>.</a:t>
            </a:r>
            <a:endParaRPr sz="1800">
              <a:solidFill>
                <a:schemeClr val="dk1"/>
              </a:solidFill>
              <a:latin typeface="Calibri"/>
              <a:ea typeface="Calibri"/>
              <a:cs typeface="Calibri"/>
              <a:sym typeface="Calibri"/>
            </a:endParaRPr>
          </a:p>
        </p:txBody>
      </p:sp>
      <p:sp>
        <p:nvSpPr>
          <p:cNvPr id="335" name="Google Shape;335;p32"/>
          <p:cNvSpPr txBox="1"/>
          <p:nvPr/>
        </p:nvSpPr>
        <p:spPr>
          <a:xfrm>
            <a:off x="7522031" y="6374368"/>
            <a:ext cx="61068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Need matrix of different processes.</a:t>
            </a:r>
            <a:endParaRPr sz="1800">
              <a:solidFill>
                <a:schemeClr val="dk1"/>
              </a:solidFill>
              <a:latin typeface="Calibri"/>
              <a:ea typeface="Calibri"/>
              <a:cs typeface="Calibri"/>
              <a:sym typeface="Calibri"/>
            </a:endParaRPr>
          </a:p>
        </p:txBody>
      </p:sp>
      <p:sp>
        <p:nvSpPr>
          <p:cNvPr id="336" name="Google Shape;336;p32"/>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pic>
        <p:nvPicPr>
          <p:cNvPr descr="Banker's Algorithm in Operating System ..." id="337" name="Google Shape;337;p32"/>
          <p:cNvPicPr preferRelativeResize="0"/>
          <p:nvPr/>
        </p:nvPicPr>
        <p:blipFill rotWithShape="1">
          <a:blip r:embed="rId4">
            <a:alphaModFix/>
          </a:blip>
          <a:srcRect b="0" l="0" r="0" t="0"/>
          <a:stretch/>
        </p:blipFill>
        <p:spPr>
          <a:xfrm>
            <a:off x="2681056" y="2960913"/>
            <a:ext cx="4427554" cy="328582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33"/>
          <p:cNvPicPr preferRelativeResize="0"/>
          <p:nvPr>
            <p:ph idx="1" type="body"/>
          </p:nvPr>
        </p:nvPicPr>
        <p:blipFill rotWithShape="1">
          <a:blip r:embed="rId3">
            <a:alphaModFix/>
          </a:blip>
          <a:srcRect b="0" l="0" r="0" t="0"/>
          <a:stretch/>
        </p:blipFill>
        <p:spPr>
          <a:xfrm>
            <a:off x="2688771" y="206829"/>
            <a:ext cx="4985657" cy="3701142"/>
          </a:xfrm>
          <a:prstGeom prst="rect">
            <a:avLst/>
          </a:prstGeom>
          <a:noFill/>
          <a:ln>
            <a:noFill/>
          </a:ln>
        </p:spPr>
      </p:pic>
      <p:sp>
        <p:nvSpPr>
          <p:cNvPr id="343" name="Google Shape;343;p33"/>
          <p:cNvSpPr txBox="1"/>
          <p:nvPr/>
        </p:nvSpPr>
        <p:spPr>
          <a:xfrm>
            <a:off x="2073729" y="4585231"/>
            <a:ext cx="6106884" cy="463397"/>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1800">
                <a:solidFill>
                  <a:schemeClr val="dk1"/>
                </a:solidFill>
                <a:latin typeface="Times New Roman"/>
                <a:ea typeface="Times New Roman"/>
                <a:cs typeface="Times New Roman"/>
                <a:sym typeface="Times New Roman"/>
              </a:rPr>
              <a:t>New state after allocation.</a:t>
            </a:r>
            <a:endParaRPr sz="1600">
              <a:solidFill>
                <a:schemeClr val="dk1"/>
              </a:solidFill>
              <a:latin typeface="Calibri"/>
              <a:ea typeface="Calibri"/>
              <a:cs typeface="Calibri"/>
              <a:sym typeface="Calibri"/>
            </a:endParaRPr>
          </a:p>
        </p:txBody>
      </p:sp>
      <p:sp>
        <p:nvSpPr>
          <p:cNvPr id="344" name="Google Shape;344;p33"/>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4"/>
          <p:cNvSpPr txBox="1"/>
          <p:nvPr>
            <p:ph idx="1" type="body"/>
          </p:nvPr>
        </p:nvSpPr>
        <p:spPr>
          <a:xfrm>
            <a:off x="2547257" y="97970"/>
            <a:ext cx="9503229" cy="6672943"/>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Deadlock Detection</a:t>
            </a:r>
            <a:endParaRPr/>
          </a:p>
          <a:p>
            <a:pPr indent="0" lvl="0" marL="0" rtl="0" algn="ctr">
              <a:lnSpc>
                <a:spcPct val="150000"/>
              </a:lnSpc>
              <a:spcBef>
                <a:spcPts val="1800"/>
              </a:spcBef>
              <a:spcAft>
                <a:spcPts val="0"/>
              </a:spcAft>
              <a:buClr>
                <a:srgbClr val="FF0000"/>
              </a:buClr>
              <a:buSzPts val="2400"/>
              <a:buNone/>
            </a:pPr>
            <a:r>
              <a:rPr b="1" lang="en-US" sz="2400">
                <a:solidFill>
                  <a:srgbClr val="FF0000"/>
                </a:solidFill>
                <a:latin typeface="Calibri"/>
                <a:ea typeface="Calibri"/>
                <a:cs typeface="Calibri"/>
                <a:sym typeface="Calibri"/>
              </a:rPr>
              <a:t>Single Instance of Each Resource Type</a:t>
            </a:r>
            <a:endParaRPr b="1" sz="2400">
              <a:solidFill>
                <a:srgbClr val="FF0000"/>
              </a:solidFill>
              <a:latin typeface="Calibri"/>
              <a:ea typeface="Calibri"/>
              <a:cs typeface="Calibri"/>
              <a:sym typeface="Calibri"/>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In systems where each resources have only a single instance. We can use wait for graph which is an algorithm for deadlock detection and is a variant of the resource allocation graph which we have studied earlier.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We obtain this graph from the resource allocation graph by removing the resource nodes and collapsing the appropriate edges.</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In a Wait-For-Graph:</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An edge from P</a:t>
            </a:r>
            <a:r>
              <a:rPr baseline="-25000" lang="en-US" sz="2000">
                <a:latin typeface="Calibri"/>
                <a:ea typeface="Calibri"/>
                <a:cs typeface="Calibri"/>
                <a:sym typeface="Calibri"/>
              </a:rPr>
              <a:t>i </a:t>
            </a:r>
            <a:r>
              <a:rPr lang="en-US" sz="2000">
                <a:latin typeface="Calibri"/>
                <a:ea typeface="Calibri"/>
                <a:cs typeface="Calibri"/>
                <a:sym typeface="Calibri"/>
              </a:rPr>
              <a:t>and P</a:t>
            </a:r>
            <a:r>
              <a:rPr baseline="-25000" lang="en-US" sz="2000">
                <a:latin typeface="Calibri"/>
                <a:ea typeface="Calibri"/>
                <a:cs typeface="Calibri"/>
                <a:sym typeface="Calibri"/>
              </a:rPr>
              <a:t>j </a:t>
            </a:r>
            <a:r>
              <a:rPr lang="en-US" sz="2000">
                <a:latin typeface="Calibri"/>
                <a:ea typeface="Calibri"/>
                <a:cs typeface="Calibri"/>
                <a:sym typeface="Calibri"/>
              </a:rPr>
              <a:t>indicates that P</a:t>
            </a:r>
            <a:r>
              <a:rPr baseline="-25000" lang="en-US" sz="2000">
                <a:latin typeface="Calibri"/>
                <a:ea typeface="Calibri"/>
                <a:cs typeface="Calibri"/>
                <a:sym typeface="Calibri"/>
              </a:rPr>
              <a:t>i </a:t>
            </a:r>
            <a:r>
              <a:rPr lang="en-US" sz="2000">
                <a:latin typeface="Calibri"/>
                <a:ea typeface="Calibri"/>
                <a:cs typeface="Calibri"/>
                <a:sym typeface="Calibri"/>
              </a:rPr>
              <a:t>is waiting for P</a:t>
            </a:r>
            <a:r>
              <a:rPr baseline="-25000" lang="en-US" sz="2000">
                <a:latin typeface="Calibri"/>
                <a:ea typeface="Calibri"/>
                <a:cs typeface="Calibri"/>
                <a:sym typeface="Calibri"/>
              </a:rPr>
              <a:t>j </a:t>
            </a:r>
            <a:r>
              <a:rPr lang="en-US" sz="2000">
                <a:latin typeface="Calibri"/>
                <a:ea typeface="Calibri"/>
                <a:cs typeface="Calibri"/>
                <a:sym typeface="Calibri"/>
              </a:rPr>
              <a:t>to release a resource that is needed by P</a:t>
            </a:r>
            <a:r>
              <a:rPr baseline="-25000" lang="en-US" sz="2000">
                <a:latin typeface="Calibri"/>
                <a:ea typeface="Calibri"/>
                <a:cs typeface="Calibri"/>
                <a:sym typeface="Calibri"/>
              </a:rPr>
              <a:t>i</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In a Resource- Allocation Graph, the same would be denoted as P</a:t>
            </a:r>
            <a:r>
              <a:rPr baseline="-25000" lang="en-US" sz="2000">
                <a:latin typeface="Calibri"/>
                <a:ea typeface="Calibri"/>
                <a:cs typeface="Calibri"/>
                <a:sym typeface="Calibri"/>
              </a:rPr>
              <a:t>i </a:t>
            </a:r>
            <a:r>
              <a:rPr lang="en-US" sz="2000">
                <a:latin typeface="Calibri"/>
                <a:ea typeface="Calibri"/>
                <a:cs typeface="Calibri"/>
                <a:sym typeface="Calibri"/>
              </a:rPr>
              <a:t> </a:t>
            </a:r>
            <a:r>
              <a:rPr lang="en-US" sz="2000">
                <a:latin typeface="Play"/>
                <a:ea typeface="Play"/>
                <a:cs typeface="Play"/>
                <a:sym typeface="Play"/>
              </a:rPr>
              <a:t>→ </a:t>
            </a:r>
            <a:r>
              <a:rPr lang="en-US" sz="2000">
                <a:latin typeface="Calibri"/>
                <a:ea typeface="Calibri"/>
                <a:cs typeface="Calibri"/>
                <a:sym typeface="Calibri"/>
              </a:rPr>
              <a:t>R</a:t>
            </a:r>
            <a:r>
              <a:rPr baseline="-25000" lang="en-US" sz="2000">
                <a:latin typeface="Calibri"/>
                <a:ea typeface="Calibri"/>
                <a:cs typeface="Calibri"/>
                <a:sym typeface="Calibri"/>
              </a:rPr>
              <a:t>k</a:t>
            </a:r>
            <a:r>
              <a:rPr lang="en-US" sz="2000">
                <a:latin typeface="Calibri"/>
                <a:ea typeface="Calibri"/>
                <a:cs typeface="Calibri"/>
                <a:sym typeface="Calibri"/>
              </a:rPr>
              <a:t> and R</a:t>
            </a:r>
            <a:r>
              <a:rPr baseline="-25000" lang="en-US" sz="2000">
                <a:latin typeface="Calibri"/>
                <a:ea typeface="Calibri"/>
                <a:cs typeface="Calibri"/>
                <a:sym typeface="Calibri"/>
              </a:rPr>
              <a:t>k  </a:t>
            </a:r>
            <a:r>
              <a:rPr lang="en-US" sz="2000">
                <a:latin typeface="Play"/>
                <a:ea typeface="Play"/>
                <a:cs typeface="Play"/>
                <a:sym typeface="Play"/>
              </a:rPr>
              <a:t>→ </a:t>
            </a:r>
            <a:r>
              <a:rPr lang="en-US" sz="2000">
                <a:latin typeface="Calibri"/>
                <a:ea typeface="Calibri"/>
                <a:cs typeface="Calibri"/>
                <a:sym typeface="Calibri"/>
              </a:rPr>
              <a:t>P</a:t>
            </a:r>
            <a:r>
              <a:rPr baseline="-25000" lang="en-US" sz="2000">
                <a:latin typeface="Calibri"/>
                <a:ea typeface="Calibri"/>
                <a:cs typeface="Calibri"/>
                <a:sym typeface="Calibri"/>
              </a:rPr>
              <a:t>j</a:t>
            </a:r>
            <a:endParaRPr/>
          </a:p>
        </p:txBody>
      </p:sp>
      <p:sp>
        <p:nvSpPr>
          <p:cNvPr id="350" name="Google Shape;350;p34"/>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id="355" name="Google Shape;355;p35"/>
          <p:cNvPicPr preferRelativeResize="0"/>
          <p:nvPr>
            <p:ph idx="1" type="body"/>
          </p:nvPr>
        </p:nvPicPr>
        <p:blipFill rotWithShape="1">
          <a:blip r:embed="rId3">
            <a:alphaModFix/>
          </a:blip>
          <a:srcRect b="0" l="0" r="0" t="0"/>
          <a:stretch/>
        </p:blipFill>
        <p:spPr>
          <a:xfrm>
            <a:off x="2634343" y="110281"/>
            <a:ext cx="9127672" cy="4646776"/>
          </a:xfrm>
          <a:prstGeom prst="rect">
            <a:avLst/>
          </a:prstGeom>
          <a:noFill/>
          <a:ln>
            <a:noFill/>
          </a:ln>
        </p:spPr>
      </p:pic>
      <p:sp>
        <p:nvSpPr>
          <p:cNvPr id="356" name="Google Shape;356;p35"/>
          <p:cNvSpPr txBox="1"/>
          <p:nvPr/>
        </p:nvSpPr>
        <p:spPr>
          <a:xfrm>
            <a:off x="3075133" y="4757057"/>
            <a:ext cx="6863442"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Calibri"/>
                <a:ea typeface="Calibri"/>
                <a:cs typeface="Calibri"/>
                <a:sym typeface="Calibri"/>
              </a:rPr>
              <a:t>(a) Resource allocation graph (b) Corresponding wait-for graph</a:t>
            </a:r>
            <a:endParaRPr sz="2000">
              <a:solidFill>
                <a:schemeClr val="dk1"/>
              </a:solidFill>
              <a:latin typeface="Calibri"/>
              <a:ea typeface="Calibri"/>
              <a:cs typeface="Calibri"/>
              <a:sym typeface="Calibri"/>
            </a:endParaRPr>
          </a:p>
        </p:txBody>
      </p:sp>
      <p:sp>
        <p:nvSpPr>
          <p:cNvPr id="357" name="Google Shape;357;p35"/>
          <p:cNvSpPr txBox="1"/>
          <p:nvPr/>
        </p:nvSpPr>
        <p:spPr>
          <a:xfrm>
            <a:off x="2160816" y="5579035"/>
            <a:ext cx="9601199" cy="96795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chemeClr val="dk1"/>
                </a:solidFill>
                <a:latin typeface="Calibri"/>
                <a:ea typeface="Calibri"/>
                <a:cs typeface="Calibri"/>
                <a:sym typeface="Calibri"/>
              </a:rPr>
              <a:t>As shown in figure 3.12, a deadlock exists in the system if and only if the wait-for graph contains a cycle.</a:t>
            </a:r>
            <a:endParaRPr sz="2000">
              <a:solidFill>
                <a:schemeClr val="dk1"/>
              </a:solidFill>
              <a:latin typeface="Calibri"/>
              <a:ea typeface="Calibri"/>
              <a:cs typeface="Calibri"/>
              <a:sym typeface="Calibri"/>
            </a:endParaRPr>
          </a:p>
        </p:txBody>
      </p:sp>
      <p:sp>
        <p:nvSpPr>
          <p:cNvPr id="358" name="Google Shape;358;p35"/>
          <p:cNvSpPr txBox="1"/>
          <p:nvPr/>
        </p:nvSpPr>
        <p:spPr>
          <a:xfrm>
            <a:off x="524064" y="391808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
        <p:nvSpPr>
          <p:cNvPr id="359" name="Google Shape;359;p35"/>
          <p:cNvSpPr txBox="1"/>
          <p:nvPr/>
        </p:nvSpPr>
        <p:spPr>
          <a:xfrm>
            <a:off x="524064" y="3909202"/>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6"/>
          <p:cNvSpPr txBox="1"/>
          <p:nvPr>
            <p:ph idx="1" type="body"/>
          </p:nvPr>
        </p:nvSpPr>
        <p:spPr>
          <a:xfrm>
            <a:off x="2547257" y="97970"/>
            <a:ext cx="9503229" cy="667294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000"/>
              <a:buNone/>
            </a:pPr>
            <a:r>
              <a:rPr b="1" lang="en-US" sz="2000">
                <a:solidFill>
                  <a:srgbClr val="FF0000"/>
                </a:solidFill>
                <a:latin typeface="Calibri"/>
                <a:ea typeface="Calibri"/>
                <a:cs typeface="Calibri"/>
                <a:sym typeface="Calibri"/>
              </a:rPr>
              <a:t>Deadlock Detection</a:t>
            </a:r>
            <a:endParaRPr/>
          </a:p>
          <a:p>
            <a:pPr indent="0" lvl="0" marL="0" rtl="0" algn="ctr">
              <a:lnSpc>
                <a:spcPct val="90000"/>
              </a:lnSpc>
              <a:spcBef>
                <a:spcPts val="1000"/>
              </a:spcBef>
              <a:spcAft>
                <a:spcPts val="0"/>
              </a:spcAft>
              <a:buClr>
                <a:srgbClr val="FF0000"/>
              </a:buClr>
              <a:buSzPts val="2000"/>
              <a:buNone/>
            </a:pPr>
            <a:r>
              <a:rPr b="1" lang="en-US" sz="2000">
                <a:solidFill>
                  <a:srgbClr val="FF0000"/>
                </a:solidFill>
                <a:latin typeface="Calibri"/>
                <a:ea typeface="Calibri"/>
                <a:cs typeface="Calibri"/>
                <a:sym typeface="Calibri"/>
              </a:rPr>
              <a:t>Multiple instances of each Resource Type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This algorithm employs several time-varying data structures that are similar to those used in the Banker’s algorithm.</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Available: A</a:t>
            </a:r>
            <a:r>
              <a:rPr lang="en-US" sz="2000">
                <a:solidFill>
                  <a:srgbClr val="000000"/>
                </a:solidFill>
                <a:latin typeface="Calibri"/>
                <a:ea typeface="Calibri"/>
                <a:cs typeface="Calibri"/>
                <a:sym typeface="Calibri"/>
              </a:rPr>
              <a:t> vector of length m indicates the number of available resources of each type.</a:t>
            </a:r>
            <a:endParaRPr sz="2000">
              <a:solidFill>
                <a:srgbClr val="000000"/>
              </a:solidFill>
              <a:latin typeface="Calibri"/>
              <a:ea typeface="Calibri"/>
              <a:cs typeface="Calibri"/>
              <a:sym typeface="Calibri"/>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Allocation. An n x m matrix defines the number of resources of each type currently allocated to each process.</a:t>
            </a:r>
            <a:endParaRPr sz="2000">
              <a:solidFill>
                <a:srgbClr val="000000"/>
              </a:solidFill>
              <a:latin typeface="Calibri"/>
              <a:ea typeface="Calibri"/>
              <a:cs typeface="Calibri"/>
              <a:sym typeface="Calibri"/>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Request. An n x m matrix indicates the current request of each process. </a:t>
            </a:r>
            <a:endParaRPr/>
          </a:p>
          <a:p>
            <a:pPr indent="0" lvl="0" marL="0" rtl="0" algn="just">
              <a:lnSpc>
                <a:spcPct val="150000"/>
              </a:lnSpc>
              <a:spcBef>
                <a:spcPts val="1015"/>
              </a:spcBef>
              <a:spcAft>
                <a:spcPts val="0"/>
              </a:spcAft>
              <a:buClr>
                <a:srgbClr val="000000"/>
              </a:buClr>
              <a:buSzPts val="2000"/>
              <a:buNone/>
            </a:pPr>
            <a:r>
              <a:rPr lang="en-US" sz="2000">
                <a:solidFill>
                  <a:srgbClr val="000000"/>
                </a:solidFill>
                <a:latin typeface="Calibri"/>
                <a:ea typeface="Calibri"/>
                <a:cs typeface="Calibri"/>
                <a:sym typeface="Calibri"/>
              </a:rPr>
              <a:t>If Request[i][j] = k, then process P</a:t>
            </a:r>
            <a:r>
              <a:rPr baseline="-25000" lang="en-US" sz="2000">
                <a:solidFill>
                  <a:srgbClr val="000000"/>
                </a:solidFill>
                <a:latin typeface="Calibri"/>
                <a:ea typeface="Calibri"/>
                <a:cs typeface="Calibri"/>
                <a:sym typeface="Calibri"/>
              </a:rPr>
              <a:t>i </a:t>
            </a:r>
            <a:r>
              <a:rPr lang="en-US" sz="2000">
                <a:solidFill>
                  <a:srgbClr val="000000"/>
                </a:solidFill>
                <a:latin typeface="Calibri"/>
                <a:ea typeface="Calibri"/>
                <a:cs typeface="Calibri"/>
                <a:sym typeface="Calibri"/>
              </a:rPr>
              <a:t>is requesting k more instances of resource type R</a:t>
            </a:r>
            <a:r>
              <a:rPr baseline="-25000" lang="en-US" sz="2000">
                <a:solidFill>
                  <a:srgbClr val="000000"/>
                </a:solidFill>
                <a:latin typeface="Calibri"/>
                <a:ea typeface="Calibri"/>
                <a:cs typeface="Calibri"/>
                <a:sym typeface="Calibri"/>
              </a:rPr>
              <a:t>j </a:t>
            </a:r>
            <a:endParaRPr baseline="-25000" sz="2000">
              <a:solidFill>
                <a:srgbClr val="000000"/>
              </a:solidFill>
              <a:latin typeface="Calibri"/>
              <a:ea typeface="Calibri"/>
              <a:cs typeface="Calibri"/>
              <a:sym typeface="Calibri"/>
            </a:endParaRPr>
          </a:p>
          <a:p>
            <a:pPr indent="0" lvl="0" marL="0" rtl="0" algn="just">
              <a:lnSpc>
                <a:spcPct val="150000"/>
              </a:lnSpc>
              <a:spcBef>
                <a:spcPts val="1015"/>
              </a:spcBef>
              <a:spcAft>
                <a:spcPts val="0"/>
              </a:spcAft>
              <a:buClr>
                <a:schemeClr val="dk1"/>
              </a:buClr>
              <a:buSzPts val="2000"/>
              <a:buNone/>
            </a:pPr>
            <a:r>
              <a:t/>
            </a:r>
            <a:endParaRPr sz="2000">
              <a:latin typeface="Calibri"/>
              <a:ea typeface="Calibri"/>
              <a:cs typeface="Calibri"/>
              <a:sym typeface="Calibri"/>
            </a:endParaRPr>
          </a:p>
        </p:txBody>
      </p:sp>
      <p:sp>
        <p:nvSpPr>
          <p:cNvPr id="365" name="Google Shape;365;p36"/>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7"/>
          <p:cNvSpPr txBox="1"/>
          <p:nvPr>
            <p:ph idx="1" type="body"/>
          </p:nvPr>
        </p:nvSpPr>
        <p:spPr>
          <a:xfrm>
            <a:off x="2547257" y="97970"/>
            <a:ext cx="9503229" cy="6672943"/>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lnSpc>
                <a:spcPct val="170000"/>
              </a:lnSpc>
              <a:spcBef>
                <a:spcPts val="0"/>
              </a:spcBef>
              <a:spcAft>
                <a:spcPts val="0"/>
              </a:spcAft>
              <a:buClr>
                <a:schemeClr val="dk1"/>
              </a:buClr>
              <a:buSzPct val="100000"/>
              <a:buNone/>
            </a:pPr>
            <a:r>
              <a:rPr b="1" lang="en-US" sz="2400">
                <a:latin typeface="Calibri"/>
                <a:ea typeface="Calibri"/>
                <a:cs typeface="Calibri"/>
                <a:sym typeface="Calibri"/>
              </a:rPr>
              <a:t>The Algorithm:</a:t>
            </a:r>
            <a:endParaRPr sz="2400">
              <a:latin typeface="Calibri"/>
              <a:ea typeface="Calibri"/>
              <a:cs typeface="Calibri"/>
              <a:sym typeface="Calibri"/>
            </a:endParaRPr>
          </a:p>
          <a:p>
            <a:pPr indent="0" lvl="0" marL="0" rtl="0" algn="just">
              <a:lnSpc>
                <a:spcPct val="170000"/>
              </a:lnSpc>
              <a:spcBef>
                <a:spcPts val="1800"/>
              </a:spcBef>
              <a:spcAft>
                <a:spcPts val="0"/>
              </a:spcAft>
              <a:buClr>
                <a:schemeClr val="dk1"/>
              </a:buClr>
              <a:buSzPct val="100000"/>
              <a:buNone/>
            </a:pPr>
            <a:r>
              <a:rPr lang="en-US" sz="2400">
                <a:latin typeface="Calibri"/>
                <a:ea typeface="Calibri"/>
                <a:cs typeface="Calibri"/>
                <a:sym typeface="Calibri"/>
              </a:rPr>
              <a:t>1. Let Work and Finish be vectors of length ‘m’ and ‘n’ respectively.</a:t>
            </a:r>
            <a:endParaRPr/>
          </a:p>
          <a:p>
            <a:pPr indent="0" lvl="0" marL="0" rtl="0" algn="just">
              <a:lnSpc>
                <a:spcPct val="170000"/>
              </a:lnSpc>
              <a:spcBef>
                <a:spcPts val="1800"/>
              </a:spcBef>
              <a:spcAft>
                <a:spcPts val="0"/>
              </a:spcAft>
              <a:buClr>
                <a:schemeClr val="dk1"/>
              </a:buClr>
              <a:buSzPct val="100000"/>
              <a:buNone/>
            </a:pPr>
            <a:r>
              <a:rPr lang="en-US" sz="2400">
                <a:latin typeface="Calibri"/>
                <a:ea typeface="Calibri"/>
                <a:cs typeface="Calibri"/>
                <a:sym typeface="Calibri"/>
              </a:rPr>
              <a:t> Initialize:</a:t>
            </a:r>
            <a:endParaRPr/>
          </a:p>
          <a:p>
            <a:pPr indent="0" lvl="0" marL="0" rtl="0" algn="just">
              <a:lnSpc>
                <a:spcPct val="170000"/>
              </a:lnSpc>
              <a:spcBef>
                <a:spcPts val="1800"/>
              </a:spcBef>
              <a:spcAft>
                <a:spcPts val="0"/>
              </a:spcAft>
              <a:buClr>
                <a:schemeClr val="dk1"/>
              </a:buClr>
              <a:buSzPct val="100000"/>
              <a:buNone/>
            </a:pPr>
            <a:r>
              <a:rPr lang="en-US" sz="2400">
                <a:latin typeface="Calibri"/>
                <a:ea typeface="Calibri"/>
                <a:cs typeface="Calibri"/>
                <a:sym typeface="Calibri"/>
              </a:rPr>
              <a:t> Work= Available. </a:t>
            </a:r>
            <a:endParaRPr/>
          </a:p>
          <a:p>
            <a:pPr indent="0" lvl="0" marL="0" rtl="0" algn="just">
              <a:lnSpc>
                <a:spcPct val="170000"/>
              </a:lnSpc>
              <a:spcBef>
                <a:spcPts val="1800"/>
              </a:spcBef>
              <a:spcAft>
                <a:spcPts val="0"/>
              </a:spcAft>
              <a:buClr>
                <a:schemeClr val="dk1"/>
              </a:buClr>
              <a:buSzPct val="100000"/>
              <a:buNone/>
            </a:pPr>
            <a:r>
              <a:rPr lang="en-US" sz="2400">
                <a:latin typeface="Calibri"/>
                <a:ea typeface="Calibri"/>
                <a:cs typeface="Calibri"/>
                <a:sym typeface="Calibri"/>
              </a:rPr>
              <a:t>If Allocation ≠ 0, then</a:t>
            </a:r>
            <a:endParaRPr/>
          </a:p>
          <a:p>
            <a:pPr indent="0" lvl="0" marL="0" rtl="0" algn="just">
              <a:lnSpc>
                <a:spcPct val="170000"/>
              </a:lnSpc>
              <a:spcBef>
                <a:spcPts val="1800"/>
              </a:spcBef>
              <a:spcAft>
                <a:spcPts val="0"/>
              </a:spcAft>
              <a:buClr>
                <a:schemeClr val="dk1"/>
              </a:buClr>
              <a:buSzPct val="100000"/>
              <a:buNone/>
            </a:pPr>
            <a:r>
              <a:rPr lang="en-US" sz="2400">
                <a:latin typeface="Calibri"/>
                <a:ea typeface="Calibri"/>
                <a:cs typeface="Calibri"/>
                <a:sym typeface="Calibri"/>
              </a:rPr>
              <a:t>Finish[i] = false; else  Finish[i] = true, for i = 0,1,. . . ,n-1,</a:t>
            </a:r>
            <a:endParaRPr/>
          </a:p>
          <a:p>
            <a:pPr indent="0" lvl="0" marL="0" rtl="0" algn="just">
              <a:lnSpc>
                <a:spcPct val="170000"/>
              </a:lnSpc>
              <a:spcBef>
                <a:spcPts val="1800"/>
              </a:spcBef>
              <a:spcAft>
                <a:spcPts val="0"/>
              </a:spcAft>
              <a:buClr>
                <a:schemeClr val="dk1"/>
              </a:buClr>
              <a:buSzPct val="100000"/>
              <a:buNone/>
            </a:pPr>
            <a:r>
              <a:rPr lang="en-US" sz="2400">
                <a:latin typeface="Calibri"/>
                <a:ea typeface="Calibri"/>
                <a:cs typeface="Calibri"/>
                <a:sym typeface="Calibri"/>
              </a:rPr>
              <a:t> </a:t>
            </a:r>
            <a:r>
              <a:rPr b="1" lang="en-US" sz="2400">
                <a:latin typeface="Calibri"/>
                <a:ea typeface="Calibri"/>
                <a:cs typeface="Calibri"/>
                <a:sym typeface="Calibri"/>
              </a:rPr>
              <a:t>2</a:t>
            </a:r>
            <a:r>
              <a:rPr lang="en-US" sz="2400">
                <a:latin typeface="Calibri"/>
                <a:ea typeface="Calibri"/>
                <a:cs typeface="Calibri"/>
                <a:sym typeface="Calibri"/>
              </a:rPr>
              <a:t>. Find an  i such that both </a:t>
            </a:r>
            <a:endParaRPr sz="2400">
              <a:latin typeface="Calibri"/>
              <a:ea typeface="Calibri"/>
              <a:cs typeface="Calibri"/>
              <a:sym typeface="Calibri"/>
            </a:endParaRPr>
          </a:p>
          <a:p>
            <a:pPr indent="0" lvl="0" marL="0" rtl="0" algn="just">
              <a:lnSpc>
                <a:spcPct val="170000"/>
              </a:lnSpc>
              <a:spcBef>
                <a:spcPts val="1800"/>
              </a:spcBef>
              <a:spcAft>
                <a:spcPts val="0"/>
              </a:spcAft>
              <a:buClr>
                <a:schemeClr val="dk1"/>
              </a:buClr>
              <a:buSzPct val="100000"/>
              <a:buNone/>
            </a:pPr>
            <a:r>
              <a:rPr b="1" lang="en-US" sz="2400">
                <a:latin typeface="Calibri"/>
                <a:ea typeface="Calibri"/>
                <a:cs typeface="Calibri"/>
                <a:sym typeface="Calibri"/>
              </a:rPr>
              <a:t>a</a:t>
            </a:r>
            <a:r>
              <a:rPr lang="en-US" sz="2400">
                <a:latin typeface="Calibri"/>
                <a:ea typeface="Calibri"/>
                <a:cs typeface="Calibri"/>
                <a:sym typeface="Calibri"/>
              </a:rPr>
              <a:t>. Finish[i] = false</a:t>
            </a:r>
            <a:endParaRPr sz="2400">
              <a:latin typeface="Calibri"/>
              <a:ea typeface="Calibri"/>
              <a:cs typeface="Calibri"/>
              <a:sym typeface="Calibri"/>
            </a:endParaRPr>
          </a:p>
          <a:p>
            <a:pPr indent="0" lvl="0" marL="0" rtl="0" algn="just">
              <a:lnSpc>
                <a:spcPct val="170000"/>
              </a:lnSpc>
              <a:spcBef>
                <a:spcPts val="1800"/>
              </a:spcBef>
              <a:spcAft>
                <a:spcPts val="0"/>
              </a:spcAft>
              <a:buClr>
                <a:schemeClr val="dk1"/>
              </a:buClr>
              <a:buSzPct val="100000"/>
              <a:buNone/>
            </a:pPr>
            <a:r>
              <a:rPr b="1" lang="en-US" sz="2400">
                <a:latin typeface="Calibri"/>
                <a:ea typeface="Calibri"/>
                <a:cs typeface="Calibri"/>
                <a:sym typeface="Calibri"/>
              </a:rPr>
              <a:t>b</a:t>
            </a:r>
            <a:r>
              <a:rPr lang="en-US" sz="2400">
                <a:latin typeface="Calibri"/>
                <a:ea typeface="Calibri"/>
                <a:cs typeface="Calibri"/>
                <a:sym typeface="Calibri"/>
              </a:rPr>
              <a:t>. Request</a:t>
            </a:r>
            <a:r>
              <a:rPr baseline="-25000" lang="en-US" sz="2400">
                <a:latin typeface="Calibri"/>
                <a:ea typeface="Calibri"/>
                <a:cs typeface="Calibri"/>
                <a:sym typeface="Calibri"/>
              </a:rPr>
              <a:t>i</a:t>
            </a:r>
            <a:r>
              <a:rPr lang="en-US" sz="2400">
                <a:latin typeface="Calibri"/>
                <a:ea typeface="Calibri"/>
                <a:cs typeface="Calibri"/>
                <a:sym typeface="Calibri"/>
              </a:rPr>
              <a:t> ≤ Work</a:t>
            </a:r>
            <a:endParaRPr sz="2400">
              <a:latin typeface="Calibri"/>
              <a:ea typeface="Calibri"/>
              <a:cs typeface="Calibri"/>
              <a:sym typeface="Calibri"/>
            </a:endParaRPr>
          </a:p>
          <a:p>
            <a:pPr indent="0" lvl="0" marL="0" rtl="0" algn="just">
              <a:lnSpc>
                <a:spcPct val="170000"/>
              </a:lnSpc>
              <a:spcBef>
                <a:spcPts val="1800"/>
              </a:spcBef>
              <a:spcAft>
                <a:spcPts val="0"/>
              </a:spcAft>
              <a:buClr>
                <a:schemeClr val="dk1"/>
              </a:buClr>
              <a:buSzPct val="100000"/>
              <a:buNone/>
            </a:pPr>
            <a:r>
              <a:rPr lang="en-US" sz="2400">
                <a:latin typeface="Calibri"/>
                <a:ea typeface="Calibri"/>
                <a:cs typeface="Calibri"/>
                <a:sym typeface="Calibri"/>
              </a:rPr>
              <a:t>if no such i exists, go to step 4</a:t>
            </a:r>
            <a:endParaRPr sz="2400">
              <a:latin typeface="Calibri"/>
              <a:ea typeface="Calibri"/>
              <a:cs typeface="Calibri"/>
              <a:sym typeface="Calibri"/>
            </a:endParaRPr>
          </a:p>
          <a:p>
            <a:pPr indent="-130175" lvl="0" marL="228600" rtl="0" algn="l">
              <a:lnSpc>
                <a:spcPct val="90000"/>
              </a:lnSpc>
              <a:spcBef>
                <a:spcPts val="1800"/>
              </a:spcBef>
              <a:spcAft>
                <a:spcPts val="0"/>
              </a:spcAft>
              <a:buClr>
                <a:schemeClr val="dk1"/>
              </a:buClr>
              <a:buSzPct val="100000"/>
              <a:buNone/>
            </a:pPr>
            <a:r>
              <a:t/>
            </a:r>
            <a:endParaRPr sz="2000">
              <a:latin typeface="Calibri"/>
              <a:ea typeface="Calibri"/>
              <a:cs typeface="Calibri"/>
              <a:sym typeface="Calibri"/>
            </a:endParaRPr>
          </a:p>
        </p:txBody>
      </p:sp>
      <p:sp>
        <p:nvSpPr>
          <p:cNvPr id="371" name="Google Shape;371;p37"/>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8"/>
          <p:cNvSpPr txBox="1"/>
          <p:nvPr>
            <p:ph idx="1" type="body"/>
          </p:nvPr>
        </p:nvSpPr>
        <p:spPr>
          <a:xfrm>
            <a:off x="2547257" y="97970"/>
            <a:ext cx="9503229" cy="6672943"/>
          </a:xfrm>
          <a:prstGeom prst="rect">
            <a:avLst/>
          </a:prstGeom>
          <a:noFill/>
          <a:ln>
            <a:noFill/>
          </a:ln>
        </p:spPr>
        <p:txBody>
          <a:bodyPr anchorCtr="0" anchor="t" bIns="45700" lIns="91425" spcFirstLastPara="1" rIns="91425" wrap="square" tIns="45700">
            <a:normAutofit/>
          </a:bodyPr>
          <a:lstStyle/>
          <a:p>
            <a:pPr indent="0" lvl="0" marL="0" rtl="0" algn="just">
              <a:lnSpc>
                <a:spcPct val="170000"/>
              </a:lnSpc>
              <a:spcBef>
                <a:spcPts val="0"/>
              </a:spcBef>
              <a:spcAft>
                <a:spcPts val="0"/>
              </a:spcAft>
              <a:buClr>
                <a:schemeClr val="dk1"/>
              </a:buClr>
              <a:buSzPts val="2000"/>
              <a:buNone/>
            </a:pPr>
            <a:r>
              <a:rPr b="1" lang="en-US" sz="2000">
                <a:latin typeface="Calibri"/>
                <a:ea typeface="Calibri"/>
                <a:cs typeface="Calibri"/>
                <a:sym typeface="Calibri"/>
              </a:rPr>
              <a:t>3</a:t>
            </a:r>
            <a:r>
              <a:rPr lang="en-US" sz="2000">
                <a:latin typeface="Calibri"/>
                <a:ea typeface="Calibri"/>
                <a:cs typeface="Calibri"/>
                <a:sym typeface="Calibri"/>
              </a:rPr>
              <a:t>. Work = Work + Allocation[i]</a:t>
            </a:r>
            <a:endParaRPr sz="2000">
              <a:latin typeface="Calibri"/>
              <a:ea typeface="Calibri"/>
              <a:cs typeface="Calibri"/>
              <a:sym typeface="Calibri"/>
            </a:endParaRPr>
          </a:p>
          <a:p>
            <a:pPr indent="0" lvl="0" marL="0" rtl="0" algn="just">
              <a:lnSpc>
                <a:spcPct val="170000"/>
              </a:lnSpc>
              <a:spcBef>
                <a:spcPts val="1800"/>
              </a:spcBef>
              <a:spcAft>
                <a:spcPts val="0"/>
              </a:spcAft>
              <a:buClr>
                <a:schemeClr val="dk1"/>
              </a:buClr>
              <a:buSzPts val="2000"/>
              <a:buNone/>
            </a:pPr>
            <a:r>
              <a:rPr lang="en-US" sz="2000">
                <a:latin typeface="Calibri"/>
                <a:ea typeface="Calibri"/>
                <a:cs typeface="Calibri"/>
                <a:sym typeface="Calibri"/>
              </a:rPr>
              <a:t>Finish[i] = true</a:t>
            </a:r>
            <a:endParaRPr sz="2000">
              <a:latin typeface="Calibri"/>
              <a:ea typeface="Calibri"/>
              <a:cs typeface="Calibri"/>
              <a:sym typeface="Calibri"/>
            </a:endParaRPr>
          </a:p>
          <a:p>
            <a:pPr indent="0" lvl="0" marL="0" rtl="0" algn="just">
              <a:lnSpc>
                <a:spcPct val="170000"/>
              </a:lnSpc>
              <a:spcBef>
                <a:spcPts val="1800"/>
              </a:spcBef>
              <a:spcAft>
                <a:spcPts val="0"/>
              </a:spcAft>
              <a:buClr>
                <a:schemeClr val="dk1"/>
              </a:buClr>
              <a:buSzPts val="2000"/>
              <a:buNone/>
            </a:pPr>
            <a:r>
              <a:rPr lang="en-US" sz="2000">
                <a:latin typeface="Calibri"/>
                <a:ea typeface="Calibri"/>
                <a:cs typeface="Calibri"/>
                <a:sym typeface="Calibri"/>
              </a:rPr>
              <a:t>Go to step 2</a:t>
            </a:r>
            <a:endParaRPr sz="2000">
              <a:latin typeface="Calibri"/>
              <a:ea typeface="Calibri"/>
              <a:cs typeface="Calibri"/>
              <a:sym typeface="Calibri"/>
            </a:endParaRPr>
          </a:p>
          <a:p>
            <a:pPr indent="0" lvl="0" marL="0" rtl="0" algn="just">
              <a:lnSpc>
                <a:spcPct val="170000"/>
              </a:lnSpc>
              <a:spcBef>
                <a:spcPts val="1800"/>
              </a:spcBef>
              <a:spcAft>
                <a:spcPts val="0"/>
              </a:spcAft>
              <a:buClr>
                <a:schemeClr val="dk1"/>
              </a:buClr>
              <a:buSzPts val="2000"/>
              <a:buNone/>
            </a:pPr>
            <a:r>
              <a:rPr b="1" lang="en-US" sz="2000">
                <a:latin typeface="Calibri"/>
                <a:ea typeface="Calibri"/>
                <a:cs typeface="Calibri"/>
                <a:sym typeface="Calibri"/>
              </a:rPr>
              <a:t>4</a:t>
            </a:r>
            <a:r>
              <a:rPr lang="en-US" sz="2000">
                <a:latin typeface="Calibri"/>
                <a:ea typeface="Calibri"/>
                <a:cs typeface="Calibri"/>
                <a:sym typeface="Calibri"/>
              </a:rPr>
              <a:t>. If Finish[i] = false for some i, 0≤i≤n, then the system is in the deadlocked state. P</a:t>
            </a:r>
            <a:r>
              <a:rPr baseline="-25000" lang="en-US" sz="2000">
                <a:latin typeface="Calibri"/>
                <a:ea typeface="Calibri"/>
                <a:cs typeface="Calibri"/>
                <a:sym typeface="Calibri"/>
              </a:rPr>
              <a:t>i</a:t>
            </a:r>
            <a:r>
              <a:rPr lang="en-US" sz="2000">
                <a:latin typeface="Calibri"/>
                <a:ea typeface="Calibri"/>
                <a:cs typeface="Calibri"/>
                <a:sym typeface="Calibri"/>
              </a:rPr>
              <a:t> is deadlocked.</a:t>
            </a:r>
            <a:endParaRPr sz="2000">
              <a:latin typeface="Calibri"/>
              <a:ea typeface="Calibri"/>
              <a:cs typeface="Calibri"/>
              <a:sym typeface="Calibri"/>
            </a:endParaRPr>
          </a:p>
          <a:p>
            <a:pPr indent="-101600" lvl="0" marL="228600" rtl="0" algn="l">
              <a:lnSpc>
                <a:spcPct val="90000"/>
              </a:lnSpc>
              <a:spcBef>
                <a:spcPts val="1800"/>
              </a:spcBef>
              <a:spcAft>
                <a:spcPts val="0"/>
              </a:spcAft>
              <a:buClr>
                <a:schemeClr val="dk1"/>
              </a:buClr>
              <a:buSzPts val="2000"/>
              <a:buNone/>
            </a:pPr>
            <a:r>
              <a:t/>
            </a:r>
            <a:endParaRPr sz="2000">
              <a:latin typeface="Calibri"/>
              <a:ea typeface="Calibri"/>
              <a:cs typeface="Calibri"/>
              <a:sym typeface="Calibri"/>
            </a:endParaRPr>
          </a:p>
        </p:txBody>
      </p:sp>
      <p:sp>
        <p:nvSpPr>
          <p:cNvPr id="377" name="Google Shape;377;p38"/>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9"/>
          <p:cNvSpPr txBox="1"/>
          <p:nvPr>
            <p:ph idx="1" type="body"/>
          </p:nvPr>
        </p:nvSpPr>
        <p:spPr>
          <a:xfrm>
            <a:off x="2645228" y="0"/>
            <a:ext cx="9546772" cy="662940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00"/>
              </a:buClr>
              <a:buSzPts val="2000"/>
              <a:buNone/>
            </a:pPr>
            <a:r>
              <a:rPr lang="en-US" sz="2000">
                <a:solidFill>
                  <a:srgbClr val="000000"/>
                </a:solidFill>
                <a:latin typeface="Calibri"/>
                <a:ea typeface="Calibri"/>
                <a:cs typeface="Calibri"/>
                <a:sym typeface="Calibri"/>
              </a:rPr>
              <a:t>Consider a system with five processes P</a:t>
            </a:r>
            <a:r>
              <a:rPr baseline="-25000" lang="en-US" sz="2000">
                <a:solidFill>
                  <a:srgbClr val="000000"/>
                </a:solidFill>
                <a:latin typeface="Calibri"/>
                <a:ea typeface="Calibri"/>
                <a:cs typeface="Calibri"/>
                <a:sym typeface="Calibri"/>
              </a:rPr>
              <a:t>0</a:t>
            </a:r>
            <a:r>
              <a:rPr lang="en-US" sz="2000">
                <a:solidFill>
                  <a:srgbClr val="000000"/>
                </a:solidFill>
                <a:latin typeface="Calibri"/>
                <a:ea typeface="Calibri"/>
                <a:cs typeface="Calibri"/>
                <a:sym typeface="Calibri"/>
              </a:rPr>
              <a:t> through P</a:t>
            </a:r>
            <a:r>
              <a:rPr baseline="-25000" lang="en-US" sz="2000">
                <a:solidFill>
                  <a:srgbClr val="000000"/>
                </a:solidFill>
                <a:latin typeface="Calibri"/>
                <a:ea typeface="Calibri"/>
                <a:cs typeface="Calibri"/>
                <a:sym typeface="Calibri"/>
              </a:rPr>
              <a:t>4</a:t>
            </a:r>
            <a:r>
              <a:rPr lang="en-US" sz="2000">
                <a:solidFill>
                  <a:srgbClr val="000000"/>
                </a:solidFill>
                <a:latin typeface="Calibri"/>
                <a:ea typeface="Calibri"/>
                <a:cs typeface="Calibri"/>
                <a:sym typeface="Calibri"/>
              </a:rPr>
              <a:t> and three resource types A, B, and C. Resource type A has 7 instances (as shown in figure 3.9) , resource type B has 2 instances, and resource type C has 6 instances. </a:t>
            </a:r>
            <a:endParaRPr sz="2000">
              <a:latin typeface="Calibri"/>
              <a:ea typeface="Calibri"/>
              <a:cs typeface="Calibri"/>
              <a:sym typeface="Calibri"/>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Suppose that, at time T</a:t>
            </a:r>
            <a:r>
              <a:rPr baseline="-25000" lang="en-US" sz="2000">
                <a:solidFill>
                  <a:srgbClr val="000000"/>
                </a:solidFill>
                <a:latin typeface="Calibri"/>
                <a:ea typeface="Calibri"/>
                <a:cs typeface="Calibri"/>
                <a:sym typeface="Calibri"/>
              </a:rPr>
              <a:t>0</a:t>
            </a:r>
            <a:r>
              <a:rPr lang="en-US" sz="2000">
                <a:solidFill>
                  <a:srgbClr val="000000"/>
                </a:solidFill>
                <a:latin typeface="Calibri"/>
                <a:ea typeface="Calibri"/>
                <a:cs typeface="Calibri"/>
                <a:sym typeface="Calibri"/>
              </a:rPr>
              <a:t>, the following snapshot of the system has been taken:</a:t>
            </a:r>
            <a:endParaRPr sz="2000">
              <a:latin typeface="Calibri"/>
              <a:ea typeface="Calibri"/>
              <a:cs typeface="Calibri"/>
              <a:sym typeface="Calibri"/>
            </a:endParaRPr>
          </a:p>
          <a:p>
            <a:pPr indent="0" lvl="0" marL="0" rtl="0" algn="l">
              <a:lnSpc>
                <a:spcPct val="150000"/>
              </a:lnSpc>
              <a:spcBef>
                <a:spcPts val="1000"/>
              </a:spcBef>
              <a:spcAft>
                <a:spcPts val="0"/>
              </a:spcAft>
              <a:buClr>
                <a:schemeClr val="dk1"/>
              </a:buClr>
              <a:buSzPts val="2000"/>
              <a:buNone/>
            </a:pPr>
            <a:r>
              <a:rPr lang="en-US" sz="2000">
                <a:latin typeface="Calibri"/>
                <a:ea typeface="Calibri"/>
                <a:cs typeface="Calibri"/>
                <a:sym typeface="Calibri"/>
              </a:rPr>
              <a:t>Safe sequence we find if we execute algorithm </a:t>
            </a:r>
            <a:r>
              <a:rPr lang="en-US" sz="2000">
                <a:solidFill>
                  <a:srgbClr val="0000FF"/>
                </a:solidFill>
                <a:latin typeface="Calibri"/>
                <a:ea typeface="Calibri"/>
                <a:cs typeface="Calibri"/>
                <a:sym typeface="Calibri"/>
              </a:rPr>
              <a:t>&lt; P0, P2, P3, P1, P4&gt;</a:t>
            </a:r>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graphicFrame>
        <p:nvGraphicFramePr>
          <p:cNvPr id="383" name="Google Shape;383;p39"/>
          <p:cNvGraphicFramePr/>
          <p:nvPr/>
        </p:nvGraphicFramePr>
        <p:xfrm>
          <a:off x="4332515" y="2612569"/>
          <a:ext cx="3000000" cy="3000000"/>
        </p:xfrm>
        <a:graphic>
          <a:graphicData uri="http://schemas.openxmlformats.org/drawingml/2006/table">
            <a:tbl>
              <a:tblPr bandRow="1" firstCol="1" firstRow="1">
                <a:noFill/>
                <a:tableStyleId>{EA49DD23-6F04-43C5-890A-893E10268F7A}</a:tableStyleId>
              </a:tblPr>
              <a:tblGrid>
                <a:gridCol w="1138650"/>
                <a:gridCol w="398525"/>
                <a:gridCol w="409925"/>
                <a:gridCol w="489625"/>
                <a:gridCol w="352975"/>
                <a:gridCol w="352975"/>
                <a:gridCol w="537425"/>
                <a:gridCol w="347625"/>
                <a:gridCol w="478975"/>
                <a:gridCol w="598725"/>
              </a:tblGrid>
              <a:tr h="573825">
                <a:tc rowSpan="2">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Process</a:t>
                      </a:r>
                      <a:endParaRPr sz="2000" u="none" cap="none" strike="noStrike">
                        <a:solidFill>
                          <a:schemeClr val="dk1"/>
                        </a:solidFill>
                        <a:latin typeface="Calibri"/>
                        <a:ea typeface="Calibri"/>
                        <a:cs typeface="Calibri"/>
                        <a:sym typeface="Calibri"/>
                      </a:endParaRPr>
                    </a:p>
                  </a:txBody>
                  <a:tcPr marT="0" marB="0" marR="68575" marL="68575"/>
                </a:tc>
                <a:tc gridSpan="3">
                  <a:txBody>
                    <a:bodyPr/>
                    <a:lstStyle/>
                    <a:p>
                      <a:pPr indent="0" lvl="0" marL="0" marR="0" rtl="0" algn="ctr">
                        <a:lnSpc>
                          <a:spcPct val="107000"/>
                        </a:lnSpc>
                        <a:spcBef>
                          <a:spcPts val="0"/>
                        </a:spcBef>
                        <a:spcAft>
                          <a:spcPts val="0"/>
                        </a:spcAft>
                        <a:buNone/>
                      </a:pPr>
                      <a:r>
                        <a:rPr lang="en-US" sz="2000" u="none" cap="none" strike="noStrike"/>
                        <a:t>Allocation</a:t>
                      </a:r>
                      <a:endParaRPr sz="2000" u="none" cap="none" strike="noStrike">
                        <a:latin typeface="Calibri"/>
                        <a:ea typeface="Calibri"/>
                        <a:cs typeface="Calibri"/>
                        <a:sym typeface="Calibri"/>
                      </a:endParaRPr>
                    </a:p>
                  </a:txBody>
                  <a:tcPr marT="0" marB="0" marR="68575" marL="68575"/>
                </a:tc>
                <a:tc hMerge="1"/>
                <a:tc hMerge="1"/>
                <a:tc gridSpan="3">
                  <a:txBody>
                    <a:bodyPr/>
                    <a:lstStyle/>
                    <a:p>
                      <a:pPr indent="0" lvl="0" marL="0" marR="0" rtl="0" algn="ctr">
                        <a:lnSpc>
                          <a:spcPct val="107000"/>
                        </a:lnSpc>
                        <a:spcBef>
                          <a:spcPts val="0"/>
                        </a:spcBef>
                        <a:spcAft>
                          <a:spcPts val="0"/>
                        </a:spcAft>
                        <a:buNone/>
                      </a:pPr>
                      <a:r>
                        <a:rPr lang="en-US" sz="2000" u="none" cap="none" strike="noStrike"/>
                        <a:t>Request</a:t>
                      </a:r>
                      <a:endParaRPr sz="2000" u="none" cap="none" strike="noStrike">
                        <a:latin typeface="Calibri"/>
                        <a:ea typeface="Calibri"/>
                        <a:cs typeface="Calibri"/>
                        <a:sym typeface="Calibri"/>
                      </a:endParaRPr>
                    </a:p>
                  </a:txBody>
                  <a:tcPr marT="0" marB="0" marR="68575" marL="68575"/>
                </a:tc>
                <a:tc hMerge="1"/>
                <a:tc hMerge="1"/>
                <a:tc gridSpan="3">
                  <a:txBody>
                    <a:bodyPr/>
                    <a:lstStyle/>
                    <a:p>
                      <a:pPr indent="0" lvl="0" marL="0" marR="0" rtl="0" algn="ctr">
                        <a:lnSpc>
                          <a:spcPct val="107000"/>
                        </a:lnSpc>
                        <a:spcBef>
                          <a:spcPts val="0"/>
                        </a:spcBef>
                        <a:spcAft>
                          <a:spcPts val="0"/>
                        </a:spcAft>
                        <a:buNone/>
                      </a:pPr>
                      <a:r>
                        <a:rPr lang="en-US" sz="2000" u="none" cap="none" strike="noStrike"/>
                        <a:t>Available</a:t>
                      </a:r>
                      <a:endParaRPr sz="2000" u="none" cap="none" strike="noStrike">
                        <a:latin typeface="Calibri"/>
                        <a:ea typeface="Calibri"/>
                        <a:cs typeface="Calibri"/>
                        <a:sym typeface="Calibri"/>
                      </a:endParaRPr>
                    </a:p>
                  </a:txBody>
                  <a:tcPr marT="0" marB="0" marR="68575" marL="68575"/>
                </a:tc>
                <a:tc hMerge="1"/>
                <a:tc hMerge="1"/>
              </a:tr>
              <a:tr h="573825">
                <a:tc vMerge="1"/>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A</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B</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C</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A</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B</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C</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A</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B</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C</a:t>
                      </a:r>
                      <a:endParaRPr sz="2000" u="none" cap="none" strike="noStrike">
                        <a:latin typeface="Calibri"/>
                        <a:ea typeface="Calibri"/>
                        <a:cs typeface="Calibri"/>
                        <a:sym typeface="Calibri"/>
                      </a:endParaRPr>
                    </a:p>
                  </a:txBody>
                  <a:tcPr marT="0" marB="0" marR="68575" marL="68575"/>
                </a:tc>
              </a:tr>
              <a:tr h="573825">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P0</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0</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1</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r>
              <a:tr h="573825">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P1</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2</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0</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2</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2</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r>
              <a:tr h="573825">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P2</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3</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0</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3</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r>
              <a:tr h="573825">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P3</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2</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1</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1</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1</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r>
              <a:tr h="573825">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P4</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0</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solidFill>
                            <a:schemeClr val="dk1"/>
                          </a:solidFill>
                          <a:latin typeface="Calibri"/>
                          <a:ea typeface="Calibri"/>
                          <a:cs typeface="Calibri"/>
                          <a:sym typeface="Calibri"/>
                        </a:rPr>
                        <a:t>0</a:t>
                      </a:r>
                      <a:endParaRPr sz="2000" u="none" cap="none" strike="noStrike">
                        <a:solidFill>
                          <a:schemeClr val="dk1"/>
                        </a:solidFill>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2</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2</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r>
            </a:tbl>
          </a:graphicData>
        </a:graphic>
      </p:graphicFrame>
      <p:sp>
        <p:nvSpPr>
          <p:cNvPr id="384" name="Google Shape;384;p39"/>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0"/>
          <p:cNvSpPr txBox="1"/>
          <p:nvPr>
            <p:ph idx="1" type="body"/>
          </p:nvPr>
        </p:nvSpPr>
        <p:spPr>
          <a:xfrm>
            <a:off x="2547257" y="97970"/>
            <a:ext cx="9644743" cy="6672943"/>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000"/>
              <a:buNone/>
            </a:pPr>
            <a:r>
              <a:rPr b="1" lang="en-US" sz="2000">
                <a:solidFill>
                  <a:srgbClr val="FF0000"/>
                </a:solidFill>
                <a:latin typeface="Calibri"/>
                <a:ea typeface="Calibri"/>
                <a:cs typeface="Calibri"/>
                <a:sym typeface="Calibri"/>
              </a:rPr>
              <a:t>Recovery from Deadlock</a:t>
            </a:r>
            <a:endParaRPr sz="2000">
              <a:solidFill>
                <a:srgbClr val="FF0000"/>
              </a:solidFill>
              <a:latin typeface="Calibri"/>
              <a:ea typeface="Calibri"/>
              <a:cs typeface="Calibri"/>
              <a:sym typeface="Calibri"/>
            </a:endParaRPr>
          </a:p>
          <a:p>
            <a:pPr indent="0" lvl="0" marL="0" rtl="0" algn="ctr">
              <a:lnSpc>
                <a:spcPct val="150000"/>
              </a:lnSpc>
              <a:spcBef>
                <a:spcPts val="1000"/>
              </a:spcBef>
              <a:spcAft>
                <a:spcPts val="0"/>
              </a:spcAft>
              <a:buClr>
                <a:srgbClr val="FF0000"/>
              </a:buClr>
              <a:buSzPts val="2000"/>
              <a:buNone/>
            </a:pPr>
            <a:r>
              <a:rPr b="1" lang="en-US" sz="2000">
                <a:solidFill>
                  <a:srgbClr val="FF0000"/>
                </a:solidFill>
                <a:latin typeface="Calibri"/>
                <a:ea typeface="Calibri"/>
                <a:cs typeface="Calibri"/>
                <a:sym typeface="Calibri"/>
              </a:rPr>
              <a:t>Process Termination</a:t>
            </a:r>
            <a:endParaRPr sz="2000">
              <a:solidFill>
                <a:srgbClr val="FF0000"/>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What to do when a deadlock detection algorithm determines that a deadlock exists?</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Possibility 1</a:t>
            </a:r>
            <a:r>
              <a:rPr lang="en-US" sz="2000">
                <a:latin typeface="Calibri"/>
                <a:ea typeface="Calibri"/>
                <a:cs typeface="Calibri"/>
                <a:sym typeface="Calibri"/>
              </a:rPr>
              <a:t>: Inform the operator that a deadlock has occurred and let the operator deal with the deadlock manually.</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Possibility 2:</a:t>
            </a:r>
            <a:r>
              <a:rPr lang="en-US" sz="2000">
                <a:latin typeface="Calibri"/>
                <a:ea typeface="Calibri"/>
                <a:cs typeface="Calibri"/>
                <a:sym typeface="Calibri"/>
              </a:rPr>
              <a:t> Let the system recover from the deadlock automatically.</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How to break from the deadlock?</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Option 1</a:t>
            </a:r>
            <a:r>
              <a:rPr lang="en-US" sz="2000">
                <a:latin typeface="Calibri"/>
                <a:ea typeface="Calibri"/>
                <a:cs typeface="Calibri"/>
                <a:sym typeface="Calibri"/>
              </a:rPr>
              <a:t>: Abort one or more processes to break the circular wait.</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Option 2</a:t>
            </a:r>
            <a:r>
              <a:rPr lang="en-US" sz="2000">
                <a:latin typeface="Calibri"/>
                <a:ea typeface="Calibri"/>
                <a:cs typeface="Calibri"/>
                <a:sym typeface="Calibri"/>
              </a:rPr>
              <a:t>: Preempt some resources from one or more of the deadlocked processes.</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390" name="Google Shape;390;p40"/>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
        <p:nvSpPr>
          <p:cNvPr id="391" name="Google Shape;391;p40"/>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1"/>
          <p:cNvSpPr txBox="1"/>
          <p:nvPr>
            <p:ph idx="1" type="body"/>
          </p:nvPr>
        </p:nvSpPr>
        <p:spPr>
          <a:xfrm>
            <a:off x="2547257" y="97970"/>
            <a:ext cx="9503229" cy="6672943"/>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150000"/>
              </a:lnSpc>
              <a:spcBef>
                <a:spcPts val="0"/>
              </a:spcBef>
              <a:spcAft>
                <a:spcPts val="0"/>
              </a:spcAft>
              <a:buClr>
                <a:srgbClr val="0000FF"/>
              </a:buClr>
              <a:buSzPts val="2400"/>
              <a:buNone/>
            </a:pPr>
            <a:r>
              <a:rPr lang="en-US" sz="2400">
                <a:solidFill>
                  <a:srgbClr val="0000FF"/>
                </a:solidFill>
                <a:latin typeface="Calibri"/>
                <a:ea typeface="Calibri"/>
                <a:cs typeface="Calibri"/>
                <a:sym typeface="Calibri"/>
              </a:rPr>
              <a:t>Process Termination</a:t>
            </a:r>
            <a:endParaRPr/>
          </a:p>
          <a:p>
            <a:pPr indent="0" lvl="0" marL="0" rtl="0" algn="ctr">
              <a:lnSpc>
                <a:spcPct val="150000"/>
              </a:lnSpc>
              <a:spcBef>
                <a:spcPts val="1000"/>
              </a:spcBef>
              <a:spcAft>
                <a:spcPts val="0"/>
              </a:spcAft>
              <a:buClr>
                <a:srgbClr val="0000FF"/>
              </a:buClr>
              <a:buSzPts val="2400"/>
              <a:buNone/>
            </a:pPr>
            <a:r>
              <a:rPr lang="en-US" sz="2400">
                <a:solidFill>
                  <a:srgbClr val="0000FF"/>
                </a:solidFill>
                <a:latin typeface="Calibri"/>
                <a:ea typeface="Calibri"/>
                <a:cs typeface="Calibri"/>
                <a:sym typeface="Calibri"/>
              </a:rPr>
              <a:t>To eliminate deadlocks by aborting a process, we use one of two methods:</a:t>
            </a:r>
            <a:endParaRPr/>
          </a:p>
          <a:p>
            <a:pPr indent="0" lvl="0" marL="0" rtl="0" algn="l">
              <a:lnSpc>
                <a:spcPct val="150000"/>
              </a:lnSpc>
              <a:spcBef>
                <a:spcPts val="1000"/>
              </a:spcBef>
              <a:spcAft>
                <a:spcPts val="0"/>
              </a:spcAft>
              <a:buClr>
                <a:schemeClr val="dk1"/>
              </a:buClr>
              <a:buSzPts val="2400"/>
              <a:buNone/>
            </a:pPr>
            <a:r>
              <a:rPr b="1" lang="en-US" sz="2400">
                <a:latin typeface="Calibri"/>
                <a:ea typeface="Calibri"/>
                <a:cs typeface="Calibri"/>
                <a:sym typeface="Calibri"/>
              </a:rPr>
              <a:t>Abort all deadlocked processes:</a:t>
            </a:r>
            <a:endParaRPr/>
          </a:p>
          <a:p>
            <a:pPr indent="0" lvl="0" marL="0" rtl="0" algn="just">
              <a:lnSpc>
                <a:spcPct val="150000"/>
              </a:lnSpc>
              <a:spcBef>
                <a:spcPts val="1000"/>
              </a:spcBef>
              <a:spcAft>
                <a:spcPts val="0"/>
              </a:spcAft>
              <a:buClr>
                <a:srgbClr val="000000"/>
              </a:buClr>
              <a:buSzPts val="2400"/>
              <a:buNone/>
            </a:pPr>
            <a:r>
              <a:rPr lang="en-US" sz="2400">
                <a:solidFill>
                  <a:srgbClr val="000000"/>
                </a:solidFill>
                <a:latin typeface="Calibri"/>
                <a:ea typeface="Calibri"/>
                <a:cs typeface="Calibri"/>
                <a:sym typeface="Calibri"/>
              </a:rPr>
              <a:t>Will break the deadlock cycle, but at great expense; the deadlocked processes may have computed for a long time, and the results of these partial computations must be discarded and probably will have to be recomputed later.</a:t>
            </a:r>
            <a:endParaRPr sz="2400">
              <a:solidFill>
                <a:srgbClr val="000000"/>
              </a:solidFill>
              <a:latin typeface="Calibri"/>
              <a:ea typeface="Calibri"/>
              <a:cs typeface="Calibri"/>
              <a:sym typeface="Calibri"/>
            </a:endParaRPr>
          </a:p>
          <a:p>
            <a:pPr indent="0" lvl="0" marL="0" rtl="0" algn="just">
              <a:lnSpc>
                <a:spcPct val="150000"/>
              </a:lnSpc>
              <a:spcBef>
                <a:spcPts val="1000"/>
              </a:spcBef>
              <a:spcAft>
                <a:spcPts val="0"/>
              </a:spcAft>
              <a:buClr>
                <a:srgbClr val="000000"/>
              </a:buClr>
              <a:buSzPts val="2400"/>
              <a:buNone/>
            </a:pPr>
            <a:r>
              <a:rPr b="1" lang="en-US" sz="2400">
                <a:solidFill>
                  <a:srgbClr val="000000"/>
                </a:solidFill>
                <a:latin typeface="Calibri"/>
                <a:ea typeface="Calibri"/>
                <a:cs typeface="Calibri"/>
                <a:sym typeface="Calibri"/>
              </a:rPr>
              <a:t>Abort one process at a time until the deadlock cycle is eliminated</a:t>
            </a:r>
            <a:r>
              <a:rPr lang="en-US" sz="2400">
                <a:solidFill>
                  <a:srgbClr val="000000"/>
                </a:solidFill>
                <a:latin typeface="Calibri"/>
                <a:ea typeface="Calibri"/>
                <a:cs typeface="Calibri"/>
                <a:sym typeface="Calibri"/>
              </a:rPr>
              <a:t>. </a:t>
            </a:r>
            <a:endParaRPr/>
          </a:p>
          <a:p>
            <a:pPr indent="0" lvl="0" marL="0" rtl="0" algn="just">
              <a:lnSpc>
                <a:spcPct val="150000"/>
              </a:lnSpc>
              <a:spcBef>
                <a:spcPts val="1000"/>
              </a:spcBef>
              <a:spcAft>
                <a:spcPts val="0"/>
              </a:spcAft>
              <a:buClr>
                <a:srgbClr val="000000"/>
              </a:buClr>
              <a:buSzPts val="2400"/>
              <a:buNone/>
            </a:pPr>
            <a:r>
              <a:rPr lang="en-US" sz="2400">
                <a:solidFill>
                  <a:srgbClr val="000000"/>
                </a:solidFill>
                <a:latin typeface="Calibri"/>
                <a:ea typeface="Calibri"/>
                <a:cs typeface="Calibri"/>
                <a:sym typeface="Calibri"/>
              </a:rPr>
              <a:t>Incurs considerable overhead, since, after each process is aborted, a deadlock-detection algorithm must be invoked to determine whether any processes are still deadlocked.</a:t>
            </a:r>
            <a:endParaRPr sz="2400">
              <a:solidFill>
                <a:srgbClr val="000000"/>
              </a:solidFill>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397" name="Google Shape;397;p41"/>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2"/>
          <p:cNvSpPr txBox="1"/>
          <p:nvPr>
            <p:ph idx="1" type="body"/>
          </p:nvPr>
        </p:nvSpPr>
        <p:spPr>
          <a:xfrm>
            <a:off x="2547257" y="97970"/>
            <a:ext cx="9503229" cy="6672943"/>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chemeClr val="dk1"/>
              </a:buClr>
              <a:buSzPct val="100000"/>
              <a:buNone/>
            </a:pPr>
            <a:r>
              <a:rPr b="1" lang="en-US" sz="2400">
                <a:latin typeface="Calibri"/>
                <a:ea typeface="Calibri"/>
                <a:cs typeface="Calibri"/>
                <a:sym typeface="Calibri"/>
              </a:rPr>
              <a:t>Aborting a process may not be easy</a:t>
            </a:r>
            <a:endParaRPr/>
          </a:p>
          <a:p>
            <a:pPr indent="0" lvl="0" marL="0" rtl="0" algn="l">
              <a:lnSpc>
                <a:spcPct val="90000"/>
              </a:lnSpc>
              <a:spcBef>
                <a:spcPts val="1000"/>
              </a:spcBef>
              <a:spcAft>
                <a:spcPts val="0"/>
              </a:spcAft>
              <a:buClr>
                <a:schemeClr val="dk1"/>
              </a:buClr>
              <a:buSzPct val="100000"/>
              <a:buNone/>
            </a:pPr>
            <a:r>
              <a:rPr lang="en-US" sz="2400">
                <a:latin typeface="Calibri"/>
                <a:ea typeface="Calibri"/>
                <a:cs typeface="Calibri"/>
                <a:sym typeface="Calibri"/>
              </a:rPr>
              <a:t>Some examples:</a:t>
            </a:r>
            <a:endParaRPr/>
          </a:p>
          <a:p>
            <a:pPr indent="0" lvl="0" marL="0" rtl="0" algn="just">
              <a:lnSpc>
                <a:spcPct val="150000"/>
              </a:lnSpc>
              <a:spcBef>
                <a:spcPts val="1000"/>
              </a:spcBef>
              <a:spcAft>
                <a:spcPts val="0"/>
              </a:spcAft>
              <a:buClr>
                <a:schemeClr val="dk1"/>
              </a:buClr>
              <a:buSzPct val="100000"/>
              <a:buNone/>
            </a:pPr>
            <a:r>
              <a:rPr lang="en-US" sz="2400">
                <a:latin typeface="Calibri"/>
                <a:ea typeface="Calibri"/>
                <a:cs typeface="Calibri"/>
                <a:sym typeface="Calibri"/>
              </a:rPr>
              <a:t>If the process was in the midst of updating a file, terminating it will leave that file in an incorrect state.</a:t>
            </a:r>
            <a:endParaRPr/>
          </a:p>
          <a:p>
            <a:pPr indent="0" lvl="0" marL="0" rtl="0" algn="just">
              <a:lnSpc>
                <a:spcPct val="150000"/>
              </a:lnSpc>
              <a:spcBef>
                <a:spcPts val="1000"/>
              </a:spcBef>
              <a:spcAft>
                <a:spcPts val="0"/>
              </a:spcAft>
              <a:buClr>
                <a:schemeClr val="dk1"/>
              </a:buClr>
              <a:buSzPct val="100000"/>
              <a:buNone/>
            </a:pPr>
            <a:r>
              <a:rPr lang="en-US" sz="2400">
                <a:latin typeface="Calibri"/>
                <a:ea typeface="Calibri"/>
                <a:cs typeface="Calibri"/>
                <a:sym typeface="Calibri"/>
              </a:rPr>
              <a:t>If the process was in the midst of printing data on a printer, the system must reset the printer to a correct state before printing the next job.</a:t>
            </a:r>
            <a:endParaRPr/>
          </a:p>
          <a:p>
            <a:pPr indent="0" lvl="0" marL="0" rtl="0" algn="l">
              <a:lnSpc>
                <a:spcPct val="90000"/>
              </a:lnSpc>
              <a:spcBef>
                <a:spcPts val="1000"/>
              </a:spcBef>
              <a:spcAft>
                <a:spcPts val="0"/>
              </a:spcAft>
              <a:buClr>
                <a:schemeClr val="dk1"/>
              </a:buClr>
              <a:buSzPct val="100000"/>
              <a:buNone/>
            </a:pPr>
            <a:r>
              <a:t/>
            </a:r>
            <a:endParaRPr b="1" sz="2400">
              <a:latin typeface="Calibri"/>
              <a:ea typeface="Calibri"/>
              <a:cs typeface="Calibri"/>
              <a:sym typeface="Calibri"/>
            </a:endParaRPr>
          </a:p>
          <a:p>
            <a:pPr indent="0" lvl="0" marL="0" rtl="0" algn="l">
              <a:lnSpc>
                <a:spcPct val="90000"/>
              </a:lnSpc>
              <a:spcBef>
                <a:spcPts val="1000"/>
              </a:spcBef>
              <a:spcAft>
                <a:spcPts val="0"/>
              </a:spcAft>
              <a:buClr>
                <a:schemeClr val="dk1"/>
              </a:buClr>
              <a:buSzPct val="100000"/>
              <a:buNone/>
            </a:pPr>
            <a:r>
              <a:rPr b="1" lang="en-US" sz="2400">
                <a:latin typeface="Calibri"/>
                <a:ea typeface="Calibri"/>
                <a:cs typeface="Calibri"/>
                <a:sym typeface="Calibri"/>
              </a:rPr>
              <a:t>If the partial termination method is used:</a:t>
            </a:r>
            <a:endParaRPr/>
          </a:p>
          <a:p>
            <a:pPr indent="0" lvl="0" marL="0" rtl="0" algn="just">
              <a:lnSpc>
                <a:spcPct val="150000"/>
              </a:lnSpc>
              <a:spcBef>
                <a:spcPts val="1000"/>
              </a:spcBef>
              <a:spcAft>
                <a:spcPts val="0"/>
              </a:spcAft>
              <a:buClr>
                <a:schemeClr val="dk1"/>
              </a:buClr>
              <a:buSzPct val="100000"/>
              <a:buNone/>
            </a:pPr>
            <a:r>
              <a:rPr lang="en-US" sz="2400">
                <a:latin typeface="Calibri"/>
                <a:ea typeface="Calibri"/>
                <a:cs typeface="Calibri"/>
                <a:sym typeface="Calibri"/>
              </a:rPr>
              <a:t>We must determine which deadlocked process should be terminated.</a:t>
            </a:r>
            <a:endParaRPr/>
          </a:p>
          <a:p>
            <a:pPr indent="0" lvl="0" marL="0" rtl="0" algn="just">
              <a:lnSpc>
                <a:spcPct val="150000"/>
              </a:lnSpc>
              <a:spcBef>
                <a:spcPts val="1000"/>
              </a:spcBef>
              <a:spcAft>
                <a:spcPts val="0"/>
              </a:spcAft>
              <a:buClr>
                <a:schemeClr val="dk1"/>
              </a:buClr>
              <a:buSzPct val="100000"/>
              <a:buNone/>
            </a:pPr>
            <a:r>
              <a:rPr lang="en-US" sz="2400">
                <a:latin typeface="Calibri"/>
                <a:ea typeface="Calibri"/>
                <a:cs typeface="Calibri"/>
                <a:sym typeface="Calibri"/>
              </a:rPr>
              <a:t>This determination is a policy decision, similar to CPU – Scheduling decisions.</a:t>
            </a:r>
            <a:endParaRPr/>
          </a:p>
          <a:p>
            <a:pPr indent="0" lvl="0" marL="0" rtl="0" algn="just">
              <a:lnSpc>
                <a:spcPct val="150000"/>
              </a:lnSpc>
              <a:spcBef>
                <a:spcPts val="1000"/>
              </a:spcBef>
              <a:spcAft>
                <a:spcPts val="0"/>
              </a:spcAft>
              <a:buClr>
                <a:schemeClr val="dk1"/>
              </a:buClr>
              <a:buSzPct val="100000"/>
              <a:buNone/>
            </a:pPr>
            <a:r>
              <a:rPr lang="en-US" sz="2400">
                <a:latin typeface="Calibri"/>
                <a:ea typeface="Calibri"/>
                <a:cs typeface="Calibri"/>
                <a:sym typeface="Calibri"/>
              </a:rPr>
              <a:t>We should abort those processes whose termination will incur the minimum cost.</a:t>
            </a:r>
            <a:endParaRPr/>
          </a:p>
          <a:p>
            <a:pPr indent="0" lvl="0" marL="0" rtl="0" algn="l">
              <a:lnSpc>
                <a:spcPct val="90000"/>
              </a:lnSpc>
              <a:spcBef>
                <a:spcPts val="1000"/>
              </a:spcBef>
              <a:spcAft>
                <a:spcPts val="0"/>
              </a:spcAft>
              <a:buClr>
                <a:schemeClr val="dk1"/>
              </a:buClr>
              <a:buSzPct val="100000"/>
              <a:buNone/>
            </a:pPr>
            <a:r>
              <a:t/>
            </a:r>
            <a:endParaRPr sz="2000">
              <a:latin typeface="Calibri"/>
              <a:ea typeface="Calibri"/>
              <a:cs typeface="Calibri"/>
              <a:sym typeface="Calibri"/>
            </a:endParaRPr>
          </a:p>
        </p:txBody>
      </p:sp>
      <p:sp>
        <p:nvSpPr>
          <p:cNvPr id="403" name="Google Shape;403;p42"/>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3"/>
          <p:cNvSpPr txBox="1"/>
          <p:nvPr>
            <p:ph idx="1" type="body"/>
          </p:nvPr>
        </p:nvSpPr>
        <p:spPr>
          <a:xfrm>
            <a:off x="2547257" y="97970"/>
            <a:ext cx="9503229" cy="66729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b="1" lang="en-US" sz="2000">
                <a:latin typeface="Calibri"/>
                <a:ea typeface="Calibri"/>
                <a:cs typeface="Calibri"/>
                <a:sym typeface="Calibri"/>
              </a:rPr>
              <a:t>Some factors that affect which process are chosen to be aborted:</a:t>
            </a:r>
            <a:endParaRPr/>
          </a:p>
          <a:p>
            <a:pPr indent="0" lvl="0" marL="0" rtl="0" algn="l">
              <a:lnSpc>
                <a:spcPct val="90000"/>
              </a:lnSpc>
              <a:spcBef>
                <a:spcPts val="1000"/>
              </a:spcBef>
              <a:spcAft>
                <a:spcPts val="0"/>
              </a:spcAft>
              <a:buClr>
                <a:schemeClr val="dk1"/>
              </a:buClr>
              <a:buSzPts val="2000"/>
              <a:buNone/>
            </a:pPr>
            <a:r>
              <a:t/>
            </a:r>
            <a:endParaRPr b="1" sz="20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1. What the priority of the process is?</a:t>
            </a:r>
            <a:endParaRPr sz="20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2. How long the process has computed and how much longer the process will compute    before completing its designated task?</a:t>
            </a:r>
            <a:endParaRPr sz="20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3. How many and what type of resources the process has used (for example, whether the resources are simple to preempt)?</a:t>
            </a:r>
            <a:endParaRPr sz="20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4. How many more resources the process needs in order to complete?</a:t>
            </a:r>
            <a:endParaRPr sz="20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5. How many processes will need to be terminated?</a:t>
            </a:r>
            <a:endParaRPr sz="20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6. Whether the process is interactive or batch?</a:t>
            </a:r>
            <a:endParaRPr sz="2000">
              <a:latin typeface="Calibri"/>
              <a:ea typeface="Calibri"/>
              <a:cs typeface="Calibri"/>
              <a:sym typeface="Calibri"/>
            </a:endParaRPr>
          </a:p>
          <a:p>
            <a:pPr indent="0" lvl="0" marL="0" rtl="0" algn="l">
              <a:lnSpc>
                <a:spcPct val="90000"/>
              </a:lnSpc>
              <a:spcBef>
                <a:spcPts val="1800"/>
              </a:spcBef>
              <a:spcAft>
                <a:spcPts val="0"/>
              </a:spcAft>
              <a:buClr>
                <a:schemeClr val="dk1"/>
              </a:buClr>
              <a:buSzPts val="2000"/>
              <a:buNone/>
            </a:pPr>
            <a:r>
              <a:t/>
            </a:r>
            <a:endParaRPr sz="2000">
              <a:latin typeface="Calibri"/>
              <a:ea typeface="Calibri"/>
              <a:cs typeface="Calibri"/>
              <a:sym typeface="Calibri"/>
            </a:endParaRPr>
          </a:p>
        </p:txBody>
      </p:sp>
      <p:sp>
        <p:nvSpPr>
          <p:cNvPr id="409" name="Google Shape;409;p43"/>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4"/>
          <p:cNvSpPr txBox="1"/>
          <p:nvPr>
            <p:ph idx="1" type="body"/>
          </p:nvPr>
        </p:nvSpPr>
        <p:spPr>
          <a:xfrm>
            <a:off x="2547257" y="97970"/>
            <a:ext cx="9503229" cy="667294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ctr">
              <a:lnSpc>
                <a:spcPct val="90000"/>
              </a:lnSpc>
              <a:spcBef>
                <a:spcPts val="0"/>
              </a:spcBef>
              <a:spcAft>
                <a:spcPts val="0"/>
              </a:spcAft>
              <a:buClr>
                <a:srgbClr val="FF0000"/>
              </a:buClr>
              <a:buSzPct val="100000"/>
              <a:buNone/>
            </a:pPr>
            <a:r>
              <a:rPr b="1" lang="en-US" sz="2000">
                <a:solidFill>
                  <a:srgbClr val="FF0000"/>
                </a:solidFill>
                <a:latin typeface="Calibri"/>
                <a:ea typeface="Calibri"/>
                <a:cs typeface="Calibri"/>
                <a:sym typeface="Calibri"/>
              </a:rPr>
              <a:t>Recovery From Deadlock</a:t>
            </a:r>
            <a:endParaRPr/>
          </a:p>
          <a:p>
            <a:pPr indent="0" lvl="0" marL="0" rtl="0" algn="ctr">
              <a:lnSpc>
                <a:spcPct val="90000"/>
              </a:lnSpc>
              <a:spcBef>
                <a:spcPts val="1000"/>
              </a:spcBef>
              <a:spcAft>
                <a:spcPts val="0"/>
              </a:spcAft>
              <a:buClr>
                <a:srgbClr val="FF0000"/>
              </a:buClr>
              <a:buSzPct val="100000"/>
              <a:buNone/>
            </a:pPr>
            <a:r>
              <a:rPr b="1" lang="en-US" sz="2000">
                <a:solidFill>
                  <a:srgbClr val="FF0000"/>
                </a:solidFill>
                <a:latin typeface="Calibri"/>
                <a:ea typeface="Calibri"/>
                <a:cs typeface="Calibri"/>
                <a:sym typeface="Calibri"/>
              </a:rPr>
              <a:t>Resource Preemption</a:t>
            </a:r>
            <a:endParaRPr sz="2000">
              <a:solidFill>
                <a:srgbClr val="FF0000"/>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ct val="100000"/>
              <a:buNone/>
            </a:pPr>
            <a:r>
              <a:rPr lang="en-US" sz="2000">
                <a:latin typeface="Calibri"/>
                <a:ea typeface="Calibri"/>
                <a:cs typeface="Calibri"/>
                <a:sym typeface="Calibri"/>
              </a:rPr>
              <a:t>Here we successively preempt some resources from the system and give these resources to other processes until the deadlock cycle is broken.</a:t>
            </a:r>
            <a:endParaRPr/>
          </a:p>
          <a:p>
            <a:pPr indent="0" lvl="0" marL="0" rtl="0" algn="just">
              <a:lnSpc>
                <a:spcPct val="150000"/>
              </a:lnSpc>
              <a:spcBef>
                <a:spcPts val="1000"/>
              </a:spcBef>
              <a:spcAft>
                <a:spcPts val="0"/>
              </a:spcAft>
              <a:buClr>
                <a:schemeClr val="dk1"/>
              </a:buClr>
              <a:buSzPct val="100000"/>
              <a:buNone/>
            </a:pPr>
            <a:r>
              <a:rPr lang="en-US" sz="2000">
                <a:latin typeface="Calibri"/>
                <a:ea typeface="Calibri"/>
                <a:cs typeface="Calibri"/>
                <a:sym typeface="Calibri"/>
              </a:rPr>
              <a:t>If preemption is required, then the following three factors to be considered. </a:t>
            </a:r>
            <a:endParaRPr/>
          </a:p>
          <a:p>
            <a:pPr indent="-457200" lvl="0" marL="457200" rtl="0" algn="just">
              <a:lnSpc>
                <a:spcPct val="150000"/>
              </a:lnSpc>
              <a:spcBef>
                <a:spcPts val="1000"/>
              </a:spcBef>
              <a:spcAft>
                <a:spcPts val="0"/>
              </a:spcAft>
              <a:buClr>
                <a:schemeClr val="dk1"/>
              </a:buClr>
              <a:buSzPct val="100000"/>
              <a:buAutoNum type="arabicPeriod"/>
            </a:pPr>
            <a:r>
              <a:rPr lang="en-US" sz="2000">
                <a:latin typeface="Calibri"/>
                <a:ea typeface="Calibri"/>
                <a:cs typeface="Calibri"/>
                <a:sym typeface="Calibri"/>
              </a:rPr>
              <a:t>Selecting a victim</a:t>
            </a:r>
            <a:endParaRPr/>
          </a:p>
          <a:p>
            <a:pPr indent="-457200" lvl="0" marL="457200" rtl="0" algn="just">
              <a:lnSpc>
                <a:spcPct val="150000"/>
              </a:lnSpc>
              <a:spcBef>
                <a:spcPts val="1000"/>
              </a:spcBef>
              <a:spcAft>
                <a:spcPts val="0"/>
              </a:spcAft>
              <a:buClr>
                <a:schemeClr val="dk1"/>
              </a:buClr>
              <a:buSzPct val="100000"/>
              <a:buAutoNum type="arabicPeriod"/>
            </a:pPr>
            <a:r>
              <a:rPr lang="en-US" sz="2000">
                <a:latin typeface="Calibri"/>
                <a:ea typeface="Calibri"/>
                <a:cs typeface="Calibri"/>
                <a:sym typeface="Calibri"/>
              </a:rPr>
              <a:t>Rollback</a:t>
            </a:r>
            <a:endParaRPr/>
          </a:p>
          <a:p>
            <a:pPr indent="-457200" lvl="0" marL="457200" rtl="0" algn="just">
              <a:lnSpc>
                <a:spcPct val="150000"/>
              </a:lnSpc>
              <a:spcBef>
                <a:spcPts val="1000"/>
              </a:spcBef>
              <a:spcAft>
                <a:spcPts val="0"/>
              </a:spcAft>
              <a:buClr>
                <a:schemeClr val="dk1"/>
              </a:buClr>
              <a:buSzPct val="100000"/>
              <a:buAutoNum type="arabicPeriod"/>
            </a:pPr>
            <a:r>
              <a:rPr lang="en-US" sz="2000">
                <a:latin typeface="Calibri"/>
                <a:ea typeface="Calibri"/>
                <a:cs typeface="Calibri"/>
                <a:sym typeface="Calibri"/>
              </a:rPr>
              <a:t>Starvation</a:t>
            </a:r>
            <a:endParaRPr/>
          </a:p>
          <a:p>
            <a:pPr indent="0" lvl="0" marL="0" rtl="0" algn="just">
              <a:lnSpc>
                <a:spcPct val="150000"/>
              </a:lnSpc>
              <a:spcBef>
                <a:spcPts val="1000"/>
              </a:spcBef>
              <a:spcAft>
                <a:spcPts val="0"/>
              </a:spcAft>
              <a:buClr>
                <a:schemeClr val="dk1"/>
              </a:buClr>
              <a:buSzPct val="100000"/>
              <a:buNone/>
            </a:pPr>
            <a:r>
              <a:rPr b="1" lang="en-US" sz="2000">
                <a:latin typeface="Calibri"/>
                <a:ea typeface="Calibri"/>
                <a:cs typeface="Calibri"/>
                <a:sym typeface="Calibri"/>
              </a:rPr>
              <a:t>Selecting a victim</a:t>
            </a:r>
            <a:r>
              <a:rPr lang="en-US" sz="2000">
                <a:latin typeface="Calibri"/>
                <a:ea typeface="Calibri"/>
                <a:cs typeface="Calibri"/>
                <a:sym typeface="Calibri"/>
              </a:rPr>
              <a:t>: </a:t>
            </a:r>
            <a:endParaRPr/>
          </a:p>
          <a:p>
            <a:pPr indent="0" lvl="0" marL="0" rtl="0" algn="just">
              <a:lnSpc>
                <a:spcPct val="150000"/>
              </a:lnSpc>
              <a:spcBef>
                <a:spcPts val="1800"/>
              </a:spcBef>
              <a:spcAft>
                <a:spcPts val="0"/>
              </a:spcAft>
              <a:buClr>
                <a:schemeClr val="dk1"/>
              </a:buClr>
              <a:buSzPct val="100000"/>
              <a:buNone/>
            </a:pPr>
            <a:r>
              <a:rPr lang="en-US" sz="2000">
                <a:latin typeface="Calibri"/>
                <a:ea typeface="Calibri"/>
                <a:cs typeface="Calibri"/>
                <a:sym typeface="Calibri"/>
              </a:rPr>
              <a:t>Which resources and which processes are to be preempted?</a:t>
            </a:r>
            <a:endParaRPr/>
          </a:p>
          <a:p>
            <a:pPr indent="0" lvl="0" marL="0" rtl="0" algn="just">
              <a:lnSpc>
                <a:spcPct val="150000"/>
              </a:lnSpc>
              <a:spcBef>
                <a:spcPts val="1800"/>
              </a:spcBef>
              <a:spcAft>
                <a:spcPts val="0"/>
              </a:spcAft>
              <a:buClr>
                <a:schemeClr val="dk1"/>
              </a:buClr>
              <a:buSzPct val="100000"/>
              <a:buNone/>
            </a:pPr>
            <a:r>
              <a:rPr lang="en-US" sz="2000">
                <a:latin typeface="Calibri"/>
                <a:ea typeface="Calibri"/>
                <a:cs typeface="Calibri"/>
                <a:sym typeface="Calibri"/>
              </a:rPr>
              <a:t>Determine the order of preemption to minimize cost.</a:t>
            </a:r>
            <a:endParaRPr/>
          </a:p>
          <a:p>
            <a:pPr indent="0" lvl="0" marL="0" rtl="0" algn="just">
              <a:lnSpc>
                <a:spcPct val="150000"/>
              </a:lnSpc>
              <a:spcBef>
                <a:spcPts val="1800"/>
              </a:spcBef>
              <a:spcAft>
                <a:spcPts val="0"/>
              </a:spcAft>
              <a:buClr>
                <a:schemeClr val="dk1"/>
              </a:buClr>
              <a:buSzPct val="100000"/>
              <a:buNone/>
            </a:pPr>
            <a:r>
              <a:rPr lang="en-US" sz="2000">
                <a:latin typeface="Calibri"/>
                <a:ea typeface="Calibri"/>
                <a:cs typeface="Calibri"/>
                <a:sym typeface="Calibri"/>
              </a:rPr>
              <a:t>Cost: Parameters such as number of  resources a deadlocked process is holding and the amount of time the process has thus for consumed during its execution</a:t>
            </a:r>
            <a:endParaRPr sz="2000">
              <a:latin typeface="Calibri"/>
              <a:ea typeface="Calibri"/>
              <a:cs typeface="Calibri"/>
              <a:sym typeface="Calibri"/>
            </a:endParaRPr>
          </a:p>
        </p:txBody>
      </p:sp>
      <p:sp>
        <p:nvSpPr>
          <p:cNvPr id="415" name="Google Shape;415;p44"/>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5"/>
          <p:cNvSpPr txBox="1"/>
          <p:nvPr>
            <p:ph idx="1" type="body"/>
          </p:nvPr>
        </p:nvSpPr>
        <p:spPr>
          <a:xfrm>
            <a:off x="2547257" y="97970"/>
            <a:ext cx="9503229" cy="667294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b="1" lang="en-US" sz="2000">
                <a:latin typeface="Calibri"/>
                <a:ea typeface="Calibri"/>
                <a:cs typeface="Calibri"/>
                <a:sym typeface="Calibri"/>
              </a:rPr>
              <a:t>2. Rollback</a:t>
            </a:r>
            <a:r>
              <a:rPr lang="en-US" sz="2000">
                <a:latin typeface="Calibri"/>
                <a:ea typeface="Calibri"/>
                <a:cs typeface="Calibri"/>
                <a:sym typeface="Calibri"/>
              </a:rPr>
              <a:t>: </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What should be done with a process if we preempt its resources?</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It cannot continue it normal execution as its missing some or all of its needed resources.</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We must roll back the process to some safe state and restart it from the state.</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But what is its safe state?</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As it is difficult to determine what a safe state is, the simplest solution is a total rollback.</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Abort the process and then restart it.</a:t>
            </a:r>
            <a:endParaRPr/>
          </a:p>
          <a:p>
            <a:pPr indent="0" lvl="0" marL="0" rtl="0" algn="just">
              <a:lnSpc>
                <a:spcPct val="150000"/>
              </a:lnSpc>
              <a:spcBef>
                <a:spcPts val="1800"/>
              </a:spcBef>
              <a:spcAft>
                <a:spcPts val="0"/>
              </a:spcAft>
              <a:buClr>
                <a:schemeClr val="dk1"/>
              </a:buClr>
              <a:buSzPts val="2000"/>
              <a:buNone/>
            </a:pPr>
            <a:r>
              <a:t/>
            </a:r>
            <a:endParaRPr b="1" sz="2000">
              <a:latin typeface="Calibri"/>
              <a:ea typeface="Calibri"/>
              <a:cs typeface="Calibri"/>
              <a:sym typeface="Calibri"/>
            </a:endParaRPr>
          </a:p>
          <a:p>
            <a:pPr indent="-101600" lvl="0" marL="228600" rtl="0" algn="l">
              <a:lnSpc>
                <a:spcPct val="90000"/>
              </a:lnSpc>
              <a:spcBef>
                <a:spcPts val="1800"/>
              </a:spcBef>
              <a:spcAft>
                <a:spcPts val="0"/>
              </a:spcAft>
              <a:buClr>
                <a:schemeClr val="dk1"/>
              </a:buClr>
              <a:buSzPts val="2000"/>
              <a:buNone/>
            </a:pPr>
            <a:r>
              <a:t/>
            </a:r>
            <a:endParaRPr sz="2000">
              <a:latin typeface="Calibri"/>
              <a:ea typeface="Calibri"/>
              <a:cs typeface="Calibri"/>
              <a:sym typeface="Calibri"/>
            </a:endParaRPr>
          </a:p>
        </p:txBody>
      </p:sp>
      <p:sp>
        <p:nvSpPr>
          <p:cNvPr id="421" name="Google Shape;421;p45"/>
          <p:cNvSpPr txBox="1"/>
          <p:nvPr/>
        </p:nvSpPr>
        <p:spPr>
          <a:xfrm>
            <a:off x="524064" y="3909202"/>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
        <p:nvSpPr>
          <p:cNvPr id="422" name="Google Shape;422;p45"/>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6"/>
          <p:cNvSpPr txBox="1"/>
          <p:nvPr>
            <p:ph idx="1" type="body"/>
          </p:nvPr>
        </p:nvSpPr>
        <p:spPr>
          <a:xfrm>
            <a:off x="2547257" y="97970"/>
            <a:ext cx="9503229" cy="667294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b="1" lang="en-US" sz="2000">
                <a:latin typeface="Calibri"/>
                <a:ea typeface="Calibri"/>
                <a:cs typeface="Calibri"/>
                <a:sym typeface="Calibri"/>
              </a:rPr>
              <a:t>3. Starvation</a:t>
            </a:r>
            <a:r>
              <a:rPr lang="en-US" sz="2000">
                <a:latin typeface="Calibri"/>
                <a:ea typeface="Calibri"/>
                <a:cs typeface="Calibri"/>
                <a:sym typeface="Calibri"/>
              </a:rPr>
              <a:t>: </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How do we ensure that starvation will not occur?</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How can we guarantee that resources will not always be pre-empted from the same process?</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If victim selection is based primarily on cost factors, it may happen that the same process is always picked as a victim. As a result, this process never completes its designated task.</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We must ensure that a process can be picked as a victim only a (small) finite number of times.</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Solution: Include the number of rollbacks in the cost factor.</a:t>
            </a:r>
            <a:endParaRPr/>
          </a:p>
        </p:txBody>
      </p:sp>
      <p:sp>
        <p:nvSpPr>
          <p:cNvPr id="428" name="Google Shape;428;p46"/>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7"/>
          <p:cNvSpPr txBox="1"/>
          <p:nvPr>
            <p:ph type="title"/>
          </p:nvPr>
        </p:nvSpPr>
        <p:spPr>
          <a:xfrm>
            <a:off x="2708694" y="365125"/>
            <a:ext cx="8645106"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t/>
            </a:r>
            <a:endParaRPr/>
          </a:p>
        </p:txBody>
      </p:sp>
      <p:sp>
        <p:nvSpPr>
          <p:cNvPr id="434" name="Google Shape;434;p47"/>
          <p:cNvSpPr txBox="1"/>
          <p:nvPr>
            <p:ph idx="1" type="body"/>
          </p:nvPr>
        </p:nvSpPr>
        <p:spPr>
          <a:xfrm>
            <a:off x="5238829" y="2855610"/>
            <a:ext cx="3301489" cy="49127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THANK YOU</a:t>
            </a:r>
            <a:endParaRPr/>
          </a:p>
        </p:txBody>
      </p:sp>
      <p:sp>
        <p:nvSpPr>
          <p:cNvPr id="435" name="Google Shape;435;p47"/>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cee2a9cc0cf6217_0"/>
          <p:cNvSpPr txBox="1"/>
          <p:nvPr>
            <p:ph type="title"/>
          </p:nvPr>
        </p:nvSpPr>
        <p:spPr>
          <a:xfrm>
            <a:off x="2708694" y="365125"/>
            <a:ext cx="86451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US"/>
              <a:t>Module 4</a:t>
            </a:r>
            <a:endParaRPr/>
          </a:p>
        </p:txBody>
      </p:sp>
      <p:sp>
        <p:nvSpPr>
          <p:cNvPr id="441" name="Google Shape;441;g3cee2a9cc0cf6217_0"/>
          <p:cNvSpPr txBox="1"/>
          <p:nvPr/>
        </p:nvSpPr>
        <p:spPr>
          <a:xfrm>
            <a:off x="524064" y="3900324"/>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pic>
        <p:nvPicPr>
          <p:cNvPr id="442" name="Google Shape;442;g3cee2a9cc0cf6217_0"/>
          <p:cNvPicPr preferRelativeResize="0"/>
          <p:nvPr/>
        </p:nvPicPr>
        <p:blipFill>
          <a:blip r:embed="rId3">
            <a:alphaModFix/>
          </a:blip>
          <a:stretch>
            <a:fillRect/>
          </a:stretch>
        </p:blipFill>
        <p:spPr>
          <a:xfrm>
            <a:off x="2708700" y="1952475"/>
            <a:ext cx="9483299" cy="22556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8"/>
          <p:cNvSpPr txBox="1"/>
          <p:nvPr>
            <p:ph idx="1" type="body"/>
          </p:nvPr>
        </p:nvSpPr>
        <p:spPr>
          <a:xfrm>
            <a:off x="2558141" y="163285"/>
            <a:ext cx="9416143" cy="6531429"/>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Memory management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main purpose of a computer system is to execute programs.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During execution, these programs, together with the data they access, must be in main memory (at least partially)</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In CPU scheduling we showed how the CPU can be shared by a set of processes.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As a result of CPU scheduling CPU utilization, as well as speed of the computer’s response to its users could be improved.</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To realize this increase in performance, however, we must keep several processes in memory that is, we must have shared memory.</a:t>
            </a:r>
            <a:endParaRPr/>
          </a:p>
          <a:p>
            <a:pPr indent="0" lvl="0" marL="0" rtl="0" algn="l">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448" name="Google Shape;448;p48"/>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9"/>
          <p:cNvSpPr txBox="1"/>
          <p:nvPr>
            <p:ph idx="1" type="body"/>
          </p:nvPr>
        </p:nvSpPr>
        <p:spPr>
          <a:xfrm>
            <a:off x="2590799" y="141514"/>
            <a:ext cx="9416143" cy="6531429"/>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Main Memory </a:t>
            </a:r>
            <a:endParaRPr/>
          </a:p>
          <a:p>
            <a:pPr indent="0" lvl="0" marL="0" rtl="0" algn="ctr">
              <a:lnSpc>
                <a:spcPct val="150000"/>
              </a:lnSpc>
              <a:spcBef>
                <a:spcPts val="1000"/>
              </a:spcBef>
              <a:spcAft>
                <a:spcPts val="0"/>
              </a:spcAft>
              <a:buClr>
                <a:srgbClr val="FF0000"/>
              </a:buClr>
              <a:buSzPts val="2400"/>
              <a:buNone/>
            </a:pPr>
            <a:r>
              <a:rPr b="1" lang="en-US" sz="2400">
                <a:solidFill>
                  <a:srgbClr val="FF0000"/>
                </a:solidFill>
                <a:latin typeface="Calibri"/>
                <a:ea typeface="Calibri"/>
                <a:cs typeface="Calibri"/>
                <a:sym typeface="Calibri"/>
              </a:rPr>
              <a:t>Basic Hardware</a:t>
            </a:r>
            <a:endParaRPr b="1" sz="2400">
              <a:solidFill>
                <a:srgbClr val="FF0000"/>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Memory consists of a large array of words or bytes, each with its own address.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CPU fetches instructions from memory according to the value of the program counter.</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 These instructions may cause additional loading from and storing to specific memory addresses.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 typical instruction-execution cycle first fetches an instruction from memory.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instruction is then decoded and may cause operands to be fetched from memory. After the instruction has been executed on the operands, results may be stored back in memory.</a:t>
            </a:r>
            <a:endParaRPr sz="20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454" name="Google Shape;454;p49"/>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50"/>
          <p:cNvSpPr txBox="1"/>
          <p:nvPr>
            <p:ph idx="1" type="body"/>
          </p:nvPr>
        </p:nvSpPr>
        <p:spPr>
          <a:xfrm>
            <a:off x="2590799" y="141514"/>
            <a:ext cx="9416143" cy="6531429"/>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CPU can directly access only Main memory and the registers built into the processor.</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There are machine instructions that take memory addresses as arguments, but none that take disk addresses.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So, any instructions in execution, and any data being used by the instructions, must be in one of these direct access storage devices.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If the data are not in memory, they must be moved there before the CPU can operate on them.</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CPU Cycle Time for accessing memories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Registers :- Accessible within one cycle of the CPU clock.</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Most CPUs can decode instructions and perform simple operations on register contents at the rate of one or more operations per clock tick.</a:t>
            </a:r>
            <a:endParaRPr sz="2000">
              <a:latin typeface="Calibri"/>
              <a:ea typeface="Calibri"/>
              <a:cs typeface="Calibri"/>
              <a:sym typeface="Calibri"/>
            </a:endParaRPr>
          </a:p>
        </p:txBody>
      </p:sp>
      <p:sp>
        <p:nvSpPr>
          <p:cNvPr id="460" name="Google Shape;460;p50"/>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51"/>
          <p:cNvSpPr txBox="1"/>
          <p:nvPr>
            <p:ph idx="1" type="body"/>
          </p:nvPr>
        </p:nvSpPr>
        <p:spPr>
          <a:xfrm>
            <a:off x="2590799" y="1225118"/>
            <a:ext cx="9416143" cy="4012707"/>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Main Memory:- Access may take many cycles of the CPU clock to complete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In this case, the processor normally needs to stall, since it does not have the data required to complete the instruction that it is executing.</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This situation is intolerable because of the frequency of memory accesses.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Remedy:- Add fast memory between the CPU and main memory.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 memory buffer used to accommodate a speed differential, called a cache.</a:t>
            </a:r>
            <a:endParaRPr/>
          </a:p>
        </p:txBody>
      </p:sp>
      <p:sp>
        <p:nvSpPr>
          <p:cNvPr id="466" name="Google Shape;466;p51"/>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2"/>
          <p:cNvSpPr txBox="1"/>
          <p:nvPr>
            <p:ph idx="1" type="body"/>
          </p:nvPr>
        </p:nvSpPr>
        <p:spPr>
          <a:xfrm>
            <a:off x="2599677" y="754073"/>
            <a:ext cx="9416143" cy="4998657"/>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b="1" lang="en-US" sz="2000">
                <a:latin typeface="Calibri"/>
                <a:ea typeface="Calibri"/>
                <a:cs typeface="Calibri"/>
                <a:sym typeface="Calibri"/>
              </a:rPr>
              <a:t>Protection of OS from unauthorized access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OS has to be protected from access by user processes.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In addition, user processes must be protected from one another.</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This protection must be provided by the hardware.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This is done by ensuring that each process has a separate memory space.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To do this, we need the ability to determine the range of legal addresses that the process may access and to ensure that the process can access only these legal addresses.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This protection is provided by using two registers, usually a </a:t>
            </a:r>
            <a:r>
              <a:rPr b="1" lang="en-US" sz="2000">
                <a:latin typeface="Calibri"/>
                <a:ea typeface="Calibri"/>
                <a:cs typeface="Calibri"/>
                <a:sym typeface="Calibri"/>
              </a:rPr>
              <a:t>base</a:t>
            </a:r>
            <a:r>
              <a:rPr lang="en-US" sz="2000">
                <a:latin typeface="Calibri"/>
                <a:ea typeface="Calibri"/>
                <a:cs typeface="Calibri"/>
                <a:sym typeface="Calibri"/>
              </a:rPr>
              <a:t> and a </a:t>
            </a:r>
            <a:r>
              <a:rPr b="1" lang="en-US" sz="2000">
                <a:latin typeface="Calibri"/>
                <a:ea typeface="Calibri"/>
                <a:cs typeface="Calibri"/>
                <a:sym typeface="Calibri"/>
              </a:rPr>
              <a:t>limit</a:t>
            </a:r>
            <a:r>
              <a:rPr lang="en-US" sz="2000">
                <a:latin typeface="Calibri"/>
                <a:ea typeface="Calibri"/>
                <a:cs typeface="Calibri"/>
                <a:sym typeface="Calibri"/>
              </a:rPr>
              <a:t> </a:t>
            </a:r>
            <a:endParaRPr sz="2000">
              <a:latin typeface="Calibri"/>
              <a:ea typeface="Calibri"/>
              <a:cs typeface="Calibri"/>
              <a:sym typeface="Calibri"/>
            </a:endParaRPr>
          </a:p>
        </p:txBody>
      </p:sp>
      <p:sp>
        <p:nvSpPr>
          <p:cNvPr id="472" name="Google Shape;472;p52"/>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id="477" name="Google Shape;477;p53"/>
          <p:cNvPicPr preferRelativeResize="0"/>
          <p:nvPr>
            <p:ph idx="1" type="body"/>
          </p:nvPr>
        </p:nvPicPr>
        <p:blipFill rotWithShape="1">
          <a:blip r:embed="rId3">
            <a:alphaModFix/>
          </a:blip>
          <a:srcRect b="0" l="0" r="0" t="0"/>
          <a:stretch/>
        </p:blipFill>
        <p:spPr>
          <a:xfrm>
            <a:off x="4158342" y="671045"/>
            <a:ext cx="5290456" cy="4524613"/>
          </a:xfrm>
          <a:prstGeom prst="rect">
            <a:avLst/>
          </a:prstGeom>
          <a:noFill/>
          <a:ln>
            <a:noFill/>
          </a:ln>
        </p:spPr>
      </p:pic>
      <p:sp>
        <p:nvSpPr>
          <p:cNvPr id="478" name="Google Shape;478;p53"/>
          <p:cNvSpPr txBox="1"/>
          <p:nvPr/>
        </p:nvSpPr>
        <p:spPr>
          <a:xfrm>
            <a:off x="3750128" y="5399230"/>
            <a:ext cx="610688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A base and a limit register define a logical address space.</a:t>
            </a:r>
            <a:endParaRPr sz="2000">
              <a:solidFill>
                <a:schemeClr val="dk1"/>
              </a:solidFill>
              <a:latin typeface="Calibri"/>
              <a:ea typeface="Calibri"/>
              <a:cs typeface="Calibri"/>
              <a:sym typeface="Calibri"/>
            </a:endParaRPr>
          </a:p>
        </p:txBody>
      </p:sp>
      <p:sp>
        <p:nvSpPr>
          <p:cNvPr id="479" name="Google Shape;479;p53"/>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4"/>
          <p:cNvSpPr txBox="1"/>
          <p:nvPr>
            <p:ph idx="1" type="body"/>
          </p:nvPr>
        </p:nvSpPr>
        <p:spPr>
          <a:xfrm>
            <a:off x="2590799" y="141514"/>
            <a:ext cx="9416143" cy="655320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A base and a limit register define a logical address space.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a:t>
            </a:r>
            <a:r>
              <a:rPr b="1" lang="en-US" sz="2000">
                <a:latin typeface="Calibri"/>
                <a:ea typeface="Calibri"/>
                <a:cs typeface="Calibri"/>
                <a:sym typeface="Calibri"/>
              </a:rPr>
              <a:t>base</a:t>
            </a:r>
            <a:r>
              <a:rPr lang="en-US" sz="2000">
                <a:latin typeface="Calibri"/>
                <a:ea typeface="Calibri"/>
                <a:cs typeface="Calibri"/>
                <a:sym typeface="Calibri"/>
              </a:rPr>
              <a:t> register holds the smallest legal physical memory address.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a:t>
            </a:r>
            <a:r>
              <a:rPr b="1" lang="en-US" sz="2000">
                <a:latin typeface="Calibri"/>
                <a:ea typeface="Calibri"/>
                <a:cs typeface="Calibri"/>
                <a:sym typeface="Calibri"/>
              </a:rPr>
              <a:t>limit</a:t>
            </a:r>
            <a:r>
              <a:rPr lang="en-US" sz="2000">
                <a:latin typeface="Calibri"/>
                <a:ea typeface="Calibri"/>
                <a:cs typeface="Calibri"/>
                <a:sym typeface="Calibri"/>
              </a:rPr>
              <a:t> register specifies the size of the range.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For example, if the base register holds 300040 and the limit register is 120900, then the program can legally access all addresses from 300040 through 420939 (inclusive).</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pic>
        <p:nvPicPr>
          <p:cNvPr id="485" name="Google Shape;485;p54"/>
          <p:cNvPicPr preferRelativeResize="0"/>
          <p:nvPr/>
        </p:nvPicPr>
        <p:blipFill rotWithShape="1">
          <a:blip r:embed="rId3">
            <a:alphaModFix/>
          </a:blip>
          <a:srcRect b="0" l="0" r="0" t="0"/>
          <a:stretch/>
        </p:blipFill>
        <p:spPr>
          <a:xfrm>
            <a:off x="2841172" y="2906486"/>
            <a:ext cx="8577942" cy="3494314"/>
          </a:xfrm>
          <a:prstGeom prst="rect">
            <a:avLst/>
          </a:prstGeom>
          <a:noFill/>
          <a:ln>
            <a:noFill/>
          </a:ln>
        </p:spPr>
      </p:pic>
      <p:sp>
        <p:nvSpPr>
          <p:cNvPr id="486" name="Google Shape;486;p54"/>
          <p:cNvSpPr txBox="1"/>
          <p:nvPr/>
        </p:nvSpPr>
        <p:spPr>
          <a:xfrm>
            <a:off x="1665515" y="6295665"/>
            <a:ext cx="10526485"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Calibri"/>
                <a:ea typeface="Calibri"/>
                <a:cs typeface="Calibri"/>
                <a:sym typeface="Calibri"/>
              </a:rPr>
              <a:t>Hardware address protection with base and limit registers</a:t>
            </a:r>
            <a:endParaRPr sz="1600">
              <a:solidFill>
                <a:schemeClr val="dk1"/>
              </a:solidFill>
              <a:latin typeface="Calibri"/>
              <a:ea typeface="Calibri"/>
              <a:cs typeface="Calibri"/>
              <a:sym typeface="Calibri"/>
            </a:endParaRPr>
          </a:p>
        </p:txBody>
      </p:sp>
      <p:sp>
        <p:nvSpPr>
          <p:cNvPr id="487" name="Google Shape;487;p54"/>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5"/>
          <p:cNvSpPr txBox="1"/>
          <p:nvPr>
            <p:ph idx="1" type="body"/>
          </p:nvPr>
        </p:nvSpPr>
        <p:spPr>
          <a:xfrm>
            <a:off x="2635187" y="1364677"/>
            <a:ext cx="9481458" cy="4128645"/>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The base and limit registers can be loaded only by the operating system, which uses a special privileged instruction. </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Since privileged instructions can be executed only in kernel mode, and since only the operating system executes in kernel mode, only the operating system can load the base and limit registers.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This scheme allows the OS to change the value of the registers but prevents user programs from changing the registers contents.</a:t>
            </a:r>
            <a:endParaRPr/>
          </a:p>
        </p:txBody>
      </p:sp>
      <p:sp>
        <p:nvSpPr>
          <p:cNvPr id="493" name="Google Shape;493;p55"/>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7" name="Shape 497"/>
        <p:cNvGrpSpPr/>
        <p:nvPr/>
      </p:nvGrpSpPr>
      <p:grpSpPr>
        <a:xfrm>
          <a:off x="0" y="0"/>
          <a:ext cx="0" cy="0"/>
          <a:chOff x="0" y="0"/>
          <a:chExt cx="0" cy="0"/>
        </a:xfrm>
      </p:grpSpPr>
      <p:sp>
        <p:nvSpPr>
          <p:cNvPr id="498" name="Google Shape;498;p56"/>
          <p:cNvSpPr txBox="1"/>
          <p:nvPr>
            <p:ph idx="1" type="body"/>
          </p:nvPr>
        </p:nvSpPr>
        <p:spPr>
          <a:xfrm>
            <a:off x="2590799" y="141514"/>
            <a:ext cx="9416143" cy="6531429"/>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FF"/>
              </a:buClr>
              <a:buSzPts val="2000"/>
              <a:buNone/>
            </a:pPr>
            <a:r>
              <a:rPr b="1" lang="en-US" sz="2000">
                <a:solidFill>
                  <a:srgbClr val="0000FF"/>
                </a:solidFill>
                <a:latin typeface="Calibri"/>
                <a:ea typeface="Calibri"/>
                <a:cs typeface="Calibri"/>
                <a:sym typeface="Calibri"/>
              </a:rPr>
              <a:t>Address binding</a:t>
            </a:r>
            <a:endParaRPr sz="2000">
              <a:solidFill>
                <a:srgbClr val="0000FF"/>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Usually, a program resides on a disk as a binary executable file.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To be executed, the program must be brought into memory and placed within a process. Depending on the memory management in use, the process may be moved between disk and memory during its execution.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processes on the disk that are waiting to be brought into memory for execution form the input queue. </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Input queue </a:t>
            </a:r>
            <a:r>
              <a:rPr lang="en-US" sz="2000">
                <a:solidFill>
                  <a:srgbClr val="0000FF"/>
                </a:solidFill>
                <a:latin typeface="Play"/>
                <a:ea typeface="Play"/>
                <a:cs typeface="Play"/>
                <a:sym typeface="Play"/>
              </a:rPr>
              <a:t>→</a:t>
            </a:r>
            <a:r>
              <a:rPr lang="en-US" sz="2000">
                <a:solidFill>
                  <a:srgbClr val="0000FF"/>
                </a:solidFill>
                <a:latin typeface="Calibri"/>
                <a:ea typeface="Calibri"/>
                <a:cs typeface="Calibri"/>
                <a:sym typeface="Calibri"/>
              </a:rPr>
              <a:t> Select a process </a:t>
            </a:r>
            <a:r>
              <a:rPr lang="en-US" sz="2000">
                <a:solidFill>
                  <a:srgbClr val="0000FF"/>
                </a:solidFill>
                <a:latin typeface="Play"/>
                <a:ea typeface="Play"/>
                <a:cs typeface="Play"/>
                <a:sym typeface="Play"/>
              </a:rPr>
              <a:t>→</a:t>
            </a:r>
            <a:r>
              <a:rPr lang="en-US" sz="2000">
                <a:solidFill>
                  <a:srgbClr val="0000FF"/>
                </a:solidFill>
                <a:latin typeface="Calibri"/>
                <a:ea typeface="Calibri"/>
                <a:cs typeface="Calibri"/>
                <a:sym typeface="Calibri"/>
              </a:rPr>
              <a:t> Loads it into memory </a:t>
            </a:r>
            <a:r>
              <a:rPr lang="en-US" sz="2000">
                <a:solidFill>
                  <a:srgbClr val="0000FF"/>
                </a:solidFill>
                <a:latin typeface="Play"/>
                <a:ea typeface="Play"/>
                <a:cs typeface="Play"/>
                <a:sym typeface="Play"/>
              </a:rPr>
              <a:t>→</a:t>
            </a:r>
            <a:r>
              <a:rPr lang="en-US" sz="2000">
                <a:solidFill>
                  <a:srgbClr val="0000FF"/>
                </a:solidFill>
                <a:latin typeface="Calibri"/>
                <a:ea typeface="Calibri"/>
                <a:cs typeface="Calibri"/>
                <a:sym typeface="Calibri"/>
              </a:rPr>
              <a:t>  Executes and accesses instructions and data from memory </a:t>
            </a:r>
            <a:r>
              <a:rPr lang="en-US" sz="2000">
                <a:solidFill>
                  <a:srgbClr val="0000FF"/>
                </a:solidFill>
                <a:latin typeface="Play"/>
                <a:ea typeface="Play"/>
                <a:cs typeface="Play"/>
                <a:sym typeface="Play"/>
              </a:rPr>
              <a:t>→</a:t>
            </a:r>
            <a:r>
              <a:rPr lang="en-US" sz="2000">
                <a:solidFill>
                  <a:srgbClr val="0000FF"/>
                </a:solidFill>
                <a:latin typeface="Calibri"/>
                <a:ea typeface="Calibri"/>
                <a:cs typeface="Calibri"/>
                <a:sym typeface="Calibri"/>
              </a:rPr>
              <a:t> Process terminates  </a:t>
            </a:r>
            <a:r>
              <a:rPr lang="en-US" sz="2000">
                <a:solidFill>
                  <a:srgbClr val="0000FF"/>
                </a:solidFill>
                <a:latin typeface="Play"/>
                <a:ea typeface="Play"/>
                <a:cs typeface="Play"/>
                <a:sym typeface="Play"/>
              </a:rPr>
              <a:t>→ </a:t>
            </a:r>
            <a:r>
              <a:rPr lang="en-US" sz="2000">
                <a:solidFill>
                  <a:srgbClr val="0000FF"/>
                </a:solidFill>
                <a:latin typeface="Calibri"/>
                <a:ea typeface="Calibri"/>
                <a:cs typeface="Calibri"/>
                <a:sym typeface="Calibri"/>
              </a:rPr>
              <a:t>Memory space is declared available</a:t>
            </a:r>
            <a:endParaRPr sz="2000">
              <a:solidFill>
                <a:srgbClr val="0000FF"/>
              </a:solidFill>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499" name="Google Shape;499;p56"/>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3" name="Shape 503"/>
        <p:cNvGrpSpPr/>
        <p:nvPr/>
      </p:nvGrpSpPr>
      <p:grpSpPr>
        <a:xfrm>
          <a:off x="0" y="0"/>
          <a:ext cx="0" cy="0"/>
          <a:chOff x="0" y="0"/>
          <a:chExt cx="0" cy="0"/>
        </a:xfrm>
      </p:grpSpPr>
      <p:sp>
        <p:nvSpPr>
          <p:cNvPr id="504" name="Google Shape;504;p57"/>
          <p:cNvSpPr txBox="1"/>
          <p:nvPr>
            <p:ph idx="1" type="body"/>
          </p:nvPr>
        </p:nvSpPr>
        <p:spPr>
          <a:xfrm>
            <a:off x="2590799" y="141514"/>
            <a:ext cx="9416143" cy="6531429"/>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Most systems allow a user process to reside in any part of the physical memory.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Though address space of the computer starts at 00000, the first address of the user process need not be 00000.</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In most cases, a user program will go through several steps during COMPILE TIME, LOAD TIME, EXECUTION TIME before being executed.</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Addresses may be represented in different ways during these steps.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Source program:- Addresses are generally symbolic (such as count)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Compiler:- Typically binds these symbolic addresses to relocatable addresses (such as “14 bytes from the belonging of this module”)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Linkage editor or Loader:- Binds the relocatable addresses to absolute addresses (such as 74014)</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Each binding is a mapping from one address space to another.</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505" name="Google Shape;505;p57"/>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9" name="Shape 509"/>
        <p:cNvGrpSpPr/>
        <p:nvPr/>
      </p:nvGrpSpPr>
      <p:grpSpPr>
        <a:xfrm>
          <a:off x="0" y="0"/>
          <a:ext cx="0" cy="0"/>
          <a:chOff x="0" y="0"/>
          <a:chExt cx="0" cy="0"/>
        </a:xfrm>
      </p:grpSpPr>
      <p:sp>
        <p:nvSpPr>
          <p:cNvPr id="510" name="Google Shape;510;p58"/>
          <p:cNvSpPr txBox="1"/>
          <p:nvPr>
            <p:ph idx="1" type="body"/>
          </p:nvPr>
        </p:nvSpPr>
        <p:spPr>
          <a:xfrm>
            <a:off x="2590799" y="141514"/>
            <a:ext cx="9416143" cy="6531429"/>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Binding of instructions and data to memory addresses during</a:t>
            </a:r>
            <a:endParaRPr/>
          </a:p>
          <a:p>
            <a:pPr indent="0" lvl="0" marL="0" rtl="0" algn="just">
              <a:lnSpc>
                <a:spcPct val="150000"/>
              </a:lnSpc>
              <a:spcBef>
                <a:spcPts val="1000"/>
              </a:spcBef>
              <a:spcAft>
                <a:spcPts val="0"/>
              </a:spcAft>
              <a:buClr>
                <a:srgbClr val="000000"/>
              </a:buClr>
              <a:buSzPts val="2000"/>
              <a:buNone/>
            </a:pPr>
            <a:r>
              <a:rPr b="1" lang="en-US" sz="2000">
                <a:solidFill>
                  <a:srgbClr val="000000"/>
                </a:solidFill>
                <a:latin typeface="Calibri"/>
                <a:ea typeface="Calibri"/>
                <a:cs typeface="Calibri"/>
                <a:sym typeface="Calibri"/>
              </a:rPr>
              <a:t>Compile time</a:t>
            </a:r>
            <a:r>
              <a:rPr lang="en-US" sz="2000">
                <a:solidFill>
                  <a:srgbClr val="000000"/>
                </a:solidFill>
                <a:latin typeface="Calibri"/>
                <a:ea typeface="Calibri"/>
                <a:cs typeface="Calibri"/>
                <a:sym typeface="Calibri"/>
              </a:rPr>
              <a:t>. If you know at compile time where the process will reside in memory, then absolute code can be generated. </a:t>
            </a:r>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For example, if you know that a user process will reside starting at location R, then the generated compiler code will start at that location and extend up from there.</a:t>
            </a:r>
            <a:endParaRPr sz="2000">
              <a:solidFill>
                <a:srgbClr val="000000"/>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If, at some later time, the starting location changes, then it will be necessary to recompile this code.</a:t>
            </a:r>
            <a:endParaRPr/>
          </a:p>
          <a:p>
            <a:pPr indent="0" lvl="0" marL="0" rtl="0" algn="just">
              <a:lnSpc>
                <a:spcPct val="150000"/>
              </a:lnSpc>
              <a:spcBef>
                <a:spcPts val="1000"/>
              </a:spcBef>
              <a:spcAft>
                <a:spcPts val="0"/>
              </a:spcAft>
              <a:buClr>
                <a:schemeClr val="dk1"/>
              </a:buClr>
              <a:buSzPts val="2000"/>
              <a:buNone/>
            </a:pPr>
            <a:r>
              <a:rPr b="1" lang="en-US" sz="2000">
                <a:latin typeface="Calibri"/>
                <a:ea typeface="Calibri"/>
                <a:cs typeface="Calibri"/>
                <a:sym typeface="Calibri"/>
              </a:rPr>
              <a:t>Load time</a:t>
            </a:r>
            <a:r>
              <a:rPr lang="en-US" sz="2000">
                <a:latin typeface="Calibri"/>
                <a:ea typeface="Calibri"/>
                <a:cs typeface="Calibri"/>
                <a:sym typeface="Calibri"/>
              </a:rPr>
              <a:t>. If it is not known at compile time where the process will reside in memory, then the compiler must generate relocatable code.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In this case, final binding is delayed until load time. If the starting address changes, we need only reload the user code to incorporate this changed value.</a:t>
            </a:r>
            <a:endParaRPr sz="20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511" name="Google Shape;511;p58"/>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15" name="Shape 515"/>
        <p:cNvGrpSpPr/>
        <p:nvPr/>
      </p:nvGrpSpPr>
      <p:grpSpPr>
        <a:xfrm>
          <a:off x="0" y="0"/>
          <a:ext cx="0" cy="0"/>
          <a:chOff x="0" y="0"/>
          <a:chExt cx="0" cy="0"/>
        </a:xfrm>
      </p:grpSpPr>
      <p:sp>
        <p:nvSpPr>
          <p:cNvPr id="516" name="Google Shape;516;p59"/>
          <p:cNvSpPr txBox="1"/>
          <p:nvPr>
            <p:ph idx="1" type="body"/>
          </p:nvPr>
        </p:nvSpPr>
        <p:spPr>
          <a:xfrm>
            <a:off x="2590799" y="141514"/>
            <a:ext cx="9416143" cy="6531429"/>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00"/>
              </a:buClr>
              <a:buSzPts val="2000"/>
              <a:buNone/>
            </a:pPr>
            <a:r>
              <a:rPr b="1" lang="en-US" sz="2000">
                <a:solidFill>
                  <a:srgbClr val="000000"/>
                </a:solidFill>
                <a:latin typeface="Calibri"/>
                <a:ea typeface="Calibri"/>
                <a:cs typeface="Calibri"/>
                <a:sym typeface="Calibri"/>
              </a:rPr>
              <a:t>Execution time</a:t>
            </a:r>
            <a:r>
              <a:rPr lang="en-US" sz="2000">
                <a:solidFill>
                  <a:srgbClr val="000000"/>
                </a:solidFill>
                <a:latin typeface="Calibri"/>
                <a:ea typeface="Calibri"/>
                <a:cs typeface="Calibri"/>
                <a:sym typeface="Calibri"/>
              </a:rPr>
              <a:t>. If the process can be moved during its execution from one memory segment to another, then binding must be delayed until run time.</a:t>
            </a:r>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Special hardware must be available for this scheme to work. Most general-purpose operating systems use this method.</a:t>
            </a:r>
            <a:endParaRPr sz="2000">
              <a:solidFill>
                <a:srgbClr val="000000"/>
              </a:solidFill>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517" name="Google Shape;517;p59"/>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0"/>
          <p:cNvSpPr txBox="1"/>
          <p:nvPr>
            <p:ph idx="1" type="body"/>
          </p:nvPr>
        </p:nvSpPr>
        <p:spPr>
          <a:xfrm>
            <a:off x="2528656" y="711590"/>
            <a:ext cx="9416143" cy="5032264"/>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Logical versus Physical Address Space</a:t>
            </a:r>
            <a:endParaRPr/>
          </a:p>
          <a:p>
            <a:pPr indent="0" lvl="0" marL="0" rtl="0" algn="ctr">
              <a:lnSpc>
                <a:spcPct val="90000"/>
              </a:lnSpc>
              <a:spcBef>
                <a:spcPts val="1000"/>
              </a:spcBef>
              <a:spcAft>
                <a:spcPts val="0"/>
              </a:spcAft>
              <a:buClr>
                <a:schemeClr val="dk1"/>
              </a:buClr>
              <a:buSzPts val="2400"/>
              <a:buNone/>
            </a:pPr>
            <a:r>
              <a:t/>
            </a:r>
            <a:endParaRPr sz="2400">
              <a:solidFill>
                <a:srgbClr val="FF0000"/>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rPr b="1" lang="en-US" sz="2000">
                <a:latin typeface="Calibri"/>
                <a:ea typeface="Calibri"/>
                <a:cs typeface="Calibri"/>
                <a:sym typeface="Calibri"/>
              </a:rPr>
              <a:t>Logical Address:- </a:t>
            </a:r>
            <a:r>
              <a:rPr lang="en-US" sz="2000">
                <a:latin typeface="Calibri"/>
                <a:ea typeface="Calibri"/>
                <a:cs typeface="Calibri"/>
                <a:sym typeface="Calibri"/>
              </a:rPr>
              <a:t> An address generated by the CPU </a:t>
            </a:r>
            <a:endParaRPr sz="20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rPr b="1" lang="en-US" sz="2000">
                <a:latin typeface="Calibri"/>
                <a:ea typeface="Calibri"/>
                <a:cs typeface="Calibri"/>
                <a:sym typeface="Calibri"/>
              </a:rPr>
              <a:t>Physical Address:- </a:t>
            </a:r>
            <a:r>
              <a:rPr lang="en-US" sz="2000">
                <a:latin typeface="Calibri"/>
                <a:ea typeface="Calibri"/>
                <a:cs typeface="Calibri"/>
                <a:sym typeface="Calibri"/>
              </a:rPr>
              <a:t>An address seen by the memory unit-that is, the one loaded into memory address register of the memory.</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compile-time and load-time address-binding methods generate identical logical and physical addresses.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Execution-time address binding scheme results in differing logical and physical address. </a:t>
            </a:r>
            <a:endParaRPr sz="20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In this case, we usually refer to the logical address as virtual address. </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523" name="Google Shape;523;p60"/>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
        <p:nvSpPr>
          <p:cNvPr id="524" name="Google Shape;524;p60"/>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1"/>
          <p:cNvSpPr txBox="1"/>
          <p:nvPr>
            <p:ph idx="1" type="body"/>
          </p:nvPr>
        </p:nvSpPr>
        <p:spPr>
          <a:xfrm>
            <a:off x="2519778" y="1002648"/>
            <a:ext cx="9416143" cy="4282485"/>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Logical Address Space:- The set of all logical addresses generated by a program. </a:t>
            </a:r>
            <a:endParaRPr sz="20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Physical Address Space:- The set of all physical addresses corresponding to these logical addresses.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In the execution time address binding scheme, the logical and physical address spaces differ.</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run time mapping from virtual to physical addresses is done by a hardware device called the Memory Management Unit (MMU)</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530" name="Google Shape;530;p61"/>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id="535" name="Google Shape;535;p62"/>
          <p:cNvPicPr preferRelativeResize="0"/>
          <p:nvPr>
            <p:ph idx="1" type="body"/>
          </p:nvPr>
        </p:nvPicPr>
        <p:blipFill rotWithShape="1">
          <a:blip r:embed="rId3">
            <a:alphaModFix/>
          </a:blip>
          <a:srcRect b="0" l="0" r="0" t="0"/>
          <a:stretch/>
        </p:blipFill>
        <p:spPr>
          <a:xfrm>
            <a:off x="3273431" y="644604"/>
            <a:ext cx="7832534" cy="4310741"/>
          </a:xfrm>
          <a:prstGeom prst="rect">
            <a:avLst/>
          </a:prstGeom>
          <a:noFill/>
          <a:ln>
            <a:noFill/>
          </a:ln>
        </p:spPr>
      </p:pic>
      <p:sp>
        <p:nvSpPr>
          <p:cNvPr id="536" name="Google Shape;536;p62"/>
          <p:cNvSpPr txBox="1"/>
          <p:nvPr/>
        </p:nvSpPr>
        <p:spPr>
          <a:xfrm>
            <a:off x="3935187" y="4955345"/>
            <a:ext cx="6106884"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Calibri"/>
                <a:ea typeface="Calibri"/>
                <a:cs typeface="Calibri"/>
                <a:sym typeface="Calibri"/>
              </a:rPr>
              <a:t>Dynamic relocation using a relocation register.</a:t>
            </a:r>
            <a:endParaRPr sz="2000">
              <a:solidFill>
                <a:schemeClr val="dk1"/>
              </a:solidFill>
              <a:latin typeface="Calibri"/>
              <a:ea typeface="Calibri"/>
              <a:cs typeface="Calibri"/>
              <a:sym typeface="Calibri"/>
            </a:endParaRPr>
          </a:p>
        </p:txBody>
      </p:sp>
      <p:sp>
        <p:nvSpPr>
          <p:cNvPr id="537" name="Google Shape;537;p62"/>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3"/>
          <p:cNvSpPr txBox="1"/>
          <p:nvPr>
            <p:ph idx="1" type="body"/>
          </p:nvPr>
        </p:nvSpPr>
        <p:spPr>
          <a:xfrm>
            <a:off x="2573044" y="887240"/>
            <a:ext cx="9416143" cy="4217422"/>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We now have two different types of addresses: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Logical addresses (in the range 0 to max) and</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Physical addresses (in the range R + 0 to R + max  for a base value R)</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user generates only logical addresses and thinks that the process runs in locations 0 to max.</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user program supplies logical addresses, these logical addresses must be mapped to physical addresses before they are used. </a:t>
            </a:r>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543" name="Google Shape;543;p63"/>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7" name="Shape 547"/>
        <p:cNvGrpSpPr/>
        <p:nvPr/>
      </p:nvGrpSpPr>
      <p:grpSpPr>
        <a:xfrm>
          <a:off x="0" y="0"/>
          <a:ext cx="0" cy="0"/>
          <a:chOff x="0" y="0"/>
          <a:chExt cx="0" cy="0"/>
        </a:xfrm>
      </p:grpSpPr>
      <p:sp>
        <p:nvSpPr>
          <p:cNvPr id="548" name="Google Shape;548;p64"/>
          <p:cNvSpPr txBox="1"/>
          <p:nvPr>
            <p:ph idx="1" type="body"/>
          </p:nvPr>
        </p:nvSpPr>
        <p:spPr>
          <a:xfrm>
            <a:off x="2590799" y="141514"/>
            <a:ext cx="9416143" cy="653142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Dynamic Loading</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As we have discussed so for, the entire program and all data of a process must in physical memory for the process to execute.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size of a process is thus limited to the size of physical memory.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To obtain better memory-space utilization, we can use dynamic loading. </a:t>
            </a:r>
            <a:endParaRPr/>
          </a:p>
          <a:p>
            <a:pPr indent="0" lvl="0" marL="0" rtl="0" algn="just">
              <a:lnSpc>
                <a:spcPct val="150000"/>
              </a:lnSpc>
              <a:spcBef>
                <a:spcPts val="1000"/>
              </a:spcBef>
              <a:spcAft>
                <a:spcPts val="0"/>
              </a:spcAft>
              <a:buClr>
                <a:schemeClr val="dk1"/>
              </a:buClr>
              <a:buSzPts val="2000"/>
              <a:buNone/>
            </a:pPr>
            <a:r>
              <a:rPr b="1" lang="en-US" sz="2000">
                <a:latin typeface="Calibri"/>
                <a:ea typeface="Calibri"/>
                <a:cs typeface="Calibri"/>
                <a:sym typeface="Calibri"/>
              </a:rPr>
              <a:t>With dynamic loading, a routine is not loaded until it is called.</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All routines are kept on disk in a relocatable load format.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main program is loaded into memory and is executed.</a:t>
            </a:r>
            <a:endParaRPr/>
          </a:p>
          <a:p>
            <a:pPr indent="0" lvl="0" marL="0" rtl="0" algn="just">
              <a:lnSpc>
                <a:spcPct val="150000"/>
              </a:lnSpc>
              <a:spcBef>
                <a:spcPts val="1000"/>
              </a:spcBef>
              <a:spcAft>
                <a:spcPts val="0"/>
              </a:spcAft>
              <a:buClr>
                <a:schemeClr val="dk1"/>
              </a:buClr>
              <a:buSzPts val="2000"/>
              <a:buNone/>
            </a:pPr>
            <a:r>
              <a:t/>
            </a:r>
            <a:endParaRPr b="1" sz="20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 </a:t>
            </a:r>
            <a:endParaRPr sz="2000">
              <a:latin typeface="Calibri"/>
              <a:ea typeface="Calibri"/>
              <a:cs typeface="Calibri"/>
              <a:sym typeface="Calibri"/>
            </a:endParaRPr>
          </a:p>
        </p:txBody>
      </p:sp>
      <p:sp>
        <p:nvSpPr>
          <p:cNvPr id="549" name="Google Shape;549;p64"/>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3" name="Shape 553"/>
        <p:cNvGrpSpPr/>
        <p:nvPr/>
      </p:nvGrpSpPr>
      <p:grpSpPr>
        <a:xfrm>
          <a:off x="0" y="0"/>
          <a:ext cx="0" cy="0"/>
          <a:chOff x="0" y="0"/>
          <a:chExt cx="0" cy="0"/>
        </a:xfrm>
      </p:grpSpPr>
      <p:sp>
        <p:nvSpPr>
          <p:cNvPr id="554" name="Google Shape;554;p65"/>
          <p:cNvSpPr txBox="1"/>
          <p:nvPr>
            <p:ph idx="1" type="body"/>
          </p:nvPr>
        </p:nvSpPr>
        <p:spPr>
          <a:xfrm>
            <a:off x="2590799" y="141514"/>
            <a:ext cx="9416143" cy="6531429"/>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When a routine needs to call another routine, the calling routine first checks to see whether the other routine has been loaded.</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If not, the relocatable linking loader is called to load the desired routine into memory and to update the program’s address tables to reflect the change.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Then control is passed to the newly loaded routine.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Advantages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An unused routine is never loaded.</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This method is particularly useful when large amounts of code are needed to handle infrequently occurring cases.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Although the total program size may be large, the portion that is used( and hence loaded) may be much smaller.</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1400"/>
              <a:buNone/>
            </a:pPr>
            <a:r>
              <a:t/>
            </a:r>
            <a:endParaRPr sz="14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555" name="Google Shape;555;p65"/>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9" name="Shape 559"/>
        <p:cNvGrpSpPr/>
        <p:nvPr/>
      </p:nvGrpSpPr>
      <p:grpSpPr>
        <a:xfrm>
          <a:off x="0" y="0"/>
          <a:ext cx="0" cy="0"/>
          <a:chOff x="0" y="0"/>
          <a:chExt cx="0" cy="0"/>
        </a:xfrm>
      </p:grpSpPr>
      <p:sp>
        <p:nvSpPr>
          <p:cNvPr id="560" name="Google Shape;560;p66"/>
          <p:cNvSpPr txBox="1"/>
          <p:nvPr>
            <p:ph idx="1" type="body"/>
          </p:nvPr>
        </p:nvSpPr>
        <p:spPr>
          <a:xfrm>
            <a:off x="2590799" y="141514"/>
            <a:ext cx="9416143" cy="6531429"/>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Dynamic loading does not require special support from the operating system. </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It is the responsibility of the users to design their programs to take advantage of such a method. </a:t>
            </a:r>
            <a:endParaRPr sz="2000">
              <a:latin typeface="Calibri"/>
              <a:ea typeface="Calibri"/>
              <a:cs typeface="Calibri"/>
              <a:sym typeface="Calibri"/>
            </a:endParaRPr>
          </a:p>
        </p:txBody>
      </p:sp>
      <p:sp>
        <p:nvSpPr>
          <p:cNvPr id="561" name="Google Shape;561;p66"/>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5" name="Shape 565"/>
        <p:cNvGrpSpPr/>
        <p:nvPr/>
      </p:nvGrpSpPr>
      <p:grpSpPr>
        <a:xfrm>
          <a:off x="0" y="0"/>
          <a:ext cx="0" cy="0"/>
          <a:chOff x="0" y="0"/>
          <a:chExt cx="0" cy="0"/>
        </a:xfrm>
      </p:grpSpPr>
      <p:sp>
        <p:nvSpPr>
          <p:cNvPr id="566" name="Google Shape;566;p67"/>
          <p:cNvSpPr txBox="1"/>
          <p:nvPr>
            <p:ph idx="1" type="body"/>
          </p:nvPr>
        </p:nvSpPr>
        <p:spPr>
          <a:xfrm>
            <a:off x="2590799" y="141514"/>
            <a:ext cx="9416143" cy="6531429"/>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Dynamic Linking and Shared Libraries</a:t>
            </a:r>
            <a:endParaRPr sz="2400">
              <a:solidFill>
                <a:srgbClr val="FF0000"/>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When a program runs, apart from its own modules, it also needs to use certain system libraries as well.</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Static Linking:- System language libraries are treated like any other object module and are combined by the loader into the binary program image.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Disadvantage:- Each program on a system must include a copy of its language library (or at least the routines referenced by the program) in the executable image. This requirement both disk and main memory space.</a:t>
            </a:r>
            <a:endParaRPr/>
          </a:p>
          <a:p>
            <a:pPr indent="0" lvl="0" marL="0" rtl="0" algn="l">
              <a:lnSpc>
                <a:spcPct val="90000"/>
              </a:lnSpc>
              <a:spcBef>
                <a:spcPts val="1000"/>
              </a:spcBef>
              <a:spcAft>
                <a:spcPts val="0"/>
              </a:spcAft>
              <a:buClr>
                <a:schemeClr val="dk1"/>
              </a:buClr>
              <a:buSzPts val="2400"/>
              <a:buNone/>
            </a:pPr>
            <a:r>
              <a:rPr lang="en-US" sz="2400">
                <a:latin typeface="Calibri"/>
                <a:ea typeface="Calibri"/>
                <a:cs typeface="Calibri"/>
                <a:sym typeface="Calibri"/>
              </a:rPr>
              <a:t>Dynamic loading :- Checks  to see whether the needed routine is already in memory.</a:t>
            </a:r>
            <a:endParaRPr/>
          </a:p>
          <a:p>
            <a:pPr indent="0" lvl="0" marL="0" rtl="0" algn="l">
              <a:lnSpc>
                <a:spcPct val="90000"/>
              </a:lnSpc>
              <a:spcBef>
                <a:spcPts val="1000"/>
              </a:spcBef>
              <a:spcAft>
                <a:spcPts val="0"/>
              </a:spcAft>
              <a:buClr>
                <a:schemeClr val="dk1"/>
              </a:buClr>
              <a:buSzPts val="2400"/>
              <a:buNone/>
            </a:pPr>
            <a:r>
              <a:rPr lang="en-US" sz="2400">
                <a:latin typeface="Calibri"/>
                <a:ea typeface="Calibri"/>
                <a:cs typeface="Calibri"/>
                <a:sym typeface="Calibri"/>
              </a:rPr>
              <a:t>If not, the routine is loaded into memory.</a:t>
            </a:r>
            <a:endParaRPr/>
          </a:p>
        </p:txBody>
      </p:sp>
      <p:sp>
        <p:nvSpPr>
          <p:cNvPr id="567" name="Google Shape;567;p67"/>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1" name="Shape 571"/>
        <p:cNvGrpSpPr/>
        <p:nvPr/>
      </p:nvGrpSpPr>
      <p:grpSpPr>
        <a:xfrm>
          <a:off x="0" y="0"/>
          <a:ext cx="0" cy="0"/>
          <a:chOff x="0" y="0"/>
          <a:chExt cx="0" cy="0"/>
        </a:xfrm>
      </p:grpSpPr>
      <p:sp>
        <p:nvSpPr>
          <p:cNvPr id="572" name="Google Shape;572;p68"/>
          <p:cNvSpPr txBox="1"/>
          <p:nvPr>
            <p:ph idx="1" type="body"/>
          </p:nvPr>
        </p:nvSpPr>
        <p:spPr>
          <a:xfrm>
            <a:off x="2601686" y="163286"/>
            <a:ext cx="9481457" cy="659674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latin typeface="Calibri"/>
                <a:ea typeface="Calibri"/>
                <a:cs typeface="Calibri"/>
                <a:sym typeface="Calibri"/>
              </a:rPr>
              <a:t>The concept of dynamic linking is similar to that of dynamic loading. But here, linking rather than loading, is postponed until execution time. </a:t>
            </a:r>
            <a:endParaRPr/>
          </a:p>
          <a:p>
            <a:pPr indent="0" lvl="0" marL="0" rtl="0" algn="just">
              <a:lnSpc>
                <a:spcPct val="150000"/>
              </a:lnSpc>
              <a:spcBef>
                <a:spcPts val="1000"/>
              </a:spcBef>
              <a:spcAft>
                <a:spcPts val="0"/>
              </a:spcAft>
              <a:buClr>
                <a:srgbClr val="0000FF"/>
              </a:buClr>
              <a:buSzPts val="2400"/>
              <a:buNone/>
            </a:pPr>
            <a:r>
              <a:rPr b="1" lang="en-US" sz="2400">
                <a:solidFill>
                  <a:srgbClr val="0000FF"/>
                </a:solidFill>
                <a:latin typeface="Calibri"/>
                <a:ea typeface="Calibri"/>
                <a:cs typeface="Calibri"/>
                <a:sym typeface="Calibri"/>
              </a:rPr>
              <a:t>Dynamically Linked Libraries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With dynamic linking, a stub is included in the image for each library routine reference.</a:t>
            </a:r>
            <a:endParaRPr/>
          </a:p>
          <a:p>
            <a:pPr indent="0" lvl="0" marL="0" rtl="0" algn="just">
              <a:lnSpc>
                <a:spcPct val="150000"/>
              </a:lnSpc>
              <a:spcBef>
                <a:spcPts val="1000"/>
              </a:spcBef>
              <a:spcAft>
                <a:spcPts val="0"/>
              </a:spcAft>
              <a:buClr>
                <a:schemeClr val="dk1"/>
              </a:buClr>
              <a:buSzPts val="2400"/>
              <a:buNone/>
            </a:pPr>
            <a:r>
              <a:rPr b="1" lang="en-US" sz="2400">
                <a:latin typeface="Calibri"/>
                <a:ea typeface="Calibri"/>
                <a:cs typeface="Calibri"/>
                <a:sym typeface="Calibri"/>
              </a:rPr>
              <a:t>Stub :- </a:t>
            </a:r>
            <a:r>
              <a:rPr lang="en-US" sz="2400">
                <a:latin typeface="Calibri"/>
                <a:ea typeface="Calibri"/>
                <a:cs typeface="Calibri"/>
                <a:sym typeface="Calibri"/>
              </a:rPr>
              <a:t>A small piece of code that indicates how to locate the appropriate memory resident library routine or how to load the library if the routine is not already present.</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When the stub is executed, it checks to see whether the neede routine is already in memory.</a:t>
            </a:r>
            <a:endParaRPr/>
          </a:p>
          <a:p>
            <a:pPr indent="0" lvl="0" marL="0" rtl="0" algn="just">
              <a:lnSpc>
                <a:spcPct val="150000"/>
              </a:lnSpc>
              <a:spcBef>
                <a:spcPts val="1000"/>
              </a:spcBef>
              <a:spcAft>
                <a:spcPts val="0"/>
              </a:spcAft>
              <a:buClr>
                <a:schemeClr val="dk1"/>
              </a:buClr>
              <a:buSzPts val="2400"/>
              <a:buNone/>
            </a:pPr>
            <a:r>
              <a:t/>
            </a:r>
            <a:endParaRPr sz="24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400"/>
              <a:buNone/>
            </a:pPr>
            <a:r>
              <a:t/>
            </a:r>
            <a:endParaRPr sz="2400">
              <a:latin typeface="Calibri"/>
              <a:ea typeface="Calibri"/>
              <a:cs typeface="Calibri"/>
              <a:sym typeface="Calibri"/>
            </a:endParaRPr>
          </a:p>
        </p:txBody>
      </p:sp>
      <p:sp>
        <p:nvSpPr>
          <p:cNvPr id="573" name="Google Shape;573;p68"/>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7" name="Shape 577"/>
        <p:cNvGrpSpPr/>
        <p:nvPr/>
      </p:nvGrpSpPr>
      <p:grpSpPr>
        <a:xfrm>
          <a:off x="0" y="0"/>
          <a:ext cx="0" cy="0"/>
          <a:chOff x="0" y="0"/>
          <a:chExt cx="0" cy="0"/>
        </a:xfrm>
      </p:grpSpPr>
      <p:sp>
        <p:nvSpPr>
          <p:cNvPr id="578" name="Google Shape;578;p69"/>
          <p:cNvSpPr txBox="1"/>
          <p:nvPr>
            <p:ph idx="1" type="body"/>
          </p:nvPr>
        </p:nvSpPr>
        <p:spPr>
          <a:xfrm>
            <a:off x="2536371" y="163286"/>
            <a:ext cx="9546772" cy="6596743"/>
          </a:xfrm>
          <a:prstGeom prst="rect">
            <a:avLst/>
          </a:prstGeom>
          <a:noFill/>
          <a:ln>
            <a:noFill/>
          </a:ln>
        </p:spPr>
        <p:txBody>
          <a:bodyPr anchorCtr="0" anchor="t" bIns="45700" lIns="91425" spcFirstLastPara="1" rIns="91425" wrap="square" tIns="45700">
            <a:normAutofit/>
          </a:bodyPr>
          <a:lstStyle/>
          <a:p>
            <a:pPr indent="-228600" lvl="0" marL="228600" rtl="0" algn="just">
              <a:lnSpc>
                <a:spcPct val="150000"/>
              </a:lnSpc>
              <a:spcBef>
                <a:spcPts val="0"/>
              </a:spcBef>
              <a:spcAft>
                <a:spcPts val="0"/>
              </a:spcAft>
              <a:buClr>
                <a:schemeClr val="dk1"/>
              </a:buClr>
              <a:buSzPts val="2400"/>
              <a:buChar char="•"/>
            </a:pPr>
            <a:r>
              <a:rPr lang="en-US" sz="2400">
                <a:latin typeface="Calibri"/>
                <a:ea typeface="Calibri"/>
                <a:cs typeface="Calibri"/>
                <a:sym typeface="Calibri"/>
              </a:rPr>
              <a:t>If not, the program loads the routine into memory.</a:t>
            </a:r>
            <a:endParaRPr/>
          </a:p>
          <a:p>
            <a:pPr indent="-228600" lvl="0" marL="228600" rtl="0" algn="just">
              <a:lnSpc>
                <a:spcPct val="150000"/>
              </a:lnSpc>
              <a:spcBef>
                <a:spcPts val="1000"/>
              </a:spcBef>
              <a:spcAft>
                <a:spcPts val="0"/>
              </a:spcAft>
              <a:buClr>
                <a:schemeClr val="dk1"/>
              </a:buClr>
              <a:buSzPts val="2400"/>
              <a:buChar char="•"/>
            </a:pPr>
            <a:r>
              <a:rPr lang="en-US" sz="2400">
                <a:latin typeface="Calibri"/>
                <a:ea typeface="Calibri"/>
                <a:cs typeface="Calibri"/>
                <a:sym typeface="Calibri"/>
              </a:rPr>
              <a:t>Either way, the stub replaces itself with the address of the routine and execute the routine.</a:t>
            </a:r>
            <a:endParaRPr/>
          </a:p>
          <a:p>
            <a:pPr indent="-228600" lvl="0" marL="228600" rtl="0" algn="just">
              <a:lnSpc>
                <a:spcPct val="150000"/>
              </a:lnSpc>
              <a:spcBef>
                <a:spcPts val="1000"/>
              </a:spcBef>
              <a:spcAft>
                <a:spcPts val="0"/>
              </a:spcAft>
              <a:buClr>
                <a:schemeClr val="dk1"/>
              </a:buClr>
              <a:buSzPts val="2400"/>
              <a:buChar char="•"/>
            </a:pPr>
            <a:r>
              <a:rPr lang="en-US" sz="2400">
                <a:latin typeface="Calibri"/>
                <a:ea typeface="Calibri"/>
                <a:cs typeface="Calibri"/>
                <a:sym typeface="Calibri"/>
              </a:rPr>
              <a:t>Thus, the next time that particular code segment is reached, the library routine is executed directly, incurring no cost for dynamic linking. </a:t>
            </a:r>
            <a:endParaRPr/>
          </a:p>
        </p:txBody>
      </p:sp>
      <p:sp>
        <p:nvSpPr>
          <p:cNvPr id="579" name="Google Shape;579;p69"/>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70"/>
          <p:cNvSpPr txBox="1"/>
          <p:nvPr>
            <p:ph idx="1" type="body"/>
          </p:nvPr>
        </p:nvSpPr>
        <p:spPr>
          <a:xfrm>
            <a:off x="2536371" y="163286"/>
            <a:ext cx="9546772" cy="6596743"/>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Swapping</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A process must be in memory to be executed.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A process, however, can be swapped temporarily out of memory to a backing store and then brought back into memory for continued execution.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Example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In a multiprogramming environment with a round-robin CPU-scheduling algorithm.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When a quantum expires, the memory manager will start to swap out the process that just finished and to swap another process into the memory space that has been freed.</a:t>
            </a:r>
            <a:endParaRPr sz="24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585" name="Google Shape;585;p70"/>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id="590" name="Google Shape;590;p71"/>
          <p:cNvPicPr preferRelativeResize="0"/>
          <p:nvPr>
            <p:ph idx="1" type="body"/>
          </p:nvPr>
        </p:nvPicPr>
        <p:blipFill rotWithShape="1">
          <a:blip r:embed="rId3">
            <a:alphaModFix/>
          </a:blip>
          <a:srcRect b="0" l="0" r="0" t="0"/>
          <a:stretch/>
        </p:blipFill>
        <p:spPr>
          <a:xfrm>
            <a:off x="3037114" y="272143"/>
            <a:ext cx="8762999" cy="5641144"/>
          </a:xfrm>
          <a:prstGeom prst="rect">
            <a:avLst/>
          </a:prstGeom>
          <a:noFill/>
          <a:ln>
            <a:noFill/>
          </a:ln>
        </p:spPr>
      </p:pic>
      <p:sp>
        <p:nvSpPr>
          <p:cNvPr id="591" name="Google Shape;591;p71"/>
          <p:cNvSpPr txBox="1"/>
          <p:nvPr/>
        </p:nvSpPr>
        <p:spPr>
          <a:xfrm>
            <a:off x="4199162" y="5913287"/>
            <a:ext cx="6406243"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Calibri"/>
                <a:ea typeface="Calibri"/>
                <a:cs typeface="Calibri"/>
                <a:sym typeface="Calibri"/>
              </a:rPr>
              <a:t>Swapping of two processes using a disk as a backing store.</a:t>
            </a:r>
            <a:endParaRPr sz="2000">
              <a:solidFill>
                <a:schemeClr val="dk1"/>
              </a:solidFill>
              <a:latin typeface="Calibri"/>
              <a:ea typeface="Calibri"/>
              <a:cs typeface="Calibri"/>
              <a:sym typeface="Calibri"/>
            </a:endParaRPr>
          </a:p>
        </p:txBody>
      </p:sp>
      <p:sp>
        <p:nvSpPr>
          <p:cNvPr id="592" name="Google Shape;592;p71"/>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6" name="Shape 596"/>
        <p:cNvGrpSpPr/>
        <p:nvPr/>
      </p:nvGrpSpPr>
      <p:grpSpPr>
        <a:xfrm>
          <a:off x="0" y="0"/>
          <a:ext cx="0" cy="0"/>
          <a:chOff x="0" y="0"/>
          <a:chExt cx="0" cy="0"/>
        </a:xfrm>
      </p:grpSpPr>
      <p:sp>
        <p:nvSpPr>
          <p:cNvPr id="597" name="Google Shape;597;p72"/>
          <p:cNvSpPr txBox="1"/>
          <p:nvPr>
            <p:ph idx="1" type="body"/>
          </p:nvPr>
        </p:nvSpPr>
        <p:spPr>
          <a:xfrm>
            <a:off x="2536371" y="163286"/>
            <a:ext cx="9546772" cy="659674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FF"/>
              </a:buClr>
              <a:buSzPts val="2400"/>
              <a:buNone/>
            </a:pPr>
            <a:r>
              <a:rPr lang="en-US" sz="2400">
                <a:solidFill>
                  <a:srgbClr val="0000FF"/>
                </a:solidFill>
                <a:latin typeface="Calibri"/>
                <a:ea typeface="Calibri"/>
                <a:cs typeface="Calibri"/>
                <a:sym typeface="Calibri"/>
              </a:rPr>
              <a:t>Memory space where Swapping happens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Normally</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A process that is swapped out will be swapped back into the same memory space it occupied previously.</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But it depends on the address binding method.</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If binding is done at assembly or load time : The process cannot be easily moved to a different location.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If the binding is done at execution time:- The process can be swapped into a different memory space, because the physical addresses are computed during execution time.</a:t>
            </a:r>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598" name="Google Shape;598;p72"/>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2" name="Shape 602"/>
        <p:cNvGrpSpPr/>
        <p:nvPr/>
      </p:nvGrpSpPr>
      <p:grpSpPr>
        <a:xfrm>
          <a:off x="0" y="0"/>
          <a:ext cx="0" cy="0"/>
          <a:chOff x="0" y="0"/>
          <a:chExt cx="0" cy="0"/>
        </a:xfrm>
      </p:grpSpPr>
      <p:sp>
        <p:nvSpPr>
          <p:cNvPr id="603" name="Google Shape;603;p73"/>
          <p:cNvSpPr txBox="1"/>
          <p:nvPr>
            <p:ph idx="1" type="body"/>
          </p:nvPr>
        </p:nvSpPr>
        <p:spPr>
          <a:xfrm>
            <a:off x="2536371" y="130628"/>
            <a:ext cx="9546772" cy="6727372"/>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150000"/>
              </a:lnSpc>
              <a:spcBef>
                <a:spcPts val="0"/>
              </a:spcBef>
              <a:spcAft>
                <a:spcPts val="0"/>
              </a:spcAft>
              <a:buClr>
                <a:srgbClr val="0000FF"/>
              </a:buClr>
              <a:buSzPts val="2400"/>
              <a:buNone/>
            </a:pPr>
            <a:r>
              <a:rPr b="1" lang="en-US" sz="2400">
                <a:solidFill>
                  <a:srgbClr val="0000FF"/>
                </a:solidFill>
                <a:latin typeface="Calibri"/>
                <a:ea typeface="Calibri"/>
                <a:cs typeface="Calibri"/>
                <a:sym typeface="Calibri"/>
              </a:rPr>
              <a:t>Backing store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Swapping requires a backing store.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backing store is commonly a fast disk.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It must be large enough to accommodate copies of all memory images for all users.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 It must provide direct access to these memory images.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system maintains a ready queue consisting of all processes whose memory images are on the backing store or in memory and are ready to run.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Whenever the CPU scheduler decides to execute a process, it calls the dispatcher. </a:t>
            </a:r>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604" name="Google Shape;604;p73"/>
          <p:cNvSpPr txBox="1"/>
          <p:nvPr/>
        </p:nvSpPr>
        <p:spPr>
          <a:xfrm>
            <a:off x="524064" y="3882568"/>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8" name="Shape 608"/>
        <p:cNvGrpSpPr/>
        <p:nvPr/>
      </p:nvGrpSpPr>
      <p:grpSpPr>
        <a:xfrm>
          <a:off x="0" y="0"/>
          <a:ext cx="0" cy="0"/>
          <a:chOff x="0" y="0"/>
          <a:chExt cx="0" cy="0"/>
        </a:xfrm>
      </p:grpSpPr>
      <p:sp>
        <p:nvSpPr>
          <p:cNvPr id="609" name="Google Shape;609;p74"/>
          <p:cNvSpPr txBox="1"/>
          <p:nvPr>
            <p:ph idx="1" type="body"/>
          </p:nvPr>
        </p:nvSpPr>
        <p:spPr>
          <a:xfrm>
            <a:off x="2571882" y="1015543"/>
            <a:ext cx="9546772" cy="3710404"/>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latin typeface="Calibri"/>
                <a:ea typeface="Calibri"/>
                <a:cs typeface="Calibri"/>
                <a:sym typeface="Calibri"/>
              </a:rPr>
              <a:t>The dispatcher checks to see whether the next process in the queue is in memory.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If it is not, and if there is no free memory region, the dispatcher swaps out a process currently in memory and swaps in the desired process.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It then reloads registers and transfers control to the selected process.</a:t>
            </a:r>
            <a:endParaRPr sz="24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610" name="Google Shape;610;p74"/>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4" name="Shape 614"/>
        <p:cNvGrpSpPr/>
        <p:nvPr/>
      </p:nvGrpSpPr>
      <p:grpSpPr>
        <a:xfrm>
          <a:off x="0" y="0"/>
          <a:ext cx="0" cy="0"/>
          <a:chOff x="0" y="0"/>
          <a:chExt cx="0" cy="0"/>
        </a:xfrm>
      </p:grpSpPr>
      <p:sp>
        <p:nvSpPr>
          <p:cNvPr id="615" name="Google Shape;615;p75"/>
          <p:cNvSpPr txBox="1"/>
          <p:nvPr>
            <p:ph idx="1" type="body"/>
          </p:nvPr>
        </p:nvSpPr>
        <p:spPr>
          <a:xfrm>
            <a:off x="2536371" y="163286"/>
            <a:ext cx="9546772" cy="659674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Swap Time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context switch time in a swapping system is fairly high.</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Example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Let user process Size = 10MB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Transfer Rate of Backing Store = 40MB per second.</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Actual transfer of the 10MB process to or from main memory takes- 10000KB/40000KB per second =  ¼ second = 250milliseconds.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Assuming that no head seeks are necessary, and assuming an average latency of 8 milliseconds, the swap time = 258 milliseconds.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Since we must both swap out and swap in, the total swap time is = 258 x 2 = 516milliseconds.</a:t>
            </a:r>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616" name="Google Shape;616;p75"/>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0" name="Shape 620"/>
        <p:cNvGrpSpPr/>
        <p:nvPr/>
      </p:nvGrpSpPr>
      <p:grpSpPr>
        <a:xfrm>
          <a:off x="0" y="0"/>
          <a:ext cx="0" cy="0"/>
          <a:chOff x="0" y="0"/>
          <a:chExt cx="0" cy="0"/>
        </a:xfrm>
      </p:grpSpPr>
      <p:sp>
        <p:nvSpPr>
          <p:cNvPr id="621" name="Google Shape;621;p76"/>
          <p:cNvSpPr txBox="1"/>
          <p:nvPr>
            <p:ph idx="1" type="body"/>
          </p:nvPr>
        </p:nvSpPr>
        <p:spPr>
          <a:xfrm>
            <a:off x="2536371" y="163286"/>
            <a:ext cx="9546772" cy="659674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latin typeface="Calibri"/>
                <a:ea typeface="Calibri"/>
                <a:cs typeface="Calibri"/>
                <a:sym typeface="Calibri"/>
              </a:rPr>
              <a:t>For efficient CPU utilization, we want the execution time for each process to be long relative to the swap time.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Thus, in a round robin CPU scheduling algorithm, for example, the time quantum should be substantially larger than 0.516seconds.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major part of the swap time is transfer time.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total transfer time is directly proportional to the amount of memory swapped.</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Other factors that affect swapping </a:t>
            </a:r>
            <a:endParaRPr/>
          </a:p>
        </p:txBody>
      </p:sp>
      <p:sp>
        <p:nvSpPr>
          <p:cNvPr id="622" name="Google Shape;622;p76"/>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6" name="Shape 626"/>
        <p:cNvGrpSpPr/>
        <p:nvPr/>
      </p:nvGrpSpPr>
      <p:grpSpPr>
        <a:xfrm>
          <a:off x="0" y="0"/>
          <a:ext cx="0" cy="0"/>
          <a:chOff x="0" y="0"/>
          <a:chExt cx="0" cy="0"/>
        </a:xfrm>
      </p:grpSpPr>
      <p:sp>
        <p:nvSpPr>
          <p:cNvPr id="627" name="Google Shape;627;p77"/>
          <p:cNvSpPr txBox="1"/>
          <p:nvPr>
            <p:ph idx="1" type="body"/>
          </p:nvPr>
        </p:nvSpPr>
        <p:spPr>
          <a:xfrm>
            <a:off x="2645228" y="1065320"/>
            <a:ext cx="9546772" cy="4083728"/>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latin typeface="Calibri"/>
                <a:ea typeface="Calibri"/>
                <a:cs typeface="Calibri"/>
                <a:sym typeface="Calibri"/>
              </a:rPr>
              <a:t>A process must be completely idle in order to be swapped.</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A process may be waiting for an I/O  operation when we want to swap that process to free up memory.</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If the I/O is asynchronously accessing the user memory for I/O buffers, then the process cannot be swapped.</a:t>
            </a:r>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628" name="Google Shape;628;p77"/>
          <p:cNvSpPr txBox="1"/>
          <p:nvPr/>
        </p:nvSpPr>
        <p:spPr>
          <a:xfrm>
            <a:off x="524064" y="3944712"/>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8"/>
          <p:cNvSpPr txBox="1"/>
          <p:nvPr>
            <p:ph idx="1" type="body"/>
          </p:nvPr>
        </p:nvSpPr>
        <p:spPr>
          <a:xfrm>
            <a:off x="2536371" y="163286"/>
            <a:ext cx="9546772" cy="6596743"/>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Memory Allocation</a:t>
            </a:r>
            <a:endParaRPr/>
          </a:p>
          <a:p>
            <a:pPr indent="0" lvl="0" marL="0" rtl="0" algn="ctr">
              <a:lnSpc>
                <a:spcPct val="150000"/>
              </a:lnSpc>
              <a:spcBef>
                <a:spcPts val="1000"/>
              </a:spcBef>
              <a:spcAft>
                <a:spcPts val="0"/>
              </a:spcAft>
              <a:buClr>
                <a:schemeClr val="dk1"/>
              </a:buClr>
              <a:buSzPts val="2400"/>
              <a:buNone/>
            </a:pPr>
            <a:r>
              <a:rPr lang="en-US" sz="2400">
                <a:latin typeface="Calibri"/>
                <a:ea typeface="Calibri"/>
                <a:cs typeface="Calibri"/>
                <a:sym typeface="Calibri"/>
              </a:rPr>
              <a:t>How to allocate memory?</a:t>
            </a:r>
            <a:endParaRPr/>
          </a:p>
          <a:p>
            <a:pPr indent="0" lvl="0" marL="0" rtl="0" algn="ctr">
              <a:lnSpc>
                <a:spcPct val="150000"/>
              </a:lnSpc>
              <a:spcBef>
                <a:spcPts val="1000"/>
              </a:spcBef>
              <a:spcAft>
                <a:spcPts val="0"/>
              </a:spcAft>
              <a:buClr>
                <a:schemeClr val="dk1"/>
              </a:buClr>
              <a:buSzPts val="2400"/>
              <a:buNone/>
            </a:pPr>
            <a:r>
              <a:rPr lang="en-US" sz="2400">
                <a:latin typeface="Calibri"/>
                <a:ea typeface="Calibri"/>
                <a:cs typeface="Calibri"/>
                <a:sym typeface="Calibri"/>
              </a:rPr>
              <a:t>Divide memory into several fixed sized partitions. </a:t>
            </a:r>
            <a:endParaRPr/>
          </a:p>
          <a:p>
            <a:pPr indent="0" lvl="0" marL="0" rtl="0" algn="ctr">
              <a:lnSpc>
                <a:spcPct val="150000"/>
              </a:lnSpc>
              <a:spcBef>
                <a:spcPts val="1000"/>
              </a:spcBef>
              <a:spcAft>
                <a:spcPts val="0"/>
              </a:spcAft>
              <a:buClr>
                <a:schemeClr val="dk1"/>
              </a:buClr>
              <a:buSzPts val="2400"/>
              <a:buNone/>
            </a:pPr>
            <a:r>
              <a:rPr lang="en-US" sz="2400">
                <a:latin typeface="Calibri"/>
                <a:ea typeface="Calibri"/>
                <a:cs typeface="Calibri"/>
                <a:sym typeface="Calibri"/>
              </a:rPr>
              <a:t>Each partition may contain exactly one process.</a:t>
            </a:r>
            <a:endParaRPr/>
          </a:p>
          <a:p>
            <a:pPr indent="0" lvl="0" marL="0" rtl="0" algn="ctr">
              <a:lnSpc>
                <a:spcPct val="150000"/>
              </a:lnSpc>
              <a:spcBef>
                <a:spcPts val="1000"/>
              </a:spcBef>
              <a:spcAft>
                <a:spcPts val="0"/>
              </a:spcAft>
              <a:buClr>
                <a:schemeClr val="dk1"/>
              </a:buClr>
              <a:buSzPts val="2400"/>
              <a:buNone/>
            </a:pPr>
            <a:r>
              <a:rPr lang="en-US" sz="2400">
                <a:latin typeface="Calibri"/>
                <a:ea typeface="Calibri"/>
                <a:cs typeface="Calibri"/>
                <a:sym typeface="Calibri"/>
              </a:rPr>
              <a:t>When a partition is free, a process is selected form the input queue and is loaded into the free partition.</a:t>
            </a:r>
            <a:endParaRPr/>
          </a:p>
          <a:p>
            <a:pPr indent="0" lvl="0" marL="0" rtl="0" algn="ctr">
              <a:lnSpc>
                <a:spcPct val="150000"/>
              </a:lnSpc>
              <a:spcBef>
                <a:spcPts val="1000"/>
              </a:spcBef>
              <a:spcAft>
                <a:spcPts val="0"/>
              </a:spcAft>
              <a:buClr>
                <a:schemeClr val="dk1"/>
              </a:buClr>
              <a:buSzPts val="2400"/>
              <a:buNone/>
            </a:pPr>
            <a:r>
              <a:rPr lang="en-US" sz="2400">
                <a:latin typeface="Calibri"/>
                <a:ea typeface="Calibri"/>
                <a:cs typeface="Calibri"/>
                <a:sym typeface="Calibri"/>
              </a:rPr>
              <a:t>When the process terminates, the partition become available for another process.</a:t>
            </a:r>
            <a:endParaRPr/>
          </a:p>
          <a:p>
            <a:pPr indent="0" lvl="0" marL="0" rtl="0" algn="ctr">
              <a:lnSpc>
                <a:spcPct val="150000"/>
              </a:lnSpc>
              <a:spcBef>
                <a:spcPts val="1000"/>
              </a:spcBef>
              <a:spcAft>
                <a:spcPts val="0"/>
              </a:spcAft>
              <a:buClr>
                <a:schemeClr val="dk1"/>
              </a:buClr>
              <a:buSzPts val="2400"/>
              <a:buNone/>
            </a:pPr>
            <a:r>
              <a:rPr lang="en-US" sz="2400">
                <a:latin typeface="Calibri"/>
                <a:ea typeface="Calibri"/>
                <a:cs typeface="Calibri"/>
                <a:sym typeface="Calibri"/>
              </a:rPr>
              <a:t>This is one of the simplest methods for allocating memory.</a:t>
            </a:r>
            <a:endParaRPr/>
          </a:p>
          <a:p>
            <a:pPr indent="0" lvl="0" marL="0" rtl="0" algn="ctr">
              <a:lnSpc>
                <a:spcPct val="150000"/>
              </a:lnSpc>
              <a:spcBef>
                <a:spcPts val="1000"/>
              </a:spcBef>
              <a:spcAft>
                <a:spcPts val="0"/>
              </a:spcAft>
              <a:buClr>
                <a:schemeClr val="dk1"/>
              </a:buClr>
              <a:buSzPts val="2400"/>
              <a:buNone/>
            </a:pPr>
            <a:r>
              <a:t/>
            </a:r>
            <a:endParaRPr sz="24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634" name="Google Shape;634;p78"/>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79"/>
          <p:cNvSpPr txBox="1"/>
          <p:nvPr>
            <p:ph idx="1" type="body"/>
          </p:nvPr>
        </p:nvSpPr>
        <p:spPr>
          <a:xfrm>
            <a:off x="2536371" y="163286"/>
            <a:ext cx="9546772" cy="6596743"/>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Dynamic Storage Allocation Problem</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How to satisfy a request of size n from a list of free partitions/holes in main memory?</a:t>
            </a:r>
            <a:endParaRPr/>
          </a:p>
          <a:p>
            <a:pPr indent="0" lvl="0" marL="0" rtl="0" algn="just">
              <a:lnSpc>
                <a:spcPct val="150000"/>
              </a:lnSpc>
              <a:spcBef>
                <a:spcPts val="1000"/>
              </a:spcBef>
              <a:spcAft>
                <a:spcPts val="0"/>
              </a:spcAft>
              <a:buClr>
                <a:schemeClr val="dk1"/>
              </a:buClr>
              <a:buSzPts val="2000"/>
              <a:buNone/>
            </a:pPr>
            <a:r>
              <a:rPr b="1" lang="en-US" sz="2000">
                <a:latin typeface="Calibri"/>
                <a:ea typeface="Calibri"/>
                <a:cs typeface="Calibri"/>
                <a:sym typeface="Calibri"/>
              </a:rPr>
              <a:t>Solutions: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First fit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Best fit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Worst fit</a:t>
            </a:r>
            <a:endParaRPr/>
          </a:p>
          <a:p>
            <a:pPr indent="0" lvl="0" marL="0" rtl="0" algn="just">
              <a:lnSpc>
                <a:spcPct val="150000"/>
              </a:lnSpc>
              <a:spcBef>
                <a:spcPts val="1000"/>
              </a:spcBef>
              <a:spcAft>
                <a:spcPts val="0"/>
              </a:spcAft>
              <a:buClr>
                <a:srgbClr val="0000FF"/>
              </a:buClr>
              <a:buSzPts val="2000"/>
              <a:buNone/>
            </a:pPr>
            <a:r>
              <a:rPr b="1" lang="en-US" sz="2000">
                <a:solidFill>
                  <a:srgbClr val="0000FF"/>
                </a:solidFill>
                <a:latin typeface="Calibri"/>
                <a:ea typeface="Calibri"/>
                <a:cs typeface="Calibri"/>
                <a:sym typeface="Calibri"/>
              </a:rPr>
              <a:t>First fit</a:t>
            </a:r>
            <a:r>
              <a:rPr lang="en-US" sz="2000">
                <a:solidFill>
                  <a:srgbClr val="0000FF"/>
                </a:solidFill>
                <a:latin typeface="Calibri"/>
                <a:ea typeface="Calibri"/>
                <a:cs typeface="Calibri"/>
                <a:sym typeface="Calibri"/>
              </a:rPr>
              <a:t> </a:t>
            </a:r>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Allocate the first hole that is big enough. </a:t>
            </a:r>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Searching can start either at the beginning of the set of holes or where the previous first-fit search ended. </a:t>
            </a:r>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We can stop searching as soon as we find a free hole that is large enough.</a:t>
            </a:r>
            <a:endParaRPr sz="2000">
              <a:solidFill>
                <a:srgbClr val="000000"/>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640" name="Google Shape;640;p79"/>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80"/>
          <p:cNvSpPr txBox="1"/>
          <p:nvPr>
            <p:ph idx="1" type="body"/>
          </p:nvPr>
        </p:nvSpPr>
        <p:spPr>
          <a:xfrm>
            <a:off x="2536371" y="456249"/>
            <a:ext cx="8605105" cy="659674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FF"/>
              </a:buClr>
              <a:buSzPts val="2000"/>
              <a:buNone/>
            </a:pPr>
            <a:r>
              <a:rPr b="1" lang="en-US" sz="2000">
                <a:solidFill>
                  <a:srgbClr val="0000FF"/>
                </a:solidFill>
                <a:latin typeface="Calibri"/>
                <a:ea typeface="Calibri"/>
                <a:cs typeface="Calibri"/>
                <a:sym typeface="Calibri"/>
              </a:rPr>
              <a:t>Best fit</a:t>
            </a:r>
            <a:endParaRPr b="1" sz="2000">
              <a:solidFill>
                <a:srgbClr val="0000FF"/>
              </a:solidFill>
              <a:latin typeface="Calibri"/>
              <a:ea typeface="Calibri"/>
              <a:cs typeface="Calibri"/>
              <a:sym typeface="Calibri"/>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 Allocate the smallest hole that is big enough. </a:t>
            </a:r>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We must search the entire list, unless the list is ordered by size. </a:t>
            </a:r>
            <a:endParaRPr/>
          </a:p>
          <a:p>
            <a:pPr indent="0" lvl="0" marL="0" rtl="0" algn="just">
              <a:lnSpc>
                <a:spcPct val="150000"/>
              </a:lnSpc>
              <a:spcBef>
                <a:spcPts val="1000"/>
              </a:spcBef>
              <a:spcAft>
                <a:spcPts val="0"/>
              </a:spcAft>
              <a:buClr>
                <a:srgbClr val="000000"/>
              </a:buClr>
              <a:buSzPts val="2000"/>
              <a:buNone/>
            </a:pPr>
            <a:r>
              <a:rPr lang="en-US" sz="2000">
                <a:solidFill>
                  <a:srgbClr val="000000"/>
                </a:solidFill>
                <a:latin typeface="Calibri"/>
                <a:ea typeface="Calibri"/>
                <a:cs typeface="Calibri"/>
                <a:sym typeface="Calibri"/>
              </a:rPr>
              <a:t>This strategy produces the smallest leftover hole.</a:t>
            </a:r>
            <a:endParaRPr sz="2000">
              <a:solidFill>
                <a:srgbClr val="000000"/>
              </a:solidFill>
              <a:latin typeface="Calibri"/>
              <a:ea typeface="Calibri"/>
              <a:cs typeface="Calibri"/>
              <a:sym typeface="Calibri"/>
            </a:endParaRPr>
          </a:p>
          <a:p>
            <a:pPr indent="0" lvl="0" marL="0" rtl="0" algn="just">
              <a:lnSpc>
                <a:spcPct val="150000"/>
              </a:lnSpc>
              <a:spcBef>
                <a:spcPts val="1000"/>
              </a:spcBef>
              <a:spcAft>
                <a:spcPts val="0"/>
              </a:spcAft>
              <a:buClr>
                <a:srgbClr val="0000FF"/>
              </a:buClr>
              <a:buSzPts val="2000"/>
              <a:buNone/>
            </a:pPr>
            <a:r>
              <a:rPr b="1" lang="en-US" sz="2000">
                <a:solidFill>
                  <a:srgbClr val="0000FF"/>
                </a:solidFill>
                <a:latin typeface="Calibri"/>
                <a:ea typeface="Calibri"/>
                <a:cs typeface="Calibri"/>
                <a:sym typeface="Calibri"/>
              </a:rPr>
              <a:t>Worst fit</a:t>
            </a:r>
            <a:endParaRPr b="1" sz="2000">
              <a:solidFill>
                <a:srgbClr val="0000FF"/>
              </a:solidFill>
              <a:latin typeface="Calibri"/>
              <a:ea typeface="Calibri"/>
              <a:cs typeface="Calibri"/>
              <a:sym typeface="Calibri"/>
            </a:endParaRPr>
          </a:p>
          <a:p>
            <a:pPr indent="0" lvl="0" marL="0" rtl="0" algn="just">
              <a:lnSpc>
                <a:spcPct val="150000"/>
              </a:lnSpc>
              <a:spcBef>
                <a:spcPts val="1015"/>
              </a:spcBef>
              <a:spcAft>
                <a:spcPts val="0"/>
              </a:spcAft>
              <a:buClr>
                <a:srgbClr val="000000"/>
              </a:buClr>
              <a:buSzPts val="2000"/>
              <a:buNone/>
            </a:pPr>
            <a:r>
              <a:rPr lang="en-US" sz="2000">
                <a:solidFill>
                  <a:srgbClr val="000000"/>
                </a:solidFill>
                <a:latin typeface="Calibri"/>
                <a:ea typeface="Calibri"/>
                <a:cs typeface="Calibri"/>
                <a:sym typeface="Calibri"/>
              </a:rPr>
              <a:t> Allocate the largest hole. </a:t>
            </a:r>
            <a:endParaRPr/>
          </a:p>
          <a:p>
            <a:pPr indent="0" lvl="0" marL="0" rtl="0" algn="just">
              <a:lnSpc>
                <a:spcPct val="150000"/>
              </a:lnSpc>
              <a:spcBef>
                <a:spcPts val="1015"/>
              </a:spcBef>
              <a:spcAft>
                <a:spcPts val="0"/>
              </a:spcAft>
              <a:buClr>
                <a:srgbClr val="000000"/>
              </a:buClr>
              <a:buSzPts val="2000"/>
              <a:buNone/>
            </a:pPr>
            <a:r>
              <a:rPr lang="en-US" sz="2000">
                <a:solidFill>
                  <a:srgbClr val="000000"/>
                </a:solidFill>
                <a:latin typeface="Calibri"/>
                <a:ea typeface="Calibri"/>
                <a:cs typeface="Calibri"/>
                <a:sym typeface="Calibri"/>
              </a:rPr>
              <a:t>Again, we must search the entire list, unless it is sorted by size. </a:t>
            </a:r>
            <a:endParaRPr/>
          </a:p>
          <a:p>
            <a:pPr indent="0" lvl="0" marL="0" rtl="0" algn="just">
              <a:lnSpc>
                <a:spcPct val="150000"/>
              </a:lnSpc>
              <a:spcBef>
                <a:spcPts val="1015"/>
              </a:spcBef>
              <a:spcAft>
                <a:spcPts val="0"/>
              </a:spcAft>
              <a:buClr>
                <a:srgbClr val="000000"/>
              </a:buClr>
              <a:buSzPts val="2000"/>
              <a:buNone/>
            </a:pPr>
            <a:r>
              <a:rPr lang="en-US" sz="2000">
                <a:solidFill>
                  <a:srgbClr val="000000"/>
                </a:solidFill>
                <a:latin typeface="Calibri"/>
                <a:ea typeface="Calibri"/>
                <a:cs typeface="Calibri"/>
                <a:sym typeface="Calibri"/>
              </a:rPr>
              <a:t>This strategy produces the largest leftover hole, which may be more useful than the smaller leftover hole from a best-fit approach.</a:t>
            </a:r>
            <a:endParaRPr sz="2000">
              <a:solidFill>
                <a:srgbClr val="000000"/>
              </a:solidFill>
              <a:latin typeface="Calibri"/>
              <a:ea typeface="Calibri"/>
              <a:cs typeface="Calibri"/>
              <a:sym typeface="Calibri"/>
            </a:endParaRPr>
          </a:p>
        </p:txBody>
      </p:sp>
      <p:sp>
        <p:nvSpPr>
          <p:cNvPr id="646" name="Google Shape;646;p80"/>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81"/>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pic>
        <p:nvPicPr>
          <p:cNvPr id="652" name="Google Shape;652;p81"/>
          <p:cNvPicPr preferRelativeResize="0"/>
          <p:nvPr/>
        </p:nvPicPr>
        <p:blipFill rotWithShape="1">
          <a:blip r:embed="rId3">
            <a:alphaModFix/>
          </a:blip>
          <a:srcRect b="0" l="0" r="0" t="0"/>
          <a:stretch/>
        </p:blipFill>
        <p:spPr>
          <a:xfrm>
            <a:off x="2873405" y="979734"/>
            <a:ext cx="8188171" cy="454342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82"/>
          <p:cNvSpPr txBox="1"/>
          <p:nvPr>
            <p:ph idx="1" type="body"/>
          </p:nvPr>
        </p:nvSpPr>
        <p:spPr>
          <a:xfrm>
            <a:off x="2545249" y="1"/>
            <a:ext cx="9546772" cy="521581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ctr">
              <a:lnSpc>
                <a:spcPct val="150000"/>
              </a:lnSpc>
              <a:spcBef>
                <a:spcPts val="0"/>
              </a:spcBef>
              <a:spcAft>
                <a:spcPts val="0"/>
              </a:spcAft>
              <a:buClr>
                <a:srgbClr val="FF0000"/>
              </a:buClr>
              <a:buSzPct val="100000"/>
              <a:buNone/>
            </a:pPr>
            <a:r>
              <a:rPr b="1" lang="en-US" sz="2400">
                <a:solidFill>
                  <a:srgbClr val="FF0000"/>
                </a:solidFill>
                <a:latin typeface="Calibri"/>
                <a:ea typeface="Calibri"/>
                <a:cs typeface="Calibri"/>
                <a:sym typeface="Calibri"/>
              </a:rPr>
              <a:t>Fragmentation</a:t>
            </a:r>
            <a:endParaRPr b="1" sz="2400">
              <a:solidFill>
                <a:srgbClr val="FF0000"/>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ct val="100000"/>
              <a:buNone/>
            </a:pPr>
            <a:r>
              <a:rPr lang="en-US" sz="2000">
                <a:latin typeface="Calibri"/>
                <a:ea typeface="Calibri"/>
                <a:cs typeface="Calibri"/>
                <a:sym typeface="Calibri"/>
              </a:rPr>
              <a:t>As processes are loaded and removed from memory, the free memory space is broken into little pieces which results in fragmentation.</a:t>
            </a:r>
            <a:endParaRPr/>
          </a:p>
          <a:p>
            <a:pPr indent="0" lvl="0" marL="0" rtl="0" algn="just">
              <a:lnSpc>
                <a:spcPct val="150000"/>
              </a:lnSpc>
              <a:spcBef>
                <a:spcPts val="1000"/>
              </a:spcBef>
              <a:spcAft>
                <a:spcPts val="0"/>
              </a:spcAft>
              <a:buClr>
                <a:schemeClr val="dk1"/>
              </a:buClr>
              <a:buSzPct val="100000"/>
              <a:buNone/>
            </a:pPr>
            <a:r>
              <a:rPr lang="en-US" sz="2000">
                <a:latin typeface="Calibri"/>
                <a:ea typeface="Calibri"/>
                <a:cs typeface="Calibri"/>
                <a:sym typeface="Calibri"/>
              </a:rPr>
              <a:t>Types of fragmentation:</a:t>
            </a:r>
            <a:endParaRPr/>
          </a:p>
          <a:p>
            <a:pPr indent="-457200" lvl="0" marL="457200" rtl="0" algn="just">
              <a:lnSpc>
                <a:spcPct val="150000"/>
              </a:lnSpc>
              <a:spcBef>
                <a:spcPts val="1000"/>
              </a:spcBef>
              <a:spcAft>
                <a:spcPts val="0"/>
              </a:spcAft>
              <a:buClr>
                <a:schemeClr val="dk1"/>
              </a:buClr>
              <a:buSzPct val="100000"/>
              <a:buAutoNum type="arabicPeriod"/>
            </a:pPr>
            <a:r>
              <a:rPr lang="en-US" sz="2000">
                <a:latin typeface="Calibri"/>
                <a:ea typeface="Calibri"/>
                <a:cs typeface="Calibri"/>
                <a:sym typeface="Calibri"/>
              </a:rPr>
              <a:t>External fragmentation</a:t>
            </a:r>
            <a:endParaRPr/>
          </a:p>
          <a:p>
            <a:pPr indent="-457200" lvl="0" marL="457200" rtl="0" algn="just">
              <a:lnSpc>
                <a:spcPct val="150000"/>
              </a:lnSpc>
              <a:spcBef>
                <a:spcPts val="1000"/>
              </a:spcBef>
              <a:spcAft>
                <a:spcPts val="0"/>
              </a:spcAft>
              <a:buClr>
                <a:schemeClr val="dk1"/>
              </a:buClr>
              <a:buSzPct val="100000"/>
              <a:buAutoNum type="arabicPeriod"/>
            </a:pPr>
            <a:r>
              <a:rPr lang="en-US" sz="2000">
                <a:latin typeface="Calibri"/>
                <a:ea typeface="Calibri"/>
                <a:cs typeface="Calibri"/>
                <a:sym typeface="Calibri"/>
              </a:rPr>
              <a:t>Internal fragmentation</a:t>
            </a:r>
            <a:endParaRPr/>
          </a:p>
          <a:p>
            <a:pPr indent="0" lvl="0" marL="0" rtl="0" algn="just">
              <a:lnSpc>
                <a:spcPct val="150000"/>
              </a:lnSpc>
              <a:spcBef>
                <a:spcPts val="1000"/>
              </a:spcBef>
              <a:spcAft>
                <a:spcPts val="0"/>
              </a:spcAft>
              <a:buClr>
                <a:schemeClr val="dk1"/>
              </a:buClr>
              <a:buSzPct val="100000"/>
              <a:buNone/>
            </a:pPr>
            <a:r>
              <a:rPr b="1" lang="en-US" sz="2000">
                <a:latin typeface="Calibri"/>
                <a:ea typeface="Calibri"/>
                <a:cs typeface="Calibri"/>
                <a:sym typeface="Calibri"/>
              </a:rPr>
              <a:t>External fragmentation</a:t>
            </a:r>
            <a:r>
              <a:rPr lang="en-US" sz="2000">
                <a:latin typeface="Calibri"/>
                <a:ea typeface="Calibri"/>
                <a:cs typeface="Calibri"/>
                <a:sym typeface="Calibri"/>
              </a:rPr>
              <a:t> exists when there is enough total memory space to satisfy a request, but the available spaces are not contiguous.</a:t>
            </a:r>
            <a:endParaRPr/>
          </a:p>
          <a:p>
            <a:pPr indent="0" lvl="0" marL="0" rtl="0" algn="just">
              <a:lnSpc>
                <a:spcPct val="150000"/>
              </a:lnSpc>
              <a:spcBef>
                <a:spcPts val="1000"/>
              </a:spcBef>
              <a:spcAft>
                <a:spcPts val="0"/>
              </a:spcAft>
              <a:buClr>
                <a:schemeClr val="dk1"/>
              </a:buClr>
              <a:buSzPct val="100000"/>
              <a:buNone/>
            </a:pPr>
            <a:r>
              <a:rPr lang="en-US" sz="2000">
                <a:latin typeface="Calibri"/>
                <a:ea typeface="Calibri"/>
                <a:cs typeface="Calibri"/>
                <a:sym typeface="Calibri"/>
              </a:rPr>
              <a:t>Storage is fragmented into a large number of small holes.</a:t>
            </a:r>
            <a:endParaRPr/>
          </a:p>
          <a:p>
            <a:pPr indent="0" lvl="0" marL="0" rtl="0" algn="just">
              <a:lnSpc>
                <a:spcPct val="150000"/>
              </a:lnSpc>
              <a:spcBef>
                <a:spcPts val="1000"/>
              </a:spcBef>
              <a:spcAft>
                <a:spcPts val="0"/>
              </a:spcAft>
              <a:buClr>
                <a:schemeClr val="dk1"/>
              </a:buClr>
              <a:buSzPct val="100000"/>
              <a:buNone/>
            </a:pPr>
            <a:r>
              <a:rPr lang="en-US" sz="2000">
                <a:latin typeface="Calibri"/>
                <a:ea typeface="Calibri"/>
                <a:cs typeface="Calibri"/>
                <a:sym typeface="Calibri"/>
              </a:rPr>
              <a:t>This fragmentation problem can be severe. In the worst case, we could have a block of free (or wasted) memory between every two processes.</a:t>
            </a:r>
            <a:endParaRPr sz="2000">
              <a:latin typeface="Calibri"/>
              <a:ea typeface="Calibri"/>
              <a:cs typeface="Calibri"/>
              <a:sym typeface="Calibri"/>
            </a:endParaRPr>
          </a:p>
          <a:p>
            <a:pPr indent="0" lvl="0" marL="0" rtl="0" algn="just">
              <a:lnSpc>
                <a:spcPct val="150000"/>
              </a:lnSpc>
              <a:spcBef>
                <a:spcPts val="1000"/>
              </a:spcBef>
              <a:spcAft>
                <a:spcPts val="0"/>
              </a:spcAft>
              <a:buClr>
                <a:schemeClr val="dk1"/>
              </a:buClr>
              <a:buSzPct val="100000"/>
              <a:buNone/>
            </a:pPr>
            <a:r>
              <a:t/>
            </a:r>
            <a:endParaRPr sz="2000">
              <a:latin typeface="Calibri"/>
              <a:ea typeface="Calibri"/>
              <a:cs typeface="Calibri"/>
              <a:sym typeface="Calibri"/>
            </a:endParaRPr>
          </a:p>
        </p:txBody>
      </p:sp>
      <p:sp>
        <p:nvSpPr>
          <p:cNvPr id="658" name="Google Shape;658;p82"/>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pic>
        <p:nvPicPr>
          <p:cNvPr id="659" name="Google Shape;659;p82"/>
          <p:cNvPicPr preferRelativeResize="0"/>
          <p:nvPr/>
        </p:nvPicPr>
        <p:blipFill rotWithShape="1">
          <a:blip r:embed="rId3">
            <a:alphaModFix/>
          </a:blip>
          <a:srcRect b="0" l="0" r="0" t="0"/>
          <a:stretch/>
        </p:blipFill>
        <p:spPr>
          <a:xfrm>
            <a:off x="3506680" y="5141166"/>
            <a:ext cx="8685320" cy="1716833"/>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83"/>
          <p:cNvSpPr txBox="1"/>
          <p:nvPr>
            <p:ph idx="1" type="body"/>
          </p:nvPr>
        </p:nvSpPr>
        <p:spPr>
          <a:xfrm>
            <a:off x="2536371" y="163286"/>
            <a:ext cx="9546772" cy="659674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If all these small pieces of memory were in one big free block instead. We might be able to run several more processes.</a:t>
            </a:r>
            <a:endParaRPr/>
          </a:p>
          <a:p>
            <a:pPr indent="0" lvl="0" marL="0" rtl="0" algn="just">
              <a:lnSpc>
                <a:spcPct val="150000"/>
              </a:lnSpc>
              <a:spcBef>
                <a:spcPts val="1000"/>
              </a:spcBef>
              <a:spcAft>
                <a:spcPts val="0"/>
              </a:spcAft>
              <a:buClr>
                <a:schemeClr val="dk1"/>
              </a:buClr>
              <a:buSzPts val="2000"/>
              <a:buNone/>
            </a:pPr>
            <a:r>
              <a:rPr b="1" lang="en-US" sz="2000">
                <a:latin typeface="Calibri"/>
                <a:ea typeface="Calibri"/>
                <a:cs typeface="Calibri"/>
                <a:sym typeface="Calibri"/>
              </a:rPr>
              <a:t>Internal fragmentation</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It occurs when memory blocks assigned to processes are bigger than what the process actually needs.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Some portion of memory is left unused, as it cannot be used by another process.</a:t>
            </a:r>
            <a:endParaRPr/>
          </a:p>
          <a:p>
            <a:pPr indent="0" lvl="0" marL="0" rtl="0" algn="just">
              <a:lnSpc>
                <a:spcPct val="150000"/>
              </a:lnSpc>
              <a:spcBef>
                <a:spcPts val="1000"/>
              </a:spcBef>
              <a:spcAft>
                <a:spcPts val="0"/>
              </a:spcAft>
              <a:buClr>
                <a:schemeClr val="dk1"/>
              </a:buClr>
              <a:buSzPts val="2000"/>
              <a:buNone/>
            </a:pPr>
            <a:r>
              <a:rPr b="1" lang="en-US" sz="2000">
                <a:latin typeface="Calibri"/>
                <a:ea typeface="Calibri"/>
                <a:cs typeface="Calibri"/>
                <a:sym typeface="Calibri"/>
              </a:rPr>
              <a:t>Solution</a:t>
            </a:r>
            <a:r>
              <a:rPr lang="en-US" sz="2000">
                <a:latin typeface="Calibri"/>
                <a:ea typeface="Calibri"/>
                <a:cs typeface="Calibri"/>
                <a:sym typeface="Calibri"/>
              </a:rPr>
              <a:t>: Make use of Best Fit approach for allocating memory segments to processes. </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p:txBody>
      </p:sp>
      <p:pic>
        <p:nvPicPr>
          <p:cNvPr descr="Internal Fragmentation" id="665" name="Google Shape;665;p83"/>
          <p:cNvPicPr preferRelativeResize="0"/>
          <p:nvPr/>
        </p:nvPicPr>
        <p:blipFill rotWithShape="1">
          <a:blip r:embed="rId3">
            <a:alphaModFix/>
          </a:blip>
          <a:srcRect b="0" l="0" r="0" t="0"/>
          <a:stretch/>
        </p:blipFill>
        <p:spPr>
          <a:xfrm>
            <a:off x="2661557" y="4021901"/>
            <a:ext cx="9296400" cy="2836099"/>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4"/>
          <p:cNvSpPr txBox="1"/>
          <p:nvPr>
            <p:ph idx="1" type="body"/>
          </p:nvPr>
        </p:nvSpPr>
        <p:spPr>
          <a:xfrm>
            <a:off x="2508379" y="0"/>
            <a:ext cx="7494037" cy="659674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70C0"/>
              </a:buClr>
              <a:buSzPts val="2400"/>
              <a:buNone/>
            </a:pPr>
            <a:r>
              <a:rPr lang="en-US" sz="2400">
                <a:solidFill>
                  <a:srgbClr val="0070C0"/>
                </a:solidFill>
                <a:latin typeface="Times New Roman"/>
                <a:ea typeface="Times New Roman"/>
                <a:cs typeface="Times New Roman"/>
                <a:sym typeface="Times New Roman"/>
              </a:rPr>
              <a:t>Solution to external fragmentation</a:t>
            </a:r>
            <a:endParaRPr/>
          </a:p>
          <a:p>
            <a:pPr indent="-228600" lvl="0" marL="228600" rtl="0" algn="just">
              <a:lnSpc>
                <a:spcPct val="150000"/>
              </a:lnSpc>
              <a:spcBef>
                <a:spcPts val="1000"/>
              </a:spcBef>
              <a:spcAft>
                <a:spcPts val="0"/>
              </a:spcAft>
              <a:buClr>
                <a:srgbClr val="0070C0"/>
              </a:buClr>
              <a:buSzPts val="2400"/>
              <a:buChar char="•"/>
            </a:pPr>
            <a:r>
              <a:rPr lang="en-US" sz="2400">
                <a:solidFill>
                  <a:srgbClr val="0070C0"/>
                </a:solidFill>
                <a:latin typeface="Times New Roman"/>
                <a:ea typeface="Times New Roman"/>
                <a:cs typeface="Times New Roman"/>
                <a:sym typeface="Times New Roman"/>
              </a:rPr>
              <a:t>Compaction</a:t>
            </a:r>
            <a:endParaRPr/>
          </a:p>
          <a:p>
            <a:pPr indent="0" lvl="0" marL="0" rtl="0" algn="just">
              <a:lnSpc>
                <a:spcPct val="15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Shuffle the memory contents so as to place all free memory together in one large block. </a:t>
            </a:r>
            <a:endParaRPr/>
          </a:p>
          <a:p>
            <a:pPr indent="0" lvl="0" marL="0" rtl="0" algn="just">
              <a:lnSpc>
                <a:spcPct val="15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Cons:</a:t>
            </a:r>
            <a:endParaRPr/>
          </a:p>
          <a:p>
            <a:pPr indent="-228600" lvl="0" marL="228600" rtl="0" algn="just">
              <a:lnSpc>
                <a:spcPct val="15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Compaction is not always possible.</a:t>
            </a:r>
            <a:endParaRPr/>
          </a:p>
          <a:p>
            <a:pPr indent="-228600" lvl="0" marL="228600" rtl="0" algn="just">
              <a:lnSpc>
                <a:spcPct val="15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If relocation is static and is done at assembly or load time, compaction cannot be done. </a:t>
            </a:r>
            <a:endParaRPr/>
          </a:p>
          <a:p>
            <a:pPr indent="-228600" lvl="0" marL="228600" rtl="0" algn="just">
              <a:lnSpc>
                <a:spcPct val="15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It is possible only if relocation is dynamic and is done at execution time. </a:t>
            </a:r>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671" name="Google Shape;671;p84"/>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pic>
        <p:nvPicPr>
          <p:cNvPr descr="Fragmentation memory after compaction technique" id="672" name="Google Shape;672;p84"/>
          <p:cNvPicPr preferRelativeResize="0"/>
          <p:nvPr/>
        </p:nvPicPr>
        <p:blipFill rotWithShape="1">
          <a:blip r:embed="rId3">
            <a:alphaModFix/>
          </a:blip>
          <a:srcRect b="0" l="0" r="0" t="0"/>
          <a:stretch/>
        </p:blipFill>
        <p:spPr>
          <a:xfrm>
            <a:off x="6096000" y="559837"/>
            <a:ext cx="6114661" cy="1101013"/>
          </a:xfrm>
          <a:prstGeom prst="rect">
            <a:avLst/>
          </a:prstGeom>
          <a:noFill/>
          <a:ln>
            <a:noFill/>
          </a:ln>
        </p:spPr>
      </p:pic>
      <p:pic>
        <p:nvPicPr>
          <p:cNvPr descr="Fragmentation memory after compaction technique" id="673" name="Google Shape;673;p84"/>
          <p:cNvPicPr preferRelativeResize="0"/>
          <p:nvPr/>
        </p:nvPicPr>
        <p:blipFill rotWithShape="1">
          <a:blip r:embed="rId3">
            <a:alphaModFix/>
          </a:blip>
          <a:srcRect b="0" l="0" r="0" t="0"/>
          <a:stretch/>
        </p:blipFill>
        <p:spPr>
          <a:xfrm>
            <a:off x="5943601" y="2148667"/>
            <a:ext cx="6248399" cy="1280333"/>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pic>
        <p:nvPicPr>
          <p:cNvPr descr="Paging in Operating System with examples | Engineer's Portal" id="678" name="Google Shape;678;p85"/>
          <p:cNvPicPr preferRelativeResize="0"/>
          <p:nvPr/>
        </p:nvPicPr>
        <p:blipFill rotWithShape="1">
          <a:blip r:embed="rId3">
            <a:alphaModFix/>
          </a:blip>
          <a:srcRect b="0" l="0" r="0" t="0"/>
          <a:stretch/>
        </p:blipFill>
        <p:spPr>
          <a:xfrm>
            <a:off x="5952931" y="3943780"/>
            <a:ext cx="5924938" cy="2914220"/>
          </a:xfrm>
          <a:prstGeom prst="rect">
            <a:avLst/>
          </a:prstGeom>
          <a:noFill/>
          <a:ln>
            <a:noFill/>
          </a:ln>
        </p:spPr>
      </p:pic>
      <p:sp>
        <p:nvSpPr>
          <p:cNvPr id="679" name="Google Shape;679;p85"/>
          <p:cNvSpPr txBox="1"/>
          <p:nvPr>
            <p:ph idx="1" type="body"/>
          </p:nvPr>
        </p:nvSpPr>
        <p:spPr>
          <a:xfrm>
            <a:off x="2396412" y="0"/>
            <a:ext cx="9546772" cy="5196632"/>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Paging</a:t>
            </a:r>
            <a:endParaRPr sz="2400">
              <a:solidFill>
                <a:srgbClr val="FF0000"/>
              </a:solidFill>
              <a:latin typeface="Calibri"/>
              <a:ea typeface="Calibri"/>
              <a:cs typeface="Calibri"/>
              <a:sym typeface="Calibri"/>
            </a:endParaRPr>
          </a:p>
          <a:p>
            <a:pPr indent="-228600" lvl="0" marL="228600" rtl="0" algn="just">
              <a:lnSpc>
                <a:spcPct val="150000"/>
              </a:lnSpc>
              <a:spcBef>
                <a:spcPts val="1800"/>
              </a:spcBef>
              <a:spcAft>
                <a:spcPts val="0"/>
              </a:spcAft>
              <a:buClr>
                <a:schemeClr val="dk1"/>
              </a:buClr>
              <a:buSzPts val="2400"/>
              <a:buChar char="•"/>
            </a:pPr>
            <a:r>
              <a:rPr lang="en-US" sz="2400">
                <a:latin typeface="Calibri"/>
                <a:ea typeface="Calibri"/>
                <a:cs typeface="Calibri"/>
                <a:sym typeface="Calibri"/>
              </a:rPr>
              <a:t>Paging is a memory-management scheme that permits the physical address space of a process to be noncontiguous. </a:t>
            </a:r>
            <a:endParaRPr/>
          </a:p>
          <a:p>
            <a:pPr indent="-228600" lvl="0" marL="228600" rtl="0" algn="just">
              <a:lnSpc>
                <a:spcPct val="150000"/>
              </a:lnSpc>
              <a:spcBef>
                <a:spcPts val="1800"/>
              </a:spcBef>
              <a:spcAft>
                <a:spcPts val="0"/>
              </a:spcAft>
              <a:buClr>
                <a:schemeClr val="dk1"/>
              </a:buClr>
              <a:buSzPts val="2400"/>
              <a:buChar char="•"/>
            </a:pPr>
            <a:r>
              <a:rPr lang="en-US" sz="2400">
                <a:latin typeface="Calibri"/>
                <a:ea typeface="Calibri"/>
                <a:cs typeface="Calibri"/>
                <a:sym typeface="Calibri"/>
              </a:rPr>
              <a:t>Paging avoids the considerable problem of fitting memory chunks of varying sizes onto the backing store.</a:t>
            </a:r>
            <a:endParaRPr/>
          </a:p>
          <a:p>
            <a:pPr indent="-228600" lvl="0" marL="228600" rtl="0" algn="just">
              <a:lnSpc>
                <a:spcPct val="150000"/>
              </a:lnSpc>
              <a:spcBef>
                <a:spcPts val="1800"/>
              </a:spcBef>
              <a:spcAft>
                <a:spcPts val="0"/>
              </a:spcAft>
              <a:buClr>
                <a:schemeClr val="dk1"/>
              </a:buClr>
              <a:buSzPts val="2400"/>
              <a:buChar char="•"/>
            </a:pPr>
            <a:r>
              <a:rPr lang="en-US" sz="2400">
                <a:latin typeface="Calibri"/>
                <a:ea typeface="Calibri"/>
                <a:cs typeface="Calibri"/>
                <a:sym typeface="Calibri"/>
              </a:rPr>
              <a:t> Most memory-management schemes used before the introduction of paging suffered from this problem.</a:t>
            </a:r>
            <a:endParaRPr sz="2400">
              <a:latin typeface="Calibri"/>
              <a:ea typeface="Calibri"/>
              <a:cs typeface="Calibri"/>
              <a:sym typeface="Calibri"/>
            </a:endParaRPr>
          </a:p>
          <a:p>
            <a:pPr indent="-101600" lvl="0" marL="228600" rtl="0" algn="l">
              <a:lnSpc>
                <a:spcPct val="90000"/>
              </a:lnSpc>
              <a:spcBef>
                <a:spcPts val="1800"/>
              </a:spcBef>
              <a:spcAft>
                <a:spcPts val="0"/>
              </a:spcAft>
              <a:buClr>
                <a:schemeClr val="dk1"/>
              </a:buClr>
              <a:buSzPts val="2000"/>
              <a:buNone/>
            </a:pPr>
            <a:r>
              <a:t/>
            </a:r>
            <a:endParaRPr sz="2000">
              <a:latin typeface="Calibri"/>
              <a:ea typeface="Calibri"/>
              <a:cs typeface="Calibri"/>
              <a:sym typeface="Calibri"/>
            </a:endParaRPr>
          </a:p>
        </p:txBody>
      </p:sp>
      <p:sp>
        <p:nvSpPr>
          <p:cNvPr id="680" name="Google Shape;680;p85"/>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86"/>
          <p:cNvSpPr txBox="1"/>
          <p:nvPr>
            <p:ph idx="1" type="body"/>
          </p:nvPr>
        </p:nvSpPr>
        <p:spPr>
          <a:xfrm>
            <a:off x="2536371" y="163286"/>
            <a:ext cx="9546772" cy="6596743"/>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Page Table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Every address generated by the CPU is divided into two parts: a </a:t>
            </a:r>
            <a:r>
              <a:rPr b="1" lang="en-US" sz="2400">
                <a:latin typeface="Calibri"/>
                <a:ea typeface="Calibri"/>
                <a:cs typeface="Calibri"/>
                <a:sym typeface="Calibri"/>
              </a:rPr>
              <a:t>page number (p)</a:t>
            </a:r>
            <a:r>
              <a:rPr lang="en-US" sz="2400">
                <a:latin typeface="Calibri"/>
                <a:ea typeface="Calibri"/>
                <a:cs typeface="Calibri"/>
                <a:sym typeface="Calibri"/>
              </a:rPr>
              <a:t> and a </a:t>
            </a:r>
            <a:r>
              <a:rPr b="1" lang="en-US" sz="2400">
                <a:latin typeface="Calibri"/>
                <a:ea typeface="Calibri"/>
                <a:cs typeface="Calibri"/>
                <a:sym typeface="Calibri"/>
              </a:rPr>
              <a:t>page offset (d).</a:t>
            </a:r>
            <a:r>
              <a:rPr lang="en-US" sz="2400">
                <a:latin typeface="Calibri"/>
                <a:ea typeface="Calibri"/>
                <a:cs typeface="Calibri"/>
                <a:sym typeface="Calibri"/>
              </a:rPr>
              <a:t>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Address of the each of data that is present inside the pages of the particular process consists of Page number(p) :-  Used as an index into a page table.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Page offset(d) : - The displacement within the page. </a:t>
            </a:r>
            <a:endParaRPr sz="24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page table contains the base address of each page in physical memory. This base address is combined with the page offset to define the physical memory address that is sent to the memory unit. </a:t>
            </a:r>
            <a:endParaRPr sz="2400">
              <a:latin typeface="Calibri"/>
              <a:ea typeface="Calibri"/>
              <a:cs typeface="Calibri"/>
              <a:sym typeface="Calibri"/>
            </a:endParaRPr>
          </a:p>
        </p:txBody>
      </p:sp>
      <p:sp>
        <p:nvSpPr>
          <p:cNvPr id="686" name="Google Shape;686;p86"/>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7"/>
          <p:cNvSpPr txBox="1"/>
          <p:nvPr/>
        </p:nvSpPr>
        <p:spPr>
          <a:xfrm>
            <a:off x="4170680" y="6091801"/>
            <a:ext cx="610616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Paging model of logical and physical memory</a:t>
            </a:r>
            <a:endParaRPr sz="2000">
              <a:solidFill>
                <a:schemeClr val="dk1"/>
              </a:solidFill>
              <a:latin typeface="Calibri"/>
              <a:ea typeface="Calibri"/>
              <a:cs typeface="Calibri"/>
              <a:sym typeface="Calibri"/>
            </a:endParaRPr>
          </a:p>
        </p:txBody>
      </p:sp>
      <p:sp>
        <p:nvSpPr>
          <p:cNvPr id="692" name="Google Shape;692;p87"/>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pic>
        <p:nvPicPr>
          <p:cNvPr id="693" name="Google Shape;693;p87"/>
          <p:cNvPicPr preferRelativeResize="0"/>
          <p:nvPr/>
        </p:nvPicPr>
        <p:blipFill rotWithShape="1">
          <a:blip r:embed="rId3">
            <a:alphaModFix/>
          </a:blip>
          <a:srcRect b="0" l="0" r="0" t="0"/>
          <a:stretch/>
        </p:blipFill>
        <p:spPr>
          <a:xfrm>
            <a:off x="2494597" y="510211"/>
            <a:ext cx="9458325" cy="59817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pic>
        <p:nvPicPr>
          <p:cNvPr id="698" name="Google Shape;698;p88"/>
          <p:cNvPicPr preferRelativeResize="0"/>
          <p:nvPr>
            <p:ph idx="1" type="body"/>
          </p:nvPr>
        </p:nvPicPr>
        <p:blipFill rotWithShape="1">
          <a:blip r:embed="rId3">
            <a:alphaModFix/>
          </a:blip>
          <a:srcRect b="0" l="0" r="0" t="0"/>
          <a:stretch/>
        </p:blipFill>
        <p:spPr>
          <a:xfrm>
            <a:off x="2875280" y="120134"/>
            <a:ext cx="8696960" cy="5971667"/>
          </a:xfrm>
          <a:prstGeom prst="rect">
            <a:avLst/>
          </a:prstGeom>
          <a:noFill/>
          <a:ln>
            <a:noFill/>
          </a:ln>
        </p:spPr>
      </p:pic>
      <p:sp>
        <p:nvSpPr>
          <p:cNvPr id="699" name="Google Shape;699;p88"/>
          <p:cNvSpPr txBox="1"/>
          <p:nvPr/>
        </p:nvSpPr>
        <p:spPr>
          <a:xfrm>
            <a:off x="4170680" y="6091801"/>
            <a:ext cx="610616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Paging model of logical and physical memory</a:t>
            </a:r>
            <a:endParaRPr sz="2000">
              <a:solidFill>
                <a:schemeClr val="dk1"/>
              </a:solidFill>
              <a:latin typeface="Calibri"/>
              <a:ea typeface="Calibri"/>
              <a:cs typeface="Calibri"/>
              <a:sym typeface="Calibri"/>
            </a:endParaRPr>
          </a:p>
        </p:txBody>
      </p:sp>
      <p:sp>
        <p:nvSpPr>
          <p:cNvPr id="700" name="Google Shape;700;p88"/>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89"/>
          <p:cNvSpPr txBox="1"/>
          <p:nvPr>
            <p:ph idx="1" type="body"/>
          </p:nvPr>
        </p:nvSpPr>
        <p:spPr>
          <a:xfrm>
            <a:off x="2536371" y="163286"/>
            <a:ext cx="9546772" cy="659674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b="1" lang="en-US" sz="2000">
                <a:latin typeface="Calibri"/>
                <a:ea typeface="Calibri"/>
                <a:cs typeface="Calibri"/>
                <a:sym typeface="Calibri"/>
              </a:rPr>
              <a:t>Translation of Logical Address to Physical Address using Page Table</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Every address generated by the CPU is divided into two parts:</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A page number (p) and A page offset (d)</a:t>
            </a:r>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pic>
        <p:nvPicPr>
          <p:cNvPr id="706" name="Google Shape;706;p89"/>
          <p:cNvPicPr preferRelativeResize="0"/>
          <p:nvPr/>
        </p:nvPicPr>
        <p:blipFill rotWithShape="1">
          <a:blip r:embed="rId3">
            <a:alphaModFix/>
          </a:blip>
          <a:srcRect b="0" l="0" r="0" t="0"/>
          <a:stretch/>
        </p:blipFill>
        <p:spPr>
          <a:xfrm>
            <a:off x="3139440" y="1374310"/>
            <a:ext cx="7614920" cy="1956264"/>
          </a:xfrm>
          <a:prstGeom prst="rect">
            <a:avLst/>
          </a:prstGeom>
          <a:noFill/>
          <a:ln>
            <a:noFill/>
          </a:ln>
        </p:spPr>
      </p:pic>
      <p:sp>
        <p:nvSpPr>
          <p:cNvPr id="707" name="Google Shape;707;p89"/>
          <p:cNvSpPr txBox="1"/>
          <p:nvPr/>
        </p:nvSpPr>
        <p:spPr>
          <a:xfrm>
            <a:off x="4648200" y="3330574"/>
            <a:ext cx="610616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page number and page offset</a:t>
            </a:r>
            <a:endParaRPr sz="2000">
              <a:solidFill>
                <a:schemeClr val="dk1"/>
              </a:solidFill>
              <a:latin typeface="Calibri"/>
              <a:ea typeface="Calibri"/>
              <a:cs typeface="Calibri"/>
              <a:sym typeface="Calibri"/>
            </a:endParaRPr>
          </a:p>
        </p:txBody>
      </p:sp>
      <p:sp>
        <p:nvSpPr>
          <p:cNvPr id="708" name="Google Shape;708;p89"/>
          <p:cNvSpPr txBox="1"/>
          <p:nvPr/>
        </p:nvSpPr>
        <p:spPr>
          <a:xfrm>
            <a:off x="2717800" y="3826628"/>
            <a:ext cx="8823960" cy="163313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Page number(p) :- Used as an index into the page table </a:t>
            </a:r>
            <a:endParaRPr/>
          </a:p>
          <a:p>
            <a:pPr indent="0" lvl="0" marL="0" marR="0" rtl="0" algn="l">
              <a:lnSpc>
                <a:spcPct val="150000"/>
              </a:lnSpc>
              <a:spcBef>
                <a:spcPts val="800"/>
              </a:spcBef>
              <a:spcAft>
                <a:spcPts val="0"/>
              </a:spcAft>
              <a:buNone/>
            </a:pPr>
            <a:r>
              <a:rPr lang="en-US" sz="2000">
                <a:solidFill>
                  <a:schemeClr val="dk1"/>
                </a:solidFill>
                <a:latin typeface="Times New Roman"/>
                <a:ea typeface="Times New Roman"/>
                <a:cs typeface="Times New Roman"/>
                <a:sym typeface="Times New Roman"/>
              </a:rPr>
              <a:t>Page Offset(d) :- The displacement within the page.</a:t>
            </a:r>
            <a:endParaRPr sz="2000">
              <a:solidFill>
                <a:schemeClr val="dk1"/>
              </a:solidFill>
              <a:latin typeface="Calibri"/>
              <a:ea typeface="Calibri"/>
              <a:cs typeface="Calibri"/>
              <a:sym typeface="Calibri"/>
            </a:endParaRPr>
          </a:p>
          <a:p>
            <a:pPr indent="0" lvl="0" marL="0" marR="0" rtl="0" algn="l">
              <a:lnSpc>
                <a:spcPct val="150000"/>
              </a:lnSpc>
              <a:spcBef>
                <a:spcPts val="800"/>
              </a:spcBef>
              <a:spcAft>
                <a:spcPts val="0"/>
              </a:spcAft>
              <a:buNone/>
            </a:pPr>
            <a:r>
              <a:rPr lang="en-US" sz="2000">
                <a:solidFill>
                  <a:schemeClr val="dk1"/>
                </a:solidFill>
                <a:latin typeface="Times New Roman"/>
                <a:ea typeface="Times New Roman"/>
                <a:cs typeface="Times New Roman"/>
                <a:sym typeface="Times New Roman"/>
              </a:rPr>
              <a:t> </a:t>
            </a:r>
            <a:endParaRPr sz="2000">
              <a:solidFill>
                <a:schemeClr val="dk1"/>
              </a:solidFill>
              <a:latin typeface="Calibri"/>
              <a:ea typeface="Calibri"/>
              <a:cs typeface="Calibri"/>
              <a:sym typeface="Calibri"/>
            </a:endParaRPr>
          </a:p>
        </p:txBody>
      </p:sp>
      <p:sp>
        <p:nvSpPr>
          <p:cNvPr id="709" name="Google Shape;709;p89"/>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pic>
        <p:nvPicPr>
          <p:cNvPr id="714" name="Google Shape;714;p90"/>
          <p:cNvPicPr preferRelativeResize="0"/>
          <p:nvPr>
            <p:ph idx="1" type="body"/>
          </p:nvPr>
        </p:nvPicPr>
        <p:blipFill rotWithShape="1">
          <a:blip r:embed="rId3">
            <a:alphaModFix/>
          </a:blip>
          <a:srcRect b="0" l="0" r="0" t="0"/>
          <a:stretch/>
        </p:blipFill>
        <p:spPr>
          <a:xfrm>
            <a:off x="2854960" y="274320"/>
            <a:ext cx="9001760" cy="5923280"/>
          </a:xfrm>
          <a:prstGeom prst="rect">
            <a:avLst/>
          </a:prstGeom>
          <a:noFill/>
          <a:ln>
            <a:noFill/>
          </a:ln>
        </p:spPr>
      </p:pic>
      <p:sp>
        <p:nvSpPr>
          <p:cNvPr id="715" name="Google Shape;715;p90"/>
          <p:cNvSpPr txBox="1"/>
          <p:nvPr/>
        </p:nvSpPr>
        <p:spPr>
          <a:xfrm>
            <a:off x="2448560" y="6186085"/>
            <a:ext cx="8219440" cy="40703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lang="en-US" sz="2000">
                <a:solidFill>
                  <a:schemeClr val="dk1"/>
                </a:solidFill>
                <a:latin typeface="Calibri"/>
                <a:ea typeface="Calibri"/>
                <a:cs typeface="Calibri"/>
                <a:sym typeface="Calibri"/>
              </a:rPr>
              <a:t>Translation of Logical Address  to Physical Address using Page Table</a:t>
            </a:r>
            <a:endParaRPr sz="2000">
              <a:solidFill>
                <a:schemeClr val="dk1"/>
              </a:solidFill>
              <a:latin typeface="Calibri"/>
              <a:ea typeface="Calibri"/>
              <a:cs typeface="Calibri"/>
              <a:sym typeface="Calibri"/>
            </a:endParaRPr>
          </a:p>
        </p:txBody>
      </p:sp>
      <p:sp>
        <p:nvSpPr>
          <p:cNvPr id="716" name="Google Shape;716;p90"/>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
        <p:nvSpPr>
          <p:cNvPr descr="Paging | Memory Management | Operating System | Gate Vidyalay" id="717" name="Google Shape;717;p90"/>
          <p:cNvSpPr/>
          <p:nvPr/>
        </p:nvSpPr>
        <p:spPr>
          <a:xfrm>
            <a:off x="5943599" y="3276600"/>
            <a:ext cx="1324947"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91"/>
          <p:cNvSpPr txBox="1"/>
          <p:nvPr>
            <p:ph idx="1" type="body"/>
          </p:nvPr>
        </p:nvSpPr>
        <p:spPr>
          <a:xfrm>
            <a:off x="2536371" y="163286"/>
            <a:ext cx="9546772" cy="6596743"/>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Hardware implementation of Page Table</a:t>
            </a:r>
            <a:endParaRPr/>
          </a:p>
          <a:p>
            <a:pPr indent="0" lvl="0" marL="0" rtl="0" algn="just">
              <a:lnSpc>
                <a:spcPct val="150000"/>
              </a:lnSpc>
              <a:spcBef>
                <a:spcPts val="1000"/>
              </a:spcBef>
              <a:spcAft>
                <a:spcPts val="0"/>
              </a:spcAft>
              <a:buClr>
                <a:srgbClr val="0000FF"/>
              </a:buClr>
              <a:buSzPts val="2400"/>
              <a:buNone/>
            </a:pPr>
            <a:r>
              <a:rPr lang="en-US" sz="2400">
                <a:solidFill>
                  <a:srgbClr val="0000FF"/>
                </a:solidFill>
                <a:latin typeface="Calibri"/>
                <a:ea typeface="Calibri"/>
                <a:cs typeface="Calibri"/>
                <a:sym typeface="Calibri"/>
              </a:rPr>
              <a:t>Case 1: Implement the page table as a set of dedicated registers.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Problem: This can be used only when page table is reasonably small.</a:t>
            </a:r>
            <a:endParaRPr/>
          </a:p>
          <a:p>
            <a:pPr indent="0" lvl="0" marL="0" rtl="0" algn="just">
              <a:lnSpc>
                <a:spcPct val="150000"/>
              </a:lnSpc>
              <a:spcBef>
                <a:spcPts val="1000"/>
              </a:spcBef>
              <a:spcAft>
                <a:spcPts val="0"/>
              </a:spcAft>
              <a:buClr>
                <a:srgbClr val="0000FF"/>
              </a:buClr>
              <a:buSzPts val="2400"/>
              <a:buNone/>
            </a:pPr>
            <a:r>
              <a:rPr lang="en-US" sz="2400">
                <a:solidFill>
                  <a:srgbClr val="0000FF"/>
                </a:solidFill>
                <a:latin typeface="Calibri"/>
                <a:ea typeface="Calibri"/>
                <a:cs typeface="Calibri"/>
                <a:sym typeface="Calibri"/>
              </a:rPr>
              <a:t>Case 2: Keep the page table in main memory and a page table base register </a:t>
            </a:r>
            <a:r>
              <a:rPr lang="en-US" sz="2400">
                <a:solidFill>
                  <a:srgbClr val="FF0000"/>
                </a:solidFill>
                <a:latin typeface="Calibri"/>
                <a:ea typeface="Calibri"/>
                <a:cs typeface="Calibri"/>
                <a:sym typeface="Calibri"/>
              </a:rPr>
              <a:t>(PTBR) points </a:t>
            </a:r>
            <a:r>
              <a:rPr lang="en-US" sz="2400">
                <a:solidFill>
                  <a:srgbClr val="0000FF"/>
                </a:solidFill>
                <a:latin typeface="Calibri"/>
                <a:ea typeface="Calibri"/>
                <a:cs typeface="Calibri"/>
                <a:sym typeface="Calibri"/>
              </a:rPr>
              <a:t>to the page table.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Problem: The time required to access a user memory location is increased as there are two memory accesses needed to access a byte (one for the page table entry, one for the byte)</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723" name="Google Shape;723;p91"/>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pic>
        <p:nvPicPr>
          <p:cNvPr id="724" name="Google Shape;724;p91"/>
          <p:cNvPicPr preferRelativeResize="0"/>
          <p:nvPr/>
        </p:nvPicPr>
        <p:blipFill rotWithShape="1">
          <a:blip r:embed="rId3">
            <a:alphaModFix/>
          </a:blip>
          <a:srcRect b="0" l="0" r="0" t="0"/>
          <a:stretch/>
        </p:blipFill>
        <p:spPr>
          <a:xfrm>
            <a:off x="7225003" y="4551589"/>
            <a:ext cx="4531568" cy="2306411"/>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pic>
        <p:nvPicPr>
          <p:cNvPr id="729" name="Google Shape;729;p92"/>
          <p:cNvPicPr preferRelativeResize="0"/>
          <p:nvPr/>
        </p:nvPicPr>
        <p:blipFill rotWithShape="1">
          <a:blip r:embed="rId3">
            <a:alphaModFix/>
          </a:blip>
          <a:srcRect b="0" l="0" r="0" t="0"/>
          <a:stretch/>
        </p:blipFill>
        <p:spPr>
          <a:xfrm>
            <a:off x="7576457" y="424834"/>
            <a:ext cx="4615543" cy="5000625"/>
          </a:xfrm>
          <a:prstGeom prst="rect">
            <a:avLst/>
          </a:prstGeom>
          <a:noFill/>
          <a:ln>
            <a:noFill/>
          </a:ln>
        </p:spPr>
      </p:pic>
      <p:sp>
        <p:nvSpPr>
          <p:cNvPr id="730" name="Google Shape;730;p92"/>
          <p:cNvSpPr txBox="1"/>
          <p:nvPr>
            <p:ph idx="1" type="body"/>
          </p:nvPr>
        </p:nvSpPr>
        <p:spPr>
          <a:xfrm>
            <a:off x="2536371" y="163286"/>
            <a:ext cx="5180045" cy="6596743"/>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150000"/>
              </a:lnSpc>
              <a:spcBef>
                <a:spcPts val="0"/>
              </a:spcBef>
              <a:spcAft>
                <a:spcPts val="0"/>
              </a:spcAft>
              <a:buClr>
                <a:srgbClr val="0000FF"/>
              </a:buClr>
              <a:buSzPct val="100000"/>
              <a:buNone/>
            </a:pPr>
            <a:r>
              <a:rPr lang="en-US" sz="2400">
                <a:solidFill>
                  <a:srgbClr val="0000FF"/>
                </a:solidFill>
                <a:latin typeface="Calibri"/>
                <a:ea typeface="Calibri"/>
                <a:cs typeface="Calibri"/>
                <a:sym typeface="Calibri"/>
              </a:rPr>
              <a:t>Translation Lookaside Buffer(TLB)</a:t>
            </a:r>
            <a:endParaRPr/>
          </a:p>
          <a:p>
            <a:pPr indent="0" lvl="0" marL="0" rtl="0" algn="just">
              <a:lnSpc>
                <a:spcPct val="150000"/>
              </a:lnSpc>
              <a:spcBef>
                <a:spcPts val="1000"/>
              </a:spcBef>
              <a:spcAft>
                <a:spcPts val="0"/>
              </a:spcAft>
              <a:buClr>
                <a:schemeClr val="dk1"/>
              </a:buClr>
              <a:buSzPct val="100000"/>
              <a:buNone/>
            </a:pPr>
            <a:r>
              <a:rPr lang="en-US" sz="2400">
                <a:latin typeface="Calibri"/>
                <a:ea typeface="Calibri"/>
                <a:cs typeface="Calibri"/>
                <a:sym typeface="Calibri"/>
              </a:rPr>
              <a:t>The TLB is associative, high speed memory.</a:t>
            </a:r>
            <a:endParaRPr/>
          </a:p>
          <a:p>
            <a:pPr indent="0" lvl="0" marL="0" rtl="0" algn="just">
              <a:lnSpc>
                <a:spcPct val="150000"/>
              </a:lnSpc>
              <a:spcBef>
                <a:spcPts val="1000"/>
              </a:spcBef>
              <a:spcAft>
                <a:spcPts val="0"/>
              </a:spcAft>
              <a:buClr>
                <a:schemeClr val="dk1"/>
              </a:buClr>
              <a:buSzPct val="100000"/>
              <a:buNone/>
            </a:pPr>
            <a:r>
              <a:rPr lang="en-US" sz="2400">
                <a:latin typeface="Calibri"/>
                <a:ea typeface="Calibri"/>
                <a:cs typeface="Calibri"/>
                <a:sym typeface="Calibri"/>
              </a:rPr>
              <a:t>It consists of two parts</a:t>
            </a:r>
            <a:endParaRPr/>
          </a:p>
          <a:p>
            <a:pPr indent="-228600" lvl="0" marL="228600" rtl="0" algn="just">
              <a:lnSpc>
                <a:spcPct val="150000"/>
              </a:lnSpc>
              <a:spcBef>
                <a:spcPts val="1000"/>
              </a:spcBef>
              <a:spcAft>
                <a:spcPts val="0"/>
              </a:spcAft>
              <a:buClr>
                <a:schemeClr val="dk1"/>
              </a:buClr>
              <a:buSzPct val="100000"/>
              <a:buChar char="•"/>
            </a:pPr>
            <a:r>
              <a:rPr lang="en-US" sz="2400">
                <a:latin typeface="Calibri"/>
                <a:ea typeface="Calibri"/>
                <a:cs typeface="Calibri"/>
                <a:sym typeface="Calibri"/>
              </a:rPr>
              <a:t>A key</a:t>
            </a:r>
            <a:endParaRPr/>
          </a:p>
          <a:p>
            <a:pPr indent="-228600" lvl="0" marL="228600" rtl="0" algn="just">
              <a:lnSpc>
                <a:spcPct val="150000"/>
              </a:lnSpc>
              <a:spcBef>
                <a:spcPts val="1000"/>
              </a:spcBef>
              <a:spcAft>
                <a:spcPts val="0"/>
              </a:spcAft>
              <a:buClr>
                <a:schemeClr val="dk1"/>
              </a:buClr>
              <a:buSzPct val="100000"/>
              <a:buChar char="•"/>
            </a:pPr>
            <a:r>
              <a:rPr lang="en-US" sz="2400">
                <a:latin typeface="Calibri"/>
                <a:ea typeface="Calibri"/>
                <a:cs typeface="Calibri"/>
                <a:sym typeface="Calibri"/>
              </a:rPr>
              <a:t>A value</a:t>
            </a:r>
            <a:endParaRPr sz="2400">
              <a:latin typeface="Calibri"/>
              <a:ea typeface="Calibri"/>
              <a:cs typeface="Calibri"/>
              <a:sym typeface="Calibri"/>
            </a:endParaRPr>
          </a:p>
          <a:p>
            <a:pPr indent="0" lvl="0" marL="0" rtl="0" algn="just">
              <a:lnSpc>
                <a:spcPct val="150000"/>
              </a:lnSpc>
              <a:spcBef>
                <a:spcPts val="1000"/>
              </a:spcBef>
              <a:spcAft>
                <a:spcPts val="0"/>
              </a:spcAft>
              <a:buClr>
                <a:schemeClr val="dk1"/>
              </a:buClr>
              <a:buSzPct val="100000"/>
              <a:buNone/>
            </a:pPr>
            <a:r>
              <a:rPr lang="en-US" sz="2400">
                <a:latin typeface="Calibri"/>
                <a:ea typeface="Calibri"/>
                <a:cs typeface="Calibri"/>
                <a:sym typeface="Calibri"/>
              </a:rPr>
              <a:t>When the associative memory is presented with an item, the item is compared with all keys simultaneously.</a:t>
            </a:r>
            <a:endParaRPr/>
          </a:p>
          <a:p>
            <a:pPr indent="0" lvl="0" marL="0" rtl="0" algn="just">
              <a:lnSpc>
                <a:spcPct val="150000"/>
              </a:lnSpc>
              <a:spcBef>
                <a:spcPts val="1000"/>
              </a:spcBef>
              <a:spcAft>
                <a:spcPts val="0"/>
              </a:spcAft>
              <a:buClr>
                <a:schemeClr val="dk1"/>
              </a:buClr>
              <a:buSzPct val="100000"/>
              <a:buNone/>
            </a:pPr>
            <a:r>
              <a:rPr lang="en-US" sz="2400">
                <a:latin typeface="Calibri"/>
                <a:ea typeface="Calibri"/>
                <a:cs typeface="Calibri"/>
                <a:sym typeface="Calibri"/>
              </a:rPr>
              <a:t>If the item is found, the corresponding value field is returned.</a:t>
            </a:r>
            <a:endParaRPr/>
          </a:p>
          <a:p>
            <a:pPr indent="0" lvl="0" marL="0" rtl="0" algn="just">
              <a:lnSpc>
                <a:spcPct val="150000"/>
              </a:lnSpc>
              <a:spcBef>
                <a:spcPts val="1000"/>
              </a:spcBef>
              <a:spcAft>
                <a:spcPts val="0"/>
              </a:spcAft>
              <a:buClr>
                <a:schemeClr val="dk1"/>
              </a:buClr>
              <a:buSzPct val="100000"/>
              <a:buNone/>
            </a:pPr>
            <a:r>
              <a:rPr lang="en-US" sz="2400">
                <a:latin typeface="Calibri"/>
                <a:ea typeface="Calibri"/>
                <a:cs typeface="Calibri"/>
                <a:sym typeface="Calibri"/>
              </a:rPr>
              <a:t>The search is fast.</a:t>
            </a:r>
            <a:endParaRPr/>
          </a:p>
        </p:txBody>
      </p:sp>
      <p:sp>
        <p:nvSpPr>
          <p:cNvPr id="731" name="Google Shape;731;p92"/>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93"/>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160000"/>
              </a:lnSpc>
              <a:spcBef>
                <a:spcPts val="0"/>
              </a:spcBef>
              <a:spcAft>
                <a:spcPts val="0"/>
              </a:spcAft>
              <a:buClr>
                <a:schemeClr val="dk1"/>
              </a:buClr>
              <a:buSzPct val="100000"/>
              <a:buNone/>
            </a:pPr>
            <a:r>
              <a:rPr b="1" lang="en-US" sz="2400">
                <a:latin typeface="Calibri"/>
                <a:ea typeface="Calibri"/>
                <a:cs typeface="Calibri"/>
                <a:sym typeface="Calibri"/>
              </a:rPr>
              <a:t>Usage of TLB with Page Table</a:t>
            </a:r>
            <a:endParaRPr/>
          </a:p>
          <a:p>
            <a:pPr indent="0" lvl="0" marL="0" rtl="0" algn="just">
              <a:lnSpc>
                <a:spcPct val="160000"/>
              </a:lnSpc>
              <a:spcBef>
                <a:spcPts val="1000"/>
              </a:spcBef>
              <a:spcAft>
                <a:spcPts val="0"/>
              </a:spcAft>
              <a:buClr>
                <a:schemeClr val="dk1"/>
              </a:buClr>
              <a:buSzPct val="100000"/>
              <a:buNone/>
            </a:pPr>
            <a:r>
              <a:rPr lang="en-US" sz="2400">
                <a:latin typeface="Calibri"/>
                <a:ea typeface="Calibri"/>
                <a:cs typeface="Calibri"/>
                <a:sym typeface="Calibri"/>
              </a:rPr>
              <a:t>The TLB contains only a few of the page table entries</a:t>
            </a:r>
            <a:endParaRPr/>
          </a:p>
          <a:p>
            <a:pPr indent="0" lvl="0" marL="0" rtl="0" algn="just">
              <a:lnSpc>
                <a:spcPct val="160000"/>
              </a:lnSpc>
              <a:spcBef>
                <a:spcPts val="1000"/>
              </a:spcBef>
              <a:spcAft>
                <a:spcPts val="0"/>
              </a:spcAft>
              <a:buClr>
                <a:schemeClr val="dk1"/>
              </a:buClr>
              <a:buSzPct val="100000"/>
              <a:buNone/>
            </a:pPr>
            <a:r>
              <a:rPr lang="en-US" sz="2400">
                <a:latin typeface="Calibri"/>
                <a:ea typeface="Calibri"/>
                <a:cs typeface="Calibri"/>
                <a:sym typeface="Calibri"/>
              </a:rPr>
              <a:t>When a logical address is generated by the CPU, its page number is presented to the TLB.</a:t>
            </a:r>
            <a:endParaRPr/>
          </a:p>
          <a:p>
            <a:pPr indent="0" lvl="0" marL="0" rtl="0" algn="just">
              <a:lnSpc>
                <a:spcPct val="160000"/>
              </a:lnSpc>
              <a:spcBef>
                <a:spcPts val="1000"/>
              </a:spcBef>
              <a:spcAft>
                <a:spcPts val="0"/>
              </a:spcAft>
              <a:buClr>
                <a:schemeClr val="dk1"/>
              </a:buClr>
              <a:buSzPct val="100000"/>
              <a:buNone/>
            </a:pPr>
            <a:r>
              <a:rPr lang="en-US" sz="2400">
                <a:latin typeface="Calibri"/>
                <a:ea typeface="Calibri"/>
                <a:cs typeface="Calibri"/>
                <a:sym typeface="Calibri"/>
              </a:rPr>
              <a:t>If the page number is found, its frame number is immediately available and is used to access memory    </a:t>
            </a:r>
            <a:r>
              <a:rPr lang="en-US" sz="2400">
                <a:solidFill>
                  <a:srgbClr val="0000FF"/>
                </a:solidFill>
                <a:latin typeface="Play"/>
                <a:ea typeface="Play"/>
                <a:cs typeface="Play"/>
                <a:sym typeface="Play"/>
              </a:rPr>
              <a:t>→   </a:t>
            </a:r>
            <a:r>
              <a:rPr lang="en-US" sz="2400">
                <a:solidFill>
                  <a:srgbClr val="0000FF"/>
                </a:solidFill>
                <a:latin typeface="Calibri"/>
                <a:ea typeface="Calibri"/>
                <a:cs typeface="Calibri"/>
                <a:sym typeface="Calibri"/>
              </a:rPr>
              <a:t>TLB Hit</a:t>
            </a:r>
            <a:endParaRPr/>
          </a:p>
          <a:p>
            <a:pPr indent="0" lvl="0" marL="0" rtl="0" algn="just">
              <a:lnSpc>
                <a:spcPct val="160000"/>
              </a:lnSpc>
              <a:spcBef>
                <a:spcPts val="1000"/>
              </a:spcBef>
              <a:spcAft>
                <a:spcPts val="0"/>
              </a:spcAft>
              <a:buClr>
                <a:schemeClr val="dk1"/>
              </a:buClr>
              <a:buSzPct val="100000"/>
              <a:buNone/>
            </a:pPr>
            <a:r>
              <a:rPr lang="en-US" sz="2400">
                <a:latin typeface="Calibri"/>
                <a:ea typeface="Calibri"/>
                <a:cs typeface="Calibri"/>
                <a:sym typeface="Calibri"/>
              </a:rPr>
              <a:t>If the page number is not in the TLB, a memory reference to the page table must be made.   </a:t>
            </a:r>
            <a:r>
              <a:rPr lang="en-US" sz="2400">
                <a:latin typeface="Play"/>
                <a:ea typeface="Play"/>
                <a:cs typeface="Play"/>
                <a:sym typeface="Play"/>
              </a:rPr>
              <a:t>→  </a:t>
            </a:r>
            <a:r>
              <a:rPr lang="en-US" sz="2400">
                <a:solidFill>
                  <a:srgbClr val="0000FF"/>
                </a:solidFill>
                <a:latin typeface="Calibri"/>
                <a:ea typeface="Calibri"/>
                <a:cs typeface="Calibri"/>
                <a:sym typeface="Calibri"/>
              </a:rPr>
              <a:t>TBL Miss </a:t>
            </a:r>
            <a:endParaRPr/>
          </a:p>
          <a:p>
            <a:pPr indent="0" lvl="0" marL="0" rtl="0" algn="just">
              <a:lnSpc>
                <a:spcPct val="160000"/>
              </a:lnSpc>
              <a:spcBef>
                <a:spcPts val="1000"/>
              </a:spcBef>
              <a:spcAft>
                <a:spcPts val="0"/>
              </a:spcAft>
              <a:buClr>
                <a:schemeClr val="dk1"/>
              </a:buClr>
              <a:buSzPct val="100000"/>
              <a:buNone/>
            </a:pPr>
            <a:r>
              <a:rPr lang="en-US" sz="2400">
                <a:latin typeface="Calibri"/>
                <a:ea typeface="Calibri"/>
                <a:cs typeface="Calibri"/>
                <a:sym typeface="Calibri"/>
              </a:rPr>
              <a:t>When the frame number is obtained, we can use it to access memory.</a:t>
            </a:r>
            <a:endParaRPr/>
          </a:p>
          <a:p>
            <a:pPr indent="0" lvl="0" marL="0" rtl="0" algn="just">
              <a:lnSpc>
                <a:spcPct val="160000"/>
              </a:lnSpc>
              <a:spcBef>
                <a:spcPts val="1000"/>
              </a:spcBef>
              <a:spcAft>
                <a:spcPts val="0"/>
              </a:spcAft>
              <a:buClr>
                <a:schemeClr val="dk1"/>
              </a:buClr>
              <a:buSzPct val="100000"/>
              <a:buNone/>
            </a:pPr>
            <a:r>
              <a:rPr lang="en-US" sz="2400">
                <a:latin typeface="Calibri"/>
                <a:ea typeface="Calibri"/>
                <a:cs typeface="Calibri"/>
                <a:sym typeface="Calibri"/>
              </a:rPr>
              <a:t>Also we add the page number and frame number to the TLB, so that they will be found quickly on the next reference. </a:t>
            </a:r>
            <a:endParaRPr/>
          </a:p>
          <a:p>
            <a:pPr indent="0" lvl="0" marL="0" rtl="0" algn="just">
              <a:lnSpc>
                <a:spcPct val="150000"/>
              </a:lnSpc>
              <a:spcBef>
                <a:spcPts val="1000"/>
              </a:spcBef>
              <a:spcAft>
                <a:spcPts val="0"/>
              </a:spcAft>
              <a:buClr>
                <a:schemeClr val="dk1"/>
              </a:buClr>
              <a:buSzPct val="100000"/>
              <a:buNone/>
            </a:pPr>
            <a:r>
              <a:t/>
            </a:r>
            <a:endParaRPr sz="2000">
              <a:latin typeface="Calibri"/>
              <a:ea typeface="Calibri"/>
              <a:cs typeface="Calibri"/>
              <a:sym typeface="Calibri"/>
            </a:endParaRPr>
          </a:p>
        </p:txBody>
      </p:sp>
      <p:sp>
        <p:nvSpPr>
          <p:cNvPr id="737" name="Google Shape;737;p93"/>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pic>
        <p:nvPicPr>
          <p:cNvPr id="742" name="Google Shape;742;p94"/>
          <p:cNvPicPr preferRelativeResize="0"/>
          <p:nvPr>
            <p:ph idx="1" type="body"/>
          </p:nvPr>
        </p:nvPicPr>
        <p:blipFill rotWithShape="1">
          <a:blip r:embed="rId3">
            <a:alphaModFix/>
          </a:blip>
          <a:srcRect b="0" l="0" r="0" t="0"/>
          <a:stretch/>
        </p:blipFill>
        <p:spPr>
          <a:xfrm>
            <a:off x="2560320" y="375920"/>
            <a:ext cx="9479280" cy="5862320"/>
          </a:xfrm>
          <a:prstGeom prst="rect">
            <a:avLst/>
          </a:prstGeom>
          <a:noFill/>
          <a:ln>
            <a:noFill/>
          </a:ln>
        </p:spPr>
      </p:pic>
      <p:sp>
        <p:nvSpPr>
          <p:cNvPr id="743" name="Google Shape;743;p94"/>
          <p:cNvSpPr txBox="1"/>
          <p:nvPr/>
        </p:nvSpPr>
        <p:spPr>
          <a:xfrm>
            <a:off x="4003040" y="6228934"/>
            <a:ext cx="6106160"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Calibri"/>
                <a:ea typeface="Calibri"/>
                <a:cs typeface="Calibri"/>
                <a:sym typeface="Calibri"/>
              </a:rPr>
              <a:t>Paging hardware with TLB.</a:t>
            </a:r>
            <a:endParaRPr sz="2000">
              <a:solidFill>
                <a:schemeClr val="dk1"/>
              </a:solidFill>
              <a:latin typeface="Calibri"/>
              <a:ea typeface="Calibri"/>
              <a:cs typeface="Calibri"/>
              <a:sym typeface="Calibri"/>
            </a:endParaRPr>
          </a:p>
        </p:txBody>
      </p:sp>
      <p:sp>
        <p:nvSpPr>
          <p:cNvPr id="744" name="Google Shape;744;p94"/>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95"/>
          <p:cNvSpPr txBox="1"/>
          <p:nvPr>
            <p:ph idx="1" type="body"/>
          </p:nvPr>
        </p:nvSpPr>
        <p:spPr>
          <a:xfrm>
            <a:off x="2560320" y="142240"/>
            <a:ext cx="9489440" cy="662432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150000"/>
              </a:lnSpc>
              <a:spcBef>
                <a:spcPts val="0"/>
              </a:spcBef>
              <a:spcAft>
                <a:spcPts val="0"/>
              </a:spcAft>
              <a:buClr>
                <a:srgbClr val="FF0000"/>
              </a:buClr>
              <a:buSzPts val="2000"/>
              <a:buNone/>
            </a:pPr>
            <a:r>
              <a:rPr b="1" lang="en-US" sz="2000">
                <a:solidFill>
                  <a:srgbClr val="FF0000"/>
                </a:solidFill>
                <a:latin typeface="Calibri"/>
                <a:ea typeface="Calibri"/>
                <a:cs typeface="Calibri"/>
                <a:sym typeface="Calibri"/>
              </a:rPr>
              <a:t>Protection - Page Table Entries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Page table entries contains several information about pages which vary from OS to OS.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most important information in a page table entry is the frame number.</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remaining information are optional.</a:t>
            </a:r>
            <a:endParaRPr/>
          </a:p>
          <a:p>
            <a:pPr indent="0" lvl="0" marL="0" rtl="0" algn="just">
              <a:lnSpc>
                <a:spcPct val="150000"/>
              </a:lnSpc>
              <a:spcBef>
                <a:spcPts val="1000"/>
              </a:spcBef>
              <a:spcAft>
                <a:spcPts val="0"/>
              </a:spcAft>
              <a:buClr>
                <a:srgbClr val="0000FF"/>
              </a:buClr>
              <a:buSzPts val="2000"/>
              <a:buNone/>
            </a:pPr>
            <a:r>
              <a:rPr lang="en-US" sz="2000">
                <a:solidFill>
                  <a:srgbClr val="0000FF"/>
                </a:solidFill>
                <a:latin typeface="Calibri"/>
                <a:ea typeface="Calibri"/>
                <a:cs typeface="Calibri"/>
                <a:sym typeface="Calibri"/>
              </a:rPr>
              <a:t>Frame number </a:t>
            </a:r>
            <a:r>
              <a:rPr lang="en-US" sz="2000">
                <a:latin typeface="Calibri"/>
                <a:ea typeface="Calibri"/>
                <a:cs typeface="Calibri"/>
                <a:sym typeface="Calibri"/>
              </a:rPr>
              <a:t>denotes the frame where the page is present in the main memory.</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number of bits required for this depends on the number of frames in the main memory.</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a:t>
            </a:r>
            <a:r>
              <a:rPr lang="en-US" sz="2000">
                <a:solidFill>
                  <a:srgbClr val="0000FF"/>
                </a:solidFill>
                <a:latin typeface="Calibri"/>
                <a:ea typeface="Calibri"/>
                <a:cs typeface="Calibri"/>
                <a:sym typeface="Calibri"/>
              </a:rPr>
              <a:t>Present /Absent bit </a:t>
            </a:r>
            <a:r>
              <a:rPr lang="en-US" sz="2000">
                <a:latin typeface="Calibri"/>
                <a:ea typeface="Calibri"/>
                <a:cs typeface="Calibri"/>
                <a:sym typeface="Calibri"/>
              </a:rPr>
              <a:t>specifies whether the page is present in the main memory or not.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It is also called </a:t>
            </a:r>
            <a:r>
              <a:rPr lang="en-US" sz="2000">
                <a:solidFill>
                  <a:srgbClr val="0070C0"/>
                </a:solidFill>
                <a:latin typeface="Calibri"/>
                <a:ea typeface="Calibri"/>
                <a:cs typeface="Calibri"/>
                <a:sym typeface="Calibri"/>
              </a:rPr>
              <a:t>Valid/Invalid bit.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If the page we are looking for it not present in main memory, it is called </a:t>
            </a:r>
            <a:r>
              <a:rPr lang="en-US" sz="2000">
                <a:solidFill>
                  <a:srgbClr val="0000FF"/>
                </a:solidFill>
                <a:latin typeface="Calibri"/>
                <a:ea typeface="Calibri"/>
                <a:cs typeface="Calibri"/>
                <a:sym typeface="Calibri"/>
              </a:rPr>
              <a:t>PAGE FAULT.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If the page we are looking for it is not present in main memory, the Present/Absent  bit is set to 0.</a:t>
            </a:r>
            <a:endParaRPr/>
          </a:p>
        </p:txBody>
      </p:sp>
      <p:sp>
        <p:nvSpPr>
          <p:cNvPr id="750" name="Google Shape;750;p95"/>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96"/>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pic>
        <p:nvPicPr>
          <p:cNvPr id="756" name="Google Shape;756;p96"/>
          <p:cNvPicPr preferRelativeResize="0"/>
          <p:nvPr/>
        </p:nvPicPr>
        <p:blipFill rotWithShape="1">
          <a:blip r:embed="rId3">
            <a:alphaModFix/>
          </a:blip>
          <a:srcRect b="0" l="0" r="0" t="0"/>
          <a:stretch/>
        </p:blipFill>
        <p:spPr>
          <a:xfrm>
            <a:off x="2453951" y="452463"/>
            <a:ext cx="9542107" cy="6388362"/>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97"/>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The </a:t>
            </a:r>
            <a:r>
              <a:rPr lang="en-US" sz="2000">
                <a:solidFill>
                  <a:srgbClr val="0000FF"/>
                </a:solidFill>
                <a:latin typeface="Calibri"/>
                <a:ea typeface="Calibri"/>
                <a:cs typeface="Calibri"/>
                <a:sym typeface="Calibri"/>
              </a:rPr>
              <a:t>protection bit </a:t>
            </a:r>
            <a:r>
              <a:rPr lang="en-US" sz="2000">
                <a:latin typeface="Calibri"/>
                <a:ea typeface="Calibri"/>
                <a:cs typeface="Calibri"/>
                <a:sym typeface="Calibri"/>
              </a:rPr>
              <a:t>also known as Read/Write bit is used for page protection.</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It specifies the permissions for read or write operations on the page.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bit is set to 0 if only read operation is allowed.</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bit is set to 1 if both read and write operations are allowed.</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a:t>
            </a:r>
            <a:r>
              <a:rPr lang="en-US" sz="2000">
                <a:solidFill>
                  <a:srgbClr val="0000FF"/>
                </a:solidFill>
                <a:latin typeface="Calibri"/>
                <a:ea typeface="Calibri"/>
                <a:cs typeface="Calibri"/>
                <a:sym typeface="Calibri"/>
              </a:rPr>
              <a:t>reference bit </a:t>
            </a:r>
            <a:r>
              <a:rPr lang="en-US" sz="2000">
                <a:latin typeface="Calibri"/>
                <a:ea typeface="Calibri"/>
                <a:cs typeface="Calibri"/>
                <a:sym typeface="Calibri"/>
              </a:rPr>
              <a:t>specifies whether the page has been referenced in the last clock cycle or not.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It is set to 1 when page is accessed.</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a:t>
            </a:r>
            <a:r>
              <a:rPr lang="en-US" sz="2000">
                <a:solidFill>
                  <a:srgbClr val="0000FF"/>
                </a:solidFill>
                <a:latin typeface="Calibri"/>
                <a:ea typeface="Calibri"/>
                <a:cs typeface="Calibri"/>
                <a:sym typeface="Calibri"/>
              </a:rPr>
              <a:t>caching bit </a:t>
            </a:r>
            <a:r>
              <a:rPr lang="en-US" sz="2000">
                <a:latin typeface="Calibri"/>
                <a:ea typeface="Calibri"/>
                <a:cs typeface="Calibri"/>
                <a:sym typeface="Calibri"/>
              </a:rPr>
              <a:t>is used for enabling or disabling caching of the page.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When we need fresh data we have to disable caching so as to avoid fetching of old data from the cache.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When caching has to be disabled, this bit is set to 1. Otherwise it is set 0.</a:t>
            </a:r>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762" name="Google Shape;762;p97"/>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98"/>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
        <p:nvSpPr>
          <p:cNvPr id="768" name="Google Shape;768;p98"/>
          <p:cNvSpPr txBox="1"/>
          <p:nvPr>
            <p:ph idx="1" type="body"/>
          </p:nvPr>
        </p:nvSpPr>
        <p:spPr>
          <a:xfrm>
            <a:off x="2708694" y="1825625"/>
            <a:ext cx="8645106"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769" name="Google Shape;769;p98"/>
          <p:cNvPicPr preferRelativeResize="0"/>
          <p:nvPr/>
        </p:nvPicPr>
        <p:blipFill rotWithShape="1">
          <a:blip r:embed="rId3">
            <a:alphaModFix/>
          </a:blip>
          <a:srcRect b="0" l="0" r="0" t="0"/>
          <a:stretch/>
        </p:blipFill>
        <p:spPr>
          <a:xfrm>
            <a:off x="2208751" y="1041849"/>
            <a:ext cx="9585043" cy="5663682"/>
          </a:xfrm>
          <a:prstGeom prst="rect">
            <a:avLst/>
          </a:prstGeom>
          <a:noFill/>
          <a:ln>
            <a:noFill/>
          </a:ln>
        </p:spPr>
      </p:pic>
      <p:sp>
        <p:nvSpPr>
          <p:cNvPr id="770" name="Google Shape;770;p98"/>
          <p:cNvSpPr txBox="1"/>
          <p:nvPr/>
        </p:nvSpPr>
        <p:spPr>
          <a:xfrm>
            <a:off x="2708694" y="357574"/>
            <a:ext cx="3710767"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002060"/>
                </a:solidFill>
                <a:latin typeface="Calibri"/>
                <a:ea typeface="Calibri"/>
                <a:cs typeface="Calibri"/>
                <a:sym typeface="Calibri"/>
              </a:rPr>
              <a:t>SHARED DATA</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99"/>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rgbClr val="0000FF"/>
              </a:buClr>
              <a:buSzPts val="2000"/>
              <a:buNone/>
            </a:pPr>
            <a:r>
              <a:rPr lang="en-US" sz="2000">
                <a:solidFill>
                  <a:srgbClr val="0000FF"/>
                </a:solidFill>
                <a:latin typeface="Calibri"/>
                <a:ea typeface="Calibri"/>
                <a:cs typeface="Calibri"/>
                <a:sym typeface="Calibri"/>
              </a:rPr>
              <a:t>The Dirty bit</a:t>
            </a:r>
            <a:r>
              <a:rPr lang="en-US" sz="2000">
                <a:latin typeface="Calibri"/>
                <a:ea typeface="Calibri"/>
                <a:cs typeface="Calibri"/>
                <a:sym typeface="Calibri"/>
              </a:rPr>
              <a:t> is also known as the Modified bit.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It Specifies whether the page has been modified or not.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If the page has been modified, then this bit is set to 1otherwise set to 0.</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This bit helps in avoiding unnecessary writes to the secondary memory when a page is being replaced by another page.</a:t>
            </a:r>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776" name="Google Shape;776;p99"/>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00"/>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Shared Pages</a:t>
            </a:r>
            <a:endParaRPr b="1" sz="2400">
              <a:solidFill>
                <a:srgbClr val="FF0000"/>
              </a:solidFill>
              <a:latin typeface="Calibri"/>
              <a:ea typeface="Calibri"/>
              <a:cs typeface="Calibri"/>
              <a:sym typeface="Calibri"/>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An advantage of paging is the possibility of </a:t>
            </a:r>
            <a:r>
              <a:rPr b="1" lang="en-US" sz="2000">
                <a:latin typeface="Calibri"/>
                <a:ea typeface="Calibri"/>
                <a:cs typeface="Calibri"/>
                <a:sym typeface="Calibri"/>
              </a:rPr>
              <a:t>sharing common code</a:t>
            </a:r>
            <a:r>
              <a:rPr lang="en-US" sz="2000">
                <a:latin typeface="Calibri"/>
                <a:ea typeface="Calibri"/>
                <a:cs typeface="Calibri"/>
                <a:sym typeface="Calibri"/>
              </a:rPr>
              <a:t>. </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This is particularly important in a time-sharing environment. </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Consider a system that supports 40 users, each of whom executes a text editor. </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If the text editor consists of 150 KB of code and 50 KB of data space, </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we need, (150 x 40) + (50 x 40) = 6000 + 2000 =  8,000 KB to support the 40 users.</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However, If the code is reentrant code (or pure code), it can be shared among different processes.</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Code that is non self modifying code. It never changes during execution.</a:t>
            </a:r>
            <a:endParaRPr/>
          </a:p>
          <a:p>
            <a:pPr indent="0" lvl="0" marL="0" rtl="0" algn="just">
              <a:lnSpc>
                <a:spcPct val="150000"/>
              </a:lnSpc>
              <a:spcBef>
                <a:spcPts val="1800"/>
              </a:spcBef>
              <a:spcAft>
                <a:spcPts val="0"/>
              </a:spcAft>
              <a:buClr>
                <a:schemeClr val="dk1"/>
              </a:buClr>
              <a:buSzPts val="2000"/>
              <a:buNone/>
            </a:pPr>
            <a:r>
              <a:rPr lang="en-US" sz="2000">
                <a:latin typeface="Calibri"/>
                <a:ea typeface="Calibri"/>
                <a:cs typeface="Calibri"/>
                <a:sym typeface="Calibri"/>
              </a:rPr>
              <a:t>Thus, 2 or more processes can execute the same code at the same time.</a:t>
            </a:r>
            <a:endParaRPr/>
          </a:p>
          <a:p>
            <a:pPr indent="0" lvl="0" marL="0" rtl="0" algn="just">
              <a:lnSpc>
                <a:spcPct val="150000"/>
              </a:lnSpc>
              <a:spcBef>
                <a:spcPts val="1800"/>
              </a:spcBef>
              <a:spcAft>
                <a:spcPts val="0"/>
              </a:spcAft>
              <a:buClr>
                <a:schemeClr val="dk1"/>
              </a:buClr>
              <a:buSzPts val="2000"/>
              <a:buNone/>
            </a:pPr>
            <a:r>
              <a:t/>
            </a:r>
            <a:endParaRPr sz="2000">
              <a:latin typeface="Calibri"/>
              <a:ea typeface="Calibri"/>
              <a:cs typeface="Calibri"/>
              <a:sym typeface="Calibri"/>
            </a:endParaRPr>
          </a:p>
          <a:p>
            <a:pPr indent="0" lvl="0" marL="0" rtl="0" algn="l">
              <a:lnSpc>
                <a:spcPct val="90000"/>
              </a:lnSpc>
              <a:spcBef>
                <a:spcPts val="1800"/>
              </a:spcBef>
              <a:spcAft>
                <a:spcPts val="0"/>
              </a:spcAft>
              <a:buClr>
                <a:schemeClr val="dk1"/>
              </a:buClr>
              <a:buSzPts val="2000"/>
              <a:buNone/>
            </a:pPr>
            <a:r>
              <a:t/>
            </a:r>
            <a:endParaRPr sz="2000">
              <a:latin typeface="Calibri"/>
              <a:ea typeface="Calibri"/>
              <a:cs typeface="Calibri"/>
              <a:sym typeface="Calibri"/>
            </a:endParaRPr>
          </a:p>
        </p:txBody>
      </p:sp>
      <p:sp>
        <p:nvSpPr>
          <p:cNvPr id="782" name="Google Shape;782;p100"/>
          <p:cNvSpPr txBox="1"/>
          <p:nvPr/>
        </p:nvSpPr>
        <p:spPr>
          <a:xfrm>
            <a:off x="524064" y="3873690"/>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01"/>
          <p:cNvSpPr txBox="1"/>
          <p:nvPr>
            <p:ph idx="1" type="body"/>
          </p:nvPr>
        </p:nvSpPr>
        <p:spPr>
          <a:xfrm>
            <a:off x="2560320" y="162560"/>
            <a:ext cx="9489440" cy="592328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Each process has its own copy of registers and data storage to hold the data for the process’s execution. The data for two different processes will, of course, be different.</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788" name="Google Shape;788;p101"/>
          <p:cNvSpPr txBox="1"/>
          <p:nvPr/>
        </p:nvSpPr>
        <p:spPr>
          <a:xfrm>
            <a:off x="4414520" y="6275782"/>
            <a:ext cx="6106160"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Calibri"/>
                <a:ea typeface="Calibri"/>
                <a:cs typeface="Calibri"/>
                <a:sym typeface="Calibri"/>
              </a:rPr>
              <a:t>Sharing of code in a paging environment.</a:t>
            </a:r>
            <a:endParaRPr sz="2000">
              <a:solidFill>
                <a:schemeClr val="dk1"/>
              </a:solidFill>
              <a:latin typeface="Calibri"/>
              <a:ea typeface="Calibri"/>
              <a:cs typeface="Calibri"/>
              <a:sym typeface="Calibri"/>
            </a:endParaRPr>
          </a:p>
        </p:txBody>
      </p:sp>
      <p:pic>
        <p:nvPicPr>
          <p:cNvPr id="789" name="Google Shape;789;p101"/>
          <p:cNvPicPr preferRelativeResize="0"/>
          <p:nvPr/>
        </p:nvPicPr>
        <p:blipFill rotWithShape="1">
          <a:blip r:embed="rId3">
            <a:alphaModFix/>
          </a:blip>
          <a:srcRect b="0" l="0" r="0" t="0"/>
          <a:stretch/>
        </p:blipFill>
        <p:spPr>
          <a:xfrm>
            <a:off x="2692400" y="1259840"/>
            <a:ext cx="9072880" cy="413131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02"/>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latin typeface="Calibri"/>
                <a:ea typeface="Calibri"/>
                <a:cs typeface="Calibri"/>
                <a:sym typeface="Calibri"/>
              </a:rPr>
              <a:t>An advantage of paging is the possibility of </a:t>
            </a:r>
            <a:r>
              <a:rPr b="1" lang="en-US" sz="2400">
                <a:latin typeface="Calibri"/>
                <a:ea typeface="Calibri"/>
                <a:cs typeface="Calibri"/>
                <a:sym typeface="Calibri"/>
              </a:rPr>
              <a:t>sharing common code</a:t>
            </a:r>
            <a:r>
              <a:rPr lang="en-US" sz="2400">
                <a:latin typeface="Calibri"/>
                <a:ea typeface="Calibri"/>
                <a:cs typeface="Calibri"/>
                <a:sym typeface="Calibri"/>
              </a:rPr>
              <a:t>.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This is particularly important in a time-sharing environment.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Consider a system that supports 40 users, each of whom executes a text editor. If the text editor consists of 150 KB of code and 50 KB of data space,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we need, (150 x 40) + (50 x 40) = 6000 + 2000 = 8,000 KB to support the 40 users.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Now, if the code is shared, we need:</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150 + (50 x 40) = 150 + 2000 = 2150 KB to support 40 users.</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795" name="Google Shape;795;p102"/>
          <p:cNvSpPr txBox="1"/>
          <p:nvPr/>
        </p:nvSpPr>
        <p:spPr>
          <a:xfrm>
            <a:off x="524064" y="3892352"/>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03"/>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ctr">
              <a:lnSpc>
                <a:spcPct val="16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Hierarchical paging</a:t>
            </a:r>
            <a:endParaRPr b="1" sz="2400">
              <a:solidFill>
                <a:srgbClr val="FF0000"/>
              </a:solidFill>
              <a:latin typeface="Calibri"/>
              <a:ea typeface="Calibri"/>
              <a:cs typeface="Calibri"/>
              <a:sym typeface="Calibri"/>
            </a:endParaRPr>
          </a:p>
          <a:p>
            <a:pPr indent="0" lvl="0" marL="0" rtl="0" algn="just">
              <a:lnSpc>
                <a:spcPct val="160000"/>
              </a:lnSpc>
              <a:spcBef>
                <a:spcPts val="1000"/>
              </a:spcBef>
              <a:spcAft>
                <a:spcPts val="0"/>
              </a:spcAft>
              <a:buClr>
                <a:schemeClr val="dk1"/>
              </a:buClr>
              <a:buSzPts val="2400"/>
              <a:buNone/>
            </a:pPr>
            <a:r>
              <a:rPr lang="en-US" sz="2400">
                <a:latin typeface="Calibri"/>
                <a:ea typeface="Calibri"/>
                <a:cs typeface="Calibri"/>
                <a:sym typeface="Calibri"/>
              </a:rPr>
              <a:t>Most modern computer systems support a large logical address space (2</a:t>
            </a:r>
            <a:r>
              <a:rPr baseline="30000" lang="en-US" sz="2400">
                <a:latin typeface="Calibri"/>
                <a:ea typeface="Calibri"/>
                <a:cs typeface="Calibri"/>
                <a:sym typeface="Calibri"/>
              </a:rPr>
              <a:t>32</a:t>
            </a:r>
            <a:r>
              <a:rPr lang="en-US" sz="2400">
                <a:latin typeface="Calibri"/>
                <a:ea typeface="Calibri"/>
                <a:cs typeface="Calibri"/>
                <a:sym typeface="Calibri"/>
              </a:rPr>
              <a:t> to 2</a:t>
            </a:r>
            <a:r>
              <a:rPr baseline="30000" lang="en-US" sz="2400">
                <a:latin typeface="Calibri"/>
                <a:ea typeface="Calibri"/>
                <a:cs typeface="Calibri"/>
                <a:sym typeface="Calibri"/>
              </a:rPr>
              <a:t>64</a:t>
            </a:r>
            <a:r>
              <a:rPr lang="en-US" sz="2400">
                <a:latin typeface="Calibri"/>
                <a:ea typeface="Calibri"/>
                <a:cs typeface="Calibri"/>
                <a:sym typeface="Calibri"/>
              </a:rPr>
              <a:t>). </a:t>
            </a:r>
            <a:endParaRPr/>
          </a:p>
          <a:p>
            <a:pPr indent="0" lvl="0" marL="0" rtl="0" algn="just">
              <a:lnSpc>
                <a:spcPct val="160000"/>
              </a:lnSpc>
              <a:spcBef>
                <a:spcPts val="1800"/>
              </a:spcBef>
              <a:spcAft>
                <a:spcPts val="0"/>
              </a:spcAft>
              <a:buClr>
                <a:schemeClr val="dk1"/>
              </a:buClr>
              <a:buSzPts val="2400"/>
              <a:buNone/>
            </a:pPr>
            <a:r>
              <a:rPr lang="en-US" sz="2400">
                <a:latin typeface="Calibri"/>
                <a:ea typeface="Calibri"/>
                <a:cs typeface="Calibri"/>
                <a:sym typeface="Calibri"/>
              </a:rPr>
              <a:t>In such an environment, the page table itself becomes excessively large. </a:t>
            </a:r>
            <a:endParaRPr/>
          </a:p>
          <a:p>
            <a:pPr indent="0" lvl="0" marL="0" rtl="0" algn="just">
              <a:lnSpc>
                <a:spcPct val="160000"/>
              </a:lnSpc>
              <a:spcBef>
                <a:spcPts val="1800"/>
              </a:spcBef>
              <a:spcAft>
                <a:spcPts val="0"/>
              </a:spcAft>
              <a:buClr>
                <a:schemeClr val="dk1"/>
              </a:buClr>
              <a:buSzPts val="2400"/>
              <a:buNone/>
            </a:pPr>
            <a:r>
              <a:rPr lang="en-US" sz="2400">
                <a:latin typeface="Calibri"/>
                <a:ea typeface="Calibri"/>
                <a:cs typeface="Calibri"/>
                <a:sym typeface="Calibri"/>
              </a:rPr>
              <a:t>For example, consider a system with:  </a:t>
            </a:r>
            <a:endParaRPr/>
          </a:p>
          <a:p>
            <a:pPr indent="0" lvl="0" marL="0" rtl="0" algn="just">
              <a:lnSpc>
                <a:spcPct val="160000"/>
              </a:lnSpc>
              <a:spcBef>
                <a:spcPts val="1800"/>
              </a:spcBef>
              <a:spcAft>
                <a:spcPts val="0"/>
              </a:spcAft>
              <a:buClr>
                <a:schemeClr val="dk1"/>
              </a:buClr>
              <a:buSzPts val="2400"/>
              <a:buNone/>
            </a:pPr>
            <a:r>
              <a:rPr lang="en-US" sz="2400">
                <a:latin typeface="Calibri"/>
                <a:ea typeface="Calibri"/>
                <a:cs typeface="Calibri"/>
                <a:sym typeface="Calibri"/>
              </a:rPr>
              <a:t>32-bit logical address space. </a:t>
            </a:r>
            <a:endParaRPr/>
          </a:p>
          <a:p>
            <a:pPr indent="0" lvl="0" marL="0" rtl="0" algn="just">
              <a:lnSpc>
                <a:spcPct val="160000"/>
              </a:lnSpc>
              <a:spcBef>
                <a:spcPts val="1800"/>
              </a:spcBef>
              <a:spcAft>
                <a:spcPts val="0"/>
              </a:spcAft>
              <a:buClr>
                <a:schemeClr val="dk1"/>
              </a:buClr>
              <a:buSzPts val="2400"/>
              <a:buNone/>
            </a:pPr>
            <a:r>
              <a:rPr lang="en-US" sz="2400">
                <a:latin typeface="Calibri"/>
                <a:ea typeface="Calibri"/>
                <a:cs typeface="Calibri"/>
                <a:sym typeface="Calibri"/>
              </a:rPr>
              <a:t>If the page size in such a system is 4 KB (2</a:t>
            </a:r>
            <a:r>
              <a:rPr baseline="30000" lang="en-US" sz="2400">
                <a:latin typeface="Calibri"/>
                <a:ea typeface="Calibri"/>
                <a:cs typeface="Calibri"/>
                <a:sym typeface="Calibri"/>
              </a:rPr>
              <a:t>12</a:t>
            </a:r>
            <a:r>
              <a:rPr lang="en-US" sz="2400">
                <a:latin typeface="Calibri"/>
                <a:ea typeface="Calibri"/>
                <a:cs typeface="Calibri"/>
                <a:sym typeface="Calibri"/>
              </a:rPr>
              <a:t>)</a:t>
            </a:r>
            <a:endParaRPr/>
          </a:p>
          <a:p>
            <a:pPr indent="0" lvl="0" marL="0" rtl="0" algn="l">
              <a:lnSpc>
                <a:spcPct val="90000"/>
              </a:lnSpc>
              <a:spcBef>
                <a:spcPts val="1800"/>
              </a:spcBef>
              <a:spcAft>
                <a:spcPts val="0"/>
              </a:spcAft>
              <a:buClr>
                <a:schemeClr val="dk1"/>
              </a:buClr>
              <a:buSzPts val="2000"/>
              <a:buNone/>
            </a:pPr>
            <a:r>
              <a:t/>
            </a:r>
            <a:endParaRPr sz="2000">
              <a:latin typeface="Calibri"/>
              <a:ea typeface="Calibri"/>
              <a:cs typeface="Calibri"/>
              <a:sym typeface="Calibri"/>
            </a:endParaRPr>
          </a:p>
        </p:txBody>
      </p:sp>
      <p:sp>
        <p:nvSpPr>
          <p:cNvPr id="801" name="Google Shape;801;p103"/>
          <p:cNvSpPr txBox="1"/>
          <p:nvPr/>
        </p:nvSpPr>
        <p:spPr>
          <a:xfrm>
            <a:off x="524064" y="3892352"/>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104"/>
          <p:cNvSpPr txBox="1"/>
          <p:nvPr>
            <p:ph idx="1" type="body"/>
          </p:nvPr>
        </p:nvSpPr>
        <p:spPr>
          <a:xfrm>
            <a:off x="2570480" y="111760"/>
            <a:ext cx="9428480" cy="6614160"/>
          </a:xfrm>
          <a:prstGeom prst="rect">
            <a:avLst/>
          </a:prstGeom>
          <a:noFill/>
          <a:ln>
            <a:noFill/>
          </a:ln>
        </p:spPr>
        <p:txBody>
          <a:bodyPr anchorCtr="0" anchor="t" bIns="45700" lIns="91425" spcFirstLastPara="1" rIns="91425" wrap="square" tIns="45700">
            <a:normAutofit/>
          </a:bodyPr>
          <a:lstStyle/>
          <a:p>
            <a:pPr indent="0" lvl="0" marL="0" rtl="0" algn="just">
              <a:lnSpc>
                <a:spcPct val="160000"/>
              </a:lnSpc>
              <a:spcBef>
                <a:spcPts val="0"/>
              </a:spcBef>
              <a:spcAft>
                <a:spcPts val="0"/>
              </a:spcAft>
              <a:buClr>
                <a:schemeClr val="dk1"/>
              </a:buClr>
              <a:buSzPts val="2400"/>
              <a:buNone/>
            </a:pPr>
            <a:r>
              <a:rPr lang="en-US" sz="2400">
                <a:latin typeface="Calibri"/>
                <a:ea typeface="Calibri"/>
                <a:cs typeface="Calibri"/>
                <a:sym typeface="Calibri"/>
              </a:rPr>
              <a:t>Then a page table may consist of up to (2</a:t>
            </a:r>
            <a:r>
              <a:rPr baseline="30000" lang="en-US" sz="2400">
                <a:latin typeface="Calibri"/>
                <a:ea typeface="Calibri"/>
                <a:cs typeface="Calibri"/>
                <a:sym typeface="Calibri"/>
              </a:rPr>
              <a:t>32</a:t>
            </a:r>
            <a:r>
              <a:rPr lang="en-US" sz="2400">
                <a:latin typeface="Calibri"/>
                <a:ea typeface="Calibri"/>
                <a:cs typeface="Calibri"/>
                <a:sym typeface="Calibri"/>
              </a:rPr>
              <a:t> /2</a:t>
            </a:r>
            <a:r>
              <a:rPr baseline="30000" lang="en-US" sz="2400">
                <a:latin typeface="Calibri"/>
                <a:ea typeface="Calibri"/>
                <a:cs typeface="Calibri"/>
                <a:sym typeface="Calibri"/>
              </a:rPr>
              <a:t>12</a:t>
            </a:r>
            <a:r>
              <a:rPr lang="en-US" sz="2400">
                <a:latin typeface="Calibri"/>
                <a:ea typeface="Calibri"/>
                <a:cs typeface="Calibri"/>
                <a:sym typeface="Calibri"/>
              </a:rPr>
              <a:t>) = 1 million entries(approx.)</a:t>
            </a:r>
            <a:endParaRPr/>
          </a:p>
          <a:p>
            <a:pPr indent="0" lvl="0" marL="0" rtl="0" algn="just">
              <a:lnSpc>
                <a:spcPct val="160000"/>
              </a:lnSpc>
              <a:spcBef>
                <a:spcPts val="1800"/>
              </a:spcBef>
              <a:spcAft>
                <a:spcPts val="0"/>
              </a:spcAft>
              <a:buClr>
                <a:schemeClr val="dk1"/>
              </a:buClr>
              <a:buSzPts val="2400"/>
              <a:buNone/>
            </a:pPr>
            <a:r>
              <a:rPr lang="en-US" sz="2400">
                <a:latin typeface="Calibri"/>
                <a:ea typeface="Calibri"/>
                <a:cs typeface="Calibri"/>
                <a:sym typeface="Calibri"/>
              </a:rPr>
              <a:t>Consider each entry consists of 4 bytes</a:t>
            </a:r>
            <a:endParaRPr/>
          </a:p>
          <a:p>
            <a:pPr indent="0" lvl="0" marL="0" rtl="0" algn="just">
              <a:lnSpc>
                <a:spcPct val="160000"/>
              </a:lnSpc>
              <a:spcBef>
                <a:spcPts val="1800"/>
              </a:spcBef>
              <a:spcAft>
                <a:spcPts val="0"/>
              </a:spcAft>
              <a:buClr>
                <a:schemeClr val="dk1"/>
              </a:buClr>
              <a:buSzPts val="2400"/>
              <a:buNone/>
            </a:pPr>
            <a:r>
              <a:rPr lang="en-US" sz="2400">
                <a:latin typeface="Calibri"/>
                <a:ea typeface="Calibri"/>
                <a:cs typeface="Calibri"/>
                <a:sym typeface="Calibri"/>
              </a:rPr>
              <a:t>So, each process may need up to ( 4 x 1 million) bytes = 4MB of physical address space</a:t>
            </a:r>
            <a:endParaRPr sz="2400">
              <a:latin typeface="Calibri"/>
              <a:ea typeface="Calibri"/>
              <a:cs typeface="Calibri"/>
              <a:sym typeface="Calibri"/>
            </a:endParaRPr>
          </a:p>
          <a:p>
            <a:pPr indent="0" lvl="0" marL="0" rtl="0" algn="just">
              <a:lnSpc>
                <a:spcPct val="160000"/>
              </a:lnSpc>
              <a:spcBef>
                <a:spcPts val="1800"/>
              </a:spcBef>
              <a:spcAft>
                <a:spcPts val="0"/>
              </a:spcAft>
              <a:buClr>
                <a:schemeClr val="dk1"/>
              </a:buClr>
              <a:buSzPts val="2400"/>
              <a:buNone/>
            </a:pPr>
            <a:r>
              <a:rPr lang="en-US" sz="2400">
                <a:latin typeface="Calibri"/>
                <a:ea typeface="Calibri"/>
                <a:cs typeface="Calibri"/>
                <a:sym typeface="Calibri"/>
              </a:rPr>
              <a:t>Trying to collect a page table of this size contiguously in main memory is clearly not a good idea. </a:t>
            </a:r>
            <a:endParaRPr sz="2400">
              <a:latin typeface="Calibri"/>
              <a:ea typeface="Calibri"/>
              <a:cs typeface="Calibri"/>
              <a:sym typeface="Calibri"/>
            </a:endParaRPr>
          </a:p>
          <a:p>
            <a:pPr indent="-50800" lvl="0" marL="228600" rtl="0" algn="l">
              <a:lnSpc>
                <a:spcPct val="90000"/>
              </a:lnSpc>
              <a:spcBef>
                <a:spcPts val="1800"/>
              </a:spcBef>
              <a:spcAft>
                <a:spcPts val="0"/>
              </a:spcAft>
              <a:buClr>
                <a:schemeClr val="dk1"/>
              </a:buClr>
              <a:buSzPts val="2800"/>
              <a:buNone/>
            </a:pPr>
            <a:r>
              <a:t/>
            </a:r>
            <a:endParaRPr/>
          </a:p>
        </p:txBody>
      </p:sp>
      <p:sp>
        <p:nvSpPr>
          <p:cNvPr id="807" name="Google Shape;807;p104"/>
          <p:cNvSpPr txBox="1"/>
          <p:nvPr/>
        </p:nvSpPr>
        <p:spPr>
          <a:xfrm>
            <a:off x="524064" y="3892352"/>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05"/>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Solution: Divide the page table into smaller sizes.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Multilevel  Paging</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Use a two level paging algorithm, in which the page table itself is also paged.</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228600" rtl="0" algn="l">
              <a:lnSpc>
                <a:spcPct val="107000"/>
              </a:lnSpc>
              <a:spcBef>
                <a:spcPts val="1000"/>
              </a:spcBef>
              <a:spcAft>
                <a:spcPts val="0"/>
              </a:spcAft>
              <a:buClr>
                <a:schemeClr val="dk1"/>
              </a:buClr>
              <a:buSzPts val="1800"/>
              <a:buNone/>
            </a:pPr>
            <a:r>
              <a:rPr lang="en-US" sz="1800">
                <a:latin typeface="Calibri"/>
                <a:ea typeface="Calibri"/>
                <a:cs typeface="Calibri"/>
                <a:sym typeface="Calibri"/>
              </a:rPr>
              <a:t>Page number                  Page offset</a:t>
            </a:r>
            <a:endParaRPr/>
          </a:p>
          <a:p>
            <a:pPr indent="-457200" lvl="0" marL="685800" rtl="0" algn="l">
              <a:lnSpc>
                <a:spcPct val="107000"/>
              </a:lnSpc>
              <a:spcBef>
                <a:spcPts val="1800"/>
              </a:spcBef>
              <a:spcAft>
                <a:spcPts val="0"/>
              </a:spcAft>
              <a:buClr>
                <a:schemeClr val="dk1"/>
              </a:buClr>
              <a:buSzPts val="1800"/>
              <a:buChar char="•"/>
            </a:pPr>
            <a:r>
              <a:rPr lang="en-US" sz="1800">
                <a:latin typeface="Calibri"/>
                <a:ea typeface="Calibri"/>
                <a:cs typeface="Calibri"/>
                <a:sym typeface="Calibri"/>
              </a:rPr>
              <a:t>  </a:t>
            </a:r>
            <a:endParaRPr/>
          </a:p>
          <a:p>
            <a:pPr indent="0" lvl="0" marL="228600" rtl="0" algn="l">
              <a:lnSpc>
                <a:spcPct val="107000"/>
              </a:lnSpc>
              <a:spcBef>
                <a:spcPts val="1800"/>
              </a:spcBef>
              <a:spcAft>
                <a:spcPts val="0"/>
              </a:spcAft>
              <a:buClr>
                <a:schemeClr val="dk1"/>
              </a:buClr>
              <a:buSzPts val="1800"/>
              <a:buNone/>
            </a:pPr>
            <a:r>
              <a:rPr lang="en-US" sz="1800">
                <a:latin typeface="Calibri"/>
                <a:ea typeface="Calibri"/>
                <a:cs typeface="Calibri"/>
                <a:sym typeface="Calibri"/>
              </a:rPr>
              <a:t>20                                         12                             = 32 bits</a:t>
            </a:r>
            <a:endParaRPr/>
          </a:p>
          <a:p>
            <a:pPr indent="0" lvl="0" marL="228600" rtl="0" algn="l">
              <a:lnSpc>
                <a:spcPct val="107000"/>
              </a:lnSpc>
              <a:spcBef>
                <a:spcPts val="1800"/>
              </a:spcBef>
              <a:spcAft>
                <a:spcPts val="0"/>
              </a:spcAft>
              <a:buClr>
                <a:schemeClr val="dk1"/>
              </a:buClr>
              <a:buSzPts val="1800"/>
              <a:buNone/>
            </a:pPr>
            <a:r>
              <a:rPr lang="en-US" sz="1800">
                <a:latin typeface="Calibri"/>
                <a:ea typeface="Calibri"/>
                <a:cs typeface="Calibri"/>
                <a:sym typeface="Calibri"/>
              </a:rPr>
              <a:t>Page number(p): - Used as an index into a page table</a:t>
            </a:r>
            <a:endParaRPr/>
          </a:p>
          <a:p>
            <a:pPr indent="0" lvl="0" marL="228600" rtl="0" algn="l">
              <a:lnSpc>
                <a:spcPct val="107000"/>
              </a:lnSpc>
              <a:spcBef>
                <a:spcPts val="1800"/>
              </a:spcBef>
              <a:spcAft>
                <a:spcPts val="0"/>
              </a:spcAft>
              <a:buClr>
                <a:schemeClr val="dk1"/>
              </a:buClr>
              <a:buSzPts val="1800"/>
              <a:buNone/>
            </a:pPr>
            <a:r>
              <a:rPr lang="en-US" sz="1800">
                <a:latin typeface="Calibri"/>
                <a:ea typeface="Calibri"/>
                <a:cs typeface="Calibri"/>
                <a:sym typeface="Calibri"/>
              </a:rPr>
              <a:t>Page offset (d) :- The displacement within the page</a:t>
            </a:r>
            <a:endParaRPr/>
          </a:p>
          <a:p>
            <a:pPr indent="0" lvl="0" marL="228600" rtl="0" algn="l">
              <a:lnSpc>
                <a:spcPct val="107000"/>
              </a:lnSpc>
              <a:spcBef>
                <a:spcPts val="1800"/>
              </a:spcBef>
              <a:spcAft>
                <a:spcPts val="0"/>
              </a:spcAft>
              <a:buClr>
                <a:schemeClr val="dk1"/>
              </a:buClr>
              <a:buSzPts val="1800"/>
              <a:buNone/>
            </a:pPr>
            <a:r>
              <a:t/>
            </a:r>
            <a:endParaRPr sz="1800">
              <a:latin typeface="Calibri"/>
              <a:ea typeface="Calibri"/>
              <a:cs typeface="Calibri"/>
              <a:sym typeface="Calibri"/>
            </a:endParaRPr>
          </a:p>
        </p:txBody>
      </p:sp>
      <p:graphicFrame>
        <p:nvGraphicFramePr>
          <p:cNvPr id="813" name="Google Shape;813;p105"/>
          <p:cNvGraphicFramePr/>
          <p:nvPr/>
        </p:nvGraphicFramePr>
        <p:xfrm>
          <a:off x="2560320" y="3139441"/>
          <a:ext cx="3000000" cy="3000000"/>
        </p:xfrm>
        <a:graphic>
          <a:graphicData uri="http://schemas.openxmlformats.org/drawingml/2006/table">
            <a:tbl>
              <a:tblPr bandRow="1" firstCol="1" firstRow="1">
                <a:noFill/>
                <a:tableStyleId>{EA49DD23-6F04-43C5-890A-893E10268F7A}</a:tableStyleId>
              </a:tblPr>
              <a:tblGrid>
                <a:gridCol w="1910075"/>
                <a:gridCol w="1940550"/>
              </a:tblGrid>
              <a:tr h="396250">
                <a:tc>
                  <a:txBody>
                    <a:bodyPr/>
                    <a:lstStyle/>
                    <a:p>
                      <a:pPr indent="0" lvl="0" marL="0" marR="0" rtl="0" algn="ctr">
                        <a:lnSpc>
                          <a:spcPct val="107000"/>
                        </a:lnSpc>
                        <a:spcBef>
                          <a:spcPts val="0"/>
                        </a:spcBef>
                        <a:spcAft>
                          <a:spcPts val="0"/>
                        </a:spcAft>
                        <a:buNone/>
                      </a:pPr>
                      <a:r>
                        <a:rPr lang="en-US" sz="2000" u="none" cap="none" strike="noStrike"/>
                        <a:t>p</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d</a:t>
                      </a:r>
                      <a:endParaRPr sz="2000" u="none" cap="none" strike="noStrike">
                        <a:latin typeface="Calibri"/>
                        <a:ea typeface="Calibri"/>
                        <a:cs typeface="Calibri"/>
                        <a:sym typeface="Calibri"/>
                      </a:endParaRPr>
                    </a:p>
                  </a:txBody>
                  <a:tcPr marT="0" marB="0" marR="68575" marL="68575"/>
                </a:tc>
              </a:tr>
            </a:tbl>
          </a:graphicData>
        </a:graphic>
      </p:graphicFrame>
      <p:sp>
        <p:nvSpPr>
          <p:cNvPr id="814" name="Google Shape;814;p105"/>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pic>
        <p:nvPicPr>
          <p:cNvPr id="819" name="Google Shape;819;p106"/>
          <p:cNvPicPr preferRelativeResize="0"/>
          <p:nvPr>
            <p:ph idx="1" type="body"/>
          </p:nvPr>
        </p:nvPicPr>
        <p:blipFill rotWithShape="1">
          <a:blip r:embed="rId3">
            <a:alphaModFix/>
          </a:blip>
          <a:srcRect b="0" l="0" r="0" t="0"/>
          <a:stretch/>
        </p:blipFill>
        <p:spPr>
          <a:xfrm>
            <a:off x="3556000" y="646645"/>
            <a:ext cx="6085840" cy="1344715"/>
          </a:xfrm>
          <a:prstGeom prst="rect">
            <a:avLst/>
          </a:prstGeom>
          <a:noFill/>
          <a:ln>
            <a:noFill/>
          </a:ln>
        </p:spPr>
      </p:pic>
      <p:sp>
        <p:nvSpPr>
          <p:cNvPr id="820" name="Google Shape;820;p106"/>
          <p:cNvSpPr txBox="1"/>
          <p:nvPr/>
        </p:nvSpPr>
        <p:spPr>
          <a:xfrm>
            <a:off x="2519680" y="2871467"/>
            <a:ext cx="9499600" cy="163480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chemeClr val="dk1"/>
                </a:solidFill>
                <a:latin typeface="Calibri"/>
                <a:ea typeface="Calibri"/>
                <a:cs typeface="Calibri"/>
                <a:sym typeface="Calibri"/>
              </a:rPr>
              <a:t>P1 is an index into the outer page table </a:t>
            </a:r>
            <a:endParaRPr sz="20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P2 is the displacement within the page of the outer page table. </a:t>
            </a:r>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Page offset(d) – The displacement within the page.</a:t>
            </a:r>
            <a:endParaRPr sz="2000">
              <a:solidFill>
                <a:schemeClr val="dk1"/>
              </a:solidFill>
              <a:latin typeface="Calibri"/>
              <a:ea typeface="Calibri"/>
              <a:cs typeface="Calibri"/>
              <a:sym typeface="Calibri"/>
            </a:endParaRPr>
          </a:p>
        </p:txBody>
      </p:sp>
      <p:sp>
        <p:nvSpPr>
          <p:cNvPr id="821" name="Google Shape;821;p106"/>
          <p:cNvSpPr txBox="1"/>
          <p:nvPr/>
        </p:nvSpPr>
        <p:spPr>
          <a:xfrm>
            <a:off x="4251960" y="2315980"/>
            <a:ext cx="610616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An example of logical address space division</a:t>
            </a:r>
            <a:endParaRPr sz="2000">
              <a:solidFill>
                <a:schemeClr val="dk1"/>
              </a:solidFill>
              <a:latin typeface="Calibri"/>
              <a:ea typeface="Calibri"/>
              <a:cs typeface="Calibri"/>
              <a:sym typeface="Calibri"/>
            </a:endParaRPr>
          </a:p>
        </p:txBody>
      </p:sp>
      <p:sp>
        <p:nvSpPr>
          <p:cNvPr id="822" name="Google Shape;822;p106"/>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07"/>
          <p:cNvSpPr txBox="1"/>
          <p:nvPr/>
        </p:nvSpPr>
        <p:spPr>
          <a:xfrm>
            <a:off x="4251801" y="6169102"/>
            <a:ext cx="6106160"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Calibri"/>
                <a:ea typeface="Calibri"/>
                <a:cs typeface="Calibri"/>
                <a:sym typeface="Calibri"/>
              </a:rPr>
              <a:t>A two-level page-table scheme</a:t>
            </a:r>
            <a:endParaRPr sz="2000">
              <a:solidFill>
                <a:schemeClr val="dk1"/>
              </a:solidFill>
              <a:latin typeface="Calibri"/>
              <a:ea typeface="Calibri"/>
              <a:cs typeface="Calibri"/>
              <a:sym typeface="Calibri"/>
            </a:endParaRPr>
          </a:p>
        </p:txBody>
      </p:sp>
      <p:pic>
        <p:nvPicPr>
          <p:cNvPr id="828" name="Google Shape;828;p107"/>
          <p:cNvPicPr preferRelativeResize="0"/>
          <p:nvPr/>
        </p:nvPicPr>
        <p:blipFill rotWithShape="1">
          <a:blip r:embed="rId3">
            <a:alphaModFix/>
          </a:blip>
          <a:srcRect b="0" l="0" r="0" t="0"/>
          <a:stretch/>
        </p:blipFill>
        <p:spPr>
          <a:xfrm>
            <a:off x="2865120" y="565784"/>
            <a:ext cx="8595360" cy="5603317"/>
          </a:xfrm>
          <a:prstGeom prst="rect">
            <a:avLst/>
          </a:prstGeom>
          <a:noFill/>
          <a:ln>
            <a:noFill/>
          </a:ln>
        </p:spPr>
      </p:pic>
      <p:sp>
        <p:nvSpPr>
          <p:cNvPr id="829" name="Google Shape;829;p107"/>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08"/>
          <p:cNvSpPr txBox="1"/>
          <p:nvPr/>
        </p:nvSpPr>
        <p:spPr>
          <a:xfrm>
            <a:off x="3921760" y="6199555"/>
            <a:ext cx="742188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Address translation for a two-level 32-bit paging architecture.</a:t>
            </a:r>
            <a:endParaRPr sz="2000">
              <a:solidFill>
                <a:schemeClr val="dk1"/>
              </a:solidFill>
              <a:latin typeface="Calibri"/>
              <a:ea typeface="Calibri"/>
              <a:cs typeface="Calibri"/>
              <a:sym typeface="Calibri"/>
            </a:endParaRPr>
          </a:p>
        </p:txBody>
      </p:sp>
      <p:pic>
        <p:nvPicPr>
          <p:cNvPr id="835" name="Google Shape;835;p108"/>
          <p:cNvPicPr preferRelativeResize="0"/>
          <p:nvPr/>
        </p:nvPicPr>
        <p:blipFill rotWithShape="1">
          <a:blip r:embed="rId3">
            <a:alphaModFix/>
          </a:blip>
          <a:srcRect b="0" l="0" r="0" t="0"/>
          <a:stretch/>
        </p:blipFill>
        <p:spPr>
          <a:xfrm>
            <a:off x="2804160" y="518160"/>
            <a:ext cx="9022080" cy="5415280"/>
          </a:xfrm>
          <a:prstGeom prst="rect">
            <a:avLst/>
          </a:prstGeom>
          <a:noFill/>
          <a:ln>
            <a:noFill/>
          </a:ln>
        </p:spPr>
      </p:pic>
      <p:sp>
        <p:nvSpPr>
          <p:cNvPr id="836" name="Google Shape;836;p108"/>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09"/>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Hashed Page Tables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Used for handling address spaces larger than 32 bits( or large address spaces)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Here,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hash value is the virtual page number</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Each entry in the hash table contains a linked list of elements that hash to the same location.</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Each element consists of three fields: </a:t>
            </a:r>
            <a:endParaRPr/>
          </a:p>
          <a:p>
            <a:pPr indent="-342900" lvl="0" marL="342900" rtl="0" algn="just">
              <a:lnSpc>
                <a:spcPct val="150000"/>
              </a:lnSpc>
              <a:spcBef>
                <a:spcPts val="1000"/>
              </a:spcBef>
              <a:spcAft>
                <a:spcPts val="0"/>
              </a:spcAft>
              <a:buClr>
                <a:schemeClr val="dk1"/>
              </a:buClr>
              <a:buSzPts val="2400"/>
              <a:buAutoNum type="arabicParenBoth"/>
            </a:pPr>
            <a:r>
              <a:rPr lang="en-US" sz="2400">
                <a:latin typeface="Calibri"/>
                <a:ea typeface="Calibri"/>
                <a:cs typeface="Calibri"/>
                <a:sym typeface="Calibri"/>
              </a:rPr>
              <a:t>the virtual page number,</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(2) the value of the mapped page frame, and</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(3) a pointer to the next element in the linked list.</a:t>
            </a:r>
            <a:endParaRPr sz="24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842" name="Google Shape;842;p109"/>
          <p:cNvSpPr txBox="1"/>
          <p:nvPr/>
        </p:nvSpPr>
        <p:spPr>
          <a:xfrm>
            <a:off x="512614" y="39746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10"/>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b="1" lang="en-US" sz="2400">
                <a:latin typeface="Calibri"/>
                <a:ea typeface="Calibri"/>
                <a:cs typeface="Calibri"/>
                <a:sym typeface="Calibri"/>
              </a:rPr>
              <a:t>The algorithm works as follows: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virtual page number in the virtual address is hashed into the hash table.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virtual page number is compared with field 1 in the first element in the linked list.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If there is a match, the corresponding page frame (field 2) is used to form the desired physical address.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If there is no match, subsequent entries in the linked list are searched for a matching virtual page number. </a:t>
            </a:r>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848" name="Google Shape;848;p110"/>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111"/>
          <p:cNvSpPr txBox="1"/>
          <p:nvPr/>
        </p:nvSpPr>
        <p:spPr>
          <a:xfrm>
            <a:off x="3693001" y="6124538"/>
            <a:ext cx="6106160"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Calibri"/>
                <a:ea typeface="Calibri"/>
                <a:cs typeface="Calibri"/>
                <a:sym typeface="Calibri"/>
              </a:rPr>
              <a:t>Hashed page Table</a:t>
            </a:r>
            <a:endParaRPr sz="2000">
              <a:solidFill>
                <a:schemeClr val="dk1"/>
              </a:solidFill>
              <a:latin typeface="Calibri"/>
              <a:ea typeface="Calibri"/>
              <a:cs typeface="Calibri"/>
              <a:sym typeface="Calibri"/>
            </a:endParaRPr>
          </a:p>
        </p:txBody>
      </p:sp>
      <p:pic>
        <p:nvPicPr>
          <p:cNvPr id="854" name="Google Shape;854;p111"/>
          <p:cNvPicPr preferRelativeResize="0"/>
          <p:nvPr/>
        </p:nvPicPr>
        <p:blipFill rotWithShape="1">
          <a:blip r:embed="rId3">
            <a:alphaModFix/>
          </a:blip>
          <a:srcRect b="0" l="0" r="0" t="0"/>
          <a:stretch/>
        </p:blipFill>
        <p:spPr>
          <a:xfrm>
            <a:off x="2783840" y="365760"/>
            <a:ext cx="9072880" cy="5758778"/>
          </a:xfrm>
          <a:prstGeom prst="rect">
            <a:avLst/>
          </a:prstGeom>
          <a:noFill/>
          <a:ln>
            <a:noFill/>
          </a:ln>
        </p:spPr>
      </p:pic>
      <p:sp>
        <p:nvSpPr>
          <p:cNvPr id="855" name="Google Shape;855;p111"/>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12"/>
          <p:cNvSpPr txBox="1"/>
          <p:nvPr>
            <p:ph idx="1" type="body"/>
          </p:nvPr>
        </p:nvSpPr>
        <p:spPr>
          <a:xfrm>
            <a:off x="2560320" y="162560"/>
            <a:ext cx="9489440" cy="6695440"/>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Clustered Page Tables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This a variation of the hashed page tables which is favorable for 64- bit address.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It is similar to the hashed page tables except that each entry in the hash table refers to several pages rather than a single page.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Therefore, a single page-table entry can store the mappings for multiple physical-page frames.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Clustered page tables are particularly useful for sparse address spaces, where memory references are noncontiguous and scattered throughout the address space.</a:t>
            </a:r>
            <a:endParaRPr sz="24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861" name="Google Shape;861;p112"/>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13"/>
          <p:cNvSpPr txBox="1"/>
          <p:nvPr>
            <p:ph idx="1" type="body"/>
          </p:nvPr>
        </p:nvSpPr>
        <p:spPr>
          <a:xfrm>
            <a:off x="2560320" y="162560"/>
            <a:ext cx="9489440" cy="6421120"/>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Inverted Page Tables</a:t>
            </a:r>
            <a:endParaRPr sz="2400">
              <a:solidFill>
                <a:srgbClr val="FF0000"/>
              </a:solidFill>
              <a:latin typeface="Calibri"/>
              <a:ea typeface="Calibri"/>
              <a:cs typeface="Calibri"/>
              <a:sym typeface="Calibri"/>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In most Operating systems, a separate page table is maintained for each processes.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So, for ‘n’ number of processes, there will be ‘n’ number of page tables.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For large processes, there would be many pages and for maintaining information about these pages, there would be too many entries in their page tables which itself would occupy a lot of the memory.</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Hence memory utilization is not efficient as a lot of memory is wasted in maintaining page tables itself.</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Solution to this problem: Use Inverted Page Tables</a:t>
            </a:r>
            <a:endParaRPr/>
          </a:p>
        </p:txBody>
      </p:sp>
      <p:sp>
        <p:nvSpPr>
          <p:cNvPr id="867" name="Google Shape;867;p113"/>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14"/>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latin typeface="Calibri"/>
                <a:ea typeface="Calibri"/>
                <a:cs typeface="Calibri"/>
                <a:sym typeface="Calibri"/>
              </a:rPr>
              <a:t>An inverted page table has one entry for each real page (or frame) of memory. </a:t>
            </a:r>
            <a:endParaRPr/>
          </a:p>
          <a:p>
            <a:pPr indent="0" lvl="0" marL="0" rtl="0" algn="just">
              <a:lnSpc>
                <a:spcPct val="150000"/>
              </a:lnSpc>
              <a:spcBef>
                <a:spcPts val="1800"/>
              </a:spcBef>
              <a:spcAft>
                <a:spcPts val="0"/>
              </a:spcAft>
              <a:buClr>
                <a:schemeClr val="dk1"/>
              </a:buClr>
              <a:buSzPts val="2400"/>
              <a:buNone/>
            </a:pPr>
            <a:r>
              <a:rPr lang="en-US" sz="2400">
                <a:latin typeface="Calibri"/>
                <a:ea typeface="Calibri"/>
                <a:cs typeface="Calibri"/>
                <a:sym typeface="Calibri"/>
              </a:rPr>
              <a:t>Each entry consists of the virtual address of the page stored in that real memory location, with information about the process that owns that page. </a:t>
            </a:r>
            <a:endParaRPr/>
          </a:p>
          <a:p>
            <a:pPr indent="0" lvl="0" marL="0" rtl="0" algn="just">
              <a:lnSpc>
                <a:spcPct val="150000"/>
              </a:lnSpc>
              <a:spcBef>
                <a:spcPts val="1800"/>
              </a:spcBef>
              <a:spcAft>
                <a:spcPts val="0"/>
              </a:spcAft>
              <a:buClr>
                <a:schemeClr val="dk1"/>
              </a:buClr>
              <a:buSzPts val="2400"/>
              <a:buNone/>
            </a:pPr>
            <a:r>
              <a:rPr lang="en-US" sz="2400">
                <a:latin typeface="Calibri"/>
                <a:ea typeface="Calibri"/>
                <a:cs typeface="Calibri"/>
                <a:sym typeface="Calibri"/>
              </a:rPr>
              <a:t>Thus, only one page table is in the system, and it has only one entry for each page of physical memory. </a:t>
            </a:r>
            <a:endParaRPr/>
          </a:p>
          <a:p>
            <a:pPr indent="0" lvl="0" marL="0" rtl="0" algn="just">
              <a:lnSpc>
                <a:spcPct val="150000"/>
              </a:lnSpc>
              <a:spcBef>
                <a:spcPts val="1800"/>
              </a:spcBef>
              <a:spcAft>
                <a:spcPts val="0"/>
              </a:spcAft>
              <a:buClr>
                <a:schemeClr val="dk1"/>
              </a:buClr>
              <a:buSzPts val="2400"/>
              <a:buNone/>
            </a:pPr>
            <a:r>
              <a:rPr lang="en-US" sz="2400">
                <a:latin typeface="Calibri"/>
                <a:ea typeface="Calibri"/>
                <a:cs typeface="Calibri"/>
                <a:sym typeface="Calibri"/>
              </a:rPr>
              <a:t>Each virtual address in the system consists of a triple</a:t>
            </a:r>
            <a:endParaRPr sz="24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400"/>
              <a:buNone/>
            </a:pPr>
            <a:r>
              <a:rPr lang="en-US" sz="2400">
                <a:latin typeface="Calibri"/>
                <a:ea typeface="Calibri"/>
                <a:cs typeface="Calibri"/>
                <a:sym typeface="Calibri"/>
              </a:rPr>
              <a:t>&lt;process-id, page-number, offset&gt;.</a:t>
            </a:r>
            <a:endParaRPr sz="24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400"/>
              <a:buNone/>
            </a:pPr>
            <a:r>
              <a:rPr lang="en-US" sz="2400">
                <a:latin typeface="Calibri"/>
                <a:ea typeface="Calibri"/>
                <a:cs typeface="Calibri"/>
                <a:sym typeface="Calibri"/>
              </a:rPr>
              <a:t>Each inverted page-table entry is a pair &lt;process-id, page-number&gt; </a:t>
            </a:r>
            <a:endParaRPr sz="2400">
              <a:latin typeface="Calibri"/>
              <a:ea typeface="Calibri"/>
              <a:cs typeface="Calibri"/>
              <a:sym typeface="Calibri"/>
            </a:endParaRPr>
          </a:p>
        </p:txBody>
      </p:sp>
      <p:sp>
        <p:nvSpPr>
          <p:cNvPr id="873" name="Google Shape;873;p114"/>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15"/>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latin typeface="Calibri"/>
                <a:ea typeface="Calibri"/>
                <a:cs typeface="Calibri"/>
                <a:sym typeface="Calibri"/>
              </a:rPr>
              <a:t>When a memory reference occurs, part of the virtual address, consisting of &lt;process-id, page number&gt;, is presented to the memory subsystem.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inverted page table is then searched for a match.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If a match is found-say, at entry i-then the physical address &lt;i, offset&gt; is generated.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If no match is found, then an illegal  address access has been attempted.</a:t>
            </a:r>
            <a:endParaRPr sz="24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879" name="Google Shape;879;p115"/>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116"/>
          <p:cNvSpPr txBox="1"/>
          <p:nvPr/>
        </p:nvSpPr>
        <p:spPr>
          <a:xfrm>
            <a:off x="3359180" y="6280862"/>
            <a:ext cx="6106160"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Calibri"/>
                <a:ea typeface="Calibri"/>
                <a:cs typeface="Calibri"/>
                <a:sym typeface="Calibri"/>
              </a:rPr>
              <a:t>Inverted page table.</a:t>
            </a:r>
            <a:endParaRPr sz="2000">
              <a:solidFill>
                <a:schemeClr val="dk1"/>
              </a:solidFill>
              <a:latin typeface="Calibri"/>
              <a:ea typeface="Calibri"/>
              <a:cs typeface="Calibri"/>
              <a:sym typeface="Calibri"/>
            </a:endParaRPr>
          </a:p>
        </p:txBody>
      </p:sp>
      <p:pic>
        <p:nvPicPr>
          <p:cNvPr id="885" name="Google Shape;885;p116"/>
          <p:cNvPicPr preferRelativeResize="0"/>
          <p:nvPr/>
        </p:nvPicPr>
        <p:blipFill rotWithShape="1">
          <a:blip r:embed="rId3">
            <a:alphaModFix/>
          </a:blip>
          <a:srcRect b="0" l="0" r="0" t="0"/>
          <a:stretch/>
        </p:blipFill>
        <p:spPr>
          <a:xfrm>
            <a:off x="2763520" y="254000"/>
            <a:ext cx="9113520" cy="6026861"/>
          </a:xfrm>
          <a:prstGeom prst="rect">
            <a:avLst/>
          </a:prstGeom>
          <a:noFill/>
          <a:ln>
            <a:noFill/>
          </a:ln>
        </p:spPr>
      </p:pic>
      <p:sp>
        <p:nvSpPr>
          <p:cNvPr id="886" name="Google Shape;886;p116"/>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117"/>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b="1" lang="en-US" sz="2400">
                <a:latin typeface="Calibri"/>
                <a:ea typeface="Calibri"/>
                <a:cs typeface="Calibri"/>
                <a:sym typeface="Calibri"/>
              </a:rPr>
              <a:t>Advantages of Inverted Page Tables: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Reduces memory usage.</a:t>
            </a:r>
            <a:endParaRPr/>
          </a:p>
          <a:p>
            <a:pPr indent="0" lvl="0" marL="0" rtl="0" algn="just">
              <a:lnSpc>
                <a:spcPct val="150000"/>
              </a:lnSpc>
              <a:spcBef>
                <a:spcPts val="1000"/>
              </a:spcBef>
              <a:spcAft>
                <a:spcPts val="0"/>
              </a:spcAft>
              <a:buClr>
                <a:schemeClr val="dk1"/>
              </a:buClr>
              <a:buSzPts val="2400"/>
              <a:buNone/>
            </a:pPr>
            <a:r>
              <a:rPr b="1" lang="en-US" sz="2400">
                <a:latin typeface="Calibri"/>
                <a:ea typeface="Calibri"/>
                <a:cs typeface="Calibri"/>
                <a:sym typeface="Calibri"/>
              </a:rPr>
              <a:t>Disadvantages of Inverted Page Tables: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Increased search time as inverted page table is sorted by physical address, but  lookups occur on virtual addresses. The whole table might to be searched for a match.</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Difficulty in implementing shared memory.</a:t>
            </a:r>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892" name="Google Shape;892;p117"/>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118"/>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Segmentation</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Segmentation is another non – contiguous memory allocation technique like paging.</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Unlike paging, in segmentation, the processes are not divided into fixed size pages.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Instead, the processes are divided into several modules called segments which improves the visualization for the users.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So, here , both secondary memory and main memory are divided into partitions of unequal sizes. </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898" name="Google Shape;898;p118"/>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119"/>
          <p:cNvSpPr txBox="1"/>
          <p:nvPr/>
        </p:nvSpPr>
        <p:spPr>
          <a:xfrm>
            <a:off x="5290888" y="6370320"/>
            <a:ext cx="610616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User's view of a program.</a:t>
            </a:r>
            <a:endParaRPr sz="2000">
              <a:solidFill>
                <a:schemeClr val="dk1"/>
              </a:solidFill>
              <a:latin typeface="Calibri"/>
              <a:ea typeface="Calibri"/>
              <a:cs typeface="Calibri"/>
              <a:sym typeface="Calibri"/>
            </a:endParaRPr>
          </a:p>
        </p:txBody>
      </p:sp>
      <p:pic>
        <p:nvPicPr>
          <p:cNvPr id="904" name="Google Shape;904;p119"/>
          <p:cNvPicPr preferRelativeResize="0"/>
          <p:nvPr/>
        </p:nvPicPr>
        <p:blipFill rotWithShape="1">
          <a:blip r:embed="rId3">
            <a:alphaModFix/>
          </a:blip>
          <a:srcRect b="0" l="0" r="0" t="0"/>
          <a:stretch/>
        </p:blipFill>
        <p:spPr>
          <a:xfrm>
            <a:off x="2966720" y="386080"/>
            <a:ext cx="8575040" cy="5760720"/>
          </a:xfrm>
          <a:prstGeom prst="rect">
            <a:avLst/>
          </a:prstGeom>
          <a:noFill/>
          <a:ln>
            <a:noFill/>
          </a:ln>
        </p:spPr>
      </p:pic>
      <p:sp>
        <p:nvSpPr>
          <p:cNvPr id="905" name="Google Shape;905;p119"/>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120"/>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latin typeface="Calibri"/>
                <a:ea typeface="Calibri"/>
                <a:cs typeface="Calibri"/>
                <a:sym typeface="Calibri"/>
              </a:rPr>
              <a:t>A logical address space is a collection of segments.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Each segment has a name and a length.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addresses specify both the segment name and the offset within the segment. </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user therefore specifies each address by two quantities: A segment name and An offset. </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911" name="Google Shape;911;p120"/>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121"/>
          <p:cNvSpPr txBox="1"/>
          <p:nvPr>
            <p:ph idx="1" type="body"/>
          </p:nvPr>
        </p:nvSpPr>
        <p:spPr>
          <a:xfrm>
            <a:off x="2519680" y="304800"/>
            <a:ext cx="9458960" cy="655320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latin typeface="Calibri"/>
                <a:ea typeface="Calibri"/>
                <a:cs typeface="Calibri"/>
                <a:sym typeface="Calibri"/>
              </a:rPr>
              <a:t>While paging – the user specifies only a single address, which is partitioned by the hardware into a page number and an offset, all invisible to the programmer.</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For simplicity of implementation, segments are numbered and are referred to by a segment number, rather than by a segment name. </a:t>
            </a:r>
            <a:endParaRPr/>
          </a:p>
          <a:p>
            <a:pPr indent="0" lvl="0" marL="0" rtl="0" algn="just">
              <a:lnSpc>
                <a:spcPct val="150000"/>
              </a:lnSpc>
              <a:spcBef>
                <a:spcPts val="1800"/>
              </a:spcBef>
              <a:spcAft>
                <a:spcPts val="0"/>
              </a:spcAft>
              <a:buClr>
                <a:schemeClr val="dk1"/>
              </a:buClr>
              <a:buSzPts val="2400"/>
              <a:buNone/>
            </a:pPr>
            <a:r>
              <a:rPr lang="en-US" sz="2400">
                <a:latin typeface="Calibri"/>
                <a:ea typeface="Calibri"/>
                <a:cs typeface="Calibri"/>
                <a:sym typeface="Calibri"/>
              </a:rPr>
              <a:t>Thus, a logical address consists of a two tuple:</a:t>
            </a:r>
            <a:endParaRPr sz="2400">
              <a:latin typeface="Calibri"/>
              <a:ea typeface="Calibri"/>
              <a:cs typeface="Calibri"/>
              <a:sym typeface="Calibri"/>
            </a:endParaRPr>
          </a:p>
          <a:p>
            <a:pPr indent="0" lvl="0" marL="0" rtl="0" algn="just">
              <a:lnSpc>
                <a:spcPct val="150000"/>
              </a:lnSpc>
              <a:spcBef>
                <a:spcPts val="1800"/>
              </a:spcBef>
              <a:spcAft>
                <a:spcPts val="0"/>
              </a:spcAft>
              <a:buClr>
                <a:schemeClr val="dk1"/>
              </a:buClr>
              <a:buSzPts val="2400"/>
              <a:buNone/>
            </a:pPr>
            <a:r>
              <a:rPr lang="en-US" sz="2400">
                <a:latin typeface="Calibri"/>
                <a:ea typeface="Calibri"/>
                <a:cs typeface="Calibri"/>
                <a:sym typeface="Calibri"/>
              </a:rPr>
              <a:t>	&lt;segment-number, offset&gt;.</a:t>
            </a:r>
            <a:endParaRPr sz="2400">
              <a:latin typeface="Calibri"/>
              <a:ea typeface="Calibri"/>
              <a:cs typeface="Calibri"/>
              <a:sym typeface="Calibri"/>
            </a:endParaRPr>
          </a:p>
          <a:p>
            <a:pPr indent="-50800" lvl="0" marL="228600" rtl="0" algn="l">
              <a:lnSpc>
                <a:spcPct val="90000"/>
              </a:lnSpc>
              <a:spcBef>
                <a:spcPts val="1800"/>
              </a:spcBef>
              <a:spcAft>
                <a:spcPts val="0"/>
              </a:spcAft>
              <a:buClr>
                <a:schemeClr val="dk1"/>
              </a:buClr>
              <a:buSzPts val="2800"/>
              <a:buNone/>
            </a:pPr>
            <a:r>
              <a:t/>
            </a:r>
            <a:endParaRPr/>
          </a:p>
        </p:txBody>
      </p:sp>
      <p:sp>
        <p:nvSpPr>
          <p:cNvPr id="917" name="Google Shape;917;p121"/>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22"/>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ctr">
              <a:lnSpc>
                <a:spcPct val="150000"/>
              </a:lnSpc>
              <a:spcBef>
                <a:spcPts val="0"/>
              </a:spcBef>
              <a:spcAft>
                <a:spcPts val="0"/>
              </a:spcAft>
              <a:buClr>
                <a:srgbClr val="FF0000"/>
              </a:buClr>
              <a:buSzPts val="2000"/>
              <a:buNone/>
            </a:pPr>
            <a:r>
              <a:rPr b="1" lang="en-US" sz="2000">
                <a:solidFill>
                  <a:srgbClr val="FF0000"/>
                </a:solidFill>
                <a:latin typeface="Calibri"/>
                <a:ea typeface="Calibri"/>
                <a:cs typeface="Calibri"/>
                <a:sym typeface="Calibri"/>
              </a:rPr>
              <a:t>Segment Table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We must define an implementation to map two dimensional user defined addresses into one dimensional physical addresses.</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This mapping is done by using a segment table.</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Each entry in the segment table has a segment base and a segment limit.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The segment base contains the starting physical address where the segment resides in memory, whereas the segment limit specifies the length of the segment.</a:t>
            </a:r>
            <a:endParaRPr/>
          </a:p>
          <a:p>
            <a:pPr indent="0" lvl="0" marL="0" rtl="0" algn="just">
              <a:lnSpc>
                <a:spcPct val="150000"/>
              </a:lnSpc>
              <a:spcBef>
                <a:spcPts val="1000"/>
              </a:spcBef>
              <a:spcAft>
                <a:spcPts val="0"/>
              </a:spcAft>
              <a:buClr>
                <a:schemeClr val="dk1"/>
              </a:buClr>
              <a:buSzPts val="2000"/>
              <a:buNone/>
            </a:pPr>
            <a:r>
              <a:rPr lang="en-US" sz="2000">
                <a:latin typeface="Calibri"/>
                <a:ea typeface="Calibri"/>
                <a:cs typeface="Calibri"/>
                <a:sym typeface="Calibri"/>
              </a:rPr>
              <a:t> </a:t>
            </a:r>
            <a:endParaRPr/>
          </a:p>
        </p:txBody>
      </p:sp>
      <p:graphicFrame>
        <p:nvGraphicFramePr>
          <p:cNvPr id="923" name="Google Shape;923;p122"/>
          <p:cNvGraphicFramePr/>
          <p:nvPr/>
        </p:nvGraphicFramePr>
        <p:xfrm>
          <a:off x="4206240" y="3992880"/>
          <a:ext cx="3000000" cy="3000000"/>
        </p:xfrm>
        <a:graphic>
          <a:graphicData uri="http://schemas.openxmlformats.org/drawingml/2006/table">
            <a:tbl>
              <a:tblPr bandRow="1" firstCol="1" firstRow="1">
                <a:noFill/>
                <a:tableStyleId>{EA49DD23-6F04-43C5-890A-893E10268F7A}</a:tableStyleId>
              </a:tblPr>
              <a:tblGrid>
                <a:gridCol w="2071625"/>
                <a:gridCol w="1341025"/>
                <a:gridCol w="1667350"/>
              </a:tblGrid>
              <a:tr h="465675">
                <a:tc>
                  <a:txBody>
                    <a:bodyPr/>
                    <a:lstStyle/>
                    <a:p>
                      <a:pPr indent="0" lvl="0" marL="0" marR="0" rtl="0" algn="ctr">
                        <a:lnSpc>
                          <a:spcPct val="107000"/>
                        </a:lnSpc>
                        <a:spcBef>
                          <a:spcPts val="0"/>
                        </a:spcBef>
                        <a:spcAft>
                          <a:spcPts val="0"/>
                        </a:spcAft>
                        <a:buNone/>
                      </a:pPr>
                      <a:r>
                        <a:rPr lang="en-US" sz="2000" u="none" cap="none" strike="noStrike"/>
                        <a:t> </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Limit</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Base</a:t>
                      </a:r>
                      <a:endParaRPr sz="2000" u="none" cap="none" strike="noStrike">
                        <a:latin typeface="Calibri"/>
                        <a:ea typeface="Calibri"/>
                        <a:cs typeface="Calibri"/>
                        <a:sym typeface="Calibri"/>
                      </a:endParaRPr>
                    </a:p>
                  </a:txBody>
                  <a:tcPr marT="0" marB="0" marR="68575" marL="68575"/>
                </a:tc>
              </a:tr>
              <a:tr h="465675">
                <a:tc>
                  <a:txBody>
                    <a:bodyPr/>
                    <a:lstStyle/>
                    <a:p>
                      <a:pPr indent="0" lvl="0" marL="0" marR="0" rtl="0" algn="ctr">
                        <a:lnSpc>
                          <a:spcPct val="107000"/>
                        </a:lnSpc>
                        <a:spcBef>
                          <a:spcPts val="0"/>
                        </a:spcBef>
                        <a:spcAft>
                          <a:spcPts val="0"/>
                        </a:spcAft>
                        <a:buNone/>
                      </a:pPr>
                      <a:r>
                        <a:rPr lang="en-US" sz="2000" u="none" cap="none" strike="noStrike"/>
                        <a:t>Segment 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1000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1400</a:t>
                      </a:r>
                      <a:endParaRPr sz="2000" u="none" cap="none" strike="noStrike">
                        <a:latin typeface="Calibri"/>
                        <a:ea typeface="Calibri"/>
                        <a:cs typeface="Calibri"/>
                        <a:sym typeface="Calibri"/>
                      </a:endParaRPr>
                    </a:p>
                  </a:txBody>
                  <a:tcPr marT="0" marB="0" marR="68575" marL="68575"/>
                </a:tc>
              </a:tr>
              <a:tr h="465675">
                <a:tc>
                  <a:txBody>
                    <a:bodyPr/>
                    <a:lstStyle/>
                    <a:p>
                      <a:pPr indent="0" lvl="0" marL="0" marR="0" rtl="0" algn="ctr">
                        <a:lnSpc>
                          <a:spcPct val="107000"/>
                        </a:lnSpc>
                        <a:spcBef>
                          <a:spcPts val="0"/>
                        </a:spcBef>
                        <a:spcAft>
                          <a:spcPts val="0"/>
                        </a:spcAft>
                        <a:buNone/>
                      </a:pPr>
                      <a:r>
                        <a:rPr lang="en-US" sz="2000" u="none" cap="none" strike="noStrike"/>
                        <a:t>Segment 1</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400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6300</a:t>
                      </a:r>
                      <a:endParaRPr sz="2000" u="none" cap="none" strike="noStrike">
                        <a:latin typeface="Calibri"/>
                        <a:ea typeface="Calibri"/>
                        <a:cs typeface="Calibri"/>
                        <a:sym typeface="Calibri"/>
                      </a:endParaRPr>
                    </a:p>
                  </a:txBody>
                  <a:tcPr marT="0" marB="0" marR="68575" marL="68575"/>
                </a:tc>
              </a:tr>
              <a:tr h="465675">
                <a:tc>
                  <a:txBody>
                    <a:bodyPr/>
                    <a:lstStyle/>
                    <a:p>
                      <a:pPr indent="0" lvl="0" marL="0" marR="0" rtl="0" algn="ctr">
                        <a:lnSpc>
                          <a:spcPct val="107000"/>
                        </a:lnSpc>
                        <a:spcBef>
                          <a:spcPts val="0"/>
                        </a:spcBef>
                        <a:spcAft>
                          <a:spcPts val="0"/>
                        </a:spcAft>
                        <a:buNone/>
                      </a:pPr>
                      <a:r>
                        <a:rPr lang="en-US" sz="2000" u="none" cap="none" strike="noStrike"/>
                        <a:t>Segment 2</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400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4300</a:t>
                      </a:r>
                      <a:endParaRPr sz="2000" u="none" cap="none" strike="noStrike">
                        <a:latin typeface="Calibri"/>
                        <a:ea typeface="Calibri"/>
                        <a:cs typeface="Calibri"/>
                        <a:sym typeface="Calibri"/>
                      </a:endParaRPr>
                    </a:p>
                  </a:txBody>
                  <a:tcPr marT="0" marB="0" marR="68575" marL="68575"/>
                </a:tc>
              </a:tr>
              <a:tr h="465675">
                <a:tc>
                  <a:txBody>
                    <a:bodyPr/>
                    <a:lstStyle/>
                    <a:p>
                      <a:pPr indent="0" lvl="0" marL="0" marR="0" rtl="0" algn="ctr">
                        <a:lnSpc>
                          <a:spcPct val="107000"/>
                        </a:lnSpc>
                        <a:spcBef>
                          <a:spcPts val="0"/>
                        </a:spcBef>
                        <a:spcAft>
                          <a:spcPts val="0"/>
                        </a:spcAft>
                        <a:buNone/>
                      </a:pPr>
                      <a:r>
                        <a:rPr lang="en-US" sz="2000" u="none" cap="none" strike="noStrike"/>
                        <a:t>Segment 3</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1100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3200</a:t>
                      </a:r>
                      <a:endParaRPr sz="2000" u="none" cap="none" strike="noStrike">
                        <a:latin typeface="Calibri"/>
                        <a:ea typeface="Calibri"/>
                        <a:cs typeface="Calibri"/>
                        <a:sym typeface="Calibri"/>
                      </a:endParaRPr>
                    </a:p>
                  </a:txBody>
                  <a:tcPr marT="0" marB="0" marR="68575" marL="68575"/>
                </a:tc>
              </a:tr>
              <a:tr h="465675">
                <a:tc>
                  <a:txBody>
                    <a:bodyPr/>
                    <a:lstStyle/>
                    <a:p>
                      <a:pPr indent="0" lvl="0" marL="0" marR="0" rtl="0" algn="ctr">
                        <a:lnSpc>
                          <a:spcPct val="107000"/>
                        </a:lnSpc>
                        <a:spcBef>
                          <a:spcPts val="0"/>
                        </a:spcBef>
                        <a:spcAft>
                          <a:spcPts val="0"/>
                        </a:spcAft>
                        <a:buNone/>
                      </a:pPr>
                      <a:r>
                        <a:rPr lang="en-US" sz="2000" u="none" cap="none" strike="noStrike"/>
                        <a:t>Segment 4</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1000</a:t>
                      </a:r>
                      <a:endParaRPr sz="20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None/>
                      </a:pPr>
                      <a:r>
                        <a:rPr lang="en-US" sz="2000" u="none" cap="none" strike="noStrike"/>
                        <a:t>4700</a:t>
                      </a:r>
                      <a:endParaRPr sz="2000" u="none" cap="none" strike="noStrike">
                        <a:latin typeface="Calibri"/>
                        <a:ea typeface="Calibri"/>
                        <a:cs typeface="Calibri"/>
                        <a:sym typeface="Calibri"/>
                      </a:endParaRPr>
                    </a:p>
                  </a:txBody>
                  <a:tcPr marT="0" marB="0" marR="68575" marL="68575"/>
                </a:tc>
              </a:tr>
            </a:tbl>
          </a:graphicData>
        </a:graphic>
      </p:graphicFrame>
      <p:sp>
        <p:nvSpPr>
          <p:cNvPr id="924" name="Google Shape;924;p122"/>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123"/>
          <p:cNvSpPr txBox="1"/>
          <p:nvPr/>
        </p:nvSpPr>
        <p:spPr>
          <a:xfrm>
            <a:off x="4048760" y="6138622"/>
            <a:ext cx="6106160"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Calibri"/>
                <a:ea typeface="Calibri"/>
                <a:cs typeface="Calibri"/>
                <a:sym typeface="Calibri"/>
              </a:rPr>
              <a:t>Example of segmentation.</a:t>
            </a:r>
            <a:endParaRPr sz="2000">
              <a:solidFill>
                <a:schemeClr val="dk1"/>
              </a:solidFill>
              <a:latin typeface="Calibri"/>
              <a:ea typeface="Calibri"/>
              <a:cs typeface="Calibri"/>
              <a:sym typeface="Calibri"/>
            </a:endParaRPr>
          </a:p>
        </p:txBody>
      </p:sp>
      <p:pic>
        <p:nvPicPr>
          <p:cNvPr id="930" name="Google Shape;930;p123"/>
          <p:cNvPicPr preferRelativeResize="0"/>
          <p:nvPr/>
        </p:nvPicPr>
        <p:blipFill rotWithShape="1">
          <a:blip r:embed="rId3">
            <a:alphaModFix/>
          </a:blip>
          <a:srcRect b="0" l="0" r="0" t="0"/>
          <a:stretch/>
        </p:blipFill>
        <p:spPr>
          <a:xfrm>
            <a:off x="2854960" y="213086"/>
            <a:ext cx="8859520" cy="5925536"/>
          </a:xfrm>
          <a:prstGeom prst="rect">
            <a:avLst/>
          </a:prstGeom>
          <a:noFill/>
          <a:ln>
            <a:noFill/>
          </a:ln>
        </p:spPr>
      </p:pic>
      <p:sp>
        <p:nvSpPr>
          <p:cNvPr id="931" name="Google Shape;931;p123"/>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24"/>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0000"/>
              </a:buClr>
              <a:buSzPts val="2400"/>
              <a:buNone/>
            </a:pPr>
            <a:r>
              <a:rPr b="1" lang="en-US" sz="2400">
                <a:solidFill>
                  <a:srgbClr val="FF0000"/>
                </a:solidFill>
                <a:latin typeface="Calibri"/>
                <a:ea typeface="Calibri"/>
                <a:cs typeface="Calibri"/>
                <a:sym typeface="Calibri"/>
              </a:rPr>
              <a:t>Segmentation Hardware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Although in segmentation the user can now refer to objects in the program by a two dimensional address, the actual physical memory is still, of course, a one dimensional sequence of bytes.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Thus, we must define an implementation to map two dimensional user defined addresses into one dimensional physical addresses.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This is done with the help of a segment table. </a:t>
            </a:r>
            <a:endParaRPr/>
          </a:p>
          <a:p>
            <a:pPr indent="0" lvl="0" marL="0" rtl="0" algn="just">
              <a:lnSpc>
                <a:spcPct val="15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937" name="Google Shape;937;p124"/>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25"/>
          <p:cNvSpPr txBox="1"/>
          <p:nvPr>
            <p:ph idx="1" type="body"/>
          </p:nvPr>
        </p:nvSpPr>
        <p:spPr>
          <a:xfrm>
            <a:off x="2540000" y="193040"/>
            <a:ext cx="9398000" cy="646176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400"/>
              <a:buNone/>
            </a:pPr>
            <a:r>
              <a:rPr lang="en-US" sz="2400">
                <a:latin typeface="Calibri"/>
                <a:ea typeface="Calibri"/>
                <a:cs typeface="Calibri"/>
                <a:sym typeface="Calibri"/>
              </a:rPr>
              <a:t>A logical address consists of two parts:</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A segment number, ‘s’, and an offset into that segment, ‘d’.</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segment number is used as an index to the segment table.</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The offset d of the logical address must be between 0 and segment limit.</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If it is not, we trap to the OS(logical addressing attempt beyond, end of segment)</a:t>
            </a:r>
            <a:endParaRPr/>
          </a:p>
          <a:p>
            <a:pPr indent="0" lvl="0" marL="0" rtl="0" algn="just">
              <a:lnSpc>
                <a:spcPct val="150000"/>
              </a:lnSpc>
              <a:spcBef>
                <a:spcPts val="1000"/>
              </a:spcBef>
              <a:spcAft>
                <a:spcPts val="0"/>
              </a:spcAft>
              <a:buClr>
                <a:schemeClr val="dk1"/>
              </a:buClr>
              <a:buSzPts val="2400"/>
              <a:buNone/>
            </a:pPr>
            <a:r>
              <a:rPr lang="en-US" sz="2400">
                <a:latin typeface="Calibri"/>
                <a:ea typeface="Calibri"/>
                <a:cs typeface="Calibri"/>
                <a:sym typeface="Calibri"/>
              </a:rPr>
              <a:t>When a offset is legal, it is added to the segment base to produce the address in physical memory of the desired byte</a:t>
            </a:r>
            <a:endParaRPr/>
          </a:p>
          <a:p>
            <a:pPr indent="0" lvl="0" marL="0" rtl="0" algn="l">
              <a:lnSpc>
                <a:spcPct val="90000"/>
              </a:lnSpc>
              <a:spcBef>
                <a:spcPts val="1000"/>
              </a:spcBef>
              <a:spcAft>
                <a:spcPts val="0"/>
              </a:spcAft>
              <a:buClr>
                <a:schemeClr val="dk1"/>
              </a:buClr>
              <a:buSzPts val="2800"/>
              <a:buNone/>
            </a:pPr>
            <a:r>
              <a:t/>
            </a:r>
            <a:endParaRPr/>
          </a:p>
        </p:txBody>
      </p:sp>
      <p:sp>
        <p:nvSpPr>
          <p:cNvPr id="943" name="Google Shape;943;p125"/>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126"/>
          <p:cNvSpPr txBox="1"/>
          <p:nvPr>
            <p:ph idx="1" type="body"/>
          </p:nvPr>
        </p:nvSpPr>
        <p:spPr>
          <a:xfrm>
            <a:off x="2560320" y="162560"/>
            <a:ext cx="9489440" cy="6624320"/>
          </a:xfrm>
          <a:prstGeom prst="rect">
            <a:avLst/>
          </a:prstGeom>
          <a:noFill/>
          <a:ln>
            <a:noFill/>
          </a:ln>
        </p:spPr>
        <p:txBody>
          <a:bodyPr anchorCtr="0" anchor="t" bIns="45700" lIns="91425" spcFirstLastPara="1" rIns="91425" wrap="square" tIns="45700">
            <a:normAutofit/>
          </a:bodyPr>
          <a:lstStyle/>
          <a:p>
            <a:pPr indent="0" lvl="0" marL="0" rtl="0" algn="just">
              <a:lnSpc>
                <a:spcPct val="150000"/>
              </a:lnSpc>
              <a:spcBef>
                <a:spcPts val="0"/>
              </a:spcBef>
              <a:spcAft>
                <a:spcPts val="0"/>
              </a:spcAft>
              <a:buClr>
                <a:schemeClr val="dk1"/>
              </a:buClr>
              <a:buSzPts val="2000"/>
              <a:buNone/>
            </a:pPr>
            <a:r>
              <a:rPr lang="en-US" sz="2000">
                <a:latin typeface="Calibri"/>
                <a:ea typeface="Calibri"/>
                <a:cs typeface="Calibri"/>
                <a:sym typeface="Calibri"/>
              </a:rPr>
              <a:t>.</a:t>
            </a:r>
            <a:endParaRPr/>
          </a:p>
          <a:p>
            <a:pPr indent="-101600" lvl="0" marL="22860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sp>
        <p:nvSpPr>
          <p:cNvPr id="949" name="Google Shape;949;p126"/>
          <p:cNvSpPr txBox="1"/>
          <p:nvPr/>
        </p:nvSpPr>
        <p:spPr>
          <a:xfrm>
            <a:off x="3784600" y="6118302"/>
            <a:ext cx="6106160" cy="506292"/>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lang="en-US" sz="2000">
                <a:solidFill>
                  <a:schemeClr val="dk1"/>
                </a:solidFill>
                <a:latin typeface="Calibri"/>
                <a:ea typeface="Calibri"/>
                <a:cs typeface="Calibri"/>
                <a:sym typeface="Calibri"/>
              </a:rPr>
              <a:t>Segmentation hardware.</a:t>
            </a:r>
            <a:endParaRPr sz="2000">
              <a:solidFill>
                <a:schemeClr val="dk1"/>
              </a:solidFill>
              <a:latin typeface="Calibri"/>
              <a:ea typeface="Calibri"/>
              <a:cs typeface="Calibri"/>
              <a:sym typeface="Calibri"/>
            </a:endParaRPr>
          </a:p>
        </p:txBody>
      </p:sp>
      <p:pic>
        <p:nvPicPr>
          <p:cNvPr id="950" name="Google Shape;950;p126"/>
          <p:cNvPicPr preferRelativeResize="0"/>
          <p:nvPr/>
        </p:nvPicPr>
        <p:blipFill rotWithShape="1">
          <a:blip r:embed="rId3">
            <a:alphaModFix/>
          </a:blip>
          <a:srcRect b="0" l="0" r="0" t="0"/>
          <a:stretch/>
        </p:blipFill>
        <p:spPr>
          <a:xfrm>
            <a:off x="2854960" y="518160"/>
            <a:ext cx="8900160" cy="5364480"/>
          </a:xfrm>
          <a:prstGeom prst="rect">
            <a:avLst/>
          </a:prstGeom>
          <a:noFill/>
          <a:ln>
            <a:noFill/>
          </a:ln>
        </p:spPr>
      </p:pic>
      <p:sp>
        <p:nvSpPr>
          <p:cNvPr id="951" name="Google Shape;951;p126"/>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127"/>
          <p:cNvSpPr txBox="1"/>
          <p:nvPr/>
        </p:nvSpPr>
        <p:spPr>
          <a:xfrm>
            <a:off x="2649220" y="4856480"/>
            <a:ext cx="9471660" cy="256147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chemeClr val="dk1"/>
                </a:solidFill>
                <a:latin typeface="Calibri"/>
                <a:ea typeface="Calibri"/>
                <a:cs typeface="Calibri"/>
                <a:sym typeface="Calibri"/>
              </a:rPr>
              <a:t>Example: Reference to byte 53 of segment2 mapped to onto location 4300 + 53 = 4353</a:t>
            </a:r>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Reference to byte 852 of segment 3 mapped to onto location 3200 + 852 = 4052</a:t>
            </a:r>
            <a:endParaRPr/>
          </a:p>
          <a:p>
            <a:pPr indent="0" lvl="0" marL="0" marR="0" rtl="0" algn="just">
              <a:lnSpc>
                <a:spcPct val="150000"/>
              </a:lnSpc>
              <a:spcBef>
                <a:spcPts val="800"/>
              </a:spcBef>
              <a:spcAft>
                <a:spcPts val="0"/>
              </a:spcAft>
              <a:buNone/>
            </a:pPr>
            <a:r>
              <a:rPr lang="en-US" sz="2000">
                <a:solidFill>
                  <a:schemeClr val="dk1"/>
                </a:solidFill>
                <a:latin typeface="Calibri"/>
                <a:ea typeface="Calibri"/>
                <a:cs typeface="Calibri"/>
                <a:sym typeface="Calibri"/>
              </a:rPr>
              <a:t>Reference to byte 1222 of segment 0 would result in a trap to the OS, as this segment is only 1000 bytes long.</a:t>
            </a:r>
            <a:endParaRPr/>
          </a:p>
          <a:p>
            <a:pPr indent="0" lvl="0" marL="0" marR="0" rtl="0" algn="l">
              <a:lnSpc>
                <a:spcPct val="107000"/>
              </a:lnSpc>
              <a:spcBef>
                <a:spcPts val="800"/>
              </a:spcBef>
              <a:spcAft>
                <a:spcPts val="0"/>
              </a:spcAft>
              <a:buNone/>
            </a:pPr>
            <a:r>
              <a:t/>
            </a:r>
            <a:endParaRPr sz="2000">
              <a:solidFill>
                <a:schemeClr val="dk1"/>
              </a:solidFill>
              <a:latin typeface="Calibri"/>
              <a:ea typeface="Calibri"/>
              <a:cs typeface="Calibri"/>
              <a:sym typeface="Calibri"/>
            </a:endParaRPr>
          </a:p>
        </p:txBody>
      </p:sp>
      <p:pic>
        <p:nvPicPr>
          <p:cNvPr id="957" name="Google Shape;957;p127"/>
          <p:cNvPicPr preferRelativeResize="0"/>
          <p:nvPr/>
        </p:nvPicPr>
        <p:blipFill rotWithShape="1">
          <a:blip r:embed="rId3">
            <a:alphaModFix/>
          </a:blip>
          <a:srcRect b="0" l="0" r="0" t="0"/>
          <a:stretch/>
        </p:blipFill>
        <p:spPr>
          <a:xfrm>
            <a:off x="2854960" y="213086"/>
            <a:ext cx="8859520" cy="4643394"/>
          </a:xfrm>
          <a:prstGeom prst="rect">
            <a:avLst/>
          </a:prstGeom>
          <a:noFill/>
          <a:ln>
            <a:noFill/>
          </a:ln>
        </p:spPr>
      </p:pic>
      <p:sp>
        <p:nvSpPr>
          <p:cNvPr id="958" name="Google Shape;958;p127"/>
          <p:cNvSpPr txBox="1"/>
          <p:nvPr/>
        </p:nvSpPr>
        <p:spPr>
          <a:xfrm>
            <a:off x="524064" y="3883021"/>
            <a:ext cx="1379100" cy="307800"/>
          </a:xfrm>
          <a:prstGeom prst="rect">
            <a:avLst/>
          </a:prstGeom>
          <a:solidFill>
            <a:srgbClr val="43434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i="0" lang="en-US" sz="1400" u="none" cap="none" strike="noStrike">
                <a:solidFill>
                  <a:srgbClr val="FFFFFF"/>
                </a:solidFill>
                <a:latin typeface="Times New Roman"/>
                <a:ea typeface="Times New Roman"/>
                <a:cs typeface="Times New Roman"/>
                <a:sym typeface="Times New Roman"/>
              </a:rPr>
              <a:t>Dept. of</a:t>
            </a:r>
            <a:r>
              <a:rPr lang="en-US">
                <a:solidFill>
                  <a:srgbClr val="FFFFFF"/>
                </a:solidFill>
                <a:latin typeface="Times New Roman"/>
                <a:ea typeface="Times New Roman"/>
                <a:cs typeface="Times New Roman"/>
                <a:sym typeface="Times New Roman"/>
              </a:rPr>
              <a:t> AIML</a:t>
            </a:r>
            <a:endParaRPr i="0" sz="1400" u="none" cap="none" strike="noStrike">
              <a:solidFill>
                <a:srgbClr val="FFFFFF"/>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2023-04-27T06:36:45Z</dcterms:created>
  <dc:creator>Rajeev Bilagi</dc:creator>
</cp:coreProperties>
</file>