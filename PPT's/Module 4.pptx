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1"/>
  </p:notesMasterIdLst>
  <p:sldIdLst>
    <p:sldId id="256" r:id="rId2"/>
    <p:sldId id="346" r:id="rId3"/>
    <p:sldId id="348" r:id="rId4"/>
    <p:sldId id="349" r:id="rId5"/>
    <p:sldId id="347" r:id="rId6"/>
    <p:sldId id="350" r:id="rId7"/>
    <p:sldId id="426" r:id="rId8"/>
    <p:sldId id="352" r:id="rId9"/>
    <p:sldId id="353" r:id="rId10"/>
    <p:sldId id="354" r:id="rId11"/>
    <p:sldId id="355" r:id="rId12"/>
    <p:sldId id="356" r:id="rId13"/>
    <p:sldId id="357" r:id="rId14"/>
    <p:sldId id="358" r:id="rId15"/>
    <p:sldId id="427" r:id="rId16"/>
    <p:sldId id="428" r:id="rId17"/>
    <p:sldId id="429" r:id="rId18"/>
    <p:sldId id="430" r:id="rId19"/>
    <p:sldId id="363" r:id="rId20"/>
    <p:sldId id="365" r:id="rId21"/>
    <p:sldId id="366" r:id="rId22"/>
    <p:sldId id="367" r:id="rId23"/>
    <p:sldId id="368" r:id="rId24"/>
    <p:sldId id="370" r:id="rId25"/>
    <p:sldId id="369" r:id="rId26"/>
    <p:sldId id="432" r:id="rId27"/>
    <p:sldId id="371" r:id="rId28"/>
    <p:sldId id="372" r:id="rId29"/>
    <p:sldId id="373" r:id="rId30"/>
    <p:sldId id="375" r:id="rId31"/>
    <p:sldId id="374" r:id="rId32"/>
    <p:sldId id="376" r:id="rId33"/>
    <p:sldId id="377" r:id="rId34"/>
    <p:sldId id="378" r:id="rId35"/>
    <p:sldId id="380" r:id="rId36"/>
    <p:sldId id="381" r:id="rId37"/>
    <p:sldId id="382" r:id="rId38"/>
    <p:sldId id="434" r:id="rId39"/>
    <p:sldId id="385" r:id="rId40"/>
    <p:sldId id="386" r:id="rId41"/>
    <p:sldId id="387" r:id="rId42"/>
    <p:sldId id="388" r:id="rId43"/>
    <p:sldId id="389" r:id="rId44"/>
    <p:sldId id="390" r:id="rId45"/>
    <p:sldId id="393" r:id="rId46"/>
    <p:sldId id="435" r:id="rId47"/>
    <p:sldId id="436" r:id="rId48"/>
    <p:sldId id="437" r:id="rId49"/>
    <p:sldId id="438" r:id="rId50"/>
    <p:sldId id="439" r:id="rId51"/>
    <p:sldId id="440" r:id="rId52"/>
    <p:sldId id="441" r:id="rId53"/>
    <p:sldId id="442" r:id="rId54"/>
    <p:sldId id="443" r:id="rId55"/>
    <p:sldId id="444" r:id="rId56"/>
    <p:sldId id="445" r:id="rId57"/>
    <p:sldId id="446" r:id="rId58"/>
    <p:sldId id="447" r:id="rId59"/>
    <p:sldId id="448" r:id="rId60"/>
    <p:sldId id="449" r:id="rId61"/>
    <p:sldId id="450" r:id="rId62"/>
    <p:sldId id="451" r:id="rId63"/>
    <p:sldId id="452" r:id="rId64"/>
    <p:sldId id="453" r:id="rId65"/>
    <p:sldId id="454" r:id="rId66"/>
    <p:sldId id="455" r:id="rId67"/>
    <p:sldId id="290" r:id="rId68"/>
    <p:sldId id="456" r:id="rId69"/>
    <p:sldId id="457" r:id="rId70"/>
    <p:sldId id="458" r:id="rId71"/>
    <p:sldId id="459" r:id="rId72"/>
    <p:sldId id="460" r:id="rId73"/>
    <p:sldId id="461" r:id="rId74"/>
    <p:sldId id="462" r:id="rId75"/>
    <p:sldId id="463" r:id="rId76"/>
    <p:sldId id="464" r:id="rId77"/>
    <p:sldId id="465" r:id="rId78"/>
    <p:sldId id="466" r:id="rId79"/>
    <p:sldId id="467" r:id="rId80"/>
    <p:sldId id="295" r:id="rId81"/>
    <p:sldId id="294" r:id="rId82"/>
    <p:sldId id="293" r:id="rId83"/>
    <p:sldId id="291" r:id="rId84"/>
    <p:sldId id="296" r:id="rId85"/>
    <p:sldId id="299" r:id="rId86"/>
    <p:sldId id="298" r:id="rId87"/>
    <p:sldId id="297" r:id="rId88"/>
    <p:sldId id="300" r:id="rId89"/>
    <p:sldId id="303" r:id="rId90"/>
    <p:sldId id="359" r:id="rId91"/>
    <p:sldId id="304" r:id="rId92"/>
    <p:sldId id="302" r:id="rId93"/>
    <p:sldId id="360" r:id="rId94"/>
    <p:sldId id="306" r:id="rId95"/>
    <p:sldId id="316" r:id="rId96"/>
    <p:sldId id="307" r:id="rId97"/>
    <p:sldId id="361" r:id="rId98"/>
    <p:sldId id="308" r:id="rId99"/>
    <p:sldId id="312" r:id="rId100"/>
    <p:sldId id="362" r:id="rId101"/>
    <p:sldId id="317" r:id="rId102"/>
    <p:sldId id="318" r:id="rId103"/>
    <p:sldId id="313" r:id="rId104"/>
    <p:sldId id="319" r:id="rId105"/>
    <p:sldId id="321" r:id="rId106"/>
    <p:sldId id="314" r:id="rId107"/>
    <p:sldId id="320" r:id="rId108"/>
    <p:sldId id="325" r:id="rId109"/>
    <p:sldId id="326" r:id="rId110"/>
    <p:sldId id="394" r:id="rId111"/>
    <p:sldId id="364" r:id="rId112"/>
    <p:sldId id="323" r:id="rId113"/>
    <p:sldId id="327" r:id="rId114"/>
    <p:sldId id="335" r:id="rId115"/>
    <p:sldId id="329" r:id="rId116"/>
    <p:sldId id="330" r:id="rId117"/>
    <p:sldId id="332" r:id="rId118"/>
    <p:sldId id="331" r:id="rId119"/>
    <p:sldId id="336" r:id="rId120"/>
    <p:sldId id="338" r:id="rId121"/>
    <p:sldId id="337" r:id="rId122"/>
    <p:sldId id="341" r:id="rId123"/>
    <p:sldId id="340" r:id="rId124"/>
    <p:sldId id="339" r:id="rId125"/>
    <p:sldId id="342" r:id="rId126"/>
    <p:sldId id="345" r:id="rId127"/>
    <p:sldId id="343" r:id="rId128"/>
    <p:sldId id="344" r:id="rId129"/>
    <p:sldId id="395" r:id="rId130"/>
    <p:sldId id="351" r:id="rId131"/>
    <p:sldId id="396" r:id="rId132"/>
    <p:sldId id="397" r:id="rId133"/>
    <p:sldId id="398" r:id="rId134"/>
    <p:sldId id="399" r:id="rId135"/>
    <p:sldId id="400" r:id="rId136"/>
    <p:sldId id="401" r:id="rId137"/>
    <p:sldId id="402" r:id="rId138"/>
    <p:sldId id="403" r:id="rId139"/>
    <p:sldId id="404" r:id="rId140"/>
    <p:sldId id="405" r:id="rId141"/>
    <p:sldId id="406" r:id="rId142"/>
    <p:sldId id="407" r:id="rId143"/>
    <p:sldId id="408" r:id="rId144"/>
    <p:sldId id="409" r:id="rId145"/>
    <p:sldId id="410" r:id="rId146"/>
    <p:sldId id="411" r:id="rId147"/>
    <p:sldId id="412" r:id="rId148"/>
    <p:sldId id="413" r:id="rId149"/>
    <p:sldId id="414" r:id="rId150"/>
    <p:sldId id="415" r:id="rId151"/>
    <p:sldId id="416" r:id="rId152"/>
    <p:sldId id="417" r:id="rId153"/>
    <p:sldId id="418" r:id="rId154"/>
    <p:sldId id="419" r:id="rId155"/>
    <p:sldId id="420" r:id="rId156"/>
    <p:sldId id="421" r:id="rId157"/>
    <p:sldId id="422" r:id="rId158"/>
    <p:sldId id="423" r:id="rId159"/>
    <p:sldId id="468" r:id="rId1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2F45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3447" autoAdjust="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tableStyles" Target="tableStyle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8-19T18:28:08.872"/>
    </inkml:context>
    <inkml:brush xml:id="br0">
      <inkml:brushProperty name="width" value="0.05" units="cm"/>
      <inkml:brushProperty name="height" value="0.05" units="cm"/>
    </inkml:brush>
  </inkml:definitions>
  <inkml:trace contextRef="#ctx0" brushRef="#br0">1 6 24575,'0'-5'-8191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8-19T18:28:10.713"/>
    </inkml:context>
    <inkml:brush xml:id="br0">
      <inkml:brushProperty name="width" value="0.05" units="cm"/>
      <inkml:brushProperty name="height" value="0.05" units="cm"/>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8-19T18:28:11.059"/>
    </inkml:context>
    <inkml:brush xml:id="br0">
      <inkml:brushProperty name="width" value="0.05" units="cm"/>
      <inkml:brushProperty name="height" value="0.05" units="cm"/>
    </inkml:brush>
  </inkml:definitions>
  <inkml:trace contextRef="#ctx0" brushRef="#br0">0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8-19T18:28:12.180"/>
    </inkml:context>
    <inkml:brush xml:id="br0">
      <inkml:brushProperty name="width" value="0.05" units="cm"/>
      <inkml:brushProperty name="height" value="0.05" units="cm"/>
    </inkml:brush>
  </inkml:definitions>
  <inkml:trace contextRef="#ctx0" brushRef="#br0">1 5 24575,'5'-5'0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8-19T18:28:12.513"/>
    </inkml:context>
    <inkml:brush xml:id="br0">
      <inkml:brushProperty name="width" value="0.05" units="cm"/>
      <inkml:brushProperty name="height" value="0.05" units="cm"/>
    </inkml:brush>
  </inkml:definitions>
  <inkml:trace contextRef="#ctx0" brushRef="#br0">1 0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8-19T18:28:13.242"/>
    </inkml:context>
    <inkml:brush xml:id="br0">
      <inkml:brushProperty name="width" value="0.05" units="cm"/>
      <inkml:brushProperty name="height" value="0.05" units="cm"/>
    </inkml:brush>
  </inkml:definitions>
  <inkml:trace contextRef="#ctx0" brushRef="#br0">1 1 24575,'5'0'0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8-19T18:28:13.939"/>
    </inkml:context>
    <inkml:brush xml:id="br0">
      <inkml:brushProperty name="width" value="0.05" units="cm"/>
      <inkml:brushProperty name="height" value="0.05" units="cm"/>
    </inkml:brush>
  </inkml:definitions>
  <inkml:trace contextRef="#ctx0" brushRef="#br0">0 0 24575,'5'5'0,"2"7"0,-1 1-8191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8-19T18:28:14.304"/>
    </inkml:context>
    <inkml:brush xml:id="br0">
      <inkml:brushProperty name="width" value="0.05" units="cm"/>
      <inkml:brushProperty name="height" value="0.05" units="cm"/>
    </inkml:brush>
  </inkml:definitions>
  <inkml:trace contextRef="#ctx0" brushRef="#br0">1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8-19T18:28:52.838"/>
    </inkml:context>
    <inkml:brush xml:id="br0">
      <inkml:brushProperty name="width" value="0.05" units="cm"/>
      <inkml:brushProperty name="height" value="0.05" units="cm"/>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D88EDA-63FA-4CB1-AEB8-75EB06E3605E}" type="datetimeFigureOut">
              <a:rPr lang="en-IN" smtClean="0"/>
              <a:t>13-06-2025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28675E-17A9-40F0-B3C4-9015B8CA4827}" type="slidenum">
              <a:rPr lang="en-IN" smtClean="0"/>
              <a:t>‹#›</a:t>
            </a:fld>
            <a:endParaRPr lang="en-IN" dirty="0"/>
          </a:p>
        </p:txBody>
      </p:sp>
    </p:spTree>
    <p:extLst>
      <p:ext uri="{BB962C8B-B14F-4D97-AF65-F5344CB8AC3E}">
        <p14:creationId xmlns:p14="http://schemas.microsoft.com/office/powerpoint/2010/main" val="1620874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328675E-17A9-40F0-B3C4-9015B8CA4827}" type="slidenum">
              <a:rPr lang="en-IN" smtClean="0"/>
              <a:t>105</a:t>
            </a:fld>
            <a:endParaRPr lang="en-IN" dirty="0"/>
          </a:p>
        </p:txBody>
      </p:sp>
    </p:spTree>
    <p:extLst>
      <p:ext uri="{BB962C8B-B14F-4D97-AF65-F5344CB8AC3E}">
        <p14:creationId xmlns:p14="http://schemas.microsoft.com/office/powerpoint/2010/main" val="38107628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3A9AD-8AB0-53A8-7503-DF63612AA20F}"/>
              </a:ext>
            </a:extLst>
          </p:cNvPr>
          <p:cNvSpPr>
            <a:spLocks noGrp="1"/>
          </p:cNvSpPr>
          <p:nvPr>
            <p:ph type="ctrTitle"/>
          </p:nvPr>
        </p:nvSpPr>
        <p:spPr>
          <a:xfrm>
            <a:off x="2203938" y="3144437"/>
            <a:ext cx="9355016" cy="874072"/>
          </a:xfrm>
        </p:spPr>
        <p:txBody>
          <a:bodyPr anchor="b">
            <a:normAutofit/>
          </a:bodyPr>
          <a:lstStyle>
            <a:lvl1pPr algn="ctr">
              <a:defRPr sz="4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C4A5646-AF1F-C796-1EFA-2C85B6EEDB89}"/>
              </a:ext>
            </a:extLst>
          </p:cNvPr>
          <p:cNvSpPr>
            <a:spLocks noGrp="1"/>
          </p:cNvSpPr>
          <p:nvPr>
            <p:ph type="subTitle" idx="1"/>
          </p:nvPr>
        </p:nvSpPr>
        <p:spPr>
          <a:xfrm>
            <a:off x="2203938" y="4190045"/>
            <a:ext cx="9355016" cy="646270"/>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3D8395F-362B-EB48-BCB3-3C841837F00C}"/>
              </a:ext>
            </a:extLst>
          </p:cNvPr>
          <p:cNvSpPr>
            <a:spLocks noGrp="1"/>
          </p:cNvSpPr>
          <p:nvPr>
            <p:ph type="dt" sz="half" idx="10"/>
          </p:nvPr>
        </p:nvSpPr>
        <p:spPr/>
        <p:txBody>
          <a:bodyPr/>
          <a:lstStyle/>
          <a:p>
            <a:fld id="{4EC7EE4A-0837-B941-A614-D698F8CCA12B}" type="datetimeFigureOut">
              <a:rPr lang="en-US" smtClean="0"/>
              <a:t>6/13/2025</a:t>
            </a:fld>
            <a:endParaRPr lang="en-US" dirty="0"/>
          </a:p>
        </p:txBody>
      </p:sp>
      <p:sp>
        <p:nvSpPr>
          <p:cNvPr id="5" name="Footer Placeholder 4">
            <a:extLst>
              <a:ext uri="{FF2B5EF4-FFF2-40B4-BE49-F238E27FC236}">
                <a16:creationId xmlns:a16="http://schemas.microsoft.com/office/drawing/2014/main" id="{C3668918-76B0-A58B-7820-D7DECE71354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4C1D063-FF08-D10D-1980-E7C7D4469705}"/>
              </a:ext>
            </a:extLst>
          </p:cNvPr>
          <p:cNvSpPr>
            <a:spLocks noGrp="1"/>
          </p:cNvSpPr>
          <p:nvPr>
            <p:ph type="sldNum" sz="quarter" idx="12"/>
          </p:nvPr>
        </p:nvSpPr>
        <p:spPr/>
        <p:txBody>
          <a:bodyPr/>
          <a:lstStyle/>
          <a:p>
            <a:fld id="{886E1D0F-AB40-B84A-BEFC-40059FDC5FDB}" type="slidenum">
              <a:rPr lang="en-US" smtClean="0"/>
              <a:t>‹#›</a:t>
            </a:fld>
            <a:endParaRPr lang="en-US" dirty="0"/>
          </a:p>
        </p:txBody>
      </p:sp>
      <p:pic>
        <p:nvPicPr>
          <p:cNvPr id="8" name="Image" descr="Image">
            <a:extLst>
              <a:ext uri="{FF2B5EF4-FFF2-40B4-BE49-F238E27FC236}">
                <a16:creationId xmlns:a16="http://schemas.microsoft.com/office/drawing/2014/main" id="{228A596A-BC55-C449-4791-889E71F41376}"/>
              </a:ext>
            </a:extLst>
          </p:cNvPr>
          <p:cNvPicPr>
            <a:picLocks noChangeAspect="1"/>
          </p:cNvPicPr>
          <p:nvPr userDrawn="1"/>
        </p:nvPicPr>
        <p:blipFill>
          <a:blip r:embed="rId2"/>
          <a:stretch>
            <a:fillRect/>
          </a:stretch>
        </p:blipFill>
        <p:spPr>
          <a:xfrm>
            <a:off x="5567256" y="513406"/>
            <a:ext cx="2628380" cy="2071383"/>
          </a:xfrm>
          <a:prstGeom prst="rect">
            <a:avLst/>
          </a:prstGeom>
          <a:ln w="12700">
            <a:miter lim="400000"/>
          </a:ln>
        </p:spPr>
      </p:pic>
      <p:sp>
        <p:nvSpPr>
          <p:cNvPr id="9" name="Rectangle">
            <a:extLst>
              <a:ext uri="{FF2B5EF4-FFF2-40B4-BE49-F238E27FC236}">
                <a16:creationId xmlns:a16="http://schemas.microsoft.com/office/drawing/2014/main" id="{10EFAA05-A1B0-A7CB-0FC7-D76AA6240F12}"/>
              </a:ext>
            </a:extLst>
          </p:cNvPr>
          <p:cNvSpPr/>
          <p:nvPr userDrawn="1"/>
        </p:nvSpPr>
        <p:spPr>
          <a:xfrm>
            <a:off x="381000" y="0"/>
            <a:ext cx="1620010" cy="6858000"/>
          </a:xfrm>
          <a:prstGeom prst="rect">
            <a:avLst/>
          </a:prstGeom>
          <a:solidFill>
            <a:srgbClr val="E88B31"/>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p>
        </p:txBody>
      </p:sp>
      <p:pic>
        <p:nvPicPr>
          <p:cNvPr id="7" name="Image" descr="Image">
            <a:extLst>
              <a:ext uri="{FF2B5EF4-FFF2-40B4-BE49-F238E27FC236}">
                <a16:creationId xmlns:a16="http://schemas.microsoft.com/office/drawing/2014/main" id="{B4118B8F-C90A-E00B-61B6-4DD4FCB168A1}"/>
              </a:ext>
            </a:extLst>
          </p:cNvPr>
          <p:cNvPicPr>
            <a:picLocks noChangeAspect="1"/>
          </p:cNvPicPr>
          <p:nvPr userDrawn="1"/>
        </p:nvPicPr>
        <p:blipFill>
          <a:blip r:embed="rId3"/>
          <a:stretch>
            <a:fillRect/>
          </a:stretch>
        </p:blipFill>
        <p:spPr>
          <a:xfrm>
            <a:off x="-303522" y="4836315"/>
            <a:ext cx="13631195" cy="2877470"/>
          </a:xfrm>
          <a:prstGeom prst="rect">
            <a:avLst/>
          </a:prstGeom>
          <a:ln w="12700">
            <a:miter lim="400000"/>
          </a:ln>
        </p:spPr>
      </p:pic>
      <p:sp>
        <p:nvSpPr>
          <p:cNvPr id="10" name="TextBox 9">
            <a:extLst>
              <a:ext uri="{FF2B5EF4-FFF2-40B4-BE49-F238E27FC236}">
                <a16:creationId xmlns:a16="http://schemas.microsoft.com/office/drawing/2014/main" id="{B3ECEDA9-33CC-F4DE-F765-571B27216D86}"/>
              </a:ext>
            </a:extLst>
          </p:cNvPr>
          <p:cNvSpPr txBox="1"/>
          <p:nvPr userDrawn="1"/>
        </p:nvSpPr>
        <p:spPr>
          <a:xfrm>
            <a:off x="5750719" y="2694582"/>
            <a:ext cx="2261453" cy="307777"/>
          </a:xfrm>
          <a:prstGeom prst="rect">
            <a:avLst/>
          </a:prstGeom>
          <a:noFill/>
        </p:spPr>
        <p:txBody>
          <a:bodyPr wrap="none" rtlCol="0">
            <a:spAutoFit/>
          </a:bodyPr>
          <a:lstStyle/>
          <a:p>
            <a:r>
              <a:rPr lang="en-US" sz="1400" b="1" spc="300" dirty="0">
                <a:solidFill>
                  <a:srgbClr val="2F4582"/>
                </a:solidFill>
              </a:rPr>
              <a:t>www.acharya.ac.in</a:t>
            </a:r>
          </a:p>
        </p:txBody>
      </p:sp>
    </p:spTree>
    <p:extLst>
      <p:ext uri="{BB962C8B-B14F-4D97-AF65-F5344CB8AC3E}">
        <p14:creationId xmlns:p14="http://schemas.microsoft.com/office/powerpoint/2010/main" val="1418153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A2FB0-B5FC-9572-B61F-A5B0316346F1}"/>
              </a:ext>
            </a:extLst>
          </p:cNvPr>
          <p:cNvSpPr>
            <a:spLocks noGrp="1"/>
          </p:cNvSpPr>
          <p:nvPr>
            <p:ph type="title"/>
          </p:nvPr>
        </p:nvSpPr>
        <p:spPr>
          <a:xfrm>
            <a:off x="2708694" y="365125"/>
            <a:ext cx="8645106" cy="1325563"/>
          </a:xfrm>
        </p:spPr>
        <p:txBody>
          <a:bodyPr/>
          <a:lstStyle>
            <a:lvl1pPr>
              <a:defRPr>
                <a:latin typeface="Arial" panose="020B0604020202020204" pitchFamily="34" charset="0"/>
                <a:ea typeface="Roboto" panose="02000000000000000000" pitchFamily="2" charset="0"/>
                <a:cs typeface="Arial" panose="020B0604020202020204" pitchFamily="34"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B27A48F-025C-EEC3-CD50-95F27AD33B4C}"/>
              </a:ext>
            </a:extLst>
          </p:cNvPr>
          <p:cNvSpPr>
            <a:spLocks noGrp="1"/>
          </p:cNvSpPr>
          <p:nvPr>
            <p:ph idx="1"/>
          </p:nvPr>
        </p:nvSpPr>
        <p:spPr>
          <a:xfrm>
            <a:off x="2708694" y="1825625"/>
            <a:ext cx="8645106"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9D1D2A3-5032-59CD-FC63-8BD3D97A8E3E}"/>
              </a:ext>
            </a:extLst>
          </p:cNvPr>
          <p:cNvSpPr>
            <a:spLocks noGrp="1"/>
          </p:cNvSpPr>
          <p:nvPr>
            <p:ph type="dt" sz="half" idx="10"/>
          </p:nvPr>
        </p:nvSpPr>
        <p:spPr>
          <a:xfrm>
            <a:off x="2093842" y="6356350"/>
            <a:ext cx="1487557" cy="365125"/>
          </a:xfrm>
        </p:spPr>
        <p:txBody>
          <a:bodyPr/>
          <a:lstStyle/>
          <a:p>
            <a:fld id="{4EC7EE4A-0837-B941-A614-D698F8CCA12B}" type="datetimeFigureOut">
              <a:rPr lang="en-US" smtClean="0"/>
              <a:t>6/13/2025</a:t>
            </a:fld>
            <a:endParaRPr lang="en-US" dirty="0"/>
          </a:p>
        </p:txBody>
      </p:sp>
      <p:sp>
        <p:nvSpPr>
          <p:cNvPr id="5" name="Footer Placeholder 4">
            <a:extLst>
              <a:ext uri="{FF2B5EF4-FFF2-40B4-BE49-F238E27FC236}">
                <a16:creationId xmlns:a16="http://schemas.microsoft.com/office/drawing/2014/main" id="{445714F5-ECAF-F68A-D8CF-16F888E1861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B91EB0D-8B37-EC14-F18C-F154A2B7BB45}"/>
              </a:ext>
            </a:extLst>
          </p:cNvPr>
          <p:cNvSpPr>
            <a:spLocks noGrp="1"/>
          </p:cNvSpPr>
          <p:nvPr>
            <p:ph type="sldNum" sz="quarter" idx="12"/>
          </p:nvPr>
        </p:nvSpPr>
        <p:spPr/>
        <p:txBody>
          <a:bodyPr/>
          <a:lstStyle/>
          <a:p>
            <a:fld id="{886E1D0F-AB40-B84A-BEFC-40059FDC5FDB}" type="slidenum">
              <a:rPr lang="en-US" smtClean="0"/>
              <a:t>‹#›</a:t>
            </a:fld>
            <a:endParaRPr lang="en-US" dirty="0"/>
          </a:p>
        </p:txBody>
      </p:sp>
      <p:sp>
        <p:nvSpPr>
          <p:cNvPr id="7" name="Rectangle">
            <a:extLst>
              <a:ext uri="{FF2B5EF4-FFF2-40B4-BE49-F238E27FC236}">
                <a16:creationId xmlns:a16="http://schemas.microsoft.com/office/drawing/2014/main" id="{95D159E8-3C12-986E-9B3D-6292FBA9EF49}"/>
              </a:ext>
            </a:extLst>
          </p:cNvPr>
          <p:cNvSpPr/>
          <p:nvPr userDrawn="1"/>
        </p:nvSpPr>
        <p:spPr>
          <a:xfrm>
            <a:off x="381000" y="-6252"/>
            <a:ext cx="1620010" cy="6864252"/>
          </a:xfrm>
          <a:prstGeom prst="rect">
            <a:avLst/>
          </a:prstGeom>
          <a:solidFill>
            <a:srgbClr val="E88B31"/>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p>
        </p:txBody>
      </p:sp>
      <p:sp>
        <p:nvSpPr>
          <p:cNvPr id="8" name="Rectangle">
            <a:extLst>
              <a:ext uri="{FF2B5EF4-FFF2-40B4-BE49-F238E27FC236}">
                <a16:creationId xmlns:a16="http://schemas.microsoft.com/office/drawing/2014/main" id="{6AA9E17D-DB6B-1304-ECD6-9722D3933AB7}"/>
              </a:ext>
            </a:extLst>
          </p:cNvPr>
          <p:cNvSpPr/>
          <p:nvPr userDrawn="1"/>
        </p:nvSpPr>
        <p:spPr>
          <a:xfrm>
            <a:off x="-19498" y="2035445"/>
            <a:ext cx="2533482" cy="3040884"/>
          </a:xfrm>
          <a:prstGeom prst="rect">
            <a:avLst/>
          </a:prstGeom>
          <a:solidFill>
            <a:srgbClr val="595959"/>
          </a:solidFill>
          <a:ln w="12700">
            <a:miter lim="400000"/>
          </a:ln>
        </p:spPr>
        <p:txBody>
          <a:bodyPr lIns="50800" tIns="50800" rIns="50800" bIns="50800" anchor="ctr"/>
          <a:lstStyle/>
          <a:p>
            <a:pPr algn="r" defTabSz="825500">
              <a:defRPr sz="3200">
                <a:solidFill>
                  <a:srgbClr val="FFFFFF"/>
                </a:solidFill>
                <a:latin typeface="Helvetica Neue Medium"/>
                <a:ea typeface="Helvetica Neue Medium"/>
                <a:cs typeface="Helvetica Neue Medium"/>
                <a:sym typeface="Helvetica Neue Medium"/>
              </a:defRPr>
            </a:pPr>
            <a:endParaRPr dirty="0"/>
          </a:p>
        </p:txBody>
      </p:sp>
      <p:sp>
        <p:nvSpPr>
          <p:cNvPr id="9" name="Rectangle">
            <a:extLst>
              <a:ext uri="{FF2B5EF4-FFF2-40B4-BE49-F238E27FC236}">
                <a16:creationId xmlns:a16="http://schemas.microsoft.com/office/drawing/2014/main" id="{4A3B64CA-F9DE-7184-0D30-67447A27BA8F}"/>
              </a:ext>
            </a:extLst>
          </p:cNvPr>
          <p:cNvSpPr/>
          <p:nvPr userDrawn="1"/>
        </p:nvSpPr>
        <p:spPr>
          <a:xfrm>
            <a:off x="943056" y="4709179"/>
            <a:ext cx="495897" cy="94934"/>
          </a:xfrm>
          <a:prstGeom prst="rect">
            <a:avLst/>
          </a:prstGeom>
          <a:solidFill>
            <a:srgbClr val="E88B31"/>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p>
        </p:txBody>
      </p:sp>
      <p:pic>
        <p:nvPicPr>
          <p:cNvPr id="10" name="Image" descr="Image">
            <a:extLst>
              <a:ext uri="{FF2B5EF4-FFF2-40B4-BE49-F238E27FC236}">
                <a16:creationId xmlns:a16="http://schemas.microsoft.com/office/drawing/2014/main" id="{33C2FB71-FCD4-E979-6E5C-D21562471EDF}"/>
              </a:ext>
            </a:extLst>
          </p:cNvPr>
          <p:cNvPicPr>
            <a:picLocks noChangeAspect="1"/>
          </p:cNvPicPr>
          <p:nvPr userDrawn="1"/>
        </p:nvPicPr>
        <p:blipFill>
          <a:blip r:embed="rId2"/>
          <a:stretch>
            <a:fillRect/>
          </a:stretch>
        </p:blipFill>
        <p:spPr>
          <a:xfrm>
            <a:off x="768008" y="2389152"/>
            <a:ext cx="845994" cy="1046690"/>
          </a:xfrm>
          <a:prstGeom prst="rect">
            <a:avLst/>
          </a:prstGeom>
          <a:ln w="12700">
            <a:miter lim="400000"/>
          </a:ln>
        </p:spPr>
      </p:pic>
      <p:sp>
        <p:nvSpPr>
          <p:cNvPr id="11" name="OUR GENESIS…">
            <a:extLst>
              <a:ext uri="{FF2B5EF4-FFF2-40B4-BE49-F238E27FC236}">
                <a16:creationId xmlns:a16="http://schemas.microsoft.com/office/drawing/2014/main" id="{A1D32595-8DE0-E352-3529-0F50B2E81531}"/>
              </a:ext>
            </a:extLst>
          </p:cNvPr>
          <p:cNvSpPr txBox="1"/>
          <p:nvPr userDrawn="1"/>
        </p:nvSpPr>
        <p:spPr>
          <a:xfrm>
            <a:off x="530567" y="3429000"/>
            <a:ext cx="1320874" cy="7802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defTabSz="457200">
              <a:lnSpc>
                <a:spcPts val="6500"/>
              </a:lnSpc>
              <a:spcBef>
                <a:spcPts val="200"/>
              </a:spcBef>
              <a:defRPr sz="6500">
                <a:solidFill>
                  <a:srgbClr val="FFFFFF"/>
                </a:solidFill>
                <a:latin typeface="Futura Bold"/>
                <a:ea typeface="Futura Bold"/>
                <a:cs typeface="Futura Bold"/>
                <a:sym typeface="Futura Bold"/>
              </a:defRPr>
            </a:pPr>
            <a:r>
              <a:rPr lang="en-US" sz="1800" dirty="0">
                <a:latin typeface="Arial" panose="020B0604020202020204" pitchFamily="34" charset="0"/>
                <a:cs typeface="Arial" panose="020B0604020202020204" pitchFamily="34" charset="0"/>
              </a:rPr>
              <a:t>Click to Edit</a:t>
            </a:r>
            <a:endParaRPr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79615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EAE4C-E311-4592-1803-EFE7FA27EAA0}"/>
              </a:ext>
            </a:extLst>
          </p:cNvPr>
          <p:cNvSpPr>
            <a:spLocks noGrp="1"/>
          </p:cNvSpPr>
          <p:nvPr>
            <p:ph type="title"/>
          </p:nvPr>
        </p:nvSpPr>
        <p:spPr>
          <a:xfrm>
            <a:off x="2663550" y="1709738"/>
            <a:ext cx="8683899" cy="2852737"/>
          </a:xfrm>
        </p:spPr>
        <p:txBody>
          <a:bodyPr anchor="b"/>
          <a:lstStyle>
            <a:lvl1pPr>
              <a:defRPr sz="600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0E1DA9E-819E-F607-F9AB-3BCE19672A8B}"/>
              </a:ext>
            </a:extLst>
          </p:cNvPr>
          <p:cNvSpPr>
            <a:spLocks noGrp="1"/>
          </p:cNvSpPr>
          <p:nvPr>
            <p:ph type="body" idx="1"/>
          </p:nvPr>
        </p:nvSpPr>
        <p:spPr>
          <a:xfrm>
            <a:off x="2663550" y="4589463"/>
            <a:ext cx="8683900" cy="1500187"/>
          </a:xfrm>
        </p:spPr>
        <p:txBody>
          <a:bodyPr/>
          <a:lstStyle>
            <a:lvl1pPr marL="0" indent="0">
              <a:buNone/>
              <a:defRPr sz="2400">
                <a:solidFill>
                  <a:schemeClr val="tx1">
                    <a:tint val="75000"/>
                  </a:schemeClr>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4A3D0BA-15E5-BA67-D76A-CB0CC9C208F4}"/>
              </a:ext>
            </a:extLst>
          </p:cNvPr>
          <p:cNvSpPr>
            <a:spLocks noGrp="1"/>
          </p:cNvSpPr>
          <p:nvPr>
            <p:ph type="dt" sz="half" idx="10"/>
          </p:nvPr>
        </p:nvSpPr>
        <p:spPr/>
        <p:txBody>
          <a:bodyPr/>
          <a:lstStyle/>
          <a:p>
            <a:fld id="{4EC7EE4A-0837-B941-A614-D698F8CCA12B}" type="datetimeFigureOut">
              <a:rPr lang="en-US" smtClean="0"/>
              <a:t>6/13/2025</a:t>
            </a:fld>
            <a:endParaRPr lang="en-US" dirty="0"/>
          </a:p>
        </p:txBody>
      </p:sp>
      <p:sp>
        <p:nvSpPr>
          <p:cNvPr id="5" name="Footer Placeholder 4">
            <a:extLst>
              <a:ext uri="{FF2B5EF4-FFF2-40B4-BE49-F238E27FC236}">
                <a16:creationId xmlns:a16="http://schemas.microsoft.com/office/drawing/2014/main" id="{1A47635A-FD62-FC02-B351-91AA69E8BD2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8A6232F-B86A-C803-3B1F-0D4D076E3973}"/>
              </a:ext>
            </a:extLst>
          </p:cNvPr>
          <p:cNvSpPr>
            <a:spLocks noGrp="1"/>
          </p:cNvSpPr>
          <p:nvPr>
            <p:ph type="sldNum" sz="quarter" idx="12"/>
          </p:nvPr>
        </p:nvSpPr>
        <p:spPr/>
        <p:txBody>
          <a:bodyPr/>
          <a:lstStyle/>
          <a:p>
            <a:fld id="{886E1D0F-AB40-B84A-BEFC-40059FDC5FDB}" type="slidenum">
              <a:rPr lang="en-US" smtClean="0"/>
              <a:t>‹#›</a:t>
            </a:fld>
            <a:endParaRPr lang="en-US" dirty="0"/>
          </a:p>
        </p:txBody>
      </p:sp>
      <p:sp>
        <p:nvSpPr>
          <p:cNvPr id="7" name="Rectangle">
            <a:extLst>
              <a:ext uri="{FF2B5EF4-FFF2-40B4-BE49-F238E27FC236}">
                <a16:creationId xmlns:a16="http://schemas.microsoft.com/office/drawing/2014/main" id="{A7231D79-FF72-6C49-781F-E411A8803CD4}"/>
              </a:ext>
            </a:extLst>
          </p:cNvPr>
          <p:cNvSpPr/>
          <p:nvPr userDrawn="1"/>
        </p:nvSpPr>
        <p:spPr>
          <a:xfrm>
            <a:off x="381000" y="-6252"/>
            <a:ext cx="1620010" cy="6844316"/>
          </a:xfrm>
          <a:prstGeom prst="rect">
            <a:avLst/>
          </a:prstGeom>
          <a:solidFill>
            <a:srgbClr val="E88B31"/>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p>
        </p:txBody>
      </p:sp>
      <p:sp>
        <p:nvSpPr>
          <p:cNvPr id="8" name="Rectangle">
            <a:extLst>
              <a:ext uri="{FF2B5EF4-FFF2-40B4-BE49-F238E27FC236}">
                <a16:creationId xmlns:a16="http://schemas.microsoft.com/office/drawing/2014/main" id="{9D4DBE89-DF35-908B-2520-A1366008BE79}"/>
              </a:ext>
            </a:extLst>
          </p:cNvPr>
          <p:cNvSpPr/>
          <p:nvPr userDrawn="1"/>
        </p:nvSpPr>
        <p:spPr>
          <a:xfrm>
            <a:off x="-19498" y="2035445"/>
            <a:ext cx="2533482" cy="3040884"/>
          </a:xfrm>
          <a:prstGeom prst="rect">
            <a:avLst/>
          </a:prstGeom>
          <a:solidFill>
            <a:srgbClr val="595959"/>
          </a:solidFill>
          <a:ln w="12700">
            <a:miter lim="400000"/>
          </a:ln>
        </p:spPr>
        <p:txBody>
          <a:bodyPr lIns="50800" tIns="50800" rIns="50800" bIns="50800" anchor="ctr"/>
          <a:lstStyle/>
          <a:p>
            <a:pPr algn="r" defTabSz="825500">
              <a:defRPr sz="3200">
                <a:solidFill>
                  <a:srgbClr val="FFFFFF"/>
                </a:solidFill>
                <a:latin typeface="Helvetica Neue Medium"/>
                <a:ea typeface="Helvetica Neue Medium"/>
                <a:cs typeface="Helvetica Neue Medium"/>
                <a:sym typeface="Helvetica Neue Medium"/>
              </a:defRPr>
            </a:pPr>
            <a:endParaRPr dirty="0"/>
          </a:p>
        </p:txBody>
      </p:sp>
      <p:sp>
        <p:nvSpPr>
          <p:cNvPr id="9" name="Rectangle">
            <a:extLst>
              <a:ext uri="{FF2B5EF4-FFF2-40B4-BE49-F238E27FC236}">
                <a16:creationId xmlns:a16="http://schemas.microsoft.com/office/drawing/2014/main" id="{CD63D42C-B9D8-4E47-C556-1611CD98EE8B}"/>
              </a:ext>
            </a:extLst>
          </p:cNvPr>
          <p:cNvSpPr/>
          <p:nvPr userDrawn="1"/>
        </p:nvSpPr>
        <p:spPr>
          <a:xfrm>
            <a:off x="943056" y="4709179"/>
            <a:ext cx="495897" cy="94934"/>
          </a:xfrm>
          <a:prstGeom prst="rect">
            <a:avLst/>
          </a:prstGeom>
          <a:solidFill>
            <a:srgbClr val="E88B31"/>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p>
        </p:txBody>
      </p:sp>
      <p:pic>
        <p:nvPicPr>
          <p:cNvPr id="10" name="Image" descr="Image">
            <a:extLst>
              <a:ext uri="{FF2B5EF4-FFF2-40B4-BE49-F238E27FC236}">
                <a16:creationId xmlns:a16="http://schemas.microsoft.com/office/drawing/2014/main" id="{6780493C-32F2-0E7F-6C72-FE0CFA5CD5CC}"/>
              </a:ext>
            </a:extLst>
          </p:cNvPr>
          <p:cNvPicPr>
            <a:picLocks noChangeAspect="1"/>
          </p:cNvPicPr>
          <p:nvPr userDrawn="1"/>
        </p:nvPicPr>
        <p:blipFill>
          <a:blip r:embed="rId2"/>
          <a:stretch>
            <a:fillRect/>
          </a:stretch>
        </p:blipFill>
        <p:spPr>
          <a:xfrm>
            <a:off x="768008" y="2389152"/>
            <a:ext cx="845994" cy="1046690"/>
          </a:xfrm>
          <a:prstGeom prst="rect">
            <a:avLst/>
          </a:prstGeom>
          <a:ln w="12700">
            <a:miter lim="400000"/>
          </a:ln>
        </p:spPr>
      </p:pic>
      <p:sp>
        <p:nvSpPr>
          <p:cNvPr id="11" name="OUR GENESIS…">
            <a:extLst>
              <a:ext uri="{FF2B5EF4-FFF2-40B4-BE49-F238E27FC236}">
                <a16:creationId xmlns:a16="http://schemas.microsoft.com/office/drawing/2014/main" id="{F3F42328-7DDC-79B9-FFFD-6C2EBD746F03}"/>
              </a:ext>
            </a:extLst>
          </p:cNvPr>
          <p:cNvSpPr txBox="1"/>
          <p:nvPr userDrawn="1"/>
        </p:nvSpPr>
        <p:spPr>
          <a:xfrm>
            <a:off x="530567" y="3429000"/>
            <a:ext cx="1320874" cy="7802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defTabSz="457200">
              <a:lnSpc>
                <a:spcPts val="6500"/>
              </a:lnSpc>
              <a:spcBef>
                <a:spcPts val="200"/>
              </a:spcBef>
              <a:defRPr sz="6500">
                <a:solidFill>
                  <a:srgbClr val="FFFFFF"/>
                </a:solidFill>
                <a:latin typeface="Futura Bold"/>
                <a:ea typeface="Futura Bold"/>
                <a:cs typeface="Futura Bold"/>
                <a:sym typeface="Futura Bold"/>
              </a:defRPr>
            </a:pPr>
            <a:r>
              <a:rPr lang="en-US" sz="1800" dirty="0">
                <a:latin typeface="Arial" panose="020B0604020202020204" pitchFamily="34" charset="0"/>
                <a:cs typeface="Arial" panose="020B0604020202020204" pitchFamily="34" charset="0"/>
              </a:rPr>
              <a:t>Click to Edit</a:t>
            </a:r>
            <a:endParaRPr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56230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64ED3-56A5-442B-C066-007F13A15DC1}"/>
              </a:ext>
            </a:extLst>
          </p:cNvPr>
          <p:cNvSpPr>
            <a:spLocks noGrp="1"/>
          </p:cNvSpPr>
          <p:nvPr>
            <p:ph type="title"/>
          </p:nvPr>
        </p:nvSpPr>
        <p:spPr>
          <a:xfrm>
            <a:off x="2676938" y="365125"/>
            <a:ext cx="8676861"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9CCA50-3812-FFF1-EB7A-03D423FA7DD3}"/>
              </a:ext>
            </a:extLst>
          </p:cNvPr>
          <p:cNvSpPr>
            <a:spLocks noGrp="1"/>
          </p:cNvSpPr>
          <p:nvPr>
            <p:ph sz="half" idx="1"/>
          </p:nvPr>
        </p:nvSpPr>
        <p:spPr>
          <a:xfrm>
            <a:off x="2676939" y="1825625"/>
            <a:ext cx="4412492"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5359AD4-D150-EFC9-224A-C97DFE8842BE}"/>
              </a:ext>
            </a:extLst>
          </p:cNvPr>
          <p:cNvSpPr>
            <a:spLocks noGrp="1"/>
          </p:cNvSpPr>
          <p:nvPr>
            <p:ph sz="half" idx="2"/>
          </p:nvPr>
        </p:nvSpPr>
        <p:spPr>
          <a:xfrm>
            <a:off x="7238999" y="1825625"/>
            <a:ext cx="41148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0365DC9-6F11-BB7F-B943-4B2D6555E1E5}"/>
              </a:ext>
            </a:extLst>
          </p:cNvPr>
          <p:cNvSpPr>
            <a:spLocks noGrp="1"/>
          </p:cNvSpPr>
          <p:nvPr>
            <p:ph type="dt" sz="half" idx="10"/>
          </p:nvPr>
        </p:nvSpPr>
        <p:spPr>
          <a:xfrm>
            <a:off x="2093842" y="6356350"/>
            <a:ext cx="1487557" cy="365125"/>
          </a:xfrm>
        </p:spPr>
        <p:txBody>
          <a:bodyPr/>
          <a:lstStyle/>
          <a:p>
            <a:fld id="{4EC7EE4A-0837-B941-A614-D698F8CCA12B}" type="datetimeFigureOut">
              <a:rPr lang="en-US" smtClean="0"/>
              <a:t>6/13/2025</a:t>
            </a:fld>
            <a:endParaRPr lang="en-US" dirty="0"/>
          </a:p>
        </p:txBody>
      </p:sp>
      <p:sp>
        <p:nvSpPr>
          <p:cNvPr id="6" name="Footer Placeholder 5">
            <a:extLst>
              <a:ext uri="{FF2B5EF4-FFF2-40B4-BE49-F238E27FC236}">
                <a16:creationId xmlns:a16="http://schemas.microsoft.com/office/drawing/2014/main" id="{FF7E57B1-CD54-2BE1-49D7-BB3E7AD7309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A2F7E4D-8601-1883-1DF7-E73E2F31E862}"/>
              </a:ext>
            </a:extLst>
          </p:cNvPr>
          <p:cNvSpPr>
            <a:spLocks noGrp="1"/>
          </p:cNvSpPr>
          <p:nvPr>
            <p:ph type="sldNum" sz="quarter" idx="12"/>
          </p:nvPr>
        </p:nvSpPr>
        <p:spPr/>
        <p:txBody>
          <a:bodyPr/>
          <a:lstStyle/>
          <a:p>
            <a:fld id="{886E1D0F-AB40-B84A-BEFC-40059FDC5FDB}" type="slidenum">
              <a:rPr lang="en-US" smtClean="0"/>
              <a:t>‹#›</a:t>
            </a:fld>
            <a:endParaRPr lang="en-US" dirty="0"/>
          </a:p>
        </p:txBody>
      </p:sp>
      <p:sp>
        <p:nvSpPr>
          <p:cNvPr id="8" name="Rectangle">
            <a:extLst>
              <a:ext uri="{FF2B5EF4-FFF2-40B4-BE49-F238E27FC236}">
                <a16:creationId xmlns:a16="http://schemas.microsoft.com/office/drawing/2014/main" id="{97F7C531-EC8F-8B30-C3FD-E9E7E84F636D}"/>
              </a:ext>
            </a:extLst>
          </p:cNvPr>
          <p:cNvSpPr/>
          <p:nvPr userDrawn="1"/>
        </p:nvSpPr>
        <p:spPr>
          <a:xfrm>
            <a:off x="381000" y="-6252"/>
            <a:ext cx="1620010" cy="6864252"/>
          </a:xfrm>
          <a:prstGeom prst="rect">
            <a:avLst/>
          </a:prstGeom>
          <a:solidFill>
            <a:srgbClr val="E88B31"/>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p>
        </p:txBody>
      </p:sp>
      <p:sp>
        <p:nvSpPr>
          <p:cNvPr id="9" name="Rectangle">
            <a:extLst>
              <a:ext uri="{FF2B5EF4-FFF2-40B4-BE49-F238E27FC236}">
                <a16:creationId xmlns:a16="http://schemas.microsoft.com/office/drawing/2014/main" id="{FF3D75C3-C069-1E70-A592-E087BBB3EDB7}"/>
              </a:ext>
            </a:extLst>
          </p:cNvPr>
          <p:cNvSpPr/>
          <p:nvPr userDrawn="1"/>
        </p:nvSpPr>
        <p:spPr>
          <a:xfrm>
            <a:off x="-19498" y="2035445"/>
            <a:ext cx="2533482" cy="3040884"/>
          </a:xfrm>
          <a:prstGeom prst="rect">
            <a:avLst/>
          </a:prstGeom>
          <a:solidFill>
            <a:srgbClr val="595959"/>
          </a:solidFill>
          <a:ln w="12700">
            <a:miter lim="400000"/>
          </a:ln>
        </p:spPr>
        <p:txBody>
          <a:bodyPr lIns="50800" tIns="50800" rIns="50800" bIns="50800" anchor="ctr"/>
          <a:lstStyle/>
          <a:p>
            <a:pPr algn="r" defTabSz="825500">
              <a:defRPr sz="3200">
                <a:solidFill>
                  <a:srgbClr val="FFFFFF"/>
                </a:solidFill>
                <a:latin typeface="Helvetica Neue Medium"/>
                <a:ea typeface="Helvetica Neue Medium"/>
                <a:cs typeface="Helvetica Neue Medium"/>
                <a:sym typeface="Helvetica Neue Medium"/>
              </a:defRPr>
            </a:pPr>
            <a:endParaRPr dirty="0"/>
          </a:p>
        </p:txBody>
      </p:sp>
      <p:sp>
        <p:nvSpPr>
          <p:cNvPr id="10" name="Rectangle">
            <a:extLst>
              <a:ext uri="{FF2B5EF4-FFF2-40B4-BE49-F238E27FC236}">
                <a16:creationId xmlns:a16="http://schemas.microsoft.com/office/drawing/2014/main" id="{945FE18E-40FD-DA15-2BB9-D2A9BCDBF5D2}"/>
              </a:ext>
            </a:extLst>
          </p:cNvPr>
          <p:cNvSpPr/>
          <p:nvPr userDrawn="1"/>
        </p:nvSpPr>
        <p:spPr>
          <a:xfrm>
            <a:off x="943056" y="4709179"/>
            <a:ext cx="495897" cy="94934"/>
          </a:xfrm>
          <a:prstGeom prst="rect">
            <a:avLst/>
          </a:prstGeom>
          <a:solidFill>
            <a:srgbClr val="E88B31"/>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p>
        </p:txBody>
      </p:sp>
      <p:pic>
        <p:nvPicPr>
          <p:cNvPr id="11" name="Image" descr="Image">
            <a:extLst>
              <a:ext uri="{FF2B5EF4-FFF2-40B4-BE49-F238E27FC236}">
                <a16:creationId xmlns:a16="http://schemas.microsoft.com/office/drawing/2014/main" id="{6923A6F5-31A9-079B-3709-88250D645DA4}"/>
              </a:ext>
            </a:extLst>
          </p:cNvPr>
          <p:cNvPicPr>
            <a:picLocks noChangeAspect="1"/>
          </p:cNvPicPr>
          <p:nvPr userDrawn="1"/>
        </p:nvPicPr>
        <p:blipFill>
          <a:blip r:embed="rId2"/>
          <a:stretch>
            <a:fillRect/>
          </a:stretch>
        </p:blipFill>
        <p:spPr>
          <a:xfrm>
            <a:off x="768008" y="2389152"/>
            <a:ext cx="845994" cy="1046690"/>
          </a:xfrm>
          <a:prstGeom prst="rect">
            <a:avLst/>
          </a:prstGeom>
          <a:ln w="12700">
            <a:miter lim="400000"/>
          </a:ln>
        </p:spPr>
      </p:pic>
      <p:sp>
        <p:nvSpPr>
          <p:cNvPr id="12" name="OUR GENESIS…">
            <a:extLst>
              <a:ext uri="{FF2B5EF4-FFF2-40B4-BE49-F238E27FC236}">
                <a16:creationId xmlns:a16="http://schemas.microsoft.com/office/drawing/2014/main" id="{F7F7AD1E-6F98-2E30-8301-6A943134FB24}"/>
              </a:ext>
            </a:extLst>
          </p:cNvPr>
          <p:cNvSpPr txBox="1"/>
          <p:nvPr userDrawn="1"/>
        </p:nvSpPr>
        <p:spPr>
          <a:xfrm>
            <a:off x="530567" y="3429000"/>
            <a:ext cx="1320874" cy="7802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defTabSz="457200">
              <a:lnSpc>
                <a:spcPts val="6500"/>
              </a:lnSpc>
              <a:spcBef>
                <a:spcPts val="200"/>
              </a:spcBef>
              <a:defRPr sz="6500">
                <a:solidFill>
                  <a:srgbClr val="FFFFFF"/>
                </a:solidFill>
                <a:latin typeface="Futura Bold"/>
                <a:ea typeface="Futura Bold"/>
                <a:cs typeface="Futura Bold"/>
                <a:sym typeface="Futura Bold"/>
              </a:defRPr>
            </a:pPr>
            <a:r>
              <a:rPr lang="en-US" sz="1800" dirty="0">
                <a:latin typeface="Arial" panose="020B0604020202020204" pitchFamily="34" charset="0"/>
                <a:cs typeface="Arial" panose="020B0604020202020204" pitchFamily="34" charset="0"/>
              </a:rPr>
              <a:t>Click to Edit</a:t>
            </a:r>
            <a:endParaRPr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33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7AAA4-CB57-5B26-3D64-CAD0C02B9B6B}"/>
              </a:ext>
            </a:extLst>
          </p:cNvPr>
          <p:cNvSpPr>
            <a:spLocks noGrp="1"/>
          </p:cNvSpPr>
          <p:nvPr>
            <p:ph type="title"/>
          </p:nvPr>
        </p:nvSpPr>
        <p:spPr>
          <a:xfrm>
            <a:off x="2650434" y="365125"/>
            <a:ext cx="8703365"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p>
        </p:txBody>
      </p:sp>
      <p:sp>
        <p:nvSpPr>
          <p:cNvPr id="3" name="Date Placeholder 2">
            <a:extLst>
              <a:ext uri="{FF2B5EF4-FFF2-40B4-BE49-F238E27FC236}">
                <a16:creationId xmlns:a16="http://schemas.microsoft.com/office/drawing/2014/main" id="{820103F8-D6DA-E763-DD15-3224B40BDA53}"/>
              </a:ext>
            </a:extLst>
          </p:cNvPr>
          <p:cNvSpPr>
            <a:spLocks noGrp="1"/>
          </p:cNvSpPr>
          <p:nvPr>
            <p:ph type="dt" sz="half" idx="10"/>
          </p:nvPr>
        </p:nvSpPr>
        <p:spPr>
          <a:xfrm>
            <a:off x="2173356" y="6356350"/>
            <a:ext cx="1408043" cy="365125"/>
          </a:xfrm>
        </p:spPr>
        <p:txBody>
          <a:bodyPr/>
          <a:lstStyle/>
          <a:p>
            <a:fld id="{4EC7EE4A-0837-B941-A614-D698F8CCA12B}" type="datetimeFigureOut">
              <a:rPr lang="en-US" smtClean="0"/>
              <a:t>6/13/2025</a:t>
            </a:fld>
            <a:endParaRPr lang="en-US" dirty="0"/>
          </a:p>
        </p:txBody>
      </p:sp>
      <p:sp>
        <p:nvSpPr>
          <p:cNvPr id="4" name="Footer Placeholder 3">
            <a:extLst>
              <a:ext uri="{FF2B5EF4-FFF2-40B4-BE49-F238E27FC236}">
                <a16:creationId xmlns:a16="http://schemas.microsoft.com/office/drawing/2014/main" id="{754AEF93-9051-4B8C-D270-60096079D56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F2F6140-DD3C-BC39-0438-978A3DBABCF3}"/>
              </a:ext>
            </a:extLst>
          </p:cNvPr>
          <p:cNvSpPr>
            <a:spLocks noGrp="1"/>
          </p:cNvSpPr>
          <p:nvPr>
            <p:ph type="sldNum" sz="quarter" idx="12"/>
          </p:nvPr>
        </p:nvSpPr>
        <p:spPr/>
        <p:txBody>
          <a:bodyPr/>
          <a:lstStyle/>
          <a:p>
            <a:fld id="{886E1D0F-AB40-B84A-BEFC-40059FDC5FDB}" type="slidenum">
              <a:rPr lang="en-US" smtClean="0"/>
              <a:t>‹#›</a:t>
            </a:fld>
            <a:endParaRPr lang="en-US" dirty="0"/>
          </a:p>
        </p:txBody>
      </p:sp>
      <p:sp>
        <p:nvSpPr>
          <p:cNvPr id="6" name="Rectangle">
            <a:extLst>
              <a:ext uri="{FF2B5EF4-FFF2-40B4-BE49-F238E27FC236}">
                <a16:creationId xmlns:a16="http://schemas.microsoft.com/office/drawing/2014/main" id="{8E6A86E1-E443-0540-B8E1-1EF4DC93AD1E}"/>
              </a:ext>
            </a:extLst>
          </p:cNvPr>
          <p:cNvSpPr/>
          <p:nvPr userDrawn="1"/>
        </p:nvSpPr>
        <p:spPr>
          <a:xfrm>
            <a:off x="381000" y="-6252"/>
            <a:ext cx="1620010" cy="6864252"/>
          </a:xfrm>
          <a:prstGeom prst="rect">
            <a:avLst/>
          </a:prstGeom>
          <a:solidFill>
            <a:srgbClr val="E88B31"/>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p>
        </p:txBody>
      </p:sp>
      <p:sp>
        <p:nvSpPr>
          <p:cNvPr id="7" name="Rectangle">
            <a:extLst>
              <a:ext uri="{FF2B5EF4-FFF2-40B4-BE49-F238E27FC236}">
                <a16:creationId xmlns:a16="http://schemas.microsoft.com/office/drawing/2014/main" id="{A3BFD8F3-C30E-3216-7157-EF41B3C29BDB}"/>
              </a:ext>
            </a:extLst>
          </p:cNvPr>
          <p:cNvSpPr/>
          <p:nvPr userDrawn="1"/>
        </p:nvSpPr>
        <p:spPr>
          <a:xfrm>
            <a:off x="-19498" y="2035445"/>
            <a:ext cx="2533482" cy="3040884"/>
          </a:xfrm>
          <a:prstGeom prst="rect">
            <a:avLst/>
          </a:prstGeom>
          <a:solidFill>
            <a:srgbClr val="595959"/>
          </a:solidFill>
          <a:ln w="12700">
            <a:miter lim="400000"/>
          </a:ln>
        </p:spPr>
        <p:txBody>
          <a:bodyPr lIns="50800" tIns="50800" rIns="50800" bIns="50800" anchor="ctr"/>
          <a:lstStyle/>
          <a:p>
            <a:pPr algn="r" defTabSz="825500">
              <a:defRPr sz="3200">
                <a:solidFill>
                  <a:srgbClr val="FFFFFF"/>
                </a:solidFill>
                <a:latin typeface="Helvetica Neue Medium"/>
                <a:ea typeface="Helvetica Neue Medium"/>
                <a:cs typeface="Helvetica Neue Medium"/>
                <a:sym typeface="Helvetica Neue Medium"/>
              </a:defRPr>
            </a:pPr>
            <a:endParaRPr dirty="0"/>
          </a:p>
        </p:txBody>
      </p:sp>
      <p:sp>
        <p:nvSpPr>
          <p:cNvPr id="8" name="Rectangle">
            <a:extLst>
              <a:ext uri="{FF2B5EF4-FFF2-40B4-BE49-F238E27FC236}">
                <a16:creationId xmlns:a16="http://schemas.microsoft.com/office/drawing/2014/main" id="{D2781AB7-73A7-B40B-FDDF-E7EDBEAC5AE5}"/>
              </a:ext>
            </a:extLst>
          </p:cNvPr>
          <p:cNvSpPr/>
          <p:nvPr userDrawn="1"/>
        </p:nvSpPr>
        <p:spPr>
          <a:xfrm>
            <a:off x="943056" y="4709179"/>
            <a:ext cx="495897" cy="94934"/>
          </a:xfrm>
          <a:prstGeom prst="rect">
            <a:avLst/>
          </a:prstGeom>
          <a:solidFill>
            <a:srgbClr val="E88B31"/>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p>
        </p:txBody>
      </p:sp>
      <p:pic>
        <p:nvPicPr>
          <p:cNvPr id="9" name="Image" descr="Image">
            <a:extLst>
              <a:ext uri="{FF2B5EF4-FFF2-40B4-BE49-F238E27FC236}">
                <a16:creationId xmlns:a16="http://schemas.microsoft.com/office/drawing/2014/main" id="{6E70B815-ECC6-FAC9-D2A9-37E07E40F225}"/>
              </a:ext>
            </a:extLst>
          </p:cNvPr>
          <p:cNvPicPr>
            <a:picLocks noChangeAspect="1"/>
          </p:cNvPicPr>
          <p:nvPr userDrawn="1"/>
        </p:nvPicPr>
        <p:blipFill>
          <a:blip r:embed="rId2"/>
          <a:stretch>
            <a:fillRect/>
          </a:stretch>
        </p:blipFill>
        <p:spPr>
          <a:xfrm>
            <a:off x="768008" y="2389152"/>
            <a:ext cx="845994" cy="1046690"/>
          </a:xfrm>
          <a:prstGeom prst="rect">
            <a:avLst/>
          </a:prstGeom>
          <a:ln w="12700">
            <a:miter lim="400000"/>
          </a:ln>
        </p:spPr>
      </p:pic>
      <p:sp>
        <p:nvSpPr>
          <p:cNvPr id="10" name="OUR GENESIS…">
            <a:extLst>
              <a:ext uri="{FF2B5EF4-FFF2-40B4-BE49-F238E27FC236}">
                <a16:creationId xmlns:a16="http://schemas.microsoft.com/office/drawing/2014/main" id="{9FAB537E-5EEF-47E4-C75F-E6FDBA616CA3}"/>
              </a:ext>
            </a:extLst>
          </p:cNvPr>
          <p:cNvSpPr txBox="1"/>
          <p:nvPr userDrawn="1"/>
        </p:nvSpPr>
        <p:spPr>
          <a:xfrm>
            <a:off x="530567" y="3429000"/>
            <a:ext cx="1320874" cy="7802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defTabSz="457200">
              <a:lnSpc>
                <a:spcPts val="6500"/>
              </a:lnSpc>
              <a:spcBef>
                <a:spcPts val="200"/>
              </a:spcBef>
              <a:defRPr sz="6500">
                <a:solidFill>
                  <a:srgbClr val="FFFFFF"/>
                </a:solidFill>
                <a:latin typeface="Futura Bold"/>
                <a:ea typeface="Futura Bold"/>
                <a:cs typeface="Futura Bold"/>
                <a:sym typeface="Futura Bold"/>
              </a:defRPr>
            </a:pPr>
            <a:r>
              <a:rPr lang="en-US" sz="1800" dirty="0">
                <a:latin typeface="Arial" panose="020B0604020202020204" pitchFamily="34" charset="0"/>
                <a:cs typeface="Arial" panose="020B0604020202020204" pitchFamily="34" charset="0"/>
              </a:rPr>
              <a:t>Click to Edit</a:t>
            </a:r>
            <a:endParaRPr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835413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8E0A97-5127-0F29-2E93-64460BCC5B7F}"/>
              </a:ext>
            </a:extLst>
          </p:cNvPr>
          <p:cNvSpPr>
            <a:spLocks noGrp="1"/>
          </p:cNvSpPr>
          <p:nvPr>
            <p:ph type="dt" sz="half" idx="10"/>
          </p:nvPr>
        </p:nvSpPr>
        <p:spPr>
          <a:xfrm>
            <a:off x="2173356" y="6356350"/>
            <a:ext cx="1408043" cy="365125"/>
          </a:xfrm>
        </p:spPr>
        <p:txBody>
          <a:bodyPr/>
          <a:lstStyle/>
          <a:p>
            <a:fld id="{4EC7EE4A-0837-B941-A614-D698F8CCA12B}" type="datetimeFigureOut">
              <a:rPr lang="en-US" smtClean="0"/>
              <a:t>6/13/2025</a:t>
            </a:fld>
            <a:endParaRPr lang="en-US" dirty="0"/>
          </a:p>
        </p:txBody>
      </p:sp>
      <p:sp>
        <p:nvSpPr>
          <p:cNvPr id="3" name="Footer Placeholder 2">
            <a:extLst>
              <a:ext uri="{FF2B5EF4-FFF2-40B4-BE49-F238E27FC236}">
                <a16:creationId xmlns:a16="http://schemas.microsoft.com/office/drawing/2014/main" id="{D360494C-FF74-7466-732D-F558EF37FF0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5798635-8ABD-76D6-1A43-DDFC782496CA}"/>
              </a:ext>
            </a:extLst>
          </p:cNvPr>
          <p:cNvSpPr>
            <a:spLocks noGrp="1"/>
          </p:cNvSpPr>
          <p:nvPr>
            <p:ph type="sldNum" sz="quarter" idx="12"/>
          </p:nvPr>
        </p:nvSpPr>
        <p:spPr/>
        <p:txBody>
          <a:bodyPr/>
          <a:lstStyle/>
          <a:p>
            <a:fld id="{886E1D0F-AB40-B84A-BEFC-40059FDC5FDB}" type="slidenum">
              <a:rPr lang="en-US" smtClean="0"/>
              <a:t>‹#›</a:t>
            </a:fld>
            <a:endParaRPr lang="en-US" dirty="0"/>
          </a:p>
        </p:txBody>
      </p:sp>
      <p:sp>
        <p:nvSpPr>
          <p:cNvPr id="5" name="Rectangle">
            <a:extLst>
              <a:ext uri="{FF2B5EF4-FFF2-40B4-BE49-F238E27FC236}">
                <a16:creationId xmlns:a16="http://schemas.microsoft.com/office/drawing/2014/main" id="{5AA4C898-B97B-083A-6927-6CF2D9BC6358}"/>
              </a:ext>
            </a:extLst>
          </p:cNvPr>
          <p:cNvSpPr/>
          <p:nvPr userDrawn="1"/>
        </p:nvSpPr>
        <p:spPr>
          <a:xfrm>
            <a:off x="381000" y="-6252"/>
            <a:ext cx="1620010" cy="6864252"/>
          </a:xfrm>
          <a:prstGeom prst="rect">
            <a:avLst/>
          </a:prstGeom>
          <a:solidFill>
            <a:srgbClr val="E88B31"/>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p>
        </p:txBody>
      </p:sp>
      <p:sp>
        <p:nvSpPr>
          <p:cNvPr id="6" name="Rectangle">
            <a:extLst>
              <a:ext uri="{FF2B5EF4-FFF2-40B4-BE49-F238E27FC236}">
                <a16:creationId xmlns:a16="http://schemas.microsoft.com/office/drawing/2014/main" id="{73B93C58-7265-8F3C-BD90-CB73F3F28D73}"/>
              </a:ext>
            </a:extLst>
          </p:cNvPr>
          <p:cNvSpPr/>
          <p:nvPr userDrawn="1"/>
        </p:nvSpPr>
        <p:spPr>
          <a:xfrm>
            <a:off x="-19498" y="2035445"/>
            <a:ext cx="2533482" cy="3040884"/>
          </a:xfrm>
          <a:prstGeom prst="rect">
            <a:avLst/>
          </a:prstGeom>
          <a:solidFill>
            <a:srgbClr val="595959"/>
          </a:solidFill>
          <a:ln w="12700">
            <a:miter lim="400000"/>
          </a:ln>
        </p:spPr>
        <p:txBody>
          <a:bodyPr lIns="50800" tIns="50800" rIns="50800" bIns="50800" anchor="ctr"/>
          <a:lstStyle/>
          <a:p>
            <a:pPr algn="r" defTabSz="825500">
              <a:defRPr sz="3200">
                <a:solidFill>
                  <a:srgbClr val="FFFFFF"/>
                </a:solidFill>
                <a:latin typeface="Helvetica Neue Medium"/>
                <a:ea typeface="Helvetica Neue Medium"/>
                <a:cs typeface="Helvetica Neue Medium"/>
                <a:sym typeface="Helvetica Neue Medium"/>
              </a:defRPr>
            </a:pPr>
            <a:endParaRPr dirty="0"/>
          </a:p>
        </p:txBody>
      </p:sp>
      <p:sp>
        <p:nvSpPr>
          <p:cNvPr id="7" name="Rectangle">
            <a:extLst>
              <a:ext uri="{FF2B5EF4-FFF2-40B4-BE49-F238E27FC236}">
                <a16:creationId xmlns:a16="http://schemas.microsoft.com/office/drawing/2014/main" id="{9D8E4AD2-EC33-894C-B08B-16FD8393942E}"/>
              </a:ext>
            </a:extLst>
          </p:cNvPr>
          <p:cNvSpPr/>
          <p:nvPr userDrawn="1"/>
        </p:nvSpPr>
        <p:spPr>
          <a:xfrm>
            <a:off x="943056" y="4709179"/>
            <a:ext cx="495897" cy="94934"/>
          </a:xfrm>
          <a:prstGeom prst="rect">
            <a:avLst/>
          </a:prstGeom>
          <a:solidFill>
            <a:srgbClr val="E88B31"/>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p>
        </p:txBody>
      </p:sp>
      <p:pic>
        <p:nvPicPr>
          <p:cNvPr id="8" name="Image" descr="Image">
            <a:extLst>
              <a:ext uri="{FF2B5EF4-FFF2-40B4-BE49-F238E27FC236}">
                <a16:creationId xmlns:a16="http://schemas.microsoft.com/office/drawing/2014/main" id="{DC573C7D-BC2E-B571-761E-F7BC7510D9C2}"/>
              </a:ext>
            </a:extLst>
          </p:cNvPr>
          <p:cNvPicPr>
            <a:picLocks noChangeAspect="1"/>
          </p:cNvPicPr>
          <p:nvPr userDrawn="1"/>
        </p:nvPicPr>
        <p:blipFill>
          <a:blip r:embed="rId2"/>
          <a:stretch>
            <a:fillRect/>
          </a:stretch>
        </p:blipFill>
        <p:spPr>
          <a:xfrm>
            <a:off x="768008" y="2389152"/>
            <a:ext cx="845994" cy="1046690"/>
          </a:xfrm>
          <a:prstGeom prst="rect">
            <a:avLst/>
          </a:prstGeom>
          <a:ln w="12700">
            <a:miter lim="400000"/>
          </a:ln>
        </p:spPr>
      </p:pic>
      <p:sp>
        <p:nvSpPr>
          <p:cNvPr id="9" name="OUR GENESIS…">
            <a:extLst>
              <a:ext uri="{FF2B5EF4-FFF2-40B4-BE49-F238E27FC236}">
                <a16:creationId xmlns:a16="http://schemas.microsoft.com/office/drawing/2014/main" id="{8E257C3D-F57A-6C7F-8602-3A6268933696}"/>
              </a:ext>
            </a:extLst>
          </p:cNvPr>
          <p:cNvSpPr txBox="1"/>
          <p:nvPr userDrawn="1"/>
        </p:nvSpPr>
        <p:spPr>
          <a:xfrm>
            <a:off x="530567" y="3429000"/>
            <a:ext cx="1320874" cy="7802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defTabSz="457200">
              <a:lnSpc>
                <a:spcPts val="6500"/>
              </a:lnSpc>
              <a:spcBef>
                <a:spcPts val="200"/>
              </a:spcBef>
              <a:defRPr sz="6500">
                <a:solidFill>
                  <a:srgbClr val="FFFFFF"/>
                </a:solidFill>
                <a:latin typeface="Futura Bold"/>
                <a:ea typeface="Futura Bold"/>
                <a:cs typeface="Futura Bold"/>
                <a:sym typeface="Futura Bold"/>
              </a:defRPr>
            </a:pPr>
            <a:r>
              <a:rPr lang="en-US" sz="1800" dirty="0">
                <a:latin typeface="Arial" panose="020B0604020202020204" pitchFamily="34" charset="0"/>
                <a:cs typeface="Arial" panose="020B0604020202020204" pitchFamily="34" charset="0"/>
              </a:rPr>
              <a:t>Click to Edit</a:t>
            </a:r>
            <a:endParaRPr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92441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5E7BB-5046-E80D-681F-75954FB780B0}"/>
              </a:ext>
            </a:extLst>
          </p:cNvPr>
          <p:cNvSpPr>
            <a:spLocks noGrp="1"/>
          </p:cNvSpPr>
          <p:nvPr>
            <p:ph type="title"/>
          </p:nvPr>
        </p:nvSpPr>
        <p:spPr>
          <a:xfrm>
            <a:off x="2751425" y="435245"/>
            <a:ext cx="3932237" cy="1600200"/>
          </a:xfrm>
        </p:spPr>
        <p:txBody>
          <a:bodyPr anchor="b"/>
          <a:lstStyle>
            <a:lvl1pPr>
              <a:defRPr sz="3200">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8316A9FA-A003-7209-E4B0-92F3DB19B787}"/>
              </a:ext>
            </a:extLst>
          </p:cNvPr>
          <p:cNvSpPr>
            <a:spLocks noGrp="1"/>
          </p:cNvSpPr>
          <p:nvPr>
            <p:ph idx="1"/>
          </p:nvPr>
        </p:nvSpPr>
        <p:spPr>
          <a:xfrm>
            <a:off x="6921103" y="987425"/>
            <a:ext cx="4434284" cy="4873625"/>
          </a:xfrm>
        </p:spPr>
        <p:txBody>
          <a:bodyPr/>
          <a:lstStyle>
            <a:lvl1pPr>
              <a:defRPr sz="3200">
                <a:latin typeface="Arial" panose="020B0604020202020204" pitchFamily="34" charset="0"/>
                <a:cs typeface="Arial" panose="020B0604020202020204" pitchFamily="34" charset="0"/>
              </a:defRPr>
            </a:lvl1pPr>
            <a:lvl2pPr>
              <a:defRPr sz="2800">
                <a:latin typeface="Arial" panose="020B0604020202020204" pitchFamily="34" charset="0"/>
                <a:cs typeface="Arial" panose="020B0604020202020204" pitchFamily="34" charset="0"/>
              </a:defRPr>
            </a:lvl2pPr>
            <a:lvl3pPr>
              <a:defRPr sz="2400">
                <a:latin typeface="Arial" panose="020B0604020202020204" pitchFamily="34" charset="0"/>
                <a:cs typeface="Arial" panose="020B0604020202020204" pitchFamily="34" charset="0"/>
              </a:defRPr>
            </a:lvl3pPr>
            <a:lvl4pPr>
              <a:defRPr sz="2000">
                <a:latin typeface="Arial" panose="020B0604020202020204" pitchFamily="34" charset="0"/>
                <a:cs typeface="Arial" panose="020B0604020202020204" pitchFamily="34" charset="0"/>
              </a:defRPr>
            </a:lvl4pPr>
            <a:lvl5pPr>
              <a:defRPr sz="2000">
                <a:latin typeface="Arial" panose="020B0604020202020204" pitchFamily="34" charset="0"/>
                <a:cs typeface="Arial" panose="020B0604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6B3790C-4CC7-B3AB-E453-F5C9F71E02AE}"/>
              </a:ext>
            </a:extLst>
          </p:cNvPr>
          <p:cNvSpPr>
            <a:spLocks noGrp="1"/>
          </p:cNvSpPr>
          <p:nvPr>
            <p:ph type="body" sz="half" idx="2"/>
          </p:nvPr>
        </p:nvSpPr>
        <p:spPr>
          <a:xfrm>
            <a:off x="2751425" y="2035445"/>
            <a:ext cx="3932237" cy="3811588"/>
          </a:xfrm>
        </p:spPr>
        <p:txBody>
          <a:bodyPr/>
          <a:lstStyle>
            <a:lvl1pPr marL="0" indent="0">
              <a:buNone/>
              <a:defRPr sz="16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4F7246-3BAA-1C83-4FFF-FC8105B69D3E}"/>
              </a:ext>
            </a:extLst>
          </p:cNvPr>
          <p:cNvSpPr>
            <a:spLocks noGrp="1"/>
          </p:cNvSpPr>
          <p:nvPr>
            <p:ph type="dt" sz="half" idx="10"/>
          </p:nvPr>
        </p:nvSpPr>
        <p:spPr>
          <a:xfrm>
            <a:off x="2120348" y="6356350"/>
            <a:ext cx="1461052" cy="365125"/>
          </a:xfrm>
        </p:spPr>
        <p:txBody>
          <a:bodyPr/>
          <a:lstStyle/>
          <a:p>
            <a:fld id="{4EC7EE4A-0837-B941-A614-D698F8CCA12B}" type="datetimeFigureOut">
              <a:rPr lang="en-US" smtClean="0"/>
              <a:t>6/13/2025</a:t>
            </a:fld>
            <a:endParaRPr lang="en-US" dirty="0"/>
          </a:p>
        </p:txBody>
      </p:sp>
      <p:sp>
        <p:nvSpPr>
          <p:cNvPr id="6" name="Footer Placeholder 5">
            <a:extLst>
              <a:ext uri="{FF2B5EF4-FFF2-40B4-BE49-F238E27FC236}">
                <a16:creationId xmlns:a16="http://schemas.microsoft.com/office/drawing/2014/main" id="{DAD5E4B7-8EA7-61C5-7994-38809FD314F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D40E203-AA03-81FE-3203-297A8AE039AB}"/>
              </a:ext>
            </a:extLst>
          </p:cNvPr>
          <p:cNvSpPr>
            <a:spLocks noGrp="1"/>
          </p:cNvSpPr>
          <p:nvPr>
            <p:ph type="sldNum" sz="quarter" idx="12"/>
          </p:nvPr>
        </p:nvSpPr>
        <p:spPr/>
        <p:txBody>
          <a:bodyPr/>
          <a:lstStyle/>
          <a:p>
            <a:fld id="{886E1D0F-AB40-B84A-BEFC-40059FDC5FDB}" type="slidenum">
              <a:rPr lang="en-US" smtClean="0"/>
              <a:t>‹#›</a:t>
            </a:fld>
            <a:endParaRPr lang="en-US" dirty="0"/>
          </a:p>
        </p:txBody>
      </p:sp>
      <p:sp>
        <p:nvSpPr>
          <p:cNvPr id="8" name="Rectangle">
            <a:extLst>
              <a:ext uri="{FF2B5EF4-FFF2-40B4-BE49-F238E27FC236}">
                <a16:creationId xmlns:a16="http://schemas.microsoft.com/office/drawing/2014/main" id="{A420924C-B352-F707-729E-5C59B20F9B44}"/>
              </a:ext>
            </a:extLst>
          </p:cNvPr>
          <p:cNvSpPr/>
          <p:nvPr userDrawn="1"/>
        </p:nvSpPr>
        <p:spPr>
          <a:xfrm>
            <a:off x="381000" y="-6252"/>
            <a:ext cx="1620010" cy="6864252"/>
          </a:xfrm>
          <a:prstGeom prst="rect">
            <a:avLst/>
          </a:prstGeom>
          <a:solidFill>
            <a:srgbClr val="E88B31"/>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p>
        </p:txBody>
      </p:sp>
      <p:sp>
        <p:nvSpPr>
          <p:cNvPr id="9" name="Rectangle">
            <a:extLst>
              <a:ext uri="{FF2B5EF4-FFF2-40B4-BE49-F238E27FC236}">
                <a16:creationId xmlns:a16="http://schemas.microsoft.com/office/drawing/2014/main" id="{F4492321-CB0D-C5BA-BE10-1800BDE3DCB9}"/>
              </a:ext>
            </a:extLst>
          </p:cNvPr>
          <p:cNvSpPr/>
          <p:nvPr userDrawn="1"/>
        </p:nvSpPr>
        <p:spPr>
          <a:xfrm>
            <a:off x="-19498" y="2035445"/>
            <a:ext cx="2533482" cy="3040884"/>
          </a:xfrm>
          <a:prstGeom prst="rect">
            <a:avLst/>
          </a:prstGeom>
          <a:solidFill>
            <a:srgbClr val="595959"/>
          </a:solidFill>
          <a:ln w="12700">
            <a:miter lim="400000"/>
          </a:ln>
        </p:spPr>
        <p:txBody>
          <a:bodyPr lIns="50800" tIns="50800" rIns="50800" bIns="50800" anchor="ctr"/>
          <a:lstStyle/>
          <a:p>
            <a:pPr algn="r" defTabSz="825500">
              <a:defRPr sz="3200">
                <a:solidFill>
                  <a:srgbClr val="FFFFFF"/>
                </a:solidFill>
                <a:latin typeface="Helvetica Neue Medium"/>
                <a:ea typeface="Helvetica Neue Medium"/>
                <a:cs typeface="Helvetica Neue Medium"/>
                <a:sym typeface="Helvetica Neue Medium"/>
              </a:defRPr>
            </a:pPr>
            <a:endParaRPr dirty="0"/>
          </a:p>
        </p:txBody>
      </p:sp>
      <p:sp>
        <p:nvSpPr>
          <p:cNvPr id="10" name="Rectangle">
            <a:extLst>
              <a:ext uri="{FF2B5EF4-FFF2-40B4-BE49-F238E27FC236}">
                <a16:creationId xmlns:a16="http://schemas.microsoft.com/office/drawing/2014/main" id="{2FBD94BD-DB83-6A66-5B92-8596D53F0316}"/>
              </a:ext>
            </a:extLst>
          </p:cNvPr>
          <p:cNvSpPr/>
          <p:nvPr userDrawn="1"/>
        </p:nvSpPr>
        <p:spPr>
          <a:xfrm>
            <a:off x="943056" y="4709179"/>
            <a:ext cx="495897" cy="94934"/>
          </a:xfrm>
          <a:prstGeom prst="rect">
            <a:avLst/>
          </a:prstGeom>
          <a:solidFill>
            <a:srgbClr val="E88B31"/>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p>
        </p:txBody>
      </p:sp>
      <p:pic>
        <p:nvPicPr>
          <p:cNvPr id="11" name="Image" descr="Image">
            <a:extLst>
              <a:ext uri="{FF2B5EF4-FFF2-40B4-BE49-F238E27FC236}">
                <a16:creationId xmlns:a16="http://schemas.microsoft.com/office/drawing/2014/main" id="{B285FAFE-971A-17D4-8433-31AC855F3BA5}"/>
              </a:ext>
            </a:extLst>
          </p:cNvPr>
          <p:cNvPicPr>
            <a:picLocks noChangeAspect="1"/>
          </p:cNvPicPr>
          <p:nvPr userDrawn="1"/>
        </p:nvPicPr>
        <p:blipFill>
          <a:blip r:embed="rId2"/>
          <a:stretch>
            <a:fillRect/>
          </a:stretch>
        </p:blipFill>
        <p:spPr>
          <a:xfrm>
            <a:off x="768008" y="2389152"/>
            <a:ext cx="845994" cy="1046690"/>
          </a:xfrm>
          <a:prstGeom prst="rect">
            <a:avLst/>
          </a:prstGeom>
          <a:ln w="12700">
            <a:miter lim="400000"/>
          </a:ln>
        </p:spPr>
      </p:pic>
      <p:sp>
        <p:nvSpPr>
          <p:cNvPr id="12" name="OUR GENESIS…">
            <a:extLst>
              <a:ext uri="{FF2B5EF4-FFF2-40B4-BE49-F238E27FC236}">
                <a16:creationId xmlns:a16="http://schemas.microsoft.com/office/drawing/2014/main" id="{ECA8647A-7ECF-4999-480F-5C0C12DA1F38}"/>
              </a:ext>
            </a:extLst>
          </p:cNvPr>
          <p:cNvSpPr txBox="1"/>
          <p:nvPr userDrawn="1"/>
        </p:nvSpPr>
        <p:spPr>
          <a:xfrm>
            <a:off x="530567" y="3429000"/>
            <a:ext cx="1320874" cy="7802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defTabSz="457200">
              <a:lnSpc>
                <a:spcPts val="6500"/>
              </a:lnSpc>
              <a:spcBef>
                <a:spcPts val="200"/>
              </a:spcBef>
              <a:defRPr sz="6500">
                <a:solidFill>
                  <a:srgbClr val="FFFFFF"/>
                </a:solidFill>
                <a:latin typeface="Futura Bold"/>
                <a:ea typeface="Futura Bold"/>
                <a:cs typeface="Futura Bold"/>
                <a:sym typeface="Futura Bold"/>
              </a:defRPr>
            </a:pPr>
            <a:r>
              <a:rPr lang="en-US" sz="1800" dirty="0">
                <a:latin typeface="Arial" panose="020B0604020202020204" pitchFamily="34" charset="0"/>
                <a:cs typeface="Arial" panose="020B0604020202020204" pitchFamily="34" charset="0"/>
              </a:rPr>
              <a:t>Click to Edit</a:t>
            </a:r>
            <a:endParaRPr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4226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5701A-31DC-BDA1-4336-5A1AF25E59AB}"/>
              </a:ext>
            </a:extLst>
          </p:cNvPr>
          <p:cNvSpPr>
            <a:spLocks noGrp="1"/>
          </p:cNvSpPr>
          <p:nvPr>
            <p:ph type="title"/>
          </p:nvPr>
        </p:nvSpPr>
        <p:spPr>
          <a:xfrm>
            <a:off x="2663551" y="567882"/>
            <a:ext cx="3932237" cy="1600200"/>
          </a:xfrm>
        </p:spPr>
        <p:txBody>
          <a:bodyPr anchor="b"/>
          <a:lstStyle>
            <a:lvl1pPr>
              <a:defRPr sz="3200">
                <a:latin typeface="Arial" panose="020B0604020202020204" pitchFamily="34" charset="0"/>
                <a:cs typeface="Arial" panose="020B0604020202020204" pitchFamily="34" charset="0"/>
              </a:defRPr>
            </a:lvl1pPr>
          </a:lstStyle>
          <a:p>
            <a:r>
              <a:rPr lang="en-US"/>
              <a:t>Click to edit Master title style</a:t>
            </a:r>
          </a:p>
        </p:txBody>
      </p:sp>
      <p:sp>
        <p:nvSpPr>
          <p:cNvPr id="3" name="Picture Placeholder 2">
            <a:extLst>
              <a:ext uri="{FF2B5EF4-FFF2-40B4-BE49-F238E27FC236}">
                <a16:creationId xmlns:a16="http://schemas.microsoft.com/office/drawing/2014/main" id="{65C39278-9809-A53F-2804-30EB89D4A993}"/>
              </a:ext>
            </a:extLst>
          </p:cNvPr>
          <p:cNvSpPr>
            <a:spLocks noGrp="1"/>
          </p:cNvSpPr>
          <p:nvPr>
            <p:ph type="pic" idx="1"/>
          </p:nvPr>
        </p:nvSpPr>
        <p:spPr>
          <a:xfrm>
            <a:off x="6745355" y="987425"/>
            <a:ext cx="4610033" cy="4873625"/>
          </a:xfrm>
        </p:spPr>
        <p:txBody>
          <a:bodyPr/>
          <a:lstStyle>
            <a:lvl1pPr marL="0" indent="0">
              <a:buNone/>
              <a:defRPr sz="3200">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8B66CFE8-05F7-4F45-9D92-B1F28BA24C7B}"/>
              </a:ext>
            </a:extLst>
          </p:cNvPr>
          <p:cNvSpPr>
            <a:spLocks noGrp="1"/>
          </p:cNvSpPr>
          <p:nvPr>
            <p:ph type="body" sz="half" idx="2"/>
          </p:nvPr>
        </p:nvSpPr>
        <p:spPr>
          <a:xfrm>
            <a:off x="2663551" y="2168082"/>
            <a:ext cx="3932237" cy="3811588"/>
          </a:xfrm>
        </p:spPr>
        <p:txBody>
          <a:bodyPr/>
          <a:lstStyle>
            <a:lvl1pPr marL="0" indent="0">
              <a:buNone/>
              <a:defRPr sz="16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F75B33-67AB-E782-2EC1-8E9925BA0136}"/>
              </a:ext>
            </a:extLst>
          </p:cNvPr>
          <p:cNvSpPr>
            <a:spLocks noGrp="1"/>
          </p:cNvSpPr>
          <p:nvPr>
            <p:ph type="dt" sz="half" idx="10"/>
          </p:nvPr>
        </p:nvSpPr>
        <p:spPr>
          <a:xfrm>
            <a:off x="2107096" y="6356350"/>
            <a:ext cx="1474304" cy="365125"/>
          </a:xfrm>
        </p:spPr>
        <p:txBody>
          <a:bodyPr/>
          <a:lstStyle/>
          <a:p>
            <a:fld id="{4EC7EE4A-0837-B941-A614-D698F8CCA12B}" type="datetimeFigureOut">
              <a:rPr lang="en-US" smtClean="0"/>
              <a:t>6/13/2025</a:t>
            </a:fld>
            <a:endParaRPr lang="en-US" dirty="0"/>
          </a:p>
        </p:txBody>
      </p:sp>
      <p:sp>
        <p:nvSpPr>
          <p:cNvPr id="6" name="Footer Placeholder 5">
            <a:extLst>
              <a:ext uri="{FF2B5EF4-FFF2-40B4-BE49-F238E27FC236}">
                <a16:creationId xmlns:a16="http://schemas.microsoft.com/office/drawing/2014/main" id="{25D08D79-222D-B649-B880-86AB77FF576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63B665E-69D3-3A49-22E5-28216DFC0CF2}"/>
              </a:ext>
            </a:extLst>
          </p:cNvPr>
          <p:cNvSpPr>
            <a:spLocks noGrp="1"/>
          </p:cNvSpPr>
          <p:nvPr>
            <p:ph type="sldNum" sz="quarter" idx="12"/>
          </p:nvPr>
        </p:nvSpPr>
        <p:spPr/>
        <p:txBody>
          <a:bodyPr/>
          <a:lstStyle/>
          <a:p>
            <a:fld id="{886E1D0F-AB40-B84A-BEFC-40059FDC5FDB}" type="slidenum">
              <a:rPr lang="en-US" smtClean="0"/>
              <a:t>‹#›</a:t>
            </a:fld>
            <a:endParaRPr lang="en-US" dirty="0"/>
          </a:p>
        </p:txBody>
      </p:sp>
      <p:sp>
        <p:nvSpPr>
          <p:cNvPr id="8" name="Rectangle">
            <a:extLst>
              <a:ext uri="{FF2B5EF4-FFF2-40B4-BE49-F238E27FC236}">
                <a16:creationId xmlns:a16="http://schemas.microsoft.com/office/drawing/2014/main" id="{746F9696-1554-BC4D-E65F-2CB0220DE25C}"/>
              </a:ext>
            </a:extLst>
          </p:cNvPr>
          <p:cNvSpPr/>
          <p:nvPr userDrawn="1"/>
        </p:nvSpPr>
        <p:spPr>
          <a:xfrm>
            <a:off x="381000" y="-6252"/>
            <a:ext cx="1620010" cy="6864252"/>
          </a:xfrm>
          <a:prstGeom prst="rect">
            <a:avLst/>
          </a:prstGeom>
          <a:solidFill>
            <a:srgbClr val="E88B31"/>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p>
        </p:txBody>
      </p:sp>
      <p:sp>
        <p:nvSpPr>
          <p:cNvPr id="9" name="Rectangle">
            <a:extLst>
              <a:ext uri="{FF2B5EF4-FFF2-40B4-BE49-F238E27FC236}">
                <a16:creationId xmlns:a16="http://schemas.microsoft.com/office/drawing/2014/main" id="{260FB36E-EE09-765A-8BCC-D8FEE8EBDD9C}"/>
              </a:ext>
            </a:extLst>
          </p:cNvPr>
          <p:cNvSpPr/>
          <p:nvPr userDrawn="1"/>
        </p:nvSpPr>
        <p:spPr>
          <a:xfrm>
            <a:off x="-19498" y="2035445"/>
            <a:ext cx="2533482" cy="3040884"/>
          </a:xfrm>
          <a:prstGeom prst="rect">
            <a:avLst/>
          </a:prstGeom>
          <a:solidFill>
            <a:srgbClr val="595959"/>
          </a:solidFill>
          <a:ln w="12700">
            <a:miter lim="400000"/>
          </a:ln>
        </p:spPr>
        <p:txBody>
          <a:bodyPr lIns="50800" tIns="50800" rIns="50800" bIns="50800" anchor="ctr"/>
          <a:lstStyle/>
          <a:p>
            <a:pPr algn="r" defTabSz="825500">
              <a:defRPr sz="3200">
                <a:solidFill>
                  <a:srgbClr val="FFFFFF"/>
                </a:solidFill>
                <a:latin typeface="Helvetica Neue Medium"/>
                <a:ea typeface="Helvetica Neue Medium"/>
                <a:cs typeface="Helvetica Neue Medium"/>
                <a:sym typeface="Helvetica Neue Medium"/>
              </a:defRPr>
            </a:pPr>
            <a:endParaRPr dirty="0"/>
          </a:p>
        </p:txBody>
      </p:sp>
      <p:sp>
        <p:nvSpPr>
          <p:cNvPr id="10" name="Rectangle">
            <a:extLst>
              <a:ext uri="{FF2B5EF4-FFF2-40B4-BE49-F238E27FC236}">
                <a16:creationId xmlns:a16="http://schemas.microsoft.com/office/drawing/2014/main" id="{BC70C9D0-B65A-89C6-CF15-CACFD91EB0ED}"/>
              </a:ext>
            </a:extLst>
          </p:cNvPr>
          <p:cNvSpPr/>
          <p:nvPr userDrawn="1"/>
        </p:nvSpPr>
        <p:spPr>
          <a:xfrm>
            <a:off x="943056" y="4709179"/>
            <a:ext cx="495897" cy="94934"/>
          </a:xfrm>
          <a:prstGeom prst="rect">
            <a:avLst/>
          </a:prstGeom>
          <a:solidFill>
            <a:srgbClr val="E88B31"/>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p>
        </p:txBody>
      </p:sp>
      <p:pic>
        <p:nvPicPr>
          <p:cNvPr id="11" name="Image" descr="Image">
            <a:extLst>
              <a:ext uri="{FF2B5EF4-FFF2-40B4-BE49-F238E27FC236}">
                <a16:creationId xmlns:a16="http://schemas.microsoft.com/office/drawing/2014/main" id="{2B1F0579-5169-282C-2AEB-7451A83B05F4}"/>
              </a:ext>
            </a:extLst>
          </p:cNvPr>
          <p:cNvPicPr>
            <a:picLocks noChangeAspect="1"/>
          </p:cNvPicPr>
          <p:nvPr userDrawn="1"/>
        </p:nvPicPr>
        <p:blipFill>
          <a:blip r:embed="rId2"/>
          <a:stretch>
            <a:fillRect/>
          </a:stretch>
        </p:blipFill>
        <p:spPr>
          <a:xfrm>
            <a:off x="768008" y="2389152"/>
            <a:ext cx="845994" cy="1046690"/>
          </a:xfrm>
          <a:prstGeom prst="rect">
            <a:avLst/>
          </a:prstGeom>
          <a:ln w="12700">
            <a:miter lim="400000"/>
          </a:ln>
        </p:spPr>
      </p:pic>
      <p:sp>
        <p:nvSpPr>
          <p:cNvPr id="12" name="OUR GENESIS…">
            <a:extLst>
              <a:ext uri="{FF2B5EF4-FFF2-40B4-BE49-F238E27FC236}">
                <a16:creationId xmlns:a16="http://schemas.microsoft.com/office/drawing/2014/main" id="{7ED74C92-A597-3E01-BAA3-134431B4DB26}"/>
              </a:ext>
            </a:extLst>
          </p:cNvPr>
          <p:cNvSpPr txBox="1"/>
          <p:nvPr userDrawn="1"/>
        </p:nvSpPr>
        <p:spPr>
          <a:xfrm>
            <a:off x="530567" y="3429000"/>
            <a:ext cx="1320874" cy="7802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defTabSz="457200">
              <a:lnSpc>
                <a:spcPts val="6500"/>
              </a:lnSpc>
              <a:spcBef>
                <a:spcPts val="200"/>
              </a:spcBef>
              <a:defRPr sz="6500">
                <a:solidFill>
                  <a:srgbClr val="FFFFFF"/>
                </a:solidFill>
                <a:latin typeface="Futura Bold"/>
                <a:ea typeface="Futura Bold"/>
                <a:cs typeface="Futura Bold"/>
                <a:sym typeface="Futura Bold"/>
              </a:defRPr>
            </a:pPr>
            <a:r>
              <a:rPr lang="en-US" sz="1800" dirty="0">
                <a:latin typeface="Arial" panose="020B0604020202020204" pitchFamily="34" charset="0"/>
                <a:cs typeface="Arial" panose="020B0604020202020204" pitchFamily="34" charset="0"/>
              </a:rPr>
              <a:t>Click to Edit</a:t>
            </a:r>
            <a:endParaRPr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47034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BE546-9B2F-228E-9B1B-AB781215D196}"/>
              </a:ext>
            </a:extLst>
          </p:cNvPr>
          <p:cNvSpPr>
            <a:spLocks noGrp="1"/>
          </p:cNvSpPr>
          <p:nvPr>
            <p:ph type="title"/>
          </p:nvPr>
        </p:nvSpPr>
        <p:spPr>
          <a:xfrm>
            <a:off x="2856280" y="365125"/>
            <a:ext cx="8497519" cy="1325563"/>
          </a:xfrm>
        </p:spPr>
        <p:txBody>
          <a:bodyPr/>
          <a:lstStyle>
            <a:lvl1pPr>
              <a:defRPr>
                <a:latin typeface="Arial" panose="020B0604020202020204" pitchFamily="34" charset="0"/>
                <a:cs typeface="Arial" panose="020B0604020202020204" pitchFamily="34"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2181CF99-28CC-256D-4B28-D684863CA6BF}"/>
              </a:ext>
            </a:extLst>
          </p:cNvPr>
          <p:cNvSpPr>
            <a:spLocks noGrp="1"/>
          </p:cNvSpPr>
          <p:nvPr>
            <p:ph type="body" orient="vert" idx="1"/>
          </p:nvPr>
        </p:nvSpPr>
        <p:spPr>
          <a:xfrm>
            <a:off x="2751424" y="1838878"/>
            <a:ext cx="8497519" cy="4351338"/>
          </a:xfrm>
        </p:spPr>
        <p:txBody>
          <a:bodyPr vert="eaVert"/>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368D82-7176-C355-F19B-7C3DD7C88090}"/>
              </a:ext>
            </a:extLst>
          </p:cNvPr>
          <p:cNvSpPr>
            <a:spLocks noGrp="1"/>
          </p:cNvSpPr>
          <p:nvPr>
            <p:ph type="dt" sz="half" idx="10"/>
          </p:nvPr>
        </p:nvSpPr>
        <p:spPr>
          <a:xfrm>
            <a:off x="2107096" y="6356350"/>
            <a:ext cx="1474304" cy="365125"/>
          </a:xfrm>
        </p:spPr>
        <p:txBody>
          <a:bodyPr/>
          <a:lstStyle/>
          <a:p>
            <a:fld id="{4EC7EE4A-0837-B941-A614-D698F8CCA12B}" type="datetimeFigureOut">
              <a:rPr lang="en-US" smtClean="0"/>
              <a:t>6/13/2025</a:t>
            </a:fld>
            <a:endParaRPr lang="en-US" dirty="0"/>
          </a:p>
        </p:txBody>
      </p:sp>
      <p:sp>
        <p:nvSpPr>
          <p:cNvPr id="5" name="Footer Placeholder 4">
            <a:extLst>
              <a:ext uri="{FF2B5EF4-FFF2-40B4-BE49-F238E27FC236}">
                <a16:creationId xmlns:a16="http://schemas.microsoft.com/office/drawing/2014/main" id="{FB7078B5-31A7-A2F0-D0AA-227121C447D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3D02BC2-65C7-51EC-974B-7BD00349100A}"/>
              </a:ext>
            </a:extLst>
          </p:cNvPr>
          <p:cNvSpPr>
            <a:spLocks noGrp="1"/>
          </p:cNvSpPr>
          <p:nvPr>
            <p:ph type="sldNum" sz="quarter" idx="12"/>
          </p:nvPr>
        </p:nvSpPr>
        <p:spPr/>
        <p:txBody>
          <a:bodyPr/>
          <a:lstStyle/>
          <a:p>
            <a:fld id="{886E1D0F-AB40-B84A-BEFC-40059FDC5FDB}" type="slidenum">
              <a:rPr lang="en-US" smtClean="0"/>
              <a:t>‹#›</a:t>
            </a:fld>
            <a:endParaRPr lang="en-US" dirty="0"/>
          </a:p>
        </p:txBody>
      </p:sp>
      <p:sp>
        <p:nvSpPr>
          <p:cNvPr id="7" name="Rectangle">
            <a:extLst>
              <a:ext uri="{FF2B5EF4-FFF2-40B4-BE49-F238E27FC236}">
                <a16:creationId xmlns:a16="http://schemas.microsoft.com/office/drawing/2014/main" id="{C56B763D-5A27-9E16-002D-205F4D3B00B2}"/>
              </a:ext>
            </a:extLst>
          </p:cNvPr>
          <p:cNvSpPr/>
          <p:nvPr userDrawn="1"/>
        </p:nvSpPr>
        <p:spPr>
          <a:xfrm>
            <a:off x="381000" y="-6252"/>
            <a:ext cx="1620010" cy="6864252"/>
          </a:xfrm>
          <a:prstGeom prst="rect">
            <a:avLst/>
          </a:prstGeom>
          <a:solidFill>
            <a:srgbClr val="E88B31"/>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p>
        </p:txBody>
      </p:sp>
      <p:sp>
        <p:nvSpPr>
          <p:cNvPr id="8" name="Rectangle">
            <a:extLst>
              <a:ext uri="{FF2B5EF4-FFF2-40B4-BE49-F238E27FC236}">
                <a16:creationId xmlns:a16="http://schemas.microsoft.com/office/drawing/2014/main" id="{5D5E0DED-EB4C-55DC-0771-91935AB437FC}"/>
              </a:ext>
            </a:extLst>
          </p:cNvPr>
          <p:cNvSpPr/>
          <p:nvPr userDrawn="1"/>
        </p:nvSpPr>
        <p:spPr>
          <a:xfrm>
            <a:off x="-19498" y="2035445"/>
            <a:ext cx="2533482" cy="3040884"/>
          </a:xfrm>
          <a:prstGeom prst="rect">
            <a:avLst/>
          </a:prstGeom>
          <a:solidFill>
            <a:srgbClr val="595959"/>
          </a:solidFill>
          <a:ln w="12700">
            <a:miter lim="400000"/>
          </a:ln>
        </p:spPr>
        <p:txBody>
          <a:bodyPr lIns="50800" tIns="50800" rIns="50800" bIns="50800" anchor="ctr"/>
          <a:lstStyle/>
          <a:p>
            <a:pPr algn="r" defTabSz="825500">
              <a:defRPr sz="3200">
                <a:solidFill>
                  <a:srgbClr val="FFFFFF"/>
                </a:solidFill>
                <a:latin typeface="Helvetica Neue Medium"/>
                <a:ea typeface="Helvetica Neue Medium"/>
                <a:cs typeface="Helvetica Neue Medium"/>
                <a:sym typeface="Helvetica Neue Medium"/>
              </a:defRPr>
            </a:pPr>
            <a:endParaRPr dirty="0"/>
          </a:p>
        </p:txBody>
      </p:sp>
      <p:sp>
        <p:nvSpPr>
          <p:cNvPr id="9" name="Rectangle">
            <a:extLst>
              <a:ext uri="{FF2B5EF4-FFF2-40B4-BE49-F238E27FC236}">
                <a16:creationId xmlns:a16="http://schemas.microsoft.com/office/drawing/2014/main" id="{3E04FD5D-E7B8-7000-D89E-52E2399F7CF2}"/>
              </a:ext>
            </a:extLst>
          </p:cNvPr>
          <p:cNvSpPr/>
          <p:nvPr userDrawn="1"/>
        </p:nvSpPr>
        <p:spPr>
          <a:xfrm>
            <a:off x="943056" y="4709179"/>
            <a:ext cx="495897" cy="94934"/>
          </a:xfrm>
          <a:prstGeom prst="rect">
            <a:avLst/>
          </a:prstGeom>
          <a:solidFill>
            <a:srgbClr val="E88B31"/>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p>
        </p:txBody>
      </p:sp>
      <p:pic>
        <p:nvPicPr>
          <p:cNvPr id="10" name="Image" descr="Image">
            <a:extLst>
              <a:ext uri="{FF2B5EF4-FFF2-40B4-BE49-F238E27FC236}">
                <a16:creationId xmlns:a16="http://schemas.microsoft.com/office/drawing/2014/main" id="{AE6C84DB-9C1B-B877-FFC3-F9BCA094BD0A}"/>
              </a:ext>
            </a:extLst>
          </p:cNvPr>
          <p:cNvPicPr>
            <a:picLocks noChangeAspect="1"/>
          </p:cNvPicPr>
          <p:nvPr userDrawn="1"/>
        </p:nvPicPr>
        <p:blipFill>
          <a:blip r:embed="rId2"/>
          <a:stretch>
            <a:fillRect/>
          </a:stretch>
        </p:blipFill>
        <p:spPr>
          <a:xfrm>
            <a:off x="768008" y="2389152"/>
            <a:ext cx="845994" cy="1046690"/>
          </a:xfrm>
          <a:prstGeom prst="rect">
            <a:avLst/>
          </a:prstGeom>
          <a:ln w="12700">
            <a:miter lim="400000"/>
          </a:ln>
        </p:spPr>
      </p:pic>
      <p:sp>
        <p:nvSpPr>
          <p:cNvPr id="11" name="OUR GENESIS…">
            <a:extLst>
              <a:ext uri="{FF2B5EF4-FFF2-40B4-BE49-F238E27FC236}">
                <a16:creationId xmlns:a16="http://schemas.microsoft.com/office/drawing/2014/main" id="{8E41F788-59D9-1A9E-9872-C6A569FDE4AF}"/>
              </a:ext>
            </a:extLst>
          </p:cNvPr>
          <p:cNvSpPr txBox="1"/>
          <p:nvPr userDrawn="1"/>
        </p:nvSpPr>
        <p:spPr>
          <a:xfrm>
            <a:off x="530567" y="3429000"/>
            <a:ext cx="1320874" cy="7802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defTabSz="457200">
              <a:lnSpc>
                <a:spcPts val="6500"/>
              </a:lnSpc>
              <a:spcBef>
                <a:spcPts val="200"/>
              </a:spcBef>
              <a:defRPr sz="6500">
                <a:solidFill>
                  <a:srgbClr val="FFFFFF"/>
                </a:solidFill>
                <a:latin typeface="Futura Bold"/>
                <a:ea typeface="Futura Bold"/>
                <a:cs typeface="Futura Bold"/>
                <a:sym typeface="Futura Bold"/>
              </a:defRPr>
            </a:pPr>
            <a:r>
              <a:rPr lang="en-US" sz="1800" dirty="0">
                <a:latin typeface="Arial" panose="020B0604020202020204" pitchFamily="34" charset="0"/>
                <a:cs typeface="Arial" panose="020B0604020202020204" pitchFamily="34" charset="0"/>
              </a:rPr>
              <a:t>Click to Edit</a:t>
            </a:r>
            <a:endParaRPr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94360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C84CBF-F0C0-15A9-1878-2B47AC0EF712}"/>
              </a:ext>
            </a:extLst>
          </p:cNvPr>
          <p:cNvSpPr>
            <a:spLocks noGrp="1"/>
          </p:cNvSpPr>
          <p:nvPr>
            <p:ph type="title" orient="vert"/>
          </p:nvPr>
        </p:nvSpPr>
        <p:spPr>
          <a:xfrm>
            <a:off x="8724900" y="365125"/>
            <a:ext cx="2628900" cy="5811838"/>
          </a:xfrm>
        </p:spPr>
        <p:txBody>
          <a:bodyPr vert="eaVert"/>
          <a:lstStyle>
            <a:lvl1pPr>
              <a:defRPr>
                <a:latin typeface="Arial" panose="020B0604020202020204" pitchFamily="34" charset="0"/>
                <a:cs typeface="Arial" panose="020B0604020202020204" pitchFamily="34"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5AE970F1-C399-C4A1-8EB1-A335E8CA43D5}"/>
              </a:ext>
            </a:extLst>
          </p:cNvPr>
          <p:cNvSpPr>
            <a:spLocks noGrp="1"/>
          </p:cNvSpPr>
          <p:nvPr>
            <p:ph type="body" orient="vert" idx="1"/>
          </p:nvPr>
        </p:nvSpPr>
        <p:spPr>
          <a:xfrm>
            <a:off x="2751424" y="365125"/>
            <a:ext cx="5821075" cy="5811838"/>
          </a:xfrm>
        </p:spPr>
        <p:txBody>
          <a:bodyPr vert="eaVert"/>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5F97987-64E1-CFA5-0909-9665BFE444DD}"/>
              </a:ext>
            </a:extLst>
          </p:cNvPr>
          <p:cNvSpPr>
            <a:spLocks noGrp="1"/>
          </p:cNvSpPr>
          <p:nvPr>
            <p:ph type="dt" sz="half" idx="10"/>
          </p:nvPr>
        </p:nvSpPr>
        <p:spPr>
          <a:xfrm>
            <a:off x="2133600" y="6356350"/>
            <a:ext cx="1447800" cy="365125"/>
          </a:xfrm>
        </p:spPr>
        <p:txBody>
          <a:bodyPr/>
          <a:lstStyle/>
          <a:p>
            <a:fld id="{4EC7EE4A-0837-B941-A614-D698F8CCA12B}" type="datetimeFigureOut">
              <a:rPr lang="en-US" smtClean="0"/>
              <a:t>6/13/2025</a:t>
            </a:fld>
            <a:endParaRPr lang="en-US" dirty="0"/>
          </a:p>
        </p:txBody>
      </p:sp>
      <p:sp>
        <p:nvSpPr>
          <p:cNvPr id="5" name="Footer Placeholder 4">
            <a:extLst>
              <a:ext uri="{FF2B5EF4-FFF2-40B4-BE49-F238E27FC236}">
                <a16:creationId xmlns:a16="http://schemas.microsoft.com/office/drawing/2014/main" id="{A7427013-D0AE-4E43-F8CE-735CFA63F9F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02EC21F-EAF1-AB0C-42D9-BA322EE9349A}"/>
              </a:ext>
            </a:extLst>
          </p:cNvPr>
          <p:cNvSpPr>
            <a:spLocks noGrp="1"/>
          </p:cNvSpPr>
          <p:nvPr>
            <p:ph type="sldNum" sz="quarter" idx="12"/>
          </p:nvPr>
        </p:nvSpPr>
        <p:spPr/>
        <p:txBody>
          <a:bodyPr/>
          <a:lstStyle/>
          <a:p>
            <a:fld id="{886E1D0F-AB40-B84A-BEFC-40059FDC5FDB}" type="slidenum">
              <a:rPr lang="en-US" smtClean="0"/>
              <a:t>‹#›</a:t>
            </a:fld>
            <a:endParaRPr lang="en-US" dirty="0"/>
          </a:p>
        </p:txBody>
      </p:sp>
      <p:sp>
        <p:nvSpPr>
          <p:cNvPr id="7" name="Rectangle">
            <a:extLst>
              <a:ext uri="{FF2B5EF4-FFF2-40B4-BE49-F238E27FC236}">
                <a16:creationId xmlns:a16="http://schemas.microsoft.com/office/drawing/2014/main" id="{C1A9EC7C-C6A7-1A5A-5F0A-C7E94B0C887B}"/>
              </a:ext>
            </a:extLst>
          </p:cNvPr>
          <p:cNvSpPr/>
          <p:nvPr userDrawn="1"/>
        </p:nvSpPr>
        <p:spPr>
          <a:xfrm>
            <a:off x="381000" y="-6252"/>
            <a:ext cx="1620010" cy="6864252"/>
          </a:xfrm>
          <a:prstGeom prst="rect">
            <a:avLst/>
          </a:prstGeom>
          <a:solidFill>
            <a:srgbClr val="E88B31"/>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p>
        </p:txBody>
      </p:sp>
      <p:sp>
        <p:nvSpPr>
          <p:cNvPr id="8" name="Rectangle">
            <a:extLst>
              <a:ext uri="{FF2B5EF4-FFF2-40B4-BE49-F238E27FC236}">
                <a16:creationId xmlns:a16="http://schemas.microsoft.com/office/drawing/2014/main" id="{40392908-B2CB-5366-691D-93298F80A8A1}"/>
              </a:ext>
            </a:extLst>
          </p:cNvPr>
          <p:cNvSpPr/>
          <p:nvPr userDrawn="1"/>
        </p:nvSpPr>
        <p:spPr>
          <a:xfrm>
            <a:off x="-19498" y="2035445"/>
            <a:ext cx="2533482" cy="3040884"/>
          </a:xfrm>
          <a:prstGeom prst="rect">
            <a:avLst/>
          </a:prstGeom>
          <a:solidFill>
            <a:srgbClr val="595959"/>
          </a:solidFill>
          <a:ln w="12700">
            <a:miter lim="400000"/>
          </a:ln>
        </p:spPr>
        <p:txBody>
          <a:bodyPr lIns="50800" tIns="50800" rIns="50800" bIns="50800" anchor="ctr"/>
          <a:lstStyle/>
          <a:p>
            <a:pPr algn="r" defTabSz="825500">
              <a:defRPr sz="3200">
                <a:solidFill>
                  <a:srgbClr val="FFFFFF"/>
                </a:solidFill>
                <a:latin typeface="Helvetica Neue Medium"/>
                <a:ea typeface="Helvetica Neue Medium"/>
                <a:cs typeface="Helvetica Neue Medium"/>
                <a:sym typeface="Helvetica Neue Medium"/>
              </a:defRPr>
            </a:pPr>
            <a:endParaRPr dirty="0"/>
          </a:p>
        </p:txBody>
      </p:sp>
      <p:sp>
        <p:nvSpPr>
          <p:cNvPr id="9" name="Rectangle">
            <a:extLst>
              <a:ext uri="{FF2B5EF4-FFF2-40B4-BE49-F238E27FC236}">
                <a16:creationId xmlns:a16="http://schemas.microsoft.com/office/drawing/2014/main" id="{DCC39432-F9CA-90B7-856C-DC11BB902EC2}"/>
              </a:ext>
            </a:extLst>
          </p:cNvPr>
          <p:cNvSpPr/>
          <p:nvPr userDrawn="1"/>
        </p:nvSpPr>
        <p:spPr>
          <a:xfrm>
            <a:off x="943056" y="4709179"/>
            <a:ext cx="495897" cy="94934"/>
          </a:xfrm>
          <a:prstGeom prst="rect">
            <a:avLst/>
          </a:prstGeom>
          <a:solidFill>
            <a:srgbClr val="E88B31"/>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p>
        </p:txBody>
      </p:sp>
      <p:pic>
        <p:nvPicPr>
          <p:cNvPr id="10" name="Image" descr="Image">
            <a:extLst>
              <a:ext uri="{FF2B5EF4-FFF2-40B4-BE49-F238E27FC236}">
                <a16:creationId xmlns:a16="http://schemas.microsoft.com/office/drawing/2014/main" id="{B69E04C1-4C43-0B0E-7E4E-8438773253FB}"/>
              </a:ext>
            </a:extLst>
          </p:cNvPr>
          <p:cNvPicPr>
            <a:picLocks noChangeAspect="1"/>
          </p:cNvPicPr>
          <p:nvPr userDrawn="1"/>
        </p:nvPicPr>
        <p:blipFill>
          <a:blip r:embed="rId2"/>
          <a:stretch>
            <a:fillRect/>
          </a:stretch>
        </p:blipFill>
        <p:spPr>
          <a:xfrm>
            <a:off x="768008" y="2389152"/>
            <a:ext cx="845994" cy="1046690"/>
          </a:xfrm>
          <a:prstGeom prst="rect">
            <a:avLst/>
          </a:prstGeom>
          <a:ln w="12700">
            <a:miter lim="400000"/>
          </a:ln>
        </p:spPr>
      </p:pic>
      <p:sp>
        <p:nvSpPr>
          <p:cNvPr id="11" name="OUR GENESIS…">
            <a:extLst>
              <a:ext uri="{FF2B5EF4-FFF2-40B4-BE49-F238E27FC236}">
                <a16:creationId xmlns:a16="http://schemas.microsoft.com/office/drawing/2014/main" id="{3157D2AB-0040-0FCA-9E0E-7441A71F0EBD}"/>
              </a:ext>
            </a:extLst>
          </p:cNvPr>
          <p:cNvSpPr txBox="1"/>
          <p:nvPr userDrawn="1"/>
        </p:nvSpPr>
        <p:spPr>
          <a:xfrm>
            <a:off x="143560" y="3429000"/>
            <a:ext cx="2215327" cy="7802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pPr algn="ctr" defTabSz="457200">
              <a:lnSpc>
                <a:spcPts val="6500"/>
              </a:lnSpc>
              <a:spcBef>
                <a:spcPts val="200"/>
              </a:spcBef>
              <a:defRPr sz="6500">
                <a:solidFill>
                  <a:srgbClr val="FFFFFF"/>
                </a:solidFill>
                <a:latin typeface="Futura Bold"/>
                <a:ea typeface="Futura Bold"/>
                <a:cs typeface="Futura Bold"/>
                <a:sym typeface="Futura Bold"/>
              </a:defRPr>
            </a:pPr>
            <a:r>
              <a:rPr lang="en-US" sz="1800" dirty="0">
                <a:latin typeface="Arial" panose="020B0604020202020204" pitchFamily="34" charset="0"/>
                <a:cs typeface="Arial" panose="020B0604020202020204" pitchFamily="34" charset="0"/>
              </a:rPr>
              <a:t>Click to Edit</a:t>
            </a:r>
            <a:endParaRPr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3263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FDBC8A-0F4C-0B9D-C6C8-029025F898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4F8885F-A8B5-9A35-A23D-1860C53225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02813D-D86D-63F9-B518-B8AF94CB24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C7EE4A-0837-B941-A614-D698F8CCA12B}" type="datetimeFigureOut">
              <a:rPr lang="en-US" smtClean="0"/>
              <a:t>6/13/2025</a:t>
            </a:fld>
            <a:endParaRPr lang="en-US" dirty="0"/>
          </a:p>
        </p:txBody>
      </p:sp>
      <p:sp>
        <p:nvSpPr>
          <p:cNvPr id="5" name="Footer Placeholder 4">
            <a:extLst>
              <a:ext uri="{FF2B5EF4-FFF2-40B4-BE49-F238E27FC236}">
                <a16:creationId xmlns:a16="http://schemas.microsoft.com/office/drawing/2014/main" id="{A1D63364-A40D-F842-A0B8-41C11BB01A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34E44CF-821C-9FBC-7150-AD88683140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6E1D0F-AB40-B84A-BEFC-40059FDC5FDB}" type="slidenum">
              <a:rPr lang="en-US" smtClean="0"/>
              <a:t>‹#›</a:t>
            </a:fld>
            <a:endParaRPr lang="en-US" dirty="0"/>
          </a:p>
        </p:txBody>
      </p:sp>
    </p:spTree>
    <p:extLst>
      <p:ext uri="{BB962C8B-B14F-4D97-AF65-F5344CB8AC3E}">
        <p14:creationId xmlns:p14="http://schemas.microsoft.com/office/powerpoint/2010/main" val="32532049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 id="2147483659"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8" Type="http://schemas.openxmlformats.org/officeDocument/2006/relationships/customXml" Target="../ink/ink6.xml"/><Relationship Id="rId13" Type="http://schemas.openxmlformats.org/officeDocument/2006/relationships/image" Target="../media/image36.png"/><Relationship Id="rId3" Type="http://schemas.openxmlformats.org/officeDocument/2006/relationships/image" Target="../media/image120.png"/><Relationship Id="rId7" Type="http://schemas.openxmlformats.org/officeDocument/2006/relationships/customXml" Target="../ink/ink5.xml"/><Relationship Id="rId12" Type="http://schemas.openxmlformats.org/officeDocument/2006/relationships/customXml" Target="../ink/ink9.xml"/><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4.xml"/><Relationship Id="rId11" Type="http://schemas.openxmlformats.org/officeDocument/2006/relationships/customXml" Target="../ink/ink8.xml"/><Relationship Id="rId5" Type="http://schemas.openxmlformats.org/officeDocument/2006/relationships/customXml" Target="../ink/ink3.xml"/><Relationship Id="rId10" Type="http://schemas.openxmlformats.org/officeDocument/2006/relationships/image" Target="../media/image130.png"/><Relationship Id="rId4" Type="http://schemas.openxmlformats.org/officeDocument/2006/relationships/customXml" Target="../ink/ink2.xml"/><Relationship Id="rId9" Type="http://schemas.openxmlformats.org/officeDocument/2006/relationships/customXml" Target="../ink/ink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44937-20AC-1FDC-A528-B0D805B9BC04}"/>
              </a:ext>
            </a:extLst>
          </p:cNvPr>
          <p:cNvSpPr>
            <a:spLocks noGrp="1"/>
          </p:cNvSpPr>
          <p:nvPr>
            <p:ph type="ctrTitle"/>
          </p:nvPr>
        </p:nvSpPr>
        <p:spPr>
          <a:xfrm>
            <a:off x="2236989" y="4394382"/>
            <a:ext cx="9355016" cy="736829"/>
          </a:xfrm>
        </p:spPr>
        <p:txBody>
          <a:bodyPr>
            <a:normAutofit fontScale="90000"/>
          </a:bodyPr>
          <a:lstStyle/>
          <a:p>
            <a:br>
              <a:rPr kumimoji="0" lang="en-US" sz="4400" b="1" i="0" u="none" strike="noStrike" kern="0" cap="none" spc="0" normalizeH="0" baseline="0" noProof="0" dirty="0">
                <a:ln>
                  <a:noFill/>
                </a:ln>
                <a:solidFill>
                  <a:srgbClr val="1581AA"/>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rPr>
            </a:br>
            <a:br>
              <a:rPr kumimoji="0" lang="en-US" sz="4400" b="1" i="0" u="none" strike="noStrike" kern="0" cap="none" spc="0" normalizeH="0" baseline="0" noProof="0" dirty="0">
                <a:ln>
                  <a:noFill/>
                </a:ln>
                <a:solidFill>
                  <a:srgbClr val="1581AA"/>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rPr>
            </a:br>
            <a:r>
              <a:rPr kumimoji="0" lang="en-US" sz="4400" b="1" i="0" u="none" strike="noStrike" kern="0" cap="none" spc="0" normalizeH="0" baseline="0" noProof="0" dirty="0">
                <a:ln>
                  <a:noFill/>
                </a:ln>
                <a:solidFill>
                  <a:srgbClr val="1581AA"/>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rPr>
              <a:t>OPERATING SYSTEMS(</a:t>
            </a:r>
            <a:r>
              <a:rPr lang="en-US" b="1" kern="0" dirty="0">
                <a:solidFill>
                  <a:srgbClr val="1581AA"/>
                </a:solidFill>
                <a:latin typeface="Times New Roman" panose="02020603050405020304" pitchFamily="18" charset="0"/>
                <a:ea typeface="Calibri" panose="020F0502020204030204"/>
                <a:cs typeface="Times New Roman" panose="02020603050405020304" pitchFamily="18" charset="0"/>
                <a:sym typeface="Calibri" panose="020F0502020204030204"/>
              </a:rPr>
              <a:t>B</a:t>
            </a:r>
            <a:r>
              <a:rPr kumimoji="0" lang="en-US" sz="4400" b="1" i="0" u="none" strike="noStrike" kern="0" cap="none" spc="0" normalizeH="0" baseline="0" noProof="0" dirty="0">
                <a:ln>
                  <a:noFill/>
                </a:ln>
                <a:solidFill>
                  <a:srgbClr val="1581AA"/>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rPr>
              <a:t>CS303)</a:t>
            </a:r>
            <a:br>
              <a:rPr kumimoji="0" lang="en-US" sz="4400" b="1" i="0" u="none" strike="noStrike" kern="0" cap="none" spc="0" normalizeH="0" baseline="0" noProof="0" dirty="0">
                <a:ln>
                  <a:noFill/>
                </a:ln>
                <a:solidFill>
                  <a:srgbClr val="1581AA"/>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rPr>
            </a:br>
            <a:r>
              <a:rPr kumimoji="0" lang="en-US" sz="4400" b="1" i="0" u="none" strike="noStrike" kern="0" cap="none" spc="0" normalizeH="0" baseline="0" noProof="0" dirty="0">
                <a:ln>
                  <a:noFill/>
                </a:ln>
                <a:solidFill>
                  <a:srgbClr val="1581AA"/>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rPr>
              <a:t>Module 4</a:t>
            </a:r>
            <a:endParaRPr lang="en-US" dirty="0"/>
          </a:p>
        </p:txBody>
      </p:sp>
    </p:spTree>
    <p:extLst>
      <p:ext uri="{BB962C8B-B14F-4D97-AF65-F5344CB8AC3E}">
        <p14:creationId xmlns:p14="http://schemas.microsoft.com/office/powerpoint/2010/main" val="34606260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63711A-5653-D6D4-E0D2-3B90732CBE55}"/>
              </a:ext>
            </a:extLst>
          </p:cNvPr>
          <p:cNvSpPr>
            <a:spLocks noGrp="1"/>
          </p:cNvSpPr>
          <p:nvPr>
            <p:ph idx="1"/>
          </p:nvPr>
        </p:nvSpPr>
        <p:spPr>
          <a:xfrm>
            <a:off x="2558141" y="163285"/>
            <a:ext cx="9416143" cy="6531429"/>
          </a:xfrm>
        </p:spPr>
        <p:txBody>
          <a:bodyPr>
            <a:normAutofit/>
          </a:bodyPr>
          <a:lstStyle/>
          <a:p>
            <a:pPr marL="0" indent="0" algn="ctr">
              <a:lnSpc>
                <a:spcPct val="150000"/>
              </a:lnSpc>
              <a:buNone/>
            </a:pPr>
            <a:r>
              <a:rPr lang="en-US" sz="2400" b="1" dirty="0">
                <a:solidFill>
                  <a:srgbClr val="FF0000"/>
                </a:solidFill>
                <a:effectLst/>
                <a:latin typeface="+mn-lt"/>
                <a:ea typeface="Calibri" panose="020F0502020204030204" pitchFamily="34" charset="0"/>
                <a:cs typeface="Times New Roman" panose="02020603050405020304" pitchFamily="18" charset="0"/>
              </a:rPr>
              <a:t>Memory management </a:t>
            </a:r>
          </a:p>
          <a:p>
            <a:pPr marL="0" indent="0" algn="just">
              <a:lnSpc>
                <a:spcPct val="150000"/>
              </a:lnSpc>
              <a:buNone/>
            </a:pPr>
            <a:r>
              <a:rPr lang="en-US" sz="2400" dirty="0">
                <a:latin typeface="+mn-lt"/>
                <a:ea typeface="Calibri" panose="020F0502020204030204" pitchFamily="34" charset="0"/>
                <a:cs typeface="Times New Roman" panose="02020603050405020304" pitchFamily="18" charset="0"/>
              </a:rPr>
              <a:t>The main purpose of a computer system is to execute programs.</a:t>
            </a:r>
          </a:p>
          <a:p>
            <a:pPr marL="0" indent="0" algn="just">
              <a:lnSpc>
                <a:spcPct val="150000"/>
              </a:lnSpc>
              <a:buNone/>
            </a:pPr>
            <a:r>
              <a:rPr lang="en-US" sz="2400" dirty="0">
                <a:latin typeface="+mn-lt"/>
                <a:ea typeface="Calibri" panose="020F0502020204030204" pitchFamily="34" charset="0"/>
                <a:cs typeface="Times New Roman" panose="02020603050405020304" pitchFamily="18" charset="0"/>
              </a:rPr>
              <a:t>During execution, these programs, together with the data they access, must be in main memory (at least partially)</a:t>
            </a:r>
          </a:p>
          <a:p>
            <a:pPr marL="0" indent="0" algn="just">
              <a:lnSpc>
                <a:spcPct val="150000"/>
              </a:lnSpc>
              <a:buNone/>
            </a:pPr>
            <a:r>
              <a:rPr lang="en-US" sz="2400" dirty="0">
                <a:latin typeface="+mn-lt"/>
                <a:ea typeface="Calibri" panose="020F0502020204030204" pitchFamily="34" charset="0"/>
                <a:cs typeface="Times New Roman" panose="02020603050405020304" pitchFamily="18" charset="0"/>
              </a:rPr>
              <a:t>In CPU scheduling we showed how the CPU can be shared by a set of processes.</a:t>
            </a:r>
          </a:p>
          <a:p>
            <a:pPr marL="0" indent="0" algn="just">
              <a:lnSpc>
                <a:spcPct val="150000"/>
              </a:lnSpc>
              <a:buNone/>
            </a:pPr>
            <a:r>
              <a:rPr lang="en-US" sz="2400" dirty="0">
                <a:latin typeface="+mn-lt"/>
                <a:ea typeface="Calibri" panose="020F0502020204030204" pitchFamily="34" charset="0"/>
                <a:cs typeface="Times New Roman" panose="02020603050405020304" pitchFamily="18" charset="0"/>
              </a:rPr>
              <a:t>As a result of CPU scheduling CPU utilization, as well as speed of the computer’s response to its users could be improved.</a:t>
            </a:r>
          </a:p>
          <a:p>
            <a:pPr marL="0" indent="0" algn="just">
              <a:lnSpc>
                <a:spcPct val="150000"/>
              </a:lnSpc>
              <a:buNone/>
            </a:pPr>
            <a:r>
              <a:rPr lang="en-US" sz="2400" dirty="0">
                <a:latin typeface="+mn-lt"/>
                <a:ea typeface="Calibri" panose="020F0502020204030204" pitchFamily="34" charset="0"/>
                <a:cs typeface="Times New Roman" panose="02020603050405020304" pitchFamily="18" charset="0"/>
              </a:rPr>
              <a:t>To realize this increase in performance, however, we must keep several processes in memory that is, we must have shared memory.</a:t>
            </a:r>
          </a:p>
          <a:p>
            <a:pPr marL="0" indent="0">
              <a:lnSpc>
                <a:spcPct val="150000"/>
              </a:lnSpc>
              <a:buNone/>
            </a:pPr>
            <a:endParaRPr lang="en-IN" sz="2000" dirty="0">
              <a:effectLst/>
              <a:latin typeface="+mn-lt"/>
              <a:ea typeface="Calibri" panose="020F0502020204030204" pitchFamily="34" charset="0"/>
              <a:cs typeface="Times New Roman" panose="02020603050405020304" pitchFamily="18" charset="0"/>
            </a:endParaRPr>
          </a:p>
          <a:p>
            <a:pPr marL="0" indent="0" algn="just">
              <a:lnSpc>
                <a:spcPct val="150000"/>
              </a:lnSpc>
              <a:buNone/>
            </a:pPr>
            <a:endParaRPr lang="en-US" sz="2000" dirty="0">
              <a:latin typeface="+mn-lt"/>
              <a:ea typeface="Calibri" panose="020F0502020204030204" pitchFamily="34" charset="0"/>
              <a:cs typeface="Times New Roman" panose="02020603050405020304" pitchFamily="18" charset="0"/>
            </a:endParaRPr>
          </a:p>
          <a:p>
            <a:endParaRPr lang="en-IN" sz="2000" dirty="0">
              <a:latin typeface="+mn-lt"/>
            </a:endParaRPr>
          </a:p>
        </p:txBody>
      </p:sp>
      <p:sp>
        <p:nvSpPr>
          <p:cNvPr id="2" name="Google Shape;98;g2eff20282af_0_123">
            <a:extLst>
              <a:ext uri="{FF2B5EF4-FFF2-40B4-BE49-F238E27FC236}">
                <a16:creationId xmlns:a16="http://schemas.microsoft.com/office/drawing/2014/main" id="{C68A4DC2-663A-2723-1CB3-C9BD4DD3169B}"/>
              </a:ext>
            </a:extLst>
          </p:cNvPr>
          <p:cNvSpPr txBox="1"/>
          <p:nvPr/>
        </p:nvSpPr>
        <p:spPr>
          <a:xfrm>
            <a:off x="524064" y="3882568"/>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97976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63711A-5653-D6D4-E0D2-3B90732CBE55}"/>
              </a:ext>
            </a:extLst>
          </p:cNvPr>
          <p:cNvSpPr>
            <a:spLocks noGrp="1"/>
          </p:cNvSpPr>
          <p:nvPr>
            <p:ph idx="1"/>
          </p:nvPr>
        </p:nvSpPr>
        <p:spPr>
          <a:xfrm>
            <a:off x="2590799" y="141514"/>
            <a:ext cx="9416143" cy="6531429"/>
          </a:xfrm>
        </p:spPr>
        <p:txBody>
          <a:bodyPr>
            <a:normAutofit/>
          </a:bodyPr>
          <a:lstStyle/>
          <a:p>
            <a:pPr marL="0" indent="0" algn="ctr">
              <a:lnSpc>
                <a:spcPct val="150000"/>
              </a:lnSpc>
              <a:buNone/>
            </a:pPr>
            <a:r>
              <a:rPr lang="en-US" sz="2400" b="1" dirty="0">
                <a:solidFill>
                  <a:srgbClr val="FF0000"/>
                </a:solidFill>
                <a:effectLst/>
                <a:latin typeface="+mn-lt"/>
                <a:ea typeface="Calibri" panose="020F0502020204030204" pitchFamily="34" charset="0"/>
                <a:cs typeface="Times New Roman" panose="02020603050405020304" pitchFamily="18" charset="0"/>
              </a:rPr>
              <a:t>Main Memory </a:t>
            </a:r>
          </a:p>
          <a:p>
            <a:pPr marL="0" indent="0" algn="ctr">
              <a:lnSpc>
                <a:spcPct val="150000"/>
              </a:lnSpc>
              <a:buNone/>
            </a:pPr>
            <a:r>
              <a:rPr lang="en-US" sz="2400" b="1" dirty="0">
                <a:solidFill>
                  <a:srgbClr val="FF0000"/>
                </a:solidFill>
                <a:latin typeface="+mn-lt"/>
                <a:ea typeface="Calibri" panose="020F0502020204030204" pitchFamily="34" charset="0"/>
                <a:cs typeface="Times New Roman" panose="02020603050405020304" pitchFamily="18" charset="0"/>
              </a:rPr>
              <a:t>Basic Hardware</a:t>
            </a:r>
            <a:endParaRPr lang="en-US" sz="2400" b="1" dirty="0">
              <a:solidFill>
                <a:srgbClr val="FF0000"/>
              </a:solidFill>
              <a:effectLst/>
              <a:latin typeface="+mn-lt"/>
              <a:ea typeface="Calibri" panose="020F0502020204030204" pitchFamily="34" charset="0"/>
              <a:cs typeface="Times New Roman" panose="02020603050405020304" pitchFamily="18" charset="0"/>
            </a:endParaRPr>
          </a:p>
          <a:p>
            <a:pPr marL="0" indent="0" algn="just">
              <a:lnSpc>
                <a:spcPct val="150000"/>
              </a:lnSpc>
              <a:buNone/>
            </a:pPr>
            <a:r>
              <a:rPr lang="en-US" sz="2000" dirty="0">
                <a:effectLst/>
                <a:latin typeface="+mn-lt"/>
                <a:ea typeface="Calibri" panose="020F0502020204030204" pitchFamily="34" charset="0"/>
                <a:cs typeface="Times New Roman" panose="02020603050405020304" pitchFamily="18" charset="0"/>
              </a:rPr>
              <a:t>Memory consists of a large array of words or bytes, each with its own address. </a:t>
            </a:r>
          </a:p>
          <a:p>
            <a:pPr marL="0" indent="0" algn="just">
              <a:lnSpc>
                <a:spcPct val="150000"/>
              </a:lnSpc>
              <a:buNone/>
            </a:pPr>
            <a:r>
              <a:rPr lang="en-US" sz="2000" dirty="0">
                <a:effectLst/>
                <a:latin typeface="+mn-lt"/>
                <a:ea typeface="Calibri" panose="020F0502020204030204" pitchFamily="34" charset="0"/>
                <a:cs typeface="Times New Roman" panose="02020603050405020304" pitchFamily="18" charset="0"/>
              </a:rPr>
              <a:t>The CPU fetches instructions from memory according to the value of the program counter.</a:t>
            </a:r>
          </a:p>
          <a:p>
            <a:pPr marL="0" indent="0" algn="just">
              <a:lnSpc>
                <a:spcPct val="150000"/>
              </a:lnSpc>
              <a:buNone/>
            </a:pPr>
            <a:r>
              <a:rPr lang="en-US" sz="2000" dirty="0">
                <a:effectLst/>
                <a:latin typeface="+mn-lt"/>
                <a:ea typeface="Calibri" panose="020F0502020204030204" pitchFamily="34" charset="0"/>
                <a:cs typeface="Times New Roman" panose="02020603050405020304" pitchFamily="18" charset="0"/>
              </a:rPr>
              <a:t> These instructions may cause additional loading from and storing to specific memory addresses. </a:t>
            </a:r>
          </a:p>
          <a:p>
            <a:pPr marL="0" indent="0" algn="just">
              <a:lnSpc>
                <a:spcPct val="150000"/>
              </a:lnSpc>
              <a:buNone/>
            </a:pPr>
            <a:r>
              <a:rPr lang="en-US" sz="2000" dirty="0">
                <a:effectLst/>
                <a:latin typeface="+mn-lt"/>
                <a:ea typeface="Calibri" panose="020F0502020204030204" pitchFamily="34" charset="0"/>
                <a:cs typeface="Times New Roman" panose="02020603050405020304" pitchFamily="18" charset="0"/>
              </a:rPr>
              <a:t>A typical instruction-execution cycle first fetches an instruction from memory. </a:t>
            </a:r>
          </a:p>
          <a:p>
            <a:pPr marL="0" indent="0" algn="just">
              <a:lnSpc>
                <a:spcPct val="150000"/>
              </a:lnSpc>
              <a:buNone/>
            </a:pPr>
            <a:r>
              <a:rPr lang="en-US" sz="2000" dirty="0">
                <a:effectLst/>
                <a:latin typeface="+mn-lt"/>
                <a:ea typeface="Calibri" panose="020F0502020204030204" pitchFamily="34" charset="0"/>
                <a:cs typeface="Times New Roman" panose="02020603050405020304" pitchFamily="18" charset="0"/>
              </a:rPr>
              <a:t>The instruction is then decoded and may cause operands to be fetched from memory. After the instruction has been executed on the operands, results may be stored back in memory.</a:t>
            </a:r>
            <a:endParaRPr lang="en-IN" sz="2000" dirty="0">
              <a:effectLst/>
              <a:latin typeface="+mn-lt"/>
              <a:ea typeface="Calibri" panose="020F0502020204030204" pitchFamily="34" charset="0"/>
              <a:cs typeface="Times New Roman" panose="02020603050405020304" pitchFamily="18" charset="0"/>
            </a:endParaRPr>
          </a:p>
          <a:p>
            <a:endParaRPr lang="en-IN" sz="2000" dirty="0">
              <a:latin typeface="+mn-lt"/>
            </a:endParaRPr>
          </a:p>
        </p:txBody>
      </p:sp>
      <p:sp>
        <p:nvSpPr>
          <p:cNvPr id="2" name="Google Shape;98;g2eff20282af_0_123">
            <a:extLst>
              <a:ext uri="{FF2B5EF4-FFF2-40B4-BE49-F238E27FC236}">
                <a16:creationId xmlns:a16="http://schemas.microsoft.com/office/drawing/2014/main" id="{951A7919-AB02-F720-2FC9-00C4D55F15A7}"/>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647839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63711A-5653-D6D4-E0D2-3B90732CBE55}"/>
              </a:ext>
            </a:extLst>
          </p:cNvPr>
          <p:cNvSpPr>
            <a:spLocks noGrp="1"/>
          </p:cNvSpPr>
          <p:nvPr>
            <p:ph idx="1"/>
          </p:nvPr>
        </p:nvSpPr>
        <p:spPr>
          <a:xfrm>
            <a:off x="2590799" y="141514"/>
            <a:ext cx="9416143" cy="6531429"/>
          </a:xfrm>
        </p:spPr>
        <p:txBody>
          <a:bodyPr>
            <a:normAutofit/>
          </a:bodyPr>
          <a:lstStyle/>
          <a:p>
            <a:pPr marL="0" indent="0" algn="just">
              <a:lnSpc>
                <a:spcPct val="150000"/>
              </a:lnSpc>
              <a:buNone/>
            </a:pPr>
            <a:r>
              <a:rPr lang="en-US" sz="2000" dirty="0">
                <a:effectLst/>
                <a:latin typeface="+mn-lt"/>
                <a:ea typeface="Calibri" panose="020F0502020204030204" pitchFamily="34" charset="0"/>
              </a:rPr>
              <a:t>CPU can directly access only</a:t>
            </a:r>
            <a:r>
              <a:rPr lang="en-IN" sz="2000" dirty="0">
                <a:latin typeface="+mn-lt"/>
              </a:rPr>
              <a:t> </a:t>
            </a:r>
            <a:r>
              <a:rPr lang="en-US" sz="2000" dirty="0">
                <a:effectLst/>
                <a:latin typeface="+mn-lt"/>
                <a:ea typeface="Calibri" panose="020F0502020204030204" pitchFamily="34" charset="0"/>
              </a:rPr>
              <a:t>Main memory and the registers built into the processor.</a:t>
            </a:r>
          </a:p>
          <a:p>
            <a:pPr marL="0" indent="0" algn="just">
              <a:lnSpc>
                <a:spcPct val="150000"/>
              </a:lnSpc>
              <a:buNone/>
            </a:pPr>
            <a:r>
              <a:rPr lang="en-US" sz="2000" dirty="0">
                <a:latin typeface="+mn-lt"/>
                <a:ea typeface="Calibri" panose="020F0502020204030204" pitchFamily="34" charset="0"/>
              </a:rPr>
              <a:t>There are machine instructions that take memory addresses as arguments, but none that take disk addresses.</a:t>
            </a:r>
          </a:p>
          <a:p>
            <a:pPr marL="0" indent="0" algn="just">
              <a:lnSpc>
                <a:spcPct val="150000"/>
              </a:lnSpc>
              <a:buNone/>
            </a:pPr>
            <a:r>
              <a:rPr lang="en-US" sz="2000" dirty="0">
                <a:effectLst/>
                <a:latin typeface="+mn-lt"/>
                <a:ea typeface="Calibri" panose="020F0502020204030204" pitchFamily="34" charset="0"/>
              </a:rPr>
              <a:t>So, any instructions in execution, and any data being used by the instructions, must be in one of these direct access storage devices.</a:t>
            </a:r>
          </a:p>
          <a:p>
            <a:pPr marL="0" indent="0" algn="just">
              <a:lnSpc>
                <a:spcPct val="150000"/>
              </a:lnSpc>
              <a:buNone/>
            </a:pPr>
            <a:r>
              <a:rPr lang="en-US" sz="2000" dirty="0">
                <a:latin typeface="+mn-lt"/>
                <a:ea typeface="Calibri" panose="020F0502020204030204" pitchFamily="34" charset="0"/>
              </a:rPr>
              <a:t>If the data are not in memory, they must be moved there before the CPU can operate on them.</a:t>
            </a:r>
          </a:p>
          <a:p>
            <a:pPr marL="0" indent="0" algn="just">
              <a:lnSpc>
                <a:spcPct val="150000"/>
              </a:lnSpc>
              <a:buNone/>
            </a:pPr>
            <a:r>
              <a:rPr lang="en-US" sz="2000" dirty="0">
                <a:effectLst/>
                <a:latin typeface="+mn-lt"/>
                <a:ea typeface="Calibri" panose="020F0502020204030204" pitchFamily="34" charset="0"/>
              </a:rPr>
              <a:t>CPU Cycle Time for accessing memories</a:t>
            </a:r>
          </a:p>
          <a:p>
            <a:pPr marL="0" indent="0" algn="just">
              <a:lnSpc>
                <a:spcPct val="150000"/>
              </a:lnSpc>
              <a:buNone/>
            </a:pPr>
            <a:r>
              <a:rPr lang="en-US" sz="2000" dirty="0">
                <a:latin typeface="+mn-lt"/>
                <a:ea typeface="Calibri" panose="020F0502020204030204" pitchFamily="34" charset="0"/>
              </a:rPr>
              <a:t>Registers :- Accessible within one cycle of the CPU clock.</a:t>
            </a:r>
          </a:p>
          <a:p>
            <a:pPr marL="0" indent="0" algn="just">
              <a:lnSpc>
                <a:spcPct val="150000"/>
              </a:lnSpc>
              <a:buNone/>
            </a:pPr>
            <a:r>
              <a:rPr lang="en-US" sz="2000" dirty="0">
                <a:effectLst/>
                <a:latin typeface="+mn-lt"/>
                <a:ea typeface="Calibri" panose="020F0502020204030204" pitchFamily="34" charset="0"/>
              </a:rPr>
              <a:t>Most CPUs can decode instructions and perform simple operations on register content</a:t>
            </a:r>
            <a:r>
              <a:rPr lang="en-US" sz="2000" dirty="0">
                <a:latin typeface="+mn-lt"/>
                <a:ea typeface="Calibri" panose="020F0502020204030204" pitchFamily="34" charset="0"/>
              </a:rPr>
              <a:t>s at the rate of one or more operations per clock tick.</a:t>
            </a:r>
            <a:endParaRPr lang="en-US" sz="2000" dirty="0">
              <a:effectLst/>
              <a:latin typeface="+mn-lt"/>
              <a:ea typeface="Calibri" panose="020F0502020204030204" pitchFamily="34" charset="0"/>
            </a:endParaRPr>
          </a:p>
        </p:txBody>
      </p:sp>
      <p:sp>
        <p:nvSpPr>
          <p:cNvPr id="2" name="Google Shape;98;g2eff20282af_0_123">
            <a:extLst>
              <a:ext uri="{FF2B5EF4-FFF2-40B4-BE49-F238E27FC236}">
                <a16:creationId xmlns:a16="http://schemas.microsoft.com/office/drawing/2014/main" id="{E27BE0DA-54F7-7538-AD16-4B276691EDA0}"/>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93707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63711A-5653-D6D4-E0D2-3B90732CBE55}"/>
              </a:ext>
            </a:extLst>
          </p:cNvPr>
          <p:cNvSpPr>
            <a:spLocks noGrp="1"/>
          </p:cNvSpPr>
          <p:nvPr>
            <p:ph idx="1"/>
          </p:nvPr>
        </p:nvSpPr>
        <p:spPr>
          <a:xfrm>
            <a:off x="2590799" y="1225118"/>
            <a:ext cx="9416143" cy="4012707"/>
          </a:xfrm>
        </p:spPr>
        <p:txBody>
          <a:bodyPr>
            <a:normAutofit/>
          </a:bodyPr>
          <a:lstStyle/>
          <a:p>
            <a:pPr marL="0" indent="0" algn="just">
              <a:lnSpc>
                <a:spcPct val="150000"/>
              </a:lnSpc>
              <a:buNone/>
            </a:pPr>
            <a:r>
              <a:rPr lang="en-IN" sz="2000" dirty="0">
                <a:latin typeface="+mn-lt"/>
              </a:rPr>
              <a:t>Main Memory:- Access may take many cycles of the CPU clock to complete</a:t>
            </a:r>
          </a:p>
          <a:p>
            <a:pPr marL="0" indent="0" algn="just">
              <a:lnSpc>
                <a:spcPct val="150000"/>
              </a:lnSpc>
              <a:buNone/>
            </a:pPr>
            <a:r>
              <a:rPr lang="en-IN" sz="2000" dirty="0">
                <a:latin typeface="+mn-lt"/>
              </a:rPr>
              <a:t>In this case, the processor normally needs to stall, since it does not have the data required to complete the instruction that it is executing.</a:t>
            </a:r>
          </a:p>
          <a:p>
            <a:pPr marL="0" indent="0" algn="just">
              <a:lnSpc>
                <a:spcPct val="150000"/>
              </a:lnSpc>
              <a:buNone/>
            </a:pPr>
            <a:r>
              <a:rPr lang="en-IN" sz="2000" dirty="0">
                <a:latin typeface="+mn-lt"/>
              </a:rPr>
              <a:t>This situation is intolerable because of the frequency of memory accesses.</a:t>
            </a:r>
          </a:p>
          <a:p>
            <a:pPr marL="0" indent="0" algn="just">
              <a:lnSpc>
                <a:spcPct val="150000"/>
              </a:lnSpc>
              <a:buNone/>
            </a:pPr>
            <a:r>
              <a:rPr lang="en-IN" sz="2000" dirty="0">
                <a:latin typeface="+mn-lt"/>
              </a:rPr>
              <a:t>Remedy:- Add fast memory between the CPU and main memory. </a:t>
            </a:r>
          </a:p>
          <a:p>
            <a:pPr marL="0" indent="0" algn="just">
              <a:lnSpc>
                <a:spcPct val="150000"/>
              </a:lnSpc>
              <a:buNone/>
            </a:pPr>
            <a:r>
              <a:rPr lang="en-IN" sz="2000" dirty="0">
                <a:latin typeface="+mn-lt"/>
              </a:rPr>
              <a:t>A memory buffer used to accommodate a speed differential, called a cache.</a:t>
            </a:r>
          </a:p>
        </p:txBody>
      </p:sp>
      <p:sp>
        <p:nvSpPr>
          <p:cNvPr id="2" name="Google Shape;98;g2eff20282af_0_123">
            <a:extLst>
              <a:ext uri="{FF2B5EF4-FFF2-40B4-BE49-F238E27FC236}">
                <a16:creationId xmlns:a16="http://schemas.microsoft.com/office/drawing/2014/main" id="{5BB36378-2A25-6FD1-9211-0C731FDAD00E}"/>
              </a:ext>
            </a:extLst>
          </p:cNvPr>
          <p:cNvSpPr txBox="1"/>
          <p:nvPr/>
        </p:nvSpPr>
        <p:spPr>
          <a:xfrm>
            <a:off x="524064" y="3882568"/>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978691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63711A-5653-D6D4-E0D2-3B90732CBE55}"/>
              </a:ext>
            </a:extLst>
          </p:cNvPr>
          <p:cNvSpPr>
            <a:spLocks noGrp="1"/>
          </p:cNvSpPr>
          <p:nvPr>
            <p:ph idx="1"/>
          </p:nvPr>
        </p:nvSpPr>
        <p:spPr>
          <a:xfrm>
            <a:off x="2599677" y="754073"/>
            <a:ext cx="9416143" cy="4998657"/>
          </a:xfrm>
        </p:spPr>
        <p:txBody>
          <a:bodyPr>
            <a:normAutofit/>
          </a:bodyPr>
          <a:lstStyle/>
          <a:p>
            <a:pPr marL="0" indent="0" algn="just">
              <a:lnSpc>
                <a:spcPct val="150000"/>
              </a:lnSpc>
              <a:buNone/>
            </a:pPr>
            <a:r>
              <a:rPr lang="en-IN" sz="2000" b="1" dirty="0">
                <a:latin typeface="+mn-lt"/>
              </a:rPr>
              <a:t>Protection of OS from unauthorized access</a:t>
            </a:r>
          </a:p>
          <a:p>
            <a:pPr marL="0" indent="0" algn="just">
              <a:lnSpc>
                <a:spcPct val="150000"/>
              </a:lnSpc>
              <a:buNone/>
            </a:pPr>
            <a:r>
              <a:rPr lang="en-IN" sz="2000" dirty="0">
                <a:latin typeface="+mn-lt"/>
              </a:rPr>
              <a:t>The OS has to be protected from access by user processes.</a:t>
            </a:r>
          </a:p>
          <a:p>
            <a:pPr marL="0" indent="0" algn="just">
              <a:lnSpc>
                <a:spcPct val="150000"/>
              </a:lnSpc>
              <a:buNone/>
            </a:pPr>
            <a:r>
              <a:rPr lang="en-IN" sz="2000" dirty="0">
                <a:latin typeface="+mn-lt"/>
              </a:rPr>
              <a:t>In addition, user processes must be protected from one another.</a:t>
            </a:r>
          </a:p>
          <a:p>
            <a:pPr marL="0" indent="0" algn="just">
              <a:lnSpc>
                <a:spcPct val="150000"/>
              </a:lnSpc>
              <a:buNone/>
            </a:pPr>
            <a:r>
              <a:rPr lang="en-IN" sz="2000" dirty="0">
                <a:latin typeface="+mn-lt"/>
              </a:rPr>
              <a:t>This protection must be provided by the hardware. </a:t>
            </a:r>
          </a:p>
          <a:p>
            <a:pPr marL="0" indent="0" algn="just">
              <a:lnSpc>
                <a:spcPct val="150000"/>
              </a:lnSpc>
              <a:buNone/>
            </a:pPr>
            <a:r>
              <a:rPr lang="en-IN" sz="2000" dirty="0">
                <a:latin typeface="+mn-lt"/>
              </a:rPr>
              <a:t>This is done by ensuring that each process has a separate memory space.</a:t>
            </a:r>
          </a:p>
          <a:p>
            <a:pPr marL="0" indent="0" algn="just">
              <a:lnSpc>
                <a:spcPct val="150000"/>
              </a:lnSpc>
              <a:buNone/>
            </a:pPr>
            <a:r>
              <a:rPr lang="en-IN" sz="2000" dirty="0">
                <a:latin typeface="+mn-lt"/>
              </a:rPr>
              <a:t>To do this, we need the ability to determine the range of legal addresses that the process may access and to ensure that the process can access only these legal addresses.</a:t>
            </a:r>
          </a:p>
          <a:p>
            <a:pPr marL="0" indent="0" algn="just">
              <a:lnSpc>
                <a:spcPct val="150000"/>
              </a:lnSpc>
              <a:buNone/>
            </a:pPr>
            <a:r>
              <a:rPr lang="en-US" sz="2000" dirty="0">
                <a:effectLst/>
                <a:latin typeface="+mn-lt"/>
                <a:ea typeface="Calibri" panose="020F0502020204030204" pitchFamily="34" charset="0"/>
              </a:rPr>
              <a:t>This protection is provided by using two registers, usually a </a:t>
            </a:r>
            <a:r>
              <a:rPr lang="en-US" sz="2000" b="1" dirty="0">
                <a:effectLst/>
                <a:latin typeface="+mn-lt"/>
                <a:ea typeface="Calibri" panose="020F0502020204030204" pitchFamily="34" charset="0"/>
              </a:rPr>
              <a:t>base</a:t>
            </a:r>
            <a:r>
              <a:rPr lang="en-US" sz="2000" dirty="0">
                <a:effectLst/>
                <a:latin typeface="+mn-lt"/>
                <a:ea typeface="Calibri" panose="020F0502020204030204" pitchFamily="34" charset="0"/>
              </a:rPr>
              <a:t> and a </a:t>
            </a:r>
            <a:r>
              <a:rPr lang="en-US" sz="2000" b="1" dirty="0">
                <a:effectLst/>
                <a:latin typeface="+mn-lt"/>
                <a:ea typeface="Calibri" panose="020F0502020204030204" pitchFamily="34" charset="0"/>
              </a:rPr>
              <a:t>limit</a:t>
            </a:r>
            <a:r>
              <a:rPr lang="en-US" sz="2000" dirty="0">
                <a:effectLst/>
                <a:latin typeface="+mn-lt"/>
                <a:ea typeface="Calibri" panose="020F0502020204030204" pitchFamily="34" charset="0"/>
              </a:rPr>
              <a:t> </a:t>
            </a:r>
            <a:endParaRPr lang="en-IN" sz="2000" dirty="0">
              <a:latin typeface="+mn-lt"/>
            </a:endParaRPr>
          </a:p>
        </p:txBody>
      </p:sp>
      <p:sp>
        <p:nvSpPr>
          <p:cNvPr id="2" name="Google Shape;98;g2eff20282af_0_123">
            <a:extLst>
              <a:ext uri="{FF2B5EF4-FFF2-40B4-BE49-F238E27FC236}">
                <a16:creationId xmlns:a16="http://schemas.microsoft.com/office/drawing/2014/main" id="{D7D7FED4-9239-2F1C-8DBE-BBF59469B200}"/>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228921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a:extLst>
              <a:ext uri="{FF2B5EF4-FFF2-40B4-BE49-F238E27FC236}">
                <a16:creationId xmlns:a16="http://schemas.microsoft.com/office/drawing/2014/main" id="{69900809-3E41-D03D-2C50-FAE16BF22EF6}"/>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158342" y="671045"/>
            <a:ext cx="5290456" cy="4524613"/>
          </a:xfrm>
          <a:prstGeom prst="rect">
            <a:avLst/>
          </a:prstGeom>
          <a:noFill/>
          <a:ln>
            <a:noFill/>
          </a:ln>
        </p:spPr>
      </p:pic>
      <p:sp>
        <p:nvSpPr>
          <p:cNvPr id="5" name="TextBox 4">
            <a:extLst>
              <a:ext uri="{FF2B5EF4-FFF2-40B4-BE49-F238E27FC236}">
                <a16:creationId xmlns:a16="http://schemas.microsoft.com/office/drawing/2014/main" id="{8F4548BB-5B30-66D1-9920-CC5066C17BC9}"/>
              </a:ext>
            </a:extLst>
          </p:cNvPr>
          <p:cNvSpPr txBox="1"/>
          <p:nvPr/>
        </p:nvSpPr>
        <p:spPr>
          <a:xfrm>
            <a:off x="3750128" y="5399230"/>
            <a:ext cx="6106884" cy="400110"/>
          </a:xfrm>
          <a:prstGeom prst="rect">
            <a:avLst/>
          </a:prstGeom>
          <a:noFill/>
        </p:spPr>
        <p:txBody>
          <a:bodyPr wrap="square">
            <a:spAutoFit/>
          </a:bodyPr>
          <a:lstStyle/>
          <a:p>
            <a:r>
              <a:rPr lang="en-US" sz="2000" dirty="0">
                <a:effectLst/>
                <a:ea typeface="Calibri" panose="020F0502020204030204" pitchFamily="34" charset="0"/>
              </a:rPr>
              <a:t>A base and a limit register define a logical address space.</a:t>
            </a:r>
            <a:endParaRPr lang="en-IN" sz="2000" dirty="0"/>
          </a:p>
        </p:txBody>
      </p:sp>
      <p:sp>
        <p:nvSpPr>
          <p:cNvPr id="3" name="Google Shape;98;g2eff20282af_0_123">
            <a:extLst>
              <a:ext uri="{FF2B5EF4-FFF2-40B4-BE49-F238E27FC236}">
                <a16:creationId xmlns:a16="http://schemas.microsoft.com/office/drawing/2014/main" id="{22F469F1-3B72-D73D-8853-E911E761AD00}"/>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242906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63711A-5653-D6D4-E0D2-3B90732CBE55}"/>
              </a:ext>
            </a:extLst>
          </p:cNvPr>
          <p:cNvSpPr>
            <a:spLocks noGrp="1"/>
          </p:cNvSpPr>
          <p:nvPr>
            <p:ph idx="1"/>
          </p:nvPr>
        </p:nvSpPr>
        <p:spPr>
          <a:xfrm>
            <a:off x="2590799" y="141514"/>
            <a:ext cx="9416143" cy="6553200"/>
          </a:xfrm>
        </p:spPr>
        <p:txBody>
          <a:bodyPr>
            <a:normAutofit/>
          </a:bodyPr>
          <a:lstStyle/>
          <a:p>
            <a:pPr marL="0" indent="0" algn="just">
              <a:lnSpc>
                <a:spcPct val="150000"/>
              </a:lnSpc>
              <a:buNone/>
            </a:pPr>
            <a:r>
              <a:rPr lang="en-US" sz="2000">
                <a:effectLst/>
                <a:latin typeface="+mn-lt"/>
                <a:ea typeface="Calibri" panose="020F0502020204030204" pitchFamily="34" charset="0"/>
                <a:cs typeface="Times New Roman" panose="02020603050405020304" pitchFamily="18" charset="0"/>
              </a:rPr>
              <a:t>A base and a limit register define a logical address space.</a:t>
            </a:r>
          </a:p>
          <a:p>
            <a:pPr marL="0" indent="0" algn="just">
              <a:lnSpc>
                <a:spcPct val="150000"/>
              </a:lnSpc>
              <a:buNone/>
            </a:pPr>
            <a:r>
              <a:rPr lang="en-US" sz="2000">
                <a:effectLst/>
                <a:latin typeface="+mn-lt"/>
                <a:ea typeface="Calibri" panose="020F0502020204030204" pitchFamily="34" charset="0"/>
                <a:cs typeface="Times New Roman" panose="02020603050405020304" pitchFamily="18" charset="0"/>
              </a:rPr>
              <a:t>The </a:t>
            </a:r>
            <a:r>
              <a:rPr lang="en-US" sz="2000" b="1">
                <a:effectLst/>
                <a:latin typeface="+mn-lt"/>
                <a:ea typeface="Calibri" panose="020F0502020204030204" pitchFamily="34" charset="0"/>
                <a:cs typeface="Times New Roman" panose="02020603050405020304" pitchFamily="18" charset="0"/>
              </a:rPr>
              <a:t>base</a:t>
            </a:r>
            <a:r>
              <a:rPr lang="en-US" sz="2000">
                <a:effectLst/>
                <a:latin typeface="+mn-lt"/>
                <a:ea typeface="Calibri" panose="020F0502020204030204" pitchFamily="34" charset="0"/>
                <a:cs typeface="Times New Roman" panose="02020603050405020304" pitchFamily="18" charset="0"/>
              </a:rPr>
              <a:t> register holds the smallest legal physical memory address.</a:t>
            </a:r>
          </a:p>
          <a:p>
            <a:pPr marL="0" indent="0" algn="just">
              <a:lnSpc>
                <a:spcPct val="150000"/>
              </a:lnSpc>
              <a:buNone/>
            </a:pPr>
            <a:r>
              <a:rPr lang="en-US" sz="2000">
                <a:latin typeface="+mn-lt"/>
                <a:ea typeface="Calibri" panose="020F0502020204030204" pitchFamily="34" charset="0"/>
                <a:cs typeface="Times New Roman" panose="02020603050405020304" pitchFamily="18" charset="0"/>
              </a:rPr>
              <a:t>T</a:t>
            </a:r>
            <a:r>
              <a:rPr lang="en-US" sz="2000">
                <a:effectLst/>
                <a:latin typeface="+mn-lt"/>
                <a:ea typeface="Calibri" panose="020F0502020204030204" pitchFamily="34" charset="0"/>
                <a:cs typeface="Times New Roman" panose="02020603050405020304" pitchFamily="18" charset="0"/>
              </a:rPr>
              <a:t>he </a:t>
            </a:r>
            <a:r>
              <a:rPr lang="en-US" sz="2000" b="1">
                <a:effectLst/>
                <a:latin typeface="+mn-lt"/>
                <a:ea typeface="Calibri" panose="020F0502020204030204" pitchFamily="34" charset="0"/>
                <a:cs typeface="Times New Roman" panose="02020603050405020304" pitchFamily="18" charset="0"/>
              </a:rPr>
              <a:t>limit</a:t>
            </a:r>
            <a:r>
              <a:rPr lang="en-US" sz="2000">
                <a:effectLst/>
                <a:latin typeface="+mn-lt"/>
                <a:ea typeface="Calibri" panose="020F0502020204030204" pitchFamily="34" charset="0"/>
                <a:cs typeface="Times New Roman" panose="02020603050405020304" pitchFamily="18" charset="0"/>
              </a:rPr>
              <a:t> register specifies the size of the range. </a:t>
            </a:r>
          </a:p>
          <a:p>
            <a:pPr marL="0" indent="0" algn="just">
              <a:lnSpc>
                <a:spcPct val="150000"/>
              </a:lnSpc>
              <a:buNone/>
            </a:pPr>
            <a:r>
              <a:rPr lang="en-US" sz="2000">
                <a:effectLst/>
                <a:latin typeface="+mn-lt"/>
                <a:ea typeface="Calibri" panose="020F0502020204030204" pitchFamily="34" charset="0"/>
                <a:cs typeface="Times New Roman" panose="02020603050405020304" pitchFamily="18" charset="0"/>
              </a:rPr>
              <a:t>For example, if the base register holds 300040 and the limit register is 120900, then the program can legally access all addresses from 300040 through 420939 (inclusive).</a:t>
            </a:r>
            <a:endParaRPr lang="en-IN" sz="2000">
              <a:effectLst/>
              <a:latin typeface="+mn-lt"/>
              <a:ea typeface="Calibri" panose="020F0502020204030204" pitchFamily="34" charset="0"/>
              <a:cs typeface="Times New Roman" panose="02020603050405020304" pitchFamily="18" charset="0"/>
            </a:endParaRPr>
          </a:p>
          <a:p>
            <a:pPr marL="0" indent="0">
              <a:buNone/>
            </a:pPr>
            <a:endParaRPr lang="en-IN" sz="2000" dirty="0">
              <a:latin typeface="+mn-lt"/>
            </a:endParaRPr>
          </a:p>
        </p:txBody>
      </p:sp>
      <p:pic>
        <p:nvPicPr>
          <p:cNvPr id="2" name="Picture 1">
            <a:extLst>
              <a:ext uri="{FF2B5EF4-FFF2-40B4-BE49-F238E27FC236}">
                <a16:creationId xmlns:a16="http://schemas.microsoft.com/office/drawing/2014/main" id="{012382E8-103D-52DD-7527-182B6A5693A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41172" y="2906486"/>
            <a:ext cx="8577942" cy="3494314"/>
          </a:xfrm>
          <a:prstGeom prst="rect">
            <a:avLst/>
          </a:prstGeom>
          <a:noFill/>
          <a:ln>
            <a:noFill/>
          </a:ln>
        </p:spPr>
      </p:pic>
      <p:sp>
        <p:nvSpPr>
          <p:cNvPr id="5" name="TextBox 4">
            <a:extLst>
              <a:ext uri="{FF2B5EF4-FFF2-40B4-BE49-F238E27FC236}">
                <a16:creationId xmlns:a16="http://schemas.microsoft.com/office/drawing/2014/main" id="{BC3A35EA-1FE1-B950-D233-FC865BFD9198}"/>
              </a:ext>
            </a:extLst>
          </p:cNvPr>
          <p:cNvSpPr txBox="1"/>
          <p:nvPr/>
        </p:nvSpPr>
        <p:spPr>
          <a:xfrm>
            <a:off x="1665515" y="6295665"/>
            <a:ext cx="10526485" cy="506292"/>
          </a:xfrm>
          <a:prstGeom prst="rect">
            <a:avLst/>
          </a:prstGeom>
          <a:noFill/>
        </p:spPr>
        <p:txBody>
          <a:bodyPr wrap="square">
            <a:spAutoFit/>
          </a:bodyPr>
          <a:lstStyle/>
          <a:p>
            <a:pPr algn="ctr">
              <a:lnSpc>
                <a:spcPct val="150000"/>
              </a:lnSpc>
              <a:spcAft>
                <a:spcPts val="800"/>
              </a:spcAft>
            </a:pPr>
            <a:r>
              <a:rPr lang="en-US" sz="2000" dirty="0">
                <a:effectLst/>
                <a:ea typeface="Calibri" panose="020F0502020204030204" pitchFamily="34" charset="0"/>
                <a:cs typeface="Times New Roman" panose="02020603050405020304" pitchFamily="18" charset="0"/>
              </a:rPr>
              <a:t>Hardware address protection with base and limit registers</a:t>
            </a:r>
            <a:endParaRPr lang="en-IN" sz="1600" dirty="0">
              <a:effectLst/>
              <a:ea typeface="Calibri" panose="020F0502020204030204" pitchFamily="34" charset="0"/>
              <a:cs typeface="Times New Roman" panose="02020603050405020304" pitchFamily="18" charset="0"/>
            </a:endParaRPr>
          </a:p>
        </p:txBody>
      </p:sp>
      <p:sp>
        <p:nvSpPr>
          <p:cNvPr id="4" name="Google Shape;98;g2eff20282af_0_123">
            <a:extLst>
              <a:ext uri="{FF2B5EF4-FFF2-40B4-BE49-F238E27FC236}">
                <a16:creationId xmlns:a16="http://schemas.microsoft.com/office/drawing/2014/main" id="{29B67651-5705-E810-F21A-C74A4AD2E71D}"/>
              </a:ext>
            </a:extLst>
          </p:cNvPr>
          <p:cNvSpPr txBox="1"/>
          <p:nvPr/>
        </p:nvSpPr>
        <p:spPr>
          <a:xfrm>
            <a:off x="524064" y="3882568"/>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519052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63711A-5653-D6D4-E0D2-3B90732CBE55}"/>
              </a:ext>
            </a:extLst>
          </p:cNvPr>
          <p:cNvSpPr>
            <a:spLocks noGrp="1"/>
          </p:cNvSpPr>
          <p:nvPr>
            <p:ph idx="1"/>
          </p:nvPr>
        </p:nvSpPr>
        <p:spPr>
          <a:xfrm>
            <a:off x="2635187" y="1364677"/>
            <a:ext cx="9481458" cy="4128645"/>
          </a:xfrm>
        </p:spPr>
        <p:txBody>
          <a:bodyPr>
            <a:normAutofit/>
          </a:bodyPr>
          <a:lstStyle/>
          <a:p>
            <a:pPr marL="0" indent="0" algn="just">
              <a:lnSpc>
                <a:spcPct val="150000"/>
              </a:lnSpc>
              <a:spcAft>
                <a:spcPts val="800"/>
              </a:spcAft>
              <a:buNone/>
            </a:pPr>
            <a:r>
              <a:rPr lang="en-US" sz="2000" dirty="0">
                <a:effectLst/>
                <a:latin typeface="+mn-lt"/>
                <a:ea typeface="Calibri" panose="020F0502020204030204" pitchFamily="34" charset="0"/>
                <a:cs typeface="Times New Roman" panose="02020603050405020304" pitchFamily="18" charset="0"/>
              </a:rPr>
              <a:t>The base and limit registers can be loaded only by the operating system, which uses a special privileged instruction. </a:t>
            </a:r>
          </a:p>
          <a:p>
            <a:pPr marL="0" indent="0" algn="just">
              <a:lnSpc>
                <a:spcPct val="150000"/>
              </a:lnSpc>
              <a:buNone/>
            </a:pPr>
            <a:r>
              <a:rPr lang="en-IN" sz="2000" dirty="0">
                <a:latin typeface="+mn-lt"/>
              </a:rPr>
              <a:t>Since privileged instructions can be executed only in kernel mode, and since only the operating system executes in kernel mode, only the operating system can load the base and limit registers.</a:t>
            </a:r>
          </a:p>
          <a:p>
            <a:pPr marL="0" indent="0" algn="just">
              <a:lnSpc>
                <a:spcPct val="150000"/>
              </a:lnSpc>
              <a:buNone/>
            </a:pPr>
            <a:r>
              <a:rPr lang="en-IN" sz="2000" dirty="0">
                <a:latin typeface="+mn-lt"/>
              </a:rPr>
              <a:t>This scheme allows the OS to change the value of the registers but prevents user programs from changing the registers contents.</a:t>
            </a:r>
          </a:p>
        </p:txBody>
      </p:sp>
      <p:sp>
        <p:nvSpPr>
          <p:cNvPr id="2" name="Google Shape;98;g2eff20282af_0_123">
            <a:extLst>
              <a:ext uri="{FF2B5EF4-FFF2-40B4-BE49-F238E27FC236}">
                <a16:creationId xmlns:a16="http://schemas.microsoft.com/office/drawing/2014/main" id="{82C0A259-E8FF-1F32-31B0-089526E8FBD0}"/>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777240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63711A-5653-D6D4-E0D2-3B90732CBE55}"/>
              </a:ext>
            </a:extLst>
          </p:cNvPr>
          <p:cNvSpPr>
            <a:spLocks noGrp="1"/>
          </p:cNvSpPr>
          <p:nvPr>
            <p:ph idx="1"/>
          </p:nvPr>
        </p:nvSpPr>
        <p:spPr>
          <a:xfrm>
            <a:off x="2590799" y="141514"/>
            <a:ext cx="9416143" cy="6531429"/>
          </a:xfrm>
        </p:spPr>
        <p:txBody>
          <a:bodyPr>
            <a:normAutofit/>
          </a:bodyPr>
          <a:lstStyle/>
          <a:p>
            <a:pPr marL="0" indent="0" algn="just">
              <a:lnSpc>
                <a:spcPct val="150000"/>
              </a:lnSpc>
              <a:buNone/>
            </a:pPr>
            <a:r>
              <a:rPr lang="en-US" sz="2000" b="1" dirty="0">
                <a:solidFill>
                  <a:srgbClr val="0000FF"/>
                </a:solidFill>
                <a:effectLst/>
                <a:latin typeface="+mn-lt"/>
                <a:ea typeface="Calibri" panose="020F0502020204030204" pitchFamily="34" charset="0"/>
                <a:cs typeface="Times New Roman" panose="02020603050405020304" pitchFamily="18" charset="0"/>
              </a:rPr>
              <a:t>Address binding</a:t>
            </a:r>
            <a:endParaRPr lang="en-IN" sz="2000" dirty="0">
              <a:solidFill>
                <a:srgbClr val="0000FF"/>
              </a:solidFill>
              <a:effectLst/>
              <a:latin typeface="+mn-lt"/>
              <a:ea typeface="Calibri" panose="020F0502020204030204" pitchFamily="34" charset="0"/>
              <a:cs typeface="Times New Roman" panose="02020603050405020304" pitchFamily="18" charset="0"/>
            </a:endParaRPr>
          </a:p>
          <a:p>
            <a:pPr marL="0" indent="0" algn="just">
              <a:lnSpc>
                <a:spcPct val="150000"/>
              </a:lnSpc>
              <a:buNone/>
            </a:pPr>
            <a:r>
              <a:rPr lang="en-US" sz="2000" dirty="0">
                <a:effectLst/>
                <a:latin typeface="+mn-lt"/>
                <a:ea typeface="Calibri" panose="020F0502020204030204" pitchFamily="34" charset="0"/>
                <a:cs typeface="Times New Roman" panose="02020603050405020304" pitchFamily="18" charset="0"/>
              </a:rPr>
              <a:t>Usually, a program resides on a disk as a binary executable file. </a:t>
            </a:r>
          </a:p>
          <a:p>
            <a:pPr marL="0" indent="0" algn="just">
              <a:lnSpc>
                <a:spcPct val="150000"/>
              </a:lnSpc>
              <a:buNone/>
            </a:pPr>
            <a:r>
              <a:rPr lang="en-US" sz="2000" dirty="0">
                <a:effectLst/>
                <a:latin typeface="+mn-lt"/>
                <a:ea typeface="Calibri" panose="020F0502020204030204" pitchFamily="34" charset="0"/>
                <a:cs typeface="Times New Roman" panose="02020603050405020304" pitchFamily="18" charset="0"/>
              </a:rPr>
              <a:t>To be executed, the program must be brought into memory and placed within a process. Depending on the memory management in use, the process may be moved between disk and memory during its execution. </a:t>
            </a:r>
          </a:p>
          <a:p>
            <a:pPr marL="0" indent="0" algn="just">
              <a:lnSpc>
                <a:spcPct val="150000"/>
              </a:lnSpc>
              <a:buNone/>
            </a:pPr>
            <a:r>
              <a:rPr lang="en-US" sz="2000" dirty="0">
                <a:effectLst/>
                <a:latin typeface="+mn-lt"/>
                <a:ea typeface="Calibri" panose="020F0502020204030204" pitchFamily="34" charset="0"/>
                <a:cs typeface="Times New Roman" panose="02020603050405020304" pitchFamily="18" charset="0"/>
              </a:rPr>
              <a:t>The processes on the disk that are waiting to be brought into memory for execution form the input queue. </a:t>
            </a:r>
          </a:p>
          <a:p>
            <a:pPr marL="0" indent="0" algn="just">
              <a:lnSpc>
                <a:spcPct val="150000"/>
              </a:lnSpc>
              <a:buNone/>
            </a:pPr>
            <a:r>
              <a:rPr lang="en-US" sz="2000" dirty="0">
                <a:solidFill>
                  <a:srgbClr val="0000FF"/>
                </a:solidFill>
                <a:latin typeface="+mn-lt"/>
                <a:ea typeface="Calibri" panose="020F0502020204030204" pitchFamily="34" charset="0"/>
                <a:cs typeface="Times New Roman" panose="02020603050405020304" pitchFamily="18" charset="0"/>
              </a:rPr>
              <a:t>Input queue </a:t>
            </a:r>
            <a:r>
              <a:rPr lang="en-US" sz="2000" dirty="0">
                <a:solidFill>
                  <a:srgbClr val="0000FF"/>
                </a:solidFill>
                <a:latin typeface="Aptos Display" panose="020B0004020202020204" pitchFamily="34" charset="0"/>
                <a:ea typeface="Calibri" panose="020F0502020204030204" pitchFamily="34" charset="0"/>
                <a:cs typeface="Times New Roman" panose="02020603050405020304" pitchFamily="18" charset="0"/>
              </a:rPr>
              <a:t>→</a:t>
            </a:r>
            <a:r>
              <a:rPr lang="en-US" sz="2000" dirty="0">
                <a:solidFill>
                  <a:srgbClr val="0000FF"/>
                </a:solidFill>
                <a:latin typeface="+mn-lt"/>
                <a:ea typeface="Calibri" panose="020F0502020204030204" pitchFamily="34" charset="0"/>
                <a:cs typeface="Times New Roman" panose="02020603050405020304" pitchFamily="18" charset="0"/>
              </a:rPr>
              <a:t> Select a process </a:t>
            </a:r>
            <a:r>
              <a:rPr lang="en-US" sz="2000" dirty="0">
                <a:solidFill>
                  <a:srgbClr val="0000FF"/>
                </a:solidFill>
                <a:latin typeface="Aptos Display" panose="020B0004020202020204" pitchFamily="34" charset="0"/>
                <a:ea typeface="Calibri" panose="020F0502020204030204" pitchFamily="34" charset="0"/>
                <a:cs typeface="Times New Roman" panose="02020603050405020304" pitchFamily="18" charset="0"/>
              </a:rPr>
              <a:t>→</a:t>
            </a:r>
            <a:r>
              <a:rPr lang="en-US" sz="2000" dirty="0">
                <a:solidFill>
                  <a:srgbClr val="0000FF"/>
                </a:solidFill>
                <a:latin typeface="+mn-lt"/>
                <a:ea typeface="Calibri" panose="020F0502020204030204" pitchFamily="34" charset="0"/>
                <a:cs typeface="Times New Roman" panose="02020603050405020304" pitchFamily="18" charset="0"/>
              </a:rPr>
              <a:t> Loads it into memory </a:t>
            </a:r>
            <a:r>
              <a:rPr lang="en-US" sz="2000" dirty="0">
                <a:solidFill>
                  <a:srgbClr val="0000FF"/>
                </a:solidFill>
                <a:latin typeface="Aptos Display" panose="020B0004020202020204" pitchFamily="34" charset="0"/>
                <a:ea typeface="Calibri" panose="020F0502020204030204" pitchFamily="34" charset="0"/>
                <a:cs typeface="Times New Roman" panose="02020603050405020304" pitchFamily="18" charset="0"/>
              </a:rPr>
              <a:t>→</a:t>
            </a:r>
            <a:r>
              <a:rPr lang="en-US" sz="2000" dirty="0">
                <a:solidFill>
                  <a:srgbClr val="0000FF"/>
                </a:solidFill>
                <a:latin typeface="+mn-lt"/>
                <a:ea typeface="Calibri" panose="020F0502020204030204" pitchFamily="34" charset="0"/>
                <a:cs typeface="Times New Roman" panose="02020603050405020304" pitchFamily="18" charset="0"/>
              </a:rPr>
              <a:t>  Executes and accesses instructions and data from memory </a:t>
            </a:r>
            <a:r>
              <a:rPr lang="en-US" sz="2000" dirty="0">
                <a:solidFill>
                  <a:srgbClr val="0000FF"/>
                </a:solidFill>
                <a:latin typeface="Aptos Display" panose="020B0004020202020204" pitchFamily="34" charset="0"/>
                <a:ea typeface="Calibri" panose="020F0502020204030204" pitchFamily="34" charset="0"/>
                <a:cs typeface="Times New Roman" panose="02020603050405020304" pitchFamily="18" charset="0"/>
              </a:rPr>
              <a:t>→</a:t>
            </a:r>
            <a:r>
              <a:rPr lang="en-US" sz="2000" dirty="0">
                <a:solidFill>
                  <a:srgbClr val="0000FF"/>
                </a:solidFill>
                <a:latin typeface="+mn-lt"/>
                <a:ea typeface="Calibri" panose="020F0502020204030204" pitchFamily="34" charset="0"/>
                <a:cs typeface="Times New Roman" panose="02020603050405020304" pitchFamily="18" charset="0"/>
              </a:rPr>
              <a:t> Process terminates  </a:t>
            </a:r>
            <a:r>
              <a:rPr lang="en-US" sz="2000" dirty="0">
                <a:solidFill>
                  <a:srgbClr val="0000FF"/>
                </a:solidFill>
                <a:latin typeface="Aptos Display" panose="020B0004020202020204" pitchFamily="34" charset="0"/>
                <a:ea typeface="Calibri" panose="020F0502020204030204" pitchFamily="34" charset="0"/>
                <a:cs typeface="Times New Roman" panose="02020603050405020304" pitchFamily="18" charset="0"/>
              </a:rPr>
              <a:t>→ </a:t>
            </a:r>
            <a:r>
              <a:rPr lang="en-US" sz="2000" dirty="0">
                <a:solidFill>
                  <a:srgbClr val="0000FF"/>
                </a:solidFill>
                <a:latin typeface="+mn-lt"/>
                <a:ea typeface="Calibri" panose="020F0502020204030204" pitchFamily="34" charset="0"/>
                <a:cs typeface="Times New Roman" panose="02020603050405020304" pitchFamily="18" charset="0"/>
              </a:rPr>
              <a:t>Memory space is declared available</a:t>
            </a:r>
            <a:endParaRPr lang="en-IN" sz="2000" dirty="0">
              <a:solidFill>
                <a:srgbClr val="0000FF"/>
              </a:solidFill>
              <a:effectLst/>
              <a:latin typeface="+mn-lt"/>
              <a:ea typeface="Calibri" panose="020F0502020204030204" pitchFamily="34" charset="0"/>
              <a:cs typeface="Times New Roman" panose="02020603050405020304" pitchFamily="18" charset="0"/>
            </a:endParaRPr>
          </a:p>
          <a:p>
            <a:endParaRPr lang="en-IN" sz="2000" dirty="0">
              <a:latin typeface="+mn-lt"/>
            </a:endParaRPr>
          </a:p>
        </p:txBody>
      </p:sp>
      <p:sp>
        <p:nvSpPr>
          <p:cNvPr id="2" name="Google Shape;98;g2eff20282af_0_123">
            <a:extLst>
              <a:ext uri="{FF2B5EF4-FFF2-40B4-BE49-F238E27FC236}">
                <a16:creationId xmlns:a16="http://schemas.microsoft.com/office/drawing/2014/main" id="{919C12F6-3F61-8364-33BC-9AE8F342FD96}"/>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451249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63711A-5653-D6D4-E0D2-3B90732CBE55}"/>
              </a:ext>
            </a:extLst>
          </p:cNvPr>
          <p:cNvSpPr>
            <a:spLocks noGrp="1"/>
          </p:cNvSpPr>
          <p:nvPr>
            <p:ph idx="1"/>
          </p:nvPr>
        </p:nvSpPr>
        <p:spPr>
          <a:xfrm>
            <a:off x="2590799" y="141514"/>
            <a:ext cx="9416143" cy="6531429"/>
          </a:xfrm>
        </p:spPr>
        <p:txBody>
          <a:bodyPr>
            <a:normAutofit/>
          </a:bodyPr>
          <a:lstStyle/>
          <a:p>
            <a:pPr marL="0" indent="0" algn="just">
              <a:lnSpc>
                <a:spcPct val="150000"/>
              </a:lnSpc>
              <a:buNone/>
            </a:pPr>
            <a:r>
              <a:rPr lang="en-US" sz="2000" dirty="0">
                <a:effectLst/>
                <a:latin typeface="+mn-lt"/>
                <a:ea typeface="Calibri" panose="020F0502020204030204" pitchFamily="34" charset="0"/>
              </a:rPr>
              <a:t>Most systems allow a user process to reside in any part of the physical memory. </a:t>
            </a:r>
          </a:p>
          <a:p>
            <a:pPr marL="0" indent="0" algn="just">
              <a:lnSpc>
                <a:spcPct val="150000"/>
              </a:lnSpc>
              <a:buNone/>
            </a:pPr>
            <a:r>
              <a:rPr lang="en-US" sz="2000" dirty="0">
                <a:effectLst/>
                <a:latin typeface="+mn-lt"/>
                <a:ea typeface="Calibri" panose="020F0502020204030204" pitchFamily="34" charset="0"/>
              </a:rPr>
              <a:t>Though address space of the computer starts at 00000, the first address of the user </a:t>
            </a:r>
            <a:r>
              <a:rPr lang="en-US" sz="2000" dirty="0">
                <a:effectLst/>
                <a:latin typeface="+mn-lt"/>
                <a:ea typeface="Calibri" panose="020F0502020204030204" pitchFamily="34" charset="0"/>
                <a:cs typeface="Times New Roman" panose="02020603050405020304" pitchFamily="18" charset="0"/>
              </a:rPr>
              <a:t>process need not be 00000.</a:t>
            </a:r>
          </a:p>
          <a:p>
            <a:pPr marL="0" indent="0" algn="just">
              <a:lnSpc>
                <a:spcPct val="150000"/>
              </a:lnSpc>
              <a:buNone/>
            </a:pPr>
            <a:r>
              <a:rPr lang="en-US" sz="2000" dirty="0">
                <a:latin typeface="+mn-lt"/>
                <a:ea typeface="Calibri" panose="020F0502020204030204" pitchFamily="34" charset="0"/>
                <a:cs typeface="Times New Roman" panose="02020603050405020304" pitchFamily="18" charset="0"/>
              </a:rPr>
              <a:t>In most cases, a user program will go through several steps during COMPILE TIME, LOAD TIME, EXECUTION TIME before being executed.</a:t>
            </a:r>
          </a:p>
          <a:p>
            <a:pPr marL="0" indent="0" algn="just">
              <a:lnSpc>
                <a:spcPct val="150000"/>
              </a:lnSpc>
              <a:buNone/>
            </a:pPr>
            <a:r>
              <a:rPr lang="en-US" sz="2000" dirty="0">
                <a:effectLst/>
                <a:latin typeface="+mn-lt"/>
                <a:ea typeface="Calibri" panose="020F0502020204030204" pitchFamily="34" charset="0"/>
                <a:cs typeface="Times New Roman" panose="02020603050405020304" pitchFamily="18" charset="0"/>
              </a:rPr>
              <a:t>Add</a:t>
            </a:r>
            <a:r>
              <a:rPr lang="en-US" sz="2000" dirty="0">
                <a:latin typeface="+mn-lt"/>
                <a:ea typeface="Calibri" panose="020F0502020204030204" pitchFamily="34" charset="0"/>
                <a:cs typeface="Times New Roman" panose="02020603050405020304" pitchFamily="18" charset="0"/>
              </a:rPr>
              <a:t>resses may be represented in different ways during these steps.</a:t>
            </a:r>
          </a:p>
          <a:p>
            <a:pPr marL="0" indent="0" algn="just">
              <a:lnSpc>
                <a:spcPct val="150000"/>
              </a:lnSpc>
              <a:buNone/>
            </a:pPr>
            <a:r>
              <a:rPr lang="en-US" sz="2000" dirty="0">
                <a:effectLst/>
                <a:latin typeface="+mn-lt"/>
                <a:ea typeface="Calibri" panose="020F0502020204030204" pitchFamily="34" charset="0"/>
                <a:cs typeface="Times New Roman" panose="02020603050405020304" pitchFamily="18" charset="0"/>
              </a:rPr>
              <a:t>Source program:- Addresses are generally symbolic (such as count)</a:t>
            </a:r>
          </a:p>
          <a:p>
            <a:pPr marL="0" indent="0" algn="just">
              <a:lnSpc>
                <a:spcPct val="150000"/>
              </a:lnSpc>
              <a:buNone/>
            </a:pPr>
            <a:r>
              <a:rPr lang="en-US" sz="2000" dirty="0">
                <a:latin typeface="+mn-lt"/>
                <a:ea typeface="Calibri" panose="020F0502020204030204" pitchFamily="34" charset="0"/>
                <a:cs typeface="Times New Roman" panose="02020603050405020304" pitchFamily="18" charset="0"/>
              </a:rPr>
              <a:t>Compiler:- Typically binds these symbolic addresses to relocatable addresses (such as “14 bytes from the belonging of this module”)</a:t>
            </a:r>
          </a:p>
          <a:p>
            <a:pPr marL="0" indent="0" algn="just">
              <a:lnSpc>
                <a:spcPct val="150000"/>
              </a:lnSpc>
              <a:buNone/>
            </a:pPr>
            <a:r>
              <a:rPr lang="en-US" sz="2000" dirty="0">
                <a:effectLst/>
                <a:latin typeface="+mn-lt"/>
                <a:ea typeface="Calibri" panose="020F0502020204030204" pitchFamily="34" charset="0"/>
                <a:cs typeface="Times New Roman" panose="02020603050405020304" pitchFamily="18" charset="0"/>
              </a:rPr>
              <a:t>Linkage editor or Loader:- Binds the relocatable addresses to </a:t>
            </a:r>
            <a:r>
              <a:rPr lang="en-US" sz="2000" dirty="0">
                <a:latin typeface="+mn-lt"/>
                <a:ea typeface="Calibri" panose="020F0502020204030204" pitchFamily="34" charset="0"/>
                <a:cs typeface="Times New Roman" panose="02020603050405020304" pitchFamily="18" charset="0"/>
              </a:rPr>
              <a:t>absolute addresses (such as 74014)</a:t>
            </a:r>
          </a:p>
          <a:p>
            <a:pPr marL="0" indent="0" algn="just">
              <a:lnSpc>
                <a:spcPct val="150000"/>
              </a:lnSpc>
              <a:buNone/>
            </a:pPr>
            <a:r>
              <a:rPr lang="en-US" sz="2000" dirty="0">
                <a:effectLst/>
                <a:latin typeface="+mn-lt"/>
                <a:ea typeface="Calibri" panose="020F0502020204030204" pitchFamily="34" charset="0"/>
                <a:cs typeface="Times New Roman" panose="02020603050405020304" pitchFamily="18" charset="0"/>
              </a:rPr>
              <a:t>Each binding is a mapping from one address space to another.</a:t>
            </a:r>
          </a:p>
          <a:p>
            <a:pPr marL="0" indent="0" algn="just">
              <a:lnSpc>
                <a:spcPct val="150000"/>
              </a:lnSpc>
              <a:buNone/>
            </a:pPr>
            <a:endParaRPr lang="en-IN" sz="2000" dirty="0">
              <a:effectLst/>
              <a:latin typeface="+mn-lt"/>
              <a:ea typeface="Calibri" panose="020F0502020204030204" pitchFamily="34" charset="0"/>
              <a:cs typeface="Times New Roman" panose="02020603050405020304" pitchFamily="18" charset="0"/>
            </a:endParaRPr>
          </a:p>
          <a:p>
            <a:pPr marL="0" indent="0" algn="just">
              <a:lnSpc>
                <a:spcPct val="150000"/>
              </a:lnSpc>
              <a:buNone/>
            </a:pPr>
            <a:endParaRPr lang="en-IN" sz="2000" dirty="0">
              <a:latin typeface="+mn-lt"/>
            </a:endParaRPr>
          </a:p>
        </p:txBody>
      </p:sp>
      <p:sp>
        <p:nvSpPr>
          <p:cNvPr id="2" name="Google Shape;98;g2eff20282af_0_123">
            <a:extLst>
              <a:ext uri="{FF2B5EF4-FFF2-40B4-BE49-F238E27FC236}">
                <a16:creationId xmlns:a16="http://schemas.microsoft.com/office/drawing/2014/main" id="{F82060CB-C206-F01B-464B-7BD13DCA3887}"/>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8219946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63711A-5653-D6D4-E0D2-3B90732CBE55}"/>
              </a:ext>
            </a:extLst>
          </p:cNvPr>
          <p:cNvSpPr>
            <a:spLocks noGrp="1"/>
          </p:cNvSpPr>
          <p:nvPr>
            <p:ph idx="1"/>
          </p:nvPr>
        </p:nvSpPr>
        <p:spPr>
          <a:xfrm>
            <a:off x="2590799" y="141514"/>
            <a:ext cx="9416143" cy="6531429"/>
          </a:xfrm>
        </p:spPr>
        <p:txBody>
          <a:bodyPr>
            <a:normAutofit/>
          </a:bodyPr>
          <a:lstStyle/>
          <a:p>
            <a:pPr marL="0" indent="0" algn="just">
              <a:lnSpc>
                <a:spcPct val="150000"/>
              </a:lnSpc>
              <a:buNone/>
            </a:pPr>
            <a:r>
              <a:rPr lang="en-US" sz="2000" dirty="0">
                <a:latin typeface="+mn-lt"/>
                <a:ea typeface="Calibri" panose="020F0502020204030204" pitchFamily="34" charset="0"/>
              </a:rPr>
              <a:t>B</a:t>
            </a:r>
            <a:r>
              <a:rPr lang="en-US" sz="2000" dirty="0">
                <a:effectLst/>
                <a:latin typeface="+mn-lt"/>
                <a:ea typeface="Calibri" panose="020F0502020204030204" pitchFamily="34" charset="0"/>
              </a:rPr>
              <a:t>inding of instructions and data to memory addresses during</a:t>
            </a:r>
          </a:p>
          <a:p>
            <a:pPr marL="0" indent="0" algn="just">
              <a:lnSpc>
                <a:spcPct val="150000"/>
              </a:lnSpc>
              <a:buNone/>
            </a:pPr>
            <a:r>
              <a:rPr lang="en-US" sz="2000" b="1" dirty="0">
                <a:solidFill>
                  <a:srgbClr val="000000"/>
                </a:solidFill>
                <a:effectLst/>
                <a:latin typeface="+mn-lt"/>
                <a:ea typeface="Cambria" panose="02040503050406030204" pitchFamily="18" charset="0"/>
                <a:cs typeface="Cambria" panose="02040503050406030204" pitchFamily="18" charset="0"/>
              </a:rPr>
              <a:t>Compile time</a:t>
            </a:r>
            <a:r>
              <a:rPr lang="en-US" sz="2000" dirty="0">
                <a:solidFill>
                  <a:srgbClr val="000000"/>
                </a:solidFill>
                <a:effectLst/>
                <a:latin typeface="+mn-lt"/>
                <a:ea typeface="Cambria" panose="02040503050406030204" pitchFamily="18" charset="0"/>
                <a:cs typeface="Cambria" panose="02040503050406030204" pitchFamily="18" charset="0"/>
              </a:rPr>
              <a:t>. If you know at compile time where the process will reside in memory, then absolute code can be generated. </a:t>
            </a:r>
          </a:p>
          <a:p>
            <a:pPr marL="0" indent="0" algn="just">
              <a:lnSpc>
                <a:spcPct val="150000"/>
              </a:lnSpc>
              <a:buNone/>
            </a:pPr>
            <a:r>
              <a:rPr lang="en-US" sz="2000" dirty="0">
                <a:solidFill>
                  <a:srgbClr val="000000"/>
                </a:solidFill>
                <a:effectLst/>
                <a:latin typeface="+mn-lt"/>
                <a:ea typeface="Cambria" panose="02040503050406030204" pitchFamily="18" charset="0"/>
                <a:cs typeface="Cambria" panose="02040503050406030204" pitchFamily="18" charset="0"/>
              </a:rPr>
              <a:t>For example, if you know that a user process will reside starting at location R, then the generated compiler code will start at that location and extend up from there.</a:t>
            </a:r>
            <a:endParaRPr lang="en-IN" sz="2000" dirty="0">
              <a:solidFill>
                <a:srgbClr val="000000"/>
              </a:solidFill>
              <a:effectLst/>
              <a:latin typeface="+mn-lt"/>
              <a:ea typeface="Cambria" panose="02040503050406030204" pitchFamily="18" charset="0"/>
              <a:cs typeface="Cambria" panose="02040503050406030204" pitchFamily="18" charset="0"/>
            </a:endParaRPr>
          </a:p>
          <a:p>
            <a:pPr marL="0" indent="0" algn="just">
              <a:lnSpc>
                <a:spcPct val="150000"/>
              </a:lnSpc>
              <a:buNone/>
            </a:pPr>
            <a:r>
              <a:rPr lang="en-IN" sz="2000" dirty="0">
                <a:latin typeface="+mn-lt"/>
              </a:rPr>
              <a:t>If, at some later time, the starting location changes, then it will be necessary to recompile this code.</a:t>
            </a:r>
          </a:p>
          <a:p>
            <a:pPr marL="0" indent="0" algn="just">
              <a:lnSpc>
                <a:spcPct val="150000"/>
              </a:lnSpc>
              <a:buNone/>
            </a:pPr>
            <a:r>
              <a:rPr lang="en-US" sz="2000" b="1" dirty="0">
                <a:effectLst/>
                <a:latin typeface="+mj-lt"/>
                <a:ea typeface="Cambria" panose="02040503050406030204" pitchFamily="18" charset="0"/>
                <a:cs typeface="Cambria" panose="02040503050406030204" pitchFamily="18" charset="0"/>
              </a:rPr>
              <a:t>Load time</a:t>
            </a:r>
            <a:r>
              <a:rPr lang="en-US" sz="2000" dirty="0">
                <a:effectLst/>
                <a:latin typeface="+mj-lt"/>
                <a:ea typeface="Cambria" panose="02040503050406030204" pitchFamily="18" charset="0"/>
                <a:cs typeface="Cambria" panose="02040503050406030204" pitchFamily="18" charset="0"/>
              </a:rPr>
              <a:t>. </a:t>
            </a:r>
            <a:r>
              <a:rPr lang="en-US" sz="2000" dirty="0">
                <a:latin typeface="+mn-lt"/>
              </a:rPr>
              <a:t>If it is not known at compile time where the process will reside in memory, then the compiler must generate relocatable code. </a:t>
            </a:r>
          </a:p>
          <a:p>
            <a:pPr marL="0" indent="0" algn="just">
              <a:lnSpc>
                <a:spcPct val="150000"/>
              </a:lnSpc>
              <a:buNone/>
            </a:pPr>
            <a:r>
              <a:rPr lang="en-US" sz="2000" dirty="0">
                <a:latin typeface="+mn-lt"/>
              </a:rPr>
              <a:t>In this case, final binding is delayed until load time. If the starting address changes, we need only reload the user code to incorporate this changed value.</a:t>
            </a:r>
            <a:endParaRPr lang="en-IN" sz="2000" dirty="0">
              <a:latin typeface="+mn-lt"/>
            </a:endParaRPr>
          </a:p>
          <a:p>
            <a:pPr marL="0" indent="0" algn="just">
              <a:lnSpc>
                <a:spcPct val="150000"/>
              </a:lnSpc>
              <a:buNone/>
            </a:pPr>
            <a:endParaRPr lang="en-IN" sz="2000" dirty="0">
              <a:latin typeface="+mn-lt"/>
            </a:endParaRPr>
          </a:p>
        </p:txBody>
      </p:sp>
      <p:sp>
        <p:nvSpPr>
          <p:cNvPr id="2" name="Google Shape;98;g2eff20282af_0_123">
            <a:extLst>
              <a:ext uri="{FF2B5EF4-FFF2-40B4-BE49-F238E27FC236}">
                <a16:creationId xmlns:a16="http://schemas.microsoft.com/office/drawing/2014/main" id="{2C9F1D82-2886-A6DC-64AA-0B595536DF5C}"/>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564479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63711A-5653-D6D4-E0D2-3B90732CBE55}"/>
              </a:ext>
            </a:extLst>
          </p:cNvPr>
          <p:cNvSpPr>
            <a:spLocks noGrp="1"/>
          </p:cNvSpPr>
          <p:nvPr>
            <p:ph idx="1"/>
          </p:nvPr>
        </p:nvSpPr>
        <p:spPr>
          <a:xfrm>
            <a:off x="2510900" y="1934804"/>
            <a:ext cx="9416143" cy="2672707"/>
          </a:xfrm>
        </p:spPr>
        <p:txBody>
          <a:bodyPr>
            <a:normAutofit/>
          </a:bodyPr>
          <a:lstStyle/>
          <a:p>
            <a:pPr marL="0" indent="0" algn="just">
              <a:lnSpc>
                <a:spcPct val="150000"/>
              </a:lnSpc>
              <a:buNone/>
            </a:pPr>
            <a:r>
              <a:rPr lang="en-US" sz="2000" b="1" dirty="0">
                <a:solidFill>
                  <a:srgbClr val="000000"/>
                </a:solidFill>
                <a:effectLst/>
                <a:latin typeface="+mn-lt"/>
                <a:ea typeface="Cambria" panose="02040503050406030204" pitchFamily="18" charset="0"/>
                <a:cs typeface="Cambria" panose="02040503050406030204" pitchFamily="18" charset="0"/>
              </a:rPr>
              <a:t>Execution time</a:t>
            </a:r>
            <a:r>
              <a:rPr lang="en-US" sz="2000" dirty="0">
                <a:solidFill>
                  <a:srgbClr val="000000"/>
                </a:solidFill>
                <a:effectLst/>
                <a:latin typeface="+mn-lt"/>
                <a:ea typeface="Cambria" panose="02040503050406030204" pitchFamily="18" charset="0"/>
                <a:cs typeface="Cambria" panose="02040503050406030204" pitchFamily="18" charset="0"/>
              </a:rPr>
              <a:t>. If the process can be moved during its execution from one memory segment to another, then binding must be delayed until run time.</a:t>
            </a:r>
          </a:p>
          <a:p>
            <a:pPr marL="0" indent="0" algn="just">
              <a:lnSpc>
                <a:spcPct val="150000"/>
              </a:lnSpc>
              <a:buNone/>
            </a:pPr>
            <a:r>
              <a:rPr lang="en-US" sz="2000" dirty="0">
                <a:solidFill>
                  <a:srgbClr val="000000"/>
                </a:solidFill>
                <a:effectLst/>
                <a:latin typeface="+mn-lt"/>
                <a:ea typeface="Cambria" panose="02040503050406030204" pitchFamily="18" charset="0"/>
                <a:cs typeface="Cambria" panose="02040503050406030204" pitchFamily="18" charset="0"/>
              </a:rPr>
              <a:t>Special hardware must be available for this scheme to work. Most general-purpose operating systems use this method.</a:t>
            </a:r>
            <a:endParaRPr lang="en-IN" sz="2000" dirty="0">
              <a:solidFill>
                <a:srgbClr val="000000"/>
              </a:solidFill>
              <a:effectLst/>
              <a:latin typeface="+mn-lt"/>
              <a:ea typeface="Cambria" panose="02040503050406030204" pitchFamily="18" charset="0"/>
              <a:cs typeface="Cambria" panose="02040503050406030204" pitchFamily="18" charset="0"/>
            </a:endParaRPr>
          </a:p>
          <a:p>
            <a:endParaRPr lang="en-IN" sz="2000" dirty="0">
              <a:latin typeface="+mn-lt"/>
            </a:endParaRPr>
          </a:p>
        </p:txBody>
      </p:sp>
      <p:sp>
        <p:nvSpPr>
          <p:cNvPr id="2" name="Google Shape;98;g2eff20282af_0_123">
            <a:extLst>
              <a:ext uri="{FF2B5EF4-FFF2-40B4-BE49-F238E27FC236}">
                <a16:creationId xmlns:a16="http://schemas.microsoft.com/office/drawing/2014/main" id="{FF99E145-B6AB-5A04-DC37-AB64E8A9F1B2}"/>
              </a:ext>
            </a:extLst>
          </p:cNvPr>
          <p:cNvSpPr txBox="1"/>
          <p:nvPr/>
        </p:nvSpPr>
        <p:spPr>
          <a:xfrm>
            <a:off x="524064" y="3882568"/>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116634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63711A-5653-D6D4-E0D2-3B90732CBE55}"/>
              </a:ext>
            </a:extLst>
          </p:cNvPr>
          <p:cNvSpPr>
            <a:spLocks noGrp="1"/>
          </p:cNvSpPr>
          <p:nvPr>
            <p:ph idx="1"/>
          </p:nvPr>
        </p:nvSpPr>
        <p:spPr>
          <a:xfrm>
            <a:off x="2528656" y="711590"/>
            <a:ext cx="9416143" cy="5032264"/>
          </a:xfrm>
        </p:spPr>
        <p:txBody>
          <a:bodyPr>
            <a:normAutofit/>
          </a:bodyPr>
          <a:lstStyle/>
          <a:p>
            <a:pPr marL="0" indent="0" algn="ctr">
              <a:buNone/>
            </a:pPr>
            <a:r>
              <a:rPr lang="en-US" sz="2400" b="1" dirty="0">
                <a:solidFill>
                  <a:srgbClr val="FF0000"/>
                </a:solidFill>
                <a:effectLst/>
                <a:latin typeface="+mn-lt"/>
                <a:ea typeface="Calibri" panose="020F0502020204030204" pitchFamily="34" charset="0"/>
                <a:cs typeface="Times New Roman" panose="02020603050405020304" pitchFamily="18" charset="0"/>
              </a:rPr>
              <a:t>Logical versus Physical Address Space</a:t>
            </a:r>
          </a:p>
          <a:p>
            <a:pPr marL="0" indent="0" algn="ctr">
              <a:buNone/>
            </a:pPr>
            <a:endParaRPr lang="en-IN" sz="2400" dirty="0">
              <a:solidFill>
                <a:srgbClr val="FF0000"/>
              </a:solidFill>
              <a:effectLst/>
              <a:latin typeface="+mn-lt"/>
              <a:ea typeface="Calibri" panose="020F0502020204030204" pitchFamily="34" charset="0"/>
              <a:cs typeface="Times New Roman" panose="02020603050405020304" pitchFamily="18" charset="0"/>
            </a:endParaRPr>
          </a:p>
          <a:p>
            <a:pPr marL="0" indent="0" algn="just">
              <a:lnSpc>
                <a:spcPct val="150000"/>
              </a:lnSpc>
              <a:buNone/>
            </a:pPr>
            <a:r>
              <a:rPr lang="en-US" sz="2000" b="1" dirty="0">
                <a:latin typeface="+mn-lt"/>
                <a:ea typeface="Calibri" panose="020F0502020204030204" pitchFamily="34" charset="0"/>
                <a:cs typeface="Times New Roman" panose="02020603050405020304" pitchFamily="18" charset="0"/>
              </a:rPr>
              <a:t>L</a:t>
            </a:r>
            <a:r>
              <a:rPr lang="en-US" sz="2000" b="1" dirty="0">
                <a:effectLst/>
                <a:latin typeface="+mn-lt"/>
                <a:ea typeface="Calibri" panose="020F0502020204030204" pitchFamily="34" charset="0"/>
                <a:cs typeface="Times New Roman" panose="02020603050405020304" pitchFamily="18" charset="0"/>
              </a:rPr>
              <a:t>ogical </a:t>
            </a:r>
            <a:r>
              <a:rPr lang="en-US" sz="2000" b="1" dirty="0">
                <a:latin typeface="+mn-lt"/>
                <a:ea typeface="Calibri" panose="020F0502020204030204" pitchFamily="34" charset="0"/>
                <a:cs typeface="Times New Roman" panose="02020603050405020304" pitchFamily="18" charset="0"/>
              </a:rPr>
              <a:t>A</a:t>
            </a:r>
            <a:r>
              <a:rPr lang="en-US" sz="2000" b="1" dirty="0">
                <a:effectLst/>
                <a:latin typeface="+mn-lt"/>
                <a:ea typeface="Calibri" panose="020F0502020204030204" pitchFamily="34" charset="0"/>
                <a:cs typeface="Times New Roman" panose="02020603050405020304" pitchFamily="18" charset="0"/>
              </a:rPr>
              <a:t>ddress:- </a:t>
            </a:r>
            <a:r>
              <a:rPr lang="en-US" sz="2000" dirty="0">
                <a:effectLst/>
                <a:latin typeface="+mn-lt"/>
                <a:ea typeface="Calibri" panose="020F0502020204030204" pitchFamily="34" charset="0"/>
                <a:cs typeface="Times New Roman" panose="02020603050405020304" pitchFamily="18" charset="0"/>
              </a:rPr>
              <a:t> An address generated by the CPU </a:t>
            </a:r>
            <a:endParaRPr lang="en-US" sz="2000" dirty="0">
              <a:latin typeface="+mn-lt"/>
              <a:ea typeface="Calibri" panose="020F0502020204030204" pitchFamily="34" charset="0"/>
              <a:cs typeface="Times New Roman" panose="02020603050405020304" pitchFamily="18" charset="0"/>
            </a:endParaRPr>
          </a:p>
          <a:p>
            <a:pPr marL="0" indent="0" algn="just">
              <a:lnSpc>
                <a:spcPct val="150000"/>
              </a:lnSpc>
              <a:buNone/>
            </a:pPr>
            <a:r>
              <a:rPr lang="en-US" sz="2000" b="1" dirty="0">
                <a:latin typeface="+mn-lt"/>
                <a:ea typeface="Calibri" panose="020F0502020204030204" pitchFamily="34" charset="0"/>
                <a:cs typeface="Times New Roman" panose="02020603050405020304" pitchFamily="18" charset="0"/>
              </a:rPr>
              <a:t>P</a:t>
            </a:r>
            <a:r>
              <a:rPr lang="en-US" sz="2000" b="1" dirty="0">
                <a:effectLst/>
                <a:latin typeface="+mn-lt"/>
                <a:ea typeface="Calibri" panose="020F0502020204030204" pitchFamily="34" charset="0"/>
                <a:cs typeface="Times New Roman" panose="02020603050405020304" pitchFamily="18" charset="0"/>
              </a:rPr>
              <a:t>hysical </a:t>
            </a:r>
            <a:r>
              <a:rPr lang="en-US" sz="2000" b="1" dirty="0">
                <a:latin typeface="+mn-lt"/>
                <a:ea typeface="Calibri" panose="020F0502020204030204" pitchFamily="34" charset="0"/>
                <a:cs typeface="Times New Roman" panose="02020603050405020304" pitchFamily="18" charset="0"/>
              </a:rPr>
              <a:t>A</a:t>
            </a:r>
            <a:r>
              <a:rPr lang="en-US" sz="2000" b="1" dirty="0">
                <a:effectLst/>
                <a:latin typeface="+mn-lt"/>
                <a:ea typeface="Calibri" panose="020F0502020204030204" pitchFamily="34" charset="0"/>
                <a:cs typeface="Times New Roman" panose="02020603050405020304" pitchFamily="18" charset="0"/>
              </a:rPr>
              <a:t>ddress</a:t>
            </a:r>
            <a:r>
              <a:rPr lang="en-US" sz="2000" b="1" dirty="0">
                <a:latin typeface="+mn-lt"/>
                <a:ea typeface="Calibri" panose="020F0502020204030204" pitchFamily="34" charset="0"/>
                <a:cs typeface="Times New Roman" panose="02020603050405020304" pitchFamily="18" charset="0"/>
              </a:rPr>
              <a:t>:- </a:t>
            </a:r>
            <a:r>
              <a:rPr lang="en-IN" sz="2000" dirty="0">
                <a:latin typeface="+mn-lt"/>
                <a:ea typeface="Calibri" panose="020F0502020204030204" pitchFamily="34" charset="0"/>
                <a:cs typeface="Times New Roman" panose="02020603050405020304" pitchFamily="18" charset="0"/>
              </a:rPr>
              <a:t>A</a:t>
            </a:r>
            <a:r>
              <a:rPr lang="en-US" sz="2000" dirty="0">
                <a:effectLst/>
                <a:latin typeface="+mn-lt"/>
                <a:ea typeface="Calibri" panose="020F0502020204030204" pitchFamily="34" charset="0"/>
                <a:cs typeface="Times New Roman" panose="02020603050405020304" pitchFamily="18" charset="0"/>
              </a:rPr>
              <a:t>n address seen by the memory unit-that is, the one loaded into memory address register of the memory.</a:t>
            </a:r>
          </a:p>
          <a:p>
            <a:pPr marL="0" indent="0" algn="just">
              <a:lnSpc>
                <a:spcPct val="150000"/>
              </a:lnSpc>
              <a:buNone/>
            </a:pPr>
            <a:r>
              <a:rPr lang="en-US" sz="2000" dirty="0">
                <a:effectLst/>
                <a:latin typeface="+mn-lt"/>
                <a:ea typeface="Calibri" panose="020F0502020204030204" pitchFamily="34" charset="0"/>
              </a:rPr>
              <a:t>The compile-time and load-time address-binding methods generate identical logical and physical addresses. </a:t>
            </a:r>
          </a:p>
          <a:p>
            <a:pPr marL="0" indent="0" algn="just">
              <a:lnSpc>
                <a:spcPct val="150000"/>
              </a:lnSpc>
              <a:buNone/>
            </a:pPr>
            <a:r>
              <a:rPr lang="en-US" sz="2000" dirty="0">
                <a:latin typeface="+mn-lt"/>
                <a:ea typeface="Calibri" panose="020F0502020204030204" pitchFamily="34" charset="0"/>
              </a:rPr>
              <a:t>E</a:t>
            </a:r>
            <a:r>
              <a:rPr lang="en-US" sz="2000" dirty="0">
                <a:effectLst/>
                <a:latin typeface="+mn-lt"/>
                <a:ea typeface="Calibri" panose="020F0502020204030204" pitchFamily="34" charset="0"/>
              </a:rPr>
              <a:t>xecution-time address binding scheme results in differing logical and physical address. </a:t>
            </a:r>
            <a:endParaRPr lang="en-US" sz="2000" dirty="0">
              <a:effectLst/>
              <a:latin typeface="+mn-lt"/>
              <a:ea typeface="Calibri" panose="020F0502020204030204" pitchFamily="34" charset="0"/>
              <a:cs typeface="Times New Roman" panose="02020603050405020304" pitchFamily="18" charset="0"/>
            </a:endParaRPr>
          </a:p>
          <a:p>
            <a:pPr marL="0" indent="0" algn="just">
              <a:lnSpc>
                <a:spcPct val="150000"/>
              </a:lnSpc>
              <a:buNone/>
            </a:pPr>
            <a:r>
              <a:rPr lang="en-US" sz="2000" dirty="0">
                <a:effectLst/>
                <a:latin typeface="+mn-lt"/>
                <a:ea typeface="Calibri" panose="020F0502020204030204" pitchFamily="34" charset="0"/>
              </a:rPr>
              <a:t>In this case, we usually refer to the logical address as virtual address. </a:t>
            </a:r>
          </a:p>
          <a:p>
            <a:pPr marL="0" indent="0" algn="just">
              <a:lnSpc>
                <a:spcPct val="150000"/>
              </a:lnSpc>
              <a:buNone/>
            </a:pPr>
            <a:endParaRPr lang="en-IN" sz="2000" dirty="0">
              <a:latin typeface="+mn-lt"/>
            </a:endParaRPr>
          </a:p>
        </p:txBody>
      </p:sp>
      <p:sp>
        <p:nvSpPr>
          <p:cNvPr id="2" name="Google Shape;98;g2eff20282af_0_123">
            <a:extLst>
              <a:ext uri="{FF2B5EF4-FFF2-40B4-BE49-F238E27FC236}">
                <a16:creationId xmlns:a16="http://schemas.microsoft.com/office/drawing/2014/main" id="{52BD2B9A-9356-1723-C63A-546964BB7483}"/>
              </a:ext>
            </a:extLst>
          </p:cNvPr>
          <p:cNvSpPr txBox="1"/>
          <p:nvPr/>
        </p:nvSpPr>
        <p:spPr>
          <a:xfrm>
            <a:off x="524064" y="3882568"/>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
        <p:nvSpPr>
          <p:cNvPr id="4" name="Google Shape;98;g2eff20282af_0_123">
            <a:extLst>
              <a:ext uri="{FF2B5EF4-FFF2-40B4-BE49-F238E27FC236}">
                <a16:creationId xmlns:a16="http://schemas.microsoft.com/office/drawing/2014/main" id="{1EA56D54-FD99-329C-6317-0A47DA7FC806}"/>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979112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63711A-5653-D6D4-E0D2-3B90732CBE55}"/>
              </a:ext>
            </a:extLst>
          </p:cNvPr>
          <p:cNvSpPr>
            <a:spLocks noGrp="1"/>
          </p:cNvSpPr>
          <p:nvPr>
            <p:ph idx="1"/>
          </p:nvPr>
        </p:nvSpPr>
        <p:spPr>
          <a:xfrm>
            <a:off x="2519778" y="1002648"/>
            <a:ext cx="9416143" cy="4282485"/>
          </a:xfrm>
        </p:spPr>
        <p:txBody>
          <a:bodyPr>
            <a:normAutofit/>
          </a:bodyPr>
          <a:lstStyle/>
          <a:p>
            <a:pPr marL="0" indent="0" algn="just">
              <a:lnSpc>
                <a:spcPct val="150000"/>
              </a:lnSpc>
              <a:buNone/>
            </a:pPr>
            <a:r>
              <a:rPr lang="en-US" sz="2000" dirty="0">
                <a:effectLst/>
                <a:latin typeface="+mn-lt"/>
                <a:ea typeface="Calibri" panose="020F0502020204030204" pitchFamily="34" charset="0"/>
                <a:cs typeface="Times New Roman" panose="02020603050405020304" pitchFamily="18" charset="0"/>
              </a:rPr>
              <a:t>Logical Address Space:- The set of all logical addresses generated by a program. </a:t>
            </a:r>
            <a:endParaRPr lang="en-US" sz="2000" dirty="0">
              <a:latin typeface="+mn-lt"/>
              <a:ea typeface="Calibri" panose="020F0502020204030204" pitchFamily="34" charset="0"/>
              <a:cs typeface="Times New Roman" panose="02020603050405020304" pitchFamily="18" charset="0"/>
            </a:endParaRPr>
          </a:p>
          <a:p>
            <a:pPr marL="0" indent="0" algn="just">
              <a:lnSpc>
                <a:spcPct val="150000"/>
              </a:lnSpc>
              <a:buNone/>
            </a:pPr>
            <a:r>
              <a:rPr lang="en-US" sz="2000" dirty="0">
                <a:effectLst/>
                <a:latin typeface="+mn-lt"/>
                <a:ea typeface="Calibri" panose="020F0502020204030204" pitchFamily="34" charset="0"/>
                <a:cs typeface="Times New Roman" panose="02020603050405020304" pitchFamily="18" charset="0"/>
              </a:rPr>
              <a:t>Physical Address Space:- The set of all physical addresses corresponding to these logical addresses.</a:t>
            </a:r>
          </a:p>
          <a:p>
            <a:pPr marL="0" indent="0" algn="just">
              <a:lnSpc>
                <a:spcPct val="150000"/>
              </a:lnSpc>
              <a:buNone/>
            </a:pPr>
            <a:r>
              <a:rPr lang="en-US" sz="2000" dirty="0">
                <a:latin typeface="+mn-lt"/>
                <a:ea typeface="Calibri" panose="020F0502020204030204" pitchFamily="34" charset="0"/>
                <a:cs typeface="Times New Roman" panose="02020603050405020304" pitchFamily="18" charset="0"/>
              </a:rPr>
              <a:t>In the execution time address binding scheme, the logical and physical address spaces differ.</a:t>
            </a:r>
          </a:p>
          <a:p>
            <a:pPr marL="0" indent="0" algn="just">
              <a:lnSpc>
                <a:spcPct val="150000"/>
              </a:lnSpc>
              <a:buNone/>
            </a:pPr>
            <a:r>
              <a:rPr lang="en-US" sz="2000" dirty="0">
                <a:effectLst/>
                <a:latin typeface="+mn-lt"/>
                <a:ea typeface="Calibri" panose="020F0502020204030204" pitchFamily="34" charset="0"/>
                <a:cs typeface="Times New Roman" panose="02020603050405020304" pitchFamily="18" charset="0"/>
              </a:rPr>
              <a:t>The run time mapping from virtual to physical addresses is done by a hardware device called the Memory Management Unit (MMU)</a:t>
            </a:r>
            <a:endParaRPr lang="en-IN" sz="2000" dirty="0">
              <a:effectLst/>
              <a:latin typeface="+mn-lt"/>
              <a:ea typeface="Calibri" panose="020F0502020204030204" pitchFamily="34" charset="0"/>
              <a:cs typeface="Times New Roman" panose="02020603050405020304" pitchFamily="18" charset="0"/>
            </a:endParaRPr>
          </a:p>
          <a:p>
            <a:pPr marL="0" indent="0">
              <a:buNone/>
            </a:pPr>
            <a:endParaRPr lang="en-IN" sz="2000" dirty="0">
              <a:latin typeface="+mn-lt"/>
            </a:endParaRPr>
          </a:p>
        </p:txBody>
      </p:sp>
      <p:sp>
        <p:nvSpPr>
          <p:cNvPr id="2" name="Google Shape;98;g2eff20282af_0_123">
            <a:extLst>
              <a:ext uri="{FF2B5EF4-FFF2-40B4-BE49-F238E27FC236}">
                <a16:creationId xmlns:a16="http://schemas.microsoft.com/office/drawing/2014/main" id="{FF557147-80CB-2B72-2CFB-1E2728E5F47B}"/>
              </a:ext>
            </a:extLst>
          </p:cNvPr>
          <p:cNvSpPr txBox="1"/>
          <p:nvPr/>
        </p:nvSpPr>
        <p:spPr>
          <a:xfrm>
            <a:off x="524064" y="3882568"/>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510186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a:extLst>
              <a:ext uri="{FF2B5EF4-FFF2-40B4-BE49-F238E27FC236}">
                <a16:creationId xmlns:a16="http://schemas.microsoft.com/office/drawing/2014/main" id="{91681AD1-B12C-364E-D4C4-E86763BCEDD5}"/>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273431" y="644604"/>
            <a:ext cx="7832534" cy="4310741"/>
          </a:xfrm>
          <a:prstGeom prst="rect">
            <a:avLst/>
          </a:prstGeom>
          <a:noFill/>
          <a:ln>
            <a:noFill/>
          </a:ln>
        </p:spPr>
      </p:pic>
      <p:sp>
        <p:nvSpPr>
          <p:cNvPr id="5" name="TextBox 4">
            <a:extLst>
              <a:ext uri="{FF2B5EF4-FFF2-40B4-BE49-F238E27FC236}">
                <a16:creationId xmlns:a16="http://schemas.microsoft.com/office/drawing/2014/main" id="{FCF80DE5-0DD5-A62A-F5E0-17A438FED092}"/>
              </a:ext>
            </a:extLst>
          </p:cNvPr>
          <p:cNvSpPr txBox="1"/>
          <p:nvPr/>
        </p:nvSpPr>
        <p:spPr>
          <a:xfrm>
            <a:off x="3935187" y="4955345"/>
            <a:ext cx="6106884" cy="506292"/>
          </a:xfrm>
          <a:prstGeom prst="rect">
            <a:avLst/>
          </a:prstGeom>
          <a:noFill/>
        </p:spPr>
        <p:txBody>
          <a:bodyPr wrap="square">
            <a:spAutoFit/>
          </a:bodyPr>
          <a:lstStyle/>
          <a:p>
            <a:pPr algn="ctr">
              <a:lnSpc>
                <a:spcPct val="150000"/>
              </a:lnSpc>
              <a:spcAft>
                <a:spcPts val="800"/>
              </a:spcAft>
            </a:pPr>
            <a:r>
              <a:rPr lang="en-US" sz="2000" dirty="0">
                <a:effectLst/>
                <a:ea typeface="Calibri" panose="020F0502020204030204" pitchFamily="34" charset="0"/>
                <a:cs typeface="Times New Roman" panose="02020603050405020304" pitchFamily="18" charset="0"/>
              </a:rPr>
              <a:t>Dynamic relocation using a relocation register.</a:t>
            </a:r>
            <a:endParaRPr lang="en-IN" sz="2000" dirty="0">
              <a:effectLst/>
              <a:ea typeface="Calibri" panose="020F0502020204030204" pitchFamily="34" charset="0"/>
              <a:cs typeface="Times New Roman" panose="02020603050405020304" pitchFamily="18" charset="0"/>
            </a:endParaRPr>
          </a:p>
        </p:txBody>
      </p:sp>
      <p:sp>
        <p:nvSpPr>
          <p:cNvPr id="3" name="Google Shape;98;g2eff20282af_0_123">
            <a:extLst>
              <a:ext uri="{FF2B5EF4-FFF2-40B4-BE49-F238E27FC236}">
                <a16:creationId xmlns:a16="http://schemas.microsoft.com/office/drawing/2014/main" id="{8A102A2A-31F4-933D-268B-11213AD67E76}"/>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876886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63711A-5653-D6D4-E0D2-3B90732CBE55}"/>
              </a:ext>
            </a:extLst>
          </p:cNvPr>
          <p:cNvSpPr>
            <a:spLocks noGrp="1"/>
          </p:cNvSpPr>
          <p:nvPr>
            <p:ph idx="1"/>
          </p:nvPr>
        </p:nvSpPr>
        <p:spPr>
          <a:xfrm>
            <a:off x="2573044" y="887240"/>
            <a:ext cx="9416143" cy="4217422"/>
          </a:xfrm>
        </p:spPr>
        <p:txBody>
          <a:bodyPr>
            <a:normAutofit/>
          </a:bodyPr>
          <a:lstStyle/>
          <a:p>
            <a:pPr marL="0" indent="0" algn="just">
              <a:lnSpc>
                <a:spcPct val="150000"/>
              </a:lnSpc>
              <a:buNone/>
            </a:pPr>
            <a:r>
              <a:rPr lang="en-IN" sz="2000" dirty="0">
                <a:latin typeface="+mn-lt"/>
              </a:rPr>
              <a:t>We now have two different types of addresses:</a:t>
            </a:r>
          </a:p>
          <a:p>
            <a:pPr marL="0" indent="0" algn="just">
              <a:lnSpc>
                <a:spcPct val="150000"/>
              </a:lnSpc>
              <a:buNone/>
            </a:pPr>
            <a:r>
              <a:rPr lang="en-IN" sz="2000" dirty="0">
                <a:latin typeface="+mn-lt"/>
              </a:rPr>
              <a:t>Logical addresses (in the range 0 to max) and</a:t>
            </a:r>
          </a:p>
          <a:p>
            <a:pPr marL="0" indent="0" algn="just">
              <a:lnSpc>
                <a:spcPct val="150000"/>
              </a:lnSpc>
              <a:buNone/>
            </a:pPr>
            <a:r>
              <a:rPr lang="en-IN" sz="2000" dirty="0">
                <a:latin typeface="+mn-lt"/>
              </a:rPr>
              <a:t>Physical addresses (in the range R + 0 to R + max  for a base value R)</a:t>
            </a:r>
          </a:p>
          <a:p>
            <a:pPr marL="0" indent="0" algn="just">
              <a:lnSpc>
                <a:spcPct val="150000"/>
              </a:lnSpc>
              <a:buNone/>
            </a:pPr>
            <a:r>
              <a:rPr lang="en-IN" sz="2000" dirty="0">
                <a:latin typeface="+mn-lt"/>
              </a:rPr>
              <a:t>The user generates only logical addresses and thinks that the process runs in locations 0 to max.</a:t>
            </a:r>
          </a:p>
          <a:p>
            <a:pPr marL="0" indent="0" algn="just">
              <a:lnSpc>
                <a:spcPct val="150000"/>
              </a:lnSpc>
              <a:buNone/>
            </a:pPr>
            <a:r>
              <a:rPr lang="en-IN" sz="2000" dirty="0">
                <a:latin typeface="+mn-lt"/>
              </a:rPr>
              <a:t>The user program supplies logical addresses, these logical addresses must be mapped to physical addresses before they are used. </a:t>
            </a:r>
          </a:p>
          <a:p>
            <a:endParaRPr lang="en-IN" sz="2000" dirty="0">
              <a:latin typeface="+mn-lt"/>
            </a:endParaRPr>
          </a:p>
        </p:txBody>
      </p:sp>
      <p:sp>
        <p:nvSpPr>
          <p:cNvPr id="2" name="Google Shape;98;g2eff20282af_0_123">
            <a:extLst>
              <a:ext uri="{FF2B5EF4-FFF2-40B4-BE49-F238E27FC236}">
                <a16:creationId xmlns:a16="http://schemas.microsoft.com/office/drawing/2014/main" id="{CF0E3647-E6C2-D301-D861-0948CF2EE9EE}"/>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630636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63711A-5653-D6D4-E0D2-3B90732CBE55}"/>
              </a:ext>
            </a:extLst>
          </p:cNvPr>
          <p:cNvSpPr>
            <a:spLocks noGrp="1"/>
          </p:cNvSpPr>
          <p:nvPr>
            <p:ph idx="1"/>
          </p:nvPr>
        </p:nvSpPr>
        <p:spPr>
          <a:xfrm>
            <a:off x="2590799" y="141514"/>
            <a:ext cx="9416143" cy="6531429"/>
          </a:xfrm>
        </p:spPr>
        <p:txBody>
          <a:bodyPr>
            <a:normAutofit/>
          </a:bodyPr>
          <a:lstStyle/>
          <a:p>
            <a:pPr marL="0" indent="0" algn="ctr">
              <a:buNone/>
            </a:pPr>
            <a:r>
              <a:rPr lang="en-US" sz="2400" b="1" dirty="0">
                <a:solidFill>
                  <a:srgbClr val="FF0000"/>
                </a:solidFill>
                <a:effectLst/>
                <a:latin typeface="+mn-lt"/>
                <a:ea typeface="Calibri" panose="020F0502020204030204" pitchFamily="34" charset="0"/>
                <a:cs typeface="Times New Roman" panose="02020603050405020304" pitchFamily="18" charset="0"/>
              </a:rPr>
              <a:t>Dynamic Loading</a:t>
            </a:r>
          </a:p>
          <a:p>
            <a:pPr marL="0" indent="0" algn="just">
              <a:lnSpc>
                <a:spcPct val="150000"/>
              </a:lnSpc>
              <a:buNone/>
            </a:pPr>
            <a:r>
              <a:rPr lang="en-IN" sz="2000" dirty="0">
                <a:effectLst/>
                <a:latin typeface="+mn-lt"/>
                <a:ea typeface="Calibri" panose="020F0502020204030204" pitchFamily="34" charset="0"/>
                <a:cs typeface="Times New Roman" panose="02020603050405020304" pitchFamily="18" charset="0"/>
              </a:rPr>
              <a:t>As we have discussed so for, the entire program and all data of a process must in physical memory for the process to execute.</a:t>
            </a:r>
          </a:p>
          <a:p>
            <a:pPr marL="0" indent="0" algn="just">
              <a:lnSpc>
                <a:spcPct val="150000"/>
              </a:lnSpc>
              <a:buNone/>
            </a:pPr>
            <a:r>
              <a:rPr lang="en-US" sz="2000" dirty="0">
                <a:effectLst/>
                <a:latin typeface="+mn-lt"/>
                <a:ea typeface="Calibri" panose="020F0502020204030204" pitchFamily="34" charset="0"/>
              </a:rPr>
              <a:t>The size of a process is thus limited to the size of physical memory. </a:t>
            </a:r>
          </a:p>
          <a:p>
            <a:pPr marL="0" indent="0" algn="just">
              <a:lnSpc>
                <a:spcPct val="150000"/>
              </a:lnSpc>
              <a:buNone/>
            </a:pPr>
            <a:r>
              <a:rPr lang="en-US" sz="2000" dirty="0">
                <a:effectLst/>
                <a:latin typeface="+mn-lt"/>
                <a:ea typeface="Calibri" panose="020F0502020204030204" pitchFamily="34" charset="0"/>
              </a:rPr>
              <a:t>To obtain better memory-space utilization, we can use dynamic loading. </a:t>
            </a:r>
          </a:p>
          <a:p>
            <a:pPr marL="0" indent="0" algn="just">
              <a:lnSpc>
                <a:spcPct val="150000"/>
              </a:lnSpc>
              <a:buNone/>
            </a:pPr>
            <a:r>
              <a:rPr lang="en-US" sz="2000" b="1" dirty="0">
                <a:effectLst/>
                <a:latin typeface="+mn-lt"/>
                <a:ea typeface="Calibri" panose="020F0502020204030204" pitchFamily="34" charset="0"/>
              </a:rPr>
              <a:t>With dynamic loading, a routine is not loaded until it is called.</a:t>
            </a:r>
          </a:p>
          <a:p>
            <a:pPr algn="just">
              <a:lnSpc>
                <a:spcPct val="150000"/>
              </a:lnSpc>
            </a:pPr>
            <a:r>
              <a:rPr lang="en-US" sz="2000" dirty="0">
                <a:latin typeface="+mn-lt"/>
                <a:ea typeface="Calibri" panose="020F0502020204030204" pitchFamily="34" charset="0"/>
              </a:rPr>
              <a:t>All routines are kept on disk in a relocatable load format.</a:t>
            </a:r>
          </a:p>
          <a:p>
            <a:pPr algn="just">
              <a:lnSpc>
                <a:spcPct val="150000"/>
              </a:lnSpc>
            </a:pPr>
            <a:r>
              <a:rPr lang="en-US" sz="2000" dirty="0">
                <a:latin typeface="+mn-lt"/>
                <a:ea typeface="Calibri" panose="020F0502020204030204" pitchFamily="34" charset="0"/>
              </a:rPr>
              <a:t>The main program is loaded into memory and is executed.</a:t>
            </a:r>
            <a:endParaRPr lang="en-US" sz="2000" b="1" dirty="0">
              <a:effectLst/>
              <a:latin typeface="+mn-lt"/>
              <a:ea typeface="Calibri" panose="020F0502020204030204" pitchFamily="34" charset="0"/>
            </a:endParaRPr>
          </a:p>
          <a:p>
            <a:pPr algn="just">
              <a:lnSpc>
                <a:spcPct val="150000"/>
              </a:lnSpc>
            </a:pPr>
            <a:r>
              <a:rPr lang="en-US" sz="2000" dirty="0">
                <a:effectLst/>
                <a:latin typeface="+mn-lt"/>
                <a:ea typeface="Calibri" panose="020F0502020204030204" pitchFamily="34" charset="0"/>
              </a:rPr>
              <a:t> </a:t>
            </a:r>
            <a:r>
              <a:rPr lang="en-US" sz="2000" dirty="0">
                <a:latin typeface="+mn-lt"/>
                <a:ea typeface="Calibri" panose="020F0502020204030204" pitchFamily="34" charset="0"/>
              </a:rPr>
              <a:t>When a routine needs to call another routine, the calling routine first checks to see whether the other routine has been loaded.</a:t>
            </a:r>
          </a:p>
          <a:p>
            <a:pPr algn="just">
              <a:lnSpc>
                <a:spcPct val="150000"/>
              </a:lnSpc>
            </a:pPr>
            <a:r>
              <a:rPr lang="en-US" sz="2000" dirty="0">
                <a:latin typeface="+mn-lt"/>
                <a:ea typeface="Calibri" panose="020F0502020204030204" pitchFamily="34" charset="0"/>
              </a:rPr>
              <a:t>If not, the relocatable linking loader is called to load the desired routine into memory and to update the program’s address tables to reflect the change.</a:t>
            </a:r>
          </a:p>
          <a:p>
            <a:pPr marL="0" indent="0" algn="just">
              <a:lnSpc>
                <a:spcPct val="150000"/>
              </a:lnSpc>
              <a:buNone/>
            </a:pPr>
            <a:endParaRPr lang="en-IN" sz="2000" dirty="0">
              <a:latin typeface="+mn-lt"/>
            </a:endParaRPr>
          </a:p>
        </p:txBody>
      </p:sp>
      <p:sp>
        <p:nvSpPr>
          <p:cNvPr id="2" name="Google Shape;98;g2eff20282af_0_123">
            <a:extLst>
              <a:ext uri="{FF2B5EF4-FFF2-40B4-BE49-F238E27FC236}">
                <a16:creationId xmlns:a16="http://schemas.microsoft.com/office/drawing/2014/main" id="{260D063E-B440-5DF9-5CC1-7DAB6E760D69}"/>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355774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63711A-5653-D6D4-E0D2-3B90732CBE55}"/>
              </a:ext>
            </a:extLst>
          </p:cNvPr>
          <p:cNvSpPr>
            <a:spLocks noGrp="1"/>
          </p:cNvSpPr>
          <p:nvPr>
            <p:ph idx="1"/>
          </p:nvPr>
        </p:nvSpPr>
        <p:spPr>
          <a:xfrm>
            <a:off x="2590799" y="141514"/>
            <a:ext cx="9416143" cy="3977725"/>
          </a:xfrm>
        </p:spPr>
        <p:txBody>
          <a:bodyPr>
            <a:normAutofit/>
          </a:bodyPr>
          <a:lstStyle/>
          <a:p>
            <a:pPr marL="0" indent="0" algn="just">
              <a:lnSpc>
                <a:spcPct val="150000"/>
              </a:lnSpc>
              <a:buNone/>
            </a:pPr>
            <a:r>
              <a:rPr lang="en-US" sz="2000" dirty="0">
                <a:latin typeface="+mn-lt"/>
                <a:ea typeface="Calibri" panose="020F0502020204030204" pitchFamily="34" charset="0"/>
              </a:rPr>
              <a:t>Then control is passed to the newly loaded routine.</a:t>
            </a:r>
          </a:p>
          <a:p>
            <a:pPr marL="0" indent="0" algn="just">
              <a:lnSpc>
                <a:spcPct val="150000"/>
              </a:lnSpc>
              <a:buNone/>
            </a:pPr>
            <a:r>
              <a:rPr lang="en-US" sz="2000" dirty="0">
                <a:latin typeface="+mn-lt"/>
                <a:ea typeface="Calibri" panose="020F0502020204030204" pitchFamily="34" charset="0"/>
              </a:rPr>
              <a:t>Advantages</a:t>
            </a:r>
          </a:p>
          <a:p>
            <a:pPr algn="just">
              <a:lnSpc>
                <a:spcPct val="150000"/>
              </a:lnSpc>
            </a:pPr>
            <a:r>
              <a:rPr lang="en-US" sz="2000" dirty="0">
                <a:latin typeface="+mn-lt"/>
                <a:ea typeface="Calibri" panose="020F0502020204030204" pitchFamily="34" charset="0"/>
              </a:rPr>
              <a:t>An unused routine is never loaded.</a:t>
            </a:r>
          </a:p>
          <a:p>
            <a:pPr algn="just">
              <a:lnSpc>
                <a:spcPct val="150000"/>
              </a:lnSpc>
            </a:pPr>
            <a:r>
              <a:rPr lang="en-US" sz="2000" dirty="0">
                <a:latin typeface="+mn-lt"/>
                <a:ea typeface="Calibri" panose="020F0502020204030204" pitchFamily="34" charset="0"/>
              </a:rPr>
              <a:t>This method is particularly useful when large amounts of code are needed to handle infrequently occurring cases.</a:t>
            </a:r>
          </a:p>
          <a:p>
            <a:pPr algn="just">
              <a:lnSpc>
                <a:spcPct val="150000"/>
              </a:lnSpc>
            </a:pPr>
            <a:r>
              <a:rPr lang="en-US" sz="2000" dirty="0">
                <a:latin typeface="+mn-lt"/>
                <a:ea typeface="Calibri" panose="020F0502020204030204" pitchFamily="34" charset="0"/>
              </a:rPr>
              <a:t>Although the total program size may be large, the portion that is used( and hence loaded) may be much smaller.</a:t>
            </a:r>
          </a:p>
          <a:p>
            <a:pPr marL="0" indent="0" algn="just">
              <a:lnSpc>
                <a:spcPct val="150000"/>
              </a:lnSpc>
              <a:buNone/>
            </a:pPr>
            <a:endParaRPr lang="en-US" sz="1400" dirty="0">
              <a:latin typeface="+mn-lt"/>
              <a:ea typeface="Calibri" panose="020F0502020204030204" pitchFamily="34" charset="0"/>
            </a:endParaRPr>
          </a:p>
          <a:p>
            <a:endParaRPr lang="en-IN" sz="2000" dirty="0">
              <a:latin typeface="+mn-lt"/>
            </a:endParaRPr>
          </a:p>
        </p:txBody>
      </p:sp>
      <p:sp>
        <p:nvSpPr>
          <p:cNvPr id="2" name="Google Shape;98;g2eff20282af_0_123">
            <a:extLst>
              <a:ext uri="{FF2B5EF4-FFF2-40B4-BE49-F238E27FC236}">
                <a16:creationId xmlns:a16="http://schemas.microsoft.com/office/drawing/2014/main" id="{F6791382-F25B-E766-C992-2BEC4B65EC19}"/>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
        <p:nvSpPr>
          <p:cNvPr id="4" name="Content Placeholder 2">
            <a:extLst>
              <a:ext uri="{FF2B5EF4-FFF2-40B4-BE49-F238E27FC236}">
                <a16:creationId xmlns:a16="http://schemas.microsoft.com/office/drawing/2014/main" id="{784C23AC-4264-39AA-2F32-0A2CB3EF9067}"/>
              </a:ext>
            </a:extLst>
          </p:cNvPr>
          <p:cNvSpPr txBox="1">
            <a:spLocks/>
          </p:cNvSpPr>
          <p:nvPr/>
        </p:nvSpPr>
        <p:spPr>
          <a:xfrm>
            <a:off x="2670698" y="4289605"/>
            <a:ext cx="9416143" cy="15629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US" sz="2000" dirty="0">
                <a:latin typeface="+mn-lt"/>
              </a:rPr>
              <a:t>Dynamic loading does not require special support from the operating system. </a:t>
            </a:r>
          </a:p>
          <a:p>
            <a:pPr algn="just">
              <a:lnSpc>
                <a:spcPct val="150000"/>
              </a:lnSpc>
            </a:pPr>
            <a:r>
              <a:rPr lang="en-US" sz="2000" dirty="0">
                <a:latin typeface="+mn-lt"/>
              </a:rPr>
              <a:t>It is the responsibility of the users to design their programs to take advantage of such a method. </a:t>
            </a:r>
            <a:endParaRPr lang="en-IN" sz="2000" dirty="0">
              <a:latin typeface="+mn-lt"/>
            </a:endParaRPr>
          </a:p>
        </p:txBody>
      </p:sp>
    </p:spTree>
    <p:extLst>
      <p:ext uri="{BB962C8B-B14F-4D97-AF65-F5344CB8AC3E}">
        <p14:creationId xmlns:p14="http://schemas.microsoft.com/office/powerpoint/2010/main" val="41293441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63711A-5653-D6D4-E0D2-3B90732CBE55}"/>
              </a:ext>
            </a:extLst>
          </p:cNvPr>
          <p:cNvSpPr>
            <a:spLocks noGrp="1"/>
          </p:cNvSpPr>
          <p:nvPr>
            <p:ph idx="1"/>
          </p:nvPr>
        </p:nvSpPr>
        <p:spPr>
          <a:xfrm>
            <a:off x="2590799" y="141514"/>
            <a:ext cx="9416143" cy="6531429"/>
          </a:xfrm>
        </p:spPr>
        <p:txBody>
          <a:bodyPr>
            <a:normAutofit/>
          </a:bodyPr>
          <a:lstStyle/>
          <a:p>
            <a:pPr marL="0" indent="0" algn="ctr">
              <a:lnSpc>
                <a:spcPct val="150000"/>
              </a:lnSpc>
              <a:buNone/>
            </a:pPr>
            <a:r>
              <a:rPr lang="en-US" sz="2400" b="1" dirty="0">
                <a:solidFill>
                  <a:srgbClr val="FF0000"/>
                </a:solidFill>
                <a:effectLst/>
                <a:latin typeface="+mn-lt"/>
                <a:ea typeface="Calibri" panose="020F0502020204030204" pitchFamily="34" charset="0"/>
                <a:cs typeface="Times New Roman" panose="02020603050405020304" pitchFamily="18" charset="0"/>
              </a:rPr>
              <a:t>Dynamic Linking and Shared Libraries</a:t>
            </a:r>
            <a:endParaRPr lang="en-IN" sz="2400" dirty="0">
              <a:solidFill>
                <a:srgbClr val="FF0000"/>
              </a:solidFill>
              <a:effectLst/>
              <a:latin typeface="+mn-lt"/>
              <a:ea typeface="Calibri" panose="020F0502020204030204" pitchFamily="34" charset="0"/>
              <a:cs typeface="Times New Roman" panose="02020603050405020304" pitchFamily="18" charset="0"/>
            </a:endParaRPr>
          </a:p>
          <a:p>
            <a:pPr marL="0" indent="0" algn="just">
              <a:lnSpc>
                <a:spcPct val="150000"/>
              </a:lnSpc>
              <a:buNone/>
            </a:pPr>
            <a:r>
              <a:rPr lang="en-IN" sz="2400" dirty="0">
                <a:latin typeface="+mn-lt"/>
              </a:rPr>
              <a:t>When a program runs, apart from its own modules, it also needs to use certain system libraries as well.</a:t>
            </a:r>
          </a:p>
          <a:p>
            <a:pPr marL="0" indent="0" algn="just">
              <a:lnSpc>
                <a:spcPct val="150000"/>
              </a:lnSpc>
              <a:buNone/>
            </a:pPr>
            <a:r>
              <a:rPr lang="en-IN" sz="2400" dirty="0">
                <a:latin typeface="+mn-lt"/>
              </a:rPr>
              <a:t>Static Linking:- System language libraries are treated like any other object module and are combined by the loader into the binary program image.</a:t>
            </a:r>
          </a:p>
          <a:p>
            <a:pPr marL="0" indent="0" algn="just">
              <a:lnSpc>
                <a:spcPct val="150000"/>
              </a:lnSpc>
              <a:buNone/>
            </a:pPr>
            <a:r>
              <a:rPr lang="en-IN" sz="2400" dirty="0">
                <a:latin typeface="+mn-lt"/>
              </a:rPr>
              <a:t>Disadvantage:- Each program on a system must include a copy of its language library (or at least the routines referenced by the program) in the executable image. This requirement both disk and main memory space.</a:t>
            </a:r>
          </a:p>
          <a:p>
            <a:pPr marL="0" indent="0">
              <a:buNone/>
            </a:pPr>
            <a:r>
              <a:rPr lang="en-IN" sz="2400" dirty="0">
                <a:latin typeface="+mn-lt"/>
              </a:rPr>
              <a:t>Dynamic loading :- Checks  to see whether the needed routine is already in memory.</a:t>
            </a:r>
          </a:p>
          <a:p>
            <a:pPr marL="0" indent="0">
              <a:buNone/>
            </a:pPr>
            <a:r>
              <a:rPr lang="en-IN" sz="2400" dirty="0">
                <a:latin typeface="+mn-lt"/>
              </a:rPr>
              <a:t>If not, the routine is loaded into memory.</a:t>
            </a:r>
          </a:p>
        </p:txBody>
      </p:sp>
      <p:sp>
        <p:nvSpPr>
          <p:cNvPr id="2" name="Google Shape;98;g2eff20282af_0_123">
            <a:extLst>
              <a:ext uri="{FF2B5EF4-FFF2-40B4-BE49-F238E27FC236}">
                <a16:creationId xmlns:a16="http://schemas.microsoft.com/office/drawing/2014/main" id="{2D369957-9C8A-CF1E-0316-22DE8B6D6775}"/>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0233796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C0A150-B076-6F98-1F3C-B613CAAF36A1}"/>
              </a:ext>
            </a:extLst>
          </p:cNvPr>
          <p:cNvSpPr>
            <a:spLocks noGrp="1"/>
          </p:cNvSpPr>
          <p:nvPr>
            <p:ph idx="1"/>
          </p:nvPr>
        </p:nvSpPr>
        <p:spPr>
          <a:xfrm>
            <a:off x="2601686" y="163286"/>
            <a:ext cx="9481457" cy="6596743"/>
          </a:xfrm>
        </p:spPr>
        <p:txBody>
          <a:bodyPr>
            <a:normAutofit/>
          </a:bodyPr>
          <a:lstStyle/>
          <a:p>
            <a:pPr marL="0" indent="0" algn="just">
              <a:lnSpc>
                <a:spcPct val="150000"/>
              </a:lnSpc>
              <a:buNone/>
            </a:pPr>
            <a:r>
              <a:rPr lang="en-IN" sz="2400" dirty="0">
                <a:latin typeface="+mn-lt"/>
              </a:rPr>
              <a:t>The concept of dynamic linking is similar to that of dynamic loading. But here, linking rather than loading, is postponed until execution time. </a:t>
            </a:r>
          </a:p>
          <a:p>
            <a:pPr marL="0" indent="0" algn="just">
              <a:lnSpc>
                <a:spcPct val="150000"/>
              </a:lnSpc>
              <a:buNone/>
            </a:pPr>
            <a:r>
              <a:rPr lang="en-IN" sz="2400" b="1" dirty="0">
                <a:solidFill>
                  <a:srgbClr val="0000FF"/>
                </a:solidFill>
                <a:latin typeface="+mn-lt"/>
              </a:rPr>
              <a:t>Dynamically Linked Libraries</a:t>
            </a:r>
          </a:p>
          <a:p>
            <a:pPr marL="0" indent="0" algn="just">
              <a:lnSpc>
                <a:spcPct val="150000"/>
              </a:lnSpc>
              <a:buNone/>
            </a:pPr>
            <a:r>
              <a:rPr lang="en-IN" sz="2400" dirty="0">
                <a:latin typeface="+mn-lt"/>
              </a:rPr>
              <a:t>With dynamic linking, a stub is included in the image for each library routine reference.</a:t>
            </a:r>
          </a:p>
          <a:p>
            <a:pPr marL="0" indent="0" algn="just">
              <a:lnSpc>
                <a:spcPct val="150000"/>
              </a:lnSpc>
              <a:buNone/>
            </a:pPr>
            <a:r>
              <a:rPr lang="en-IN" sz="2400" b="1" dirty="0">
                <a:latin typeface="+mn-lt"/>
              </a:rPr>
              <a:t>Stub :- </a:t>
            </a:r>
            <a:r>
              <a:rPr lang="en-IN" sz="2400" dirty="0">
                <a:latin typeface="+mn-lt"/>
              </a:rPr>
              <a:t>A small piece of code that indicates how to locate the appropriate memory resident library routine or how to load the library if the routine is not already present.</a:t>
            </a:r>
          </a:p>
          <a:p>
            <a:pPr marL="0" indent="0" algn="just">
              <a:lnSpc>
                <a:spcPct val="150000"/>
              </a:lnSpc>
              <a:buNone/>
            </a:pPr>
            <a:r>
              <a:rPr lang="en-IN" sz="2400" dirty="0">
                <a:latin typeface="+mn-lt"/>
              </a:rPr>
              <a:t>When the stub is executed, it checks to see whether the </a:t>
            </a:r>
            <a:r>
              <a:rPr lang="en-IN" sz="2400" dirty="0" err="1">
                <a:latin typeface="+mn-lt"/>
              </a:rPr>
              <a:t>neede</a:t>
            </a:r>
            <a:r>
              <a:rPr lang="en-IN" sz="2400" dirty="0">
                <a:latin typeface="+mn-lt"/>
              </a:rPr>
              <a:t> routine is already in memory.</a:t>
            </a:r>
          </a:p>
          <a:p>
            <a:pPr marL="0" indent="0" algn="just">
              <a:lnSpc>
                <a:spcPct val="150000"/>
              </a:lnSpc>
              <a:buNone/>
            </a:pPr>
            <a:endParaRPr lang="en-IN" sz="2400" dirty="0">
              <a:latin typeface="+mn-lt"/>
            </a:endParaRPr>
          </a:p>
          <a:p>
            <a:pPr marL="0" indent="0" algn="just">
              <a:lnSpc>
                <a:spcPct val="150000"/>
              </a:lnSpc>
              <a:buNone/>
            </a:pPr>
            <a:endParaRPr lang="en-IN" sz="2400" dirty="0">
              <a:latin typeface="+mn-lt"/>
            </a:endParaRPr>
          </a:p>
        </p:txBody>
      </p:sp>
      <p:sp>
        <p:nvSpPr>
          <p:cNvPr id="2" name="Google Shape;98;g2eff20282af_0_123">
            <a:extLst>
              <a:ext uri="{FF2B5EF4-FFF2-40B4-BE49-F238E27FC236}">
                <a16:creationId xmlns:a16="http://schemas.microsoft.com/office/drawing/2014/main" id="{C93EF693-08B9-DB8B-C6A1-CABE1F259786}"/>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672746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C0A150-B076-6F98-1F3C-B613CAAF36A1}"/>
              </a:ext>
            </a:extLst>
          </p:cNvPr>
          <p:cNvSpPr>
            <a:spLocks noGrp="1"/>
          </p:cNvSpPr>
          <p:nvPr>
            <p:ph idx="1"/>
          </p:nvPr>
        </p:nvSpPr>
        <p:spPr>
          <a:xfrm>
            <a:off x="2420961" y="1512692"/>
            <a:ext cx="9546772" cy="4115751"/>
          </a:xfrm>
        </p:spPr>
        <p:txBody>
          <a:bodyPr>
            <a:normAutofit/>
          </a:bodyPr>
          <a:lstStyle/>
          <a:p>
            <a:pPr algn="just">
              <a:lnSpc>
                <a:spcPct val="150000"/>
              </a:lnSpc>
            </a:pPr>
            <a:r>
              <a:rPr lang="en-IN" sz="2400" dirty="0">
                <a:latin typeface="+mn-lt"/>
              </a:rPr>
              <a:t>If not, the program loads the routine into memory.</a:t>
            </a:r>
          </a:p>
          <a:p>
            <a:pPr algn="just">
              <a:lnSpc>
                <a:spcPct val="150000"/>
              </a:lnSpc>
            </a:pPr>
            <a:r>
              <a:rPr lang="en-IN" sz="2400" dirty="0">
                <a:latin typeface="+mn-lt"/>
              </a:rPr>
              <a:t>Either way, the stub replaces itself with the address of the routine and execute the routine.</a:t>
            </a:r>
          </a:p>
          <a:p>
            <a:pPr algn="just">
              <a:lnSpc>
                <a:spcPct val="150000"/>
              </a:lnSpc>
            </a:pPr>
            <a:r>
              <a:rPr lang="en-IN" sz="2400" dirty="0">
                <a:latin typeface="+mn-lt"/>
              </a:rPr>
              <a:t>Thus, the next time that particular code segment is reached, the library routine is executed directly, incurring no cost for dynamic linking. </a:t>
            </a:r>
          </a:p>
        </p:txBody>
      </p:sp>
      <p:sp>
        <p:nvSpPr>
          <p:cNvPr id="2" name="Google Shape;98;g2eff20282af_0_123">
            <a:extLst>
              <a:ext uri="{FF2B5EF4-FFF2-40B4-BE49-F238E27FC236}">
                <a16:creationId xmlns:a16="http://schemas.microsoft.com/office/drawing/2014/main" id="{FDC1BB22-71A4-6178-4B08-92579E83EB9B}"/>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8097420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C0A150-B076-6F98-1F3C-B613CAAF36A1}"/>
              </a:ext>
            </a:extLst>
          </p:cNvPr>
          <p:cNvSpPr>
            <a:spLocks noGrp="1"/>
          </p:cNvSpPr>
          <p:nvPr>
            <p:ph idx="1"/>
          </p:nvPr>
        </p:nvSpPr>
        <p:spPr>
          <a:xfrm>
            <a:off x="2536371" y="163286"/>
            <a:ext cx="9546772" cy="6596743"/>
          </a:xfrm>
        </p:spPr>
        <p:txBody>
          <a:bodyPr>
            <a:normAutofit/>
          </a:bodyPr>
          <a:lstStyle/>
          <a:p>
            <a:pPr marL="0" indent="0" algn="ctr">
              <a:lnSpc>
                <a:spcPct val="150000"/>
              </a:lnSpc>
              <a:buNone/>
            </a:pPr>
            <a:r>
              <a:rPr lang="en-IN" sz="2400" b="1" dirty="0">
                <a:solidFill>
                  <a:srgbClr val="FF0000"/>
                </a:solidFill>
                <a:latin typeface="+mn-lt"/>
              </a:rPr>
              <a:t>Swapping</a:t>
            </a:r>
          </a:p>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A process must be in memory to be executed. </a:t>
            </a:r>
          </a:p>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A process, however, can be swapped temporarily out of memory to a backing store and then brought back into memory for continued execution. </a:t>
            </a:r>
          </a:p>
          <a:p>
            <a:pPr marL="0" indent="0" algn="just">
              <a:lnSpc>
                <a:spcPct val="150000"/>
              </a:lnSpc>
              <a:buNone/>
            </a:pPr>
            <a:r>
              <a:rPr lang="en-US" sz="2400" dirty="0">
                <a:latin typeface="+mn-lt"/>
                <a:ea typeface="Calibri" panose="020F0502020204030204" pitchFamily="34" charset="0"/>
                <a:cs typeface="Times New Roman" panose="02020603050405020304" pitchFamily="18" charset="0"/>
              </a:rPr>
              <a:t>E</a:t>
            </a:r>
            <a:r>
              <a:rPr lang="en-US" sz="2400" dirty="0">
                <a:effectLst/>
                <a:latin typeface="+mn-lt"/>
                <a:ea typeface="Calibri" panose="020F0502020204030204" pitchFamily="34" charset="0"/>
                <a:cs typeface="Times New Roman" panose="02020603050405020304" pitchFamily="18" charset="0"/>
              </a:rPr>
              <a:t>xample</a:t>
            </a:r>
          </a:p>
          <a:p>
            <a:pPr marL="0" indent="0" algn="just">
              <a:lnSpc>
                <a:spcPct val="150000"/>
              </a:lnSpc>
              <a:buNone/>
            </a:pPr>
            <a:r>
              <a:rPr lang="en-US" sz="2400" dirty="0">
                <a:latin typeface="+mn-lt"/>
                <a:ea typeface="Calibri" panose="020F0502020204030204" pitchFamily="34" charset="0"/>
                <a:cs typeface="Times New Roman" panose="02020603050405020304" pitchFamily="18" charset="0"/>
              </a:rPr>
              <a:t>In </a:t>
            </a:r>
            <a:r>
              <a:rPr lang="en-US" sz="2400" dirty="0">
                <a:effectLst/>
                <a:latin typeface="+mn-lt"/>
                <a:ea typeface="Calibri" panose="020F0502020204030204" pitchFamily="34" charset="0"/>
                <a:cs typeface="Times New Roman" panose="02020603050405020304" pitchFamily="18" charset="0"/>
              </a:rPr>
              <a:t>a multiprogramming environment with a round-robin CPU-scheduling algorithm. </a:t>
            </a:r>
          </a:p>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When a quantum expires, the memory manager will start to swap out the process that just finished and to swap another process into the memory space that has been freed.</a:t>
            </a:r>
            <a:endParaRPr lang="en-IN" sz="2400" dirty="0">
              <a:effectLst/>
              <a:latin typeface="+mn-lt"/>
              <a:ea typeface="Calibri" panose="020F0502020204030204" pitchFamily="34" charset="0"/>
              <a:cs typeface="Times New Roman" panose="02020603050405020304" pitchFamily="18" charset="0"/>
            </a:endParaRPr>
          </a:p>
          <a:p>
            <a:endParaRPr lang="en-IN" sz="2000" dirty="0">
              <a:latin typeface="+mn-lt"/>
            </a:endParaRPr>
          </a:p>
        </p:txBody>
      </p:sp>
      <p:sp>
        <p:nvSpPr>
          <p:cNvPr id="2" name="Google Shape;98;g2eff20282af_0_123">
            <a:extLst>
              <a:ext uri="{FF2B5EF4-FFF2-40B4-BE49-F238E27FC236}">
                <a16:creationId xmlns:a16="http://schemas.microsoft.com/office/drawing/2014/main" id="{CC4F420B-5F84-A6EB-9250-42A8BD6EC7EC}"/>
              </a:ext>
            </a:extLst>
          </p:cNvPr>
          <p:cNvSpPr txBox="1"/>
          <p:nvPr/>
        </p:nvSpPr>
        <p:spPr>
          <a:xfrm>
            <a:off x="524064" y="3882568"/>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0414703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a:extLst>
              <a:ext uri="{FF2B5EF4-FFF2-40B4-BE49-F238E27FC236}">
                <a16:creationId xmlns:a16="http://schemas.microsoft.com/office/drawing/2014/main" id="{99874B44-E9E0-9201-1AB9-A33D33EF934D}"/>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037114" y="272143"/>
            <a:ext cx="8762999" cy="5641144"/>
          </a:xfrm>
          <a:prstGeom prst="rect">
            <a:avLst/>
          </a:prstGeom>
          <a:noFill/>
          <a:ln>
            <a:noFill/>
          </a:ln>
        </p:spPr>
      </p:pic>
      <p:sp>
        <p:nvSpPr>
          <p:cNvPr id="5" name="TextBox 4">
            <a:extLst>
              <a:ext uri="{FF2B5EF4-FFF2-40B4-BE49-F238E27FC236}">
                <a16:creationId xmlns:a16="http://schemas.microsoft.com/office/drawing/2014/main" id="{DDD35CCE-BC58-8E6F-AA26-35969803BC38}"/>
              </a:ext>
            </a:extLst>
          </p:cNvPr>
          <p:cNvSpPr txBox="1"/>
          <p:nvPr/>
        </p:nvSpPr>
        <p:spPr>
          <a:xfrm>
            <a:off x="4199162" y="5913287"/>
            <a:ext cx="6406243" cy="506292"/>
          </a:xfrm>
          <a:prstGeom prst="rect">
            <a:avLst/>
          </a:prstGeom>
          <a:noFill/>
        </p:spPr>
        <p:txBody>
          <a:bodyPr wrap="square">
            <a:spAutoFit/>
          </a:bodyPr>
          <a:lstStyle/>
          <a:p>
            <a:pPr algn="ctr">
              <a:lnSpc>
                <a:spcPct val="150000"/>
              </a:lnSpc>
              <a:spcAft>
                <a:spcPts val="800"/>
              </a:spcAft>
            </a:pPr>
            <a:r>
              <a:rPr lang="en-US" sz="2000" dirty="0">
                <a:effectLst/>
                <a:ea typeface="Calibri" panose="020F0502020204030204" pitchFamily="34" charset="0"/>
                <a:cs typeface="Times New Roman" panose="02020603050405020304" pitchFamily="18" charset="0"/>
              </a:rPr>
              <a:t>Swapping of two processes using a disk as a backing store.</a:t>
            </a:r>
            <a:endParaRPr lang="en-IN" sz="2000" dirty="0">
              <a:effectLst/>
              <a:ea typeface="Calibri" panose="020F0502020204030204" pitchFamily="34" charset="0"/>
              <a:cs typeface="Times New Roman" panose="02020603050405020304" pitchFamily="18" charset="0"/>
            </a:endParaRPr>
          </a:p>
        </p:txBody>
      </p:sp>
      <p:sp>
        <p:nvSpPr>
          <p:cNvPr id="3" name="Google Shape;98;g2eff20282af_0_123">
            <a:extLst>
              <a:ext uri="{FF2B5EF4-FFF2-40B4-BE49-F238E27FC236}">
                <a16:creationId xmlns:a16="http://schemas.microsoft.com/office/drawing/2014/main" id="{52421AD3-4190-530A-4F3A-6CE2F63D3507}"/>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5323427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C0A150-B076-6F98-1F3C-B613CAAF36A1}"/>
              </a:ext>
            </a:extLst>
          </p:cNvPr>
          <p:cNvSpPr>
            <a:spLocks noGrp="1"/>
          </p:cNvSpPr>
          <p:nvPr>
            <p:ph idx="1"/>
          </p:nvPr>
        </p:nvSpPr>
        <p:spPr>
          <a:xfrm>
            <a:off x="2536371" y="163286"/>
            <a:ext cx="9546772" cy="6596743"/>
          </a:xfrm>
        </p:spPr>
        <p:txBody>
          <a:bodyPr>
            <a:normAutofit/>
          </a:bodyPr>
          <a:lstStyle/>
          <a:p>
            <a:pPr marL="0" indent="0" algn="just">
              <a:lnSpc>
                <a:spcPct val="150000"/>
              </a:lnSpc>
              <a:buNone/>
            </a:pPr>
            <a:r>
              <a:rPr lang="en-IN" sz="2400" dirty="0">
                <a:solidFill>
                  <a:srgbClr val="0000FF"/>
                </a:solidFill>
                <a:latin typeface="+mn-lt"/>
              </a:rPr>
              <a:t>Memory space where Swapping happens</a:t>
            </a:r>
          </a:p>
          <a:p>
            <a:pPr marL="0" indent="0" algn="just">
              <a:lnSpc>
                <a:spcPct val="150000"/>
              </a:lnSpc>
              <a:buNone/>
            </a:pPr>
            <a:r>
              <a:rPr lang="en-IN" sz="2400" dirty="0">
                <a:latin typeface="+mn-lt"/>
              </a:rPr>
              <a:t>Normally</a:t>
            </a:r>
          </a:p>
          <a:p>
            <a:pPr marL="0" indent="0" algn="just">
              <a:lnSpc>
                <a:spcPct val="150000"/>
              </a:lnSpc>
              <a:buNone/>
            </a:pPr>
            <a:r>
              <a:rPr lang="en-IN" sz="2400" dirty="0">
                <a:latin typeface="+mn-lt"/>
              </a:rPr>
              <a:t>A process that is swapped out will be swapped back into the same memory space it occupied previously.</a:t>
            </a:r>
          </a:p>
          <a:p>
            <a:pPr marL="0" indent="0" algn="just">
              <a:lnSpc>
                <a:spcPct val="150000"/>
              </a:lnSpc>
              <a:buNone/>
            </a:pPr>
            <a:r>
              <a:rPr lang="en-IN" sz="2400" dirty="0">
                <a:latin typeface="+mn-lt"/>
              </a:rPr>
              <a:t>But it depends on the address binding method.</a:t>
            </a:r>
          </a:p>
          <a:p>
            <a:pPr marL="0" indent="0" algn="just">
              <a:lnSpc>
                <a:spcPct val="150000"/>
              </a:lnSpc>
              <a:buNone/>
            </a:pPr>
            <a:r>
              <a:rPr lang="en-IN" sz="2400" dirty="0">
                <a:latin typeface="+mn-lt"/>
              </a:rPr>
              <a:t>If binding is done at assembly or load time : The process cannot be easily moved to a different location. </a:t>
            </a:r>
          </a:p>
          <a:p>
            <a:pPr marL="0" indent="0" algn="just">
              <a:lnSpc>
                <a:spcPct val="150000"/>
              </a:lnSpc>
              <a:buNone/>
            </a:pPr>
            <a:r>
              <a:rPr lang="en-IN" sz="2400" dirty="0">
                <a:latin typeface="+mn-lt"/>
              </a:rPr>
              <a:t>If the binding is done at execution time:- The process can be swapped into a different memory space, because the physical addresses are computed during execution time.</a:t>
            </a:r>
          </a:p>
          <a:p>
            <a:endParaRPr lang="en-IN" sz="2000" dirty="0">
              <a:latin typeface="+mn-lt"/>
            </a:endParaRPr>
          </a:p>
        </p:txBody>
      </p:sp>
      <p:sp>
        <p:nvSpPr>
          <p:cNvPr id="2" name="Google Shape;98;g2eff20282af_0_123">
            <a:extLst>
              <a:ext uri="{FF2B5EF4-FFF2-40B4-BE49-F238E27FC236}">
                <a16:creationId xmlns:a16="http://schemas.microsoft.com/office/drawing/2014/main" id="{9A7324CD-653C-BBF0-817D-C0851E95427C}"/>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0481110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C0A150-B076-6F98-1F3C-B613CAAF36A1}"/>
              </a:ext>
            </a:extLst>
          </p:cNvPr>
          <p:cNvSpPr>
            <a:spLocks noGrp="1"/>
          </p:cNvSpPr>
          <p:nvPr>
            <p:ph idx="1"/>
          </p:nvPr>
        </p:nvSpPr>
        <p:spPr>
          <a:xfrm>
            <a:off x="2536371" y="163286"/>
            <a:ext cx="9546772" cy="6596743"/>
          </a:xfrm>
        </p:spPr>
        <p:txBody>
          <a:bodyPr>
            <a:normAutofit/>
          </a:bodyPr>
          <a:lstStyle/>
          <a:p>
            <a:pPr marL="0" indent="0" algn="just">
              <a:lnSpc>
                <a:spcPct val="150000"/>
              </a:lnSpc>
              <a:buNone/>
            </a:pPr>
            <a:r>
              <a:rPr lang="en-IN" sz="2400" dirty="0">
                <a:solidFill>
                  <a:srgbClr val="0000FF"/>
                </a:solidFill>
                <a:latin typeface="+mn-lt"/>
              </a:rPr>
              <a:t>Memory space where Swapping happens</a:t>
            </a:r>
          </a:p>
          <a:p>
            <a:pPr marL="0" indent="0" algn="just">
              <a:lnSpc>
                <a:spcPct val="150000"/>
              </a:lnSpc>
              <a:buNone/>
            </a:pPr>
            <a:r>
              <a:rPr lang="en-IN" sz="2400" dirty="0">
                <a:latin typeface="+mn-lt"/>
              </a:rPr>
              <a:t>Normally</a:t>
            </a:r>
          </a:p>
          <a:p>
            <a:pPr marL="0" indent="0" algn="just">
              <a:lnSpc>
                <a:spcPct val="150000"/>
              </a:lnSpc>
              <a:buNone/>
            </a:pPr>
            <a:r>
              <a:rPr lang="en-IN" sz="2400" dirty="0">
                <a:latin typeface="+mn-lt"/>
              </a:rPr>
              <a:t>A process that is swapped out will be swapped back into the same memory space it occupied previously.</a:t>
            </a:r>
          </a:p>
          <a:p>
            <a:pPr marL="0" indent="0" algn="just">
              <a:lnSpc>
                <a:spcPct val="150000"/>
              </a:lnSpc>
              <a:buNone/>
            </a:pPr>
            <a:r>
              <a:rPr lang="en-IN" sz="2400" dirty="0">
                <a:latin typeface="+mn-lt"/>
              </a:rPr>
              <a:t>But it depends on the address binding method.</a:t>
            </a:r>
          </a:p>
          <a:p>
            <a:pPr marL="0" indent="0" algn="just">
              <a:lnSpc>
                <a:spcPct val="150000"/>
              </a:lnSpc>
              <a:buNone/>
            </a:pPr>
            <a:r>
              <a:rPr lang="en-IN" sz="2400" dirty="0">
                <a:latin typeface="+mn-lt"/>
              </a:rPr>
              <a:t>If binding is done at assembly or load time : The process cannot be easily moved to a different location. </a:t>
            </a:r>
          </a:p>
          <a:p>
            <a:pPr marL="0" indent="0" algn="just">
              <a:lnSpc>
                <a:spcPct val="150000"/>
              </a:lnSpc>
              <a:buNone/>
            </a:pPr>
            <a:r>
              <a:rPr lang="en-IN" sz="2400" dirty="0">
                <a:latin typeface="+mn-lt"/>
              </a:rPr>
              <a:t>If the binding is done at execution time:- The process can be swapped into a different memory space, because the physical addresses are computed during execution time.</a:t>
            </a:r>
          </a:p>
          <a:p>
            <a:endParaRPr lang="en-IN" sz="2000" dirty="0">
              <a:latin typeface="+mn-lt"/>
            </a:endParaRPr>
          </a:p>
        </p:txBody>
      </p:sp>
      <p:sp>
        <p:nvSpPr>
          <p:cNvPr id="2" name="Google Shape;98;g2eff20282af_0_123">
            <a:extLst>
              <a:ext uri="{FF2B5EF4-FFF2-40B4-BE49-F238E27FC236}">
                <a16:creationId xmlns:a16="http://schemas.microsoft.com/office/drawing/2014/main" id="{9A7324CD-653C-BBF0-817D-C0851E95427C}"/>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4953737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C0A150-B076-6F98-1F3C-B613CAAF36A1}"/>
              </a:ext>
            </a:extLst>
          </p:cNvPr>
          <p:cNvSpPr>
            <a:spLocks noGrp="1"/>
          </p:cNvSpPr>
          <p:nvPr>
            <p:ph idx="1"/>
          </p:nvPr>
        </p:nvSpPr>
        <p:spPr>
          <a:xfrm>
            <a:off x="2536371" y="130628"/>
            <a:ext cx="9546772" cy="6727372"/>
          </a:xfrm>
        </p:spPr>
        <p:txBody>
          <a:bodyPr>
            <a:normAutofit lnSpcReduction="10000"/>
          </a:bodyPr>
          <a:lstStyle/>
          <a:p>
            <a:pPr marL="0" indent="0" algn="just">
              <a:lnSpc>
                <a:spcPct val="150000"/>
              </a:lnSpc>
              <a:buNone/>
            </a:pPr>
            <a:r>
              <a:rPr lang="en-US" sz="2400" b="1" dirty="0">
                <a:solidFill>
                  <a:srgbClr val="0000FF"/>
                </a:solidFill>
                <a:effectLst/>
                <a:latin typeface="+mn-lt"/>
                <a:ea typeface="Calibri" panose="020F0502020204030204" pitchFamily="34" charset="0"/>
                <a:cs typeface="Times New Roman" panose="02020603050405020304" pitchFamily="18" charset="0"/>
              </a:rPr>
              <a:t>Backing store</a:t>
            </a:r>
          </a:p>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Swapping requires a backing store. </a:t>
            </a:r>
          </a:p>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The backing store is commonly a fast disk. </a:t>
            </a:r>
          </a:p>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It must be large enough to accommodate copies of all memory images for all users.</a:t>
            </a:r>
          </a:p>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 It must provide direct access to these memory images. </a:t>
            </a:r>
          </a:p>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The system maintains a ready queue consisting of all processes whose memory images are on the backing store or in memory and are ready to run. </a:t>
            </a:r>
          </a:p>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Whenever the CPU scheduler decides to execute a process, it calls the dispatcher. </a:t>
            </a:r>
          </a:p>
          <a:p>
            <a:endParaRPr lang="en-IN" sz="2000" dirty="0">
              <a:latin typeface="+mn-lt"/>
            </a:endParaRPr>
          </a:p>
        </p:txBody>
      </p:sp>
      <p:sp>
        <p:nvSpPr>
          <p:cNvPr id="2" name="Google Shape;98;g2eff20282af_0_123">
            <a:extLst>
              <a:ext uri="{FF2B5EF4-FFF2-40B4-BE49-F238E27FC236}">
                <a16:creationId xmlns:a16="http://schemas.microsoft.com/office/drawing/2014/main" id="{DCB4829E-EB4F-F584-D1B2-4E82DD3730D0}"/>
              </a:ext>
            </a:extLst>
          </p:cNvPr>
          <p:cNvSpPr txBox="1"/>
          <p:nvPr/>
        </p:nvSpPr>
        <p:spPr>
          <a:xfrm>
            <a:off x="524064" y="3882568"/>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0160931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C0A150-B076-6F98-1F3C-B613CAAF36A1}"/>
              </a:ext>
            </a:extLst>
          </p:cNvPr>
          <p:cNvSpPr>
            <a:spLocks noGrp="1"/>
          </p:cNvSpPr>
          <p:nvPr>
            <p:ph idx="1"/>
          </p:nvPr>
        </p:nvSpPr>
        <p:spPr>
          <a:xfrm>
            <a:off x="2571882" y="1015543"/>
            <a:ext cx="9546772" cy="3710404"/>
          </a:xfrm>
        </p:spPr>
        <p:txBody>
          <a:bodyPr>
            <a:normAutofit/>
          </a:bodyPr>
          <a:lstStyle/>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The dispatcher checks to see whether the next process in the queue is in memory. </a:t>
            </a:r>
          </a:p>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If it is not, and if there is no free memory region, the dispatcher swaps out a process currently in memory and swaps in the desired process.</a:t>
            </a:r>
          </a:p>
          <a:p>
            <a:pPr marL="0" indent="0" algn="just">
              <a:lnSpc>
                <a:spcPct val="150000"/>
              </a:lnSpc>
              <a:buNone/>
            </a:pPr>
            <a:r>
              <a:rPr lang="en-US" sz="2400" dirty="0">
                <a:latin typeface="+mn-lt"/>
                <a:ea typeface="Calibri" panose="020F0502020204030204" pitchFamily="34" charset="0"/>
                <a:cs typeface="Times New Roman" panose="02020603050405020304" pitchFamily="18" charset="0"/>
              </a:rPr>
              <a:t>It then reloads registers and transfers control to the selected process.</a:t>
            </a:r>
            <a:endParaRPr lang="en-IN" sz="2400" dirty="0">
              <a:effectLst/>
              <a:latin typeface="+mn-lt"/>
              <a:ea typeface="Calibri" panose="020F0502020204030204" pitchFamily="34" charset="0"/>
              <a:cs typeface="Times New Roman" panose="02020603050405020304" pitchFamily="18" charset="0"/>
            </a:endParaRPr>
          </a:p>
          <a:p>
            <a:endParaRPr lang="en-IN" sz="2000" dirty="0">
              <a:latin typeface="+mn-lt"/>
            </a:endParaRPr>
          </a:p>
        </p:txBody>
      </p:sp>
      <p:sp>
        <p:nvSpPr>
          <p:cNvPr id="2" name="Google Shape;98;g2eff20282af_0_123">
            <a:extLst>
              <a:ext uri="{FF2B5EF4-FFF2-40B4-BE49-F238E27FC236}">
                <a16:creationId xmlns:a16="http://schemas.microsoft.com/office/drawing/2014/main" id="{80317D8A-B852-D099-75F7-4ECAB3786DAE}"/>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835258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C0A150-B076-6F98-1F3C-B613CAAF36A1}"/>
              </a:ext>
            </a:extLst>
          </p:cNvPr>
          <p:cNvSpPr>
            <a:spLocks noGrp="1"/>
          </p:cNvSpPr>
          <p:nvPr>
            <p:ph idx="1"/>
          </p:nvPr>
        </p:nvSpPr>
        <p:spPr>
          <a:xfrm>
            <a:off x="2536371" y="163286"/>
            <a:ext cx="9546772" cy="6596743"/>
          </a:xfrm>
        </p:spPr>
        <p:txBody>
          <a:bodyPr>
            <a:normAutofit lnSpcReduction="10000"/>
          </a:bodyPr>
          <a:lstStyle/>
          <a:p>
            <a:pPr marL="0" indent="0">
              <a:buNone/>
            </a:pPr>
            <a:r>
              <a:rPr lang="en-IN" sz="2400" b="1" dirty="0">
                <a:solidFill>
                  <a:srgbClr val="FF0000"/>
                </a:solidFill>
                <a:latin typeface="+mn-lt"/>
              </a:rPr>
              <a:t>Swap Time</a:t>
            </a:r>
          </a:p>
          <a:p>
            <a:pPr marL="0" indent="0" algn="just">
              <a:lnSpc>
                <a:spcPct val="150000"/>
              </a:lnSpc>
              <a:buNone/>
            </a:pPr>
            <a:r>
              <a:rPr lang="en-IN" sz="2400" dirty="0">
                <a:latin typeface="+mn-lt"/>
              </a:rPr>
              <a:t>The context switch time in a swapping system is fairly high.</a:t>
            </a:r>
          </a:p>
          <a:p>
            <a:pPr marL="0" indent="0" algn="just">
              <a:lnSpc>
                <a:spcPct val="150000"/>
              </a:lnSpc>
              <a:buNone/>
            </a:pPr>
            <a:r>
              <a:rPr lang="en-IN" sz="2400" dirty="0">
                <a:latin typeface="+mn-lt"/>
              </a:rPr>
              <a:t>Example</a:t>
            </a:r>
          </a:p>
          <a:p>
            <a:pPr marL="0" indent="0" algn="just">
              <a:lnSpc>
                <a:spcPct val="150000"/>
              </a:lnSpc>
              <a:buNone/>
            </a:pPr>
            <a:r>
              <a:rPr lang="en-IN" sz="2400" dirty="0">
                <a:latin typeface="+mn-lt"/>
              </a:rPr>
              <a:t>Let user process Size = 10MB </a:t>
            </a:r>
          </a:p>
          <a:p>
            <a:pPr marL="0" indent="0" algn="just">
              <a:lnSpc>
                <a:spcPct val="150000"/>
              </a:lnSpc>
              <a:buNone/>
            </a:pPr>
            <a:r>
              <a:rPr lang="en-IN" sz="2400" dirty="0">
                <a:latin typeface="+mn-lt"/>
              </a:rPr>
              <a:t>Transfer Rate of Backing Store = 40MB per second.</a:t>
            </a:r>
          </a:p>
          <a:p>
            <a:pPr marL="0" indent="0" algn="just">
              <a:lnSpc>
                <a:spcPct val="150000"/>
              </a:lnSpc>
              <a:buNone/>
            </a:pPr>
            <a:r>
              <a:rPr lang="en-IN" sz="2400" dirty="0">
                <a:latin typeface="+mn-lt"/>
              </a:rPr>
              <a:t>Actual transfer of the 10MB process to or from main memory takes- 10000KB/40000KB per second =  ¼ second = 250milliseconds.</a:t>
            </a:r>
          </a:p>
          <a:p>
            <a:pPr marL="0" indent="0" algn="just">
              <a:lnSpc>
                <a:spcPct val="150000"/>
              </a:lnSpc>
              <a:buNone/>
            </a:pPr>
            <a:r>
              <a:rPr lang="en-IN" sz="2400" dirty="0">
                <a:latin typeface="+mn-lt"/>
              </a:rPr>
              <a:t>Assuming that no head seeks are necessary, and assuming an average latency of 8 milliseconds, the swap time = 258 milliseconds.</a:t>
            </a:r>
          </a:p>
          <a:p>
            <a:pPr marL="0" indent="0" algn="just">
              <a:lnSpc>
                <a:spcPct val="150000"/>
              </a:lnSpc>
              <a:buNone/>
            </a:pPr>
            <a:r>
              <a:rPr lang="en-IN" sz="2400" dirty="0">
                <a:latin typeface="+mn-lt"/>
              </a:rPr>
              <a:t>Since we must both swap out and swap in, the total swap time is = 258 x 2 = 516milliseconds.</a:t>
            </a:r>
          </a:p>
          <a:p>
            <a:endParaRPr lang="en-IN" sz="2000" dirty="0">
              <a:latin typeface="+mn-lt"/>
            </a:endParaRPr>
          </a:p>
        </p:txBody>
      </p:sp>
      <p:sp>
        <p:nvSpPr>
          <p:cNvPr id="2" name="Google Shape;98;g2eff20282af_0_123">
            <a:extLst>
              <a:ext uri="{FF2B5EF4-FFF2-40B4-BE49-F238E27FC236}">
                <a16:creationId xmlns:a16="http://schemas.microsoft.com/office/drawing/2014/main" id="{F4DDCC19-9369-F6A7-FFA4-22C6D3377491}"/>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134669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C0A150-B076-6F98-1F3C-B613CAAF36A1}"/>
              </a:ext>
            </a:extLst>
          </p:cNvPr>
          <p:cNvSpPr>
            <a:spLocks noGrp="1"/>
          </p:cNvSpPr>
          <p:nvPr>
            <p:ph idx="1"/>
          </p:nvPr>
        </p:nvSpPr>
        <p:spPr>
          <a:xfrm>
            <a:off x="2536371" y="163286"/>
            <a:ext cx="9546772" cy="6596743"/>
          </a:xfrm>
        </p:spPr>
        <p:txBody>
          <a:bodyPr>
            <a:normAutofit/>
          </a:bodyPr>
          <a:lstStyle/>
          <a:p>
            <a:pPr marL="0" indent="0" algn="just">
              <a:lnSpc>
                <a:spcPct val="150000"/>
              </a:lnSpc>
              <a:buNone/>
            </a:pPr>
            <a:r>
              <a:rPr lang="en-IN" sz="2400" dirty="0">
                <a:latin typeface="+mn-lt"/>
              </a:rPr>
              <a:t>For efficient CPU utilization, we want the execution time for each process to be long relative to the swap time.</a:t>
            </a:r>
          </a:p>
          <a:p>
            <a:pPr marL="0" indent="0" algn="just">
              <a:lnSpc>
                <a:spcPct val="150000"/>
              </a:lnSpc>
              <a:buNone/>
            </a:pPr>
            <a:r>
              <a:rPr lang="en-IN" sz="2400" dirty="0">
                <a:latin typeface="+mn-lt"/>
              </a:rPr>
              <a:t>Thus, in a round robin CPU scheduling algorithm, for example, the time quantum should be substantially larger than 0.516seconds.</a:t>
            </a:r>
          </a:p>
          <a:p>
            <a:pPr marL="0" indent="0" algn="just">
              <a:lnSpc>
                <a:spcPct val="150000"/>
              </a:lnSpc>
              <a:buNone/>
            </a:pPr>
            <a:r>
              <a:rPr lang="en-IN" sz="2400" dirty="0">
                <a:latin typeface="+mn-lt"/>
              </a:rPr>
              <a:t>The major part of the swap time is transfer time.</a:t>
            </a:r>
          </a:p>
          <a:p>
            <a:pPr marL="0" indent="0" algn="just">
              <a:lnSpc>
                <a:spcPct val="150000"/>
              </a:lnSpc>
              <a:buNone/>
            </a:pPr>
            <a:r>
              <a:rPr lang="en-IN" sz="2400" dirty="0">
                <a:latin typeface="+mn-lt"/>
              </a:rPr>
              <a:t>The total transfer time is directly proportional to the amount of memory swapped.</a:t>
            </a:r>
          </a:p>
          <a:p>
            <a:pPr marL="0" indent="0" algn="just">
              <a:lnSpc>
                <a:spcPct val="150000"/>
              </a:lnSpc>
              <a:buNone/>
            </a:pPr>
            <a:r>
              <a:rPr lang="en-IN" sz="2400" dirty="0">
                <a:latin typeface="+mn-lt"/>
              </a:rPr>
              <a:t>Other factors that affect swapping </a:t>
            </a:r>
          </a:p>
        </p:txBody>
      </p:sp>
      <p:sp>
        <p:nvSpPr>
          <p:cNvPr id="2" name="Google Shape;98;g2eff20282af_0_123">
            <a:extLst>
              <a:ext uri="{FF2B5EF4-FFF2-40B4-BE49-F238E27FC236}">
                <a16:creationId xmlns:a16="http://schemas.microsoft.com/office/drawing/2014/main" id="{831E482E-CF4C-3F14-A019-4E19BCAF7B37}"/>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959989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C0A150-B076-6F98-1F3C-B613CAAF36A1}"/>
              </a:ext>
            </a:extLst>
          </p:cNvPr>
          <p:cNvSpPr>
            <a:spLocks noGrp="1"/>
          </p:cNvSpPr>
          <p:nvPr>
            <p:ph idx="1"/>
          </p:nvPr>
        </p:nvSpPr>
        <p:spPr>
          <a:xfrm>
            <a:off x="2645228" y="1065320"/>
            <a:ext cx="9546772" cy="4083728"/>
          </a:xfrm>
        </p:spPr>
        <p:txBody>
          <a:bodyPr>
            <a:normAutofit/>
          </a:bodyPr>
          <a:lstStyle/>
          <a:p>
            <a:pPr marL="0" indent="0" algn="just">
              <a:lnSpc>
                <a:spcPct val="150000"/>
              </a:lnSpc>
              <a:buNone/>
            </a:pPr>
            <a:r>
              <a:rPr lang="en-IN" sz="2400" dirty="0">
                <a:latin typeface="+mn-lt"/>
              </a:rPr>
              <a:t>A process must be completely idle in order to be swapped.</a:t>
            </a:r>
          </a:p>
          <a:p>
            <a:pPr marL="0" indent="0" algn="just">
              <a:lnSpc>
                <a:spcPct val="150000"/>
              </a:lnSpc>
              <a:buNone/>
            </a:pPr>
            <a:r>
              <a:rPr lang="en-IN" sz="2400" dirty="0">
                <a:latin typeface="+mn-lt"/>
              </a:rPr>
              <a:t>A process may be waiting for an I/O  operation when we want to swap that process to free up memory.</a:t>
            </a:r>
          </a:p>
          <a:p>
            <a:pPr marL="0" indent="0" algn="just">
              <a:lnSpc>
                <a:spcPct val="150000"/>
              </a:lnSpc>
              <a:buNone/>
            </a:pPr>
            <a:r>
              <a:rPr lang="en-IN" sz="2400" dirty="0">
                <a:latin typeface="+mn-lt"/>
              </a:rPr>
              <a:t>If the I/O is asynchronously accessing the user memory for I/O buffers, then the process cannot be swapped.</a:t>
            </a:r>
          </a:p>
          <a:p>
            <a:endParaRPr lang="en-IN" sz="2000" dirty="0">
              <a:latin typeface="+mn-lt"/>
            </a:endParaRPr>
          </a:p>
        </p:txBody>
      </p:sp>
      <p:sp>
        <p:nvSpPr>
          <p:cNvPr id="2" name="Google Shape;98;g2eff20282af_0_123">
            <a:extLst>
              <a:ext uri="{FF2B5EF4-FFF2-40B4-BE49-F238E27FC236}">
                <a16:creationId xmlns:a16="http://schemas.microsoft.com/office/drawing/2014/main" id="{BBE7D9A1-0CC0-BC53-0C22-FCB814479CEB}"/>
              </a:ext>
            </a:extLst>
          </p:cNvPr>
          <p:cNvSpPr txBox="1"/>
          <p:nvPr/>
        </p:nvSpPr>
        <p:spPr>
          <a:xfrm>
            <a:off x="524064" y="3944712"/>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508745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C0A150-B076-6F98-1F3C-B613CAAF36A1}"/>
              </a:ext>
            </a:extLst>
          </p:cNvPr>
          <p:cNvSpPr>
            <a:spLocks noGrp="1"/>
          </p:cNvSpPr>
          <p:nvPr>
            <p:ph idx="1"/>
          </p:nvPr>
        </p:nvSpPr>
        <p:spPr>
          <a:xfrm>
            <a:off x="2536371" y="163286"/>
            <a:ext cx="9546772" cy="6596743"/>
          </a:xfrm>
        </p:spPr>
        <p:txBody>
          <a:bodyPr>
            <a:normAutofit/>
          </a:bodyPr>
          <a:lstStyle/>
          <a:p>
            <a:pPr marL="0" indent="0" algn="ctr">
              <a:lnSpc>
                <a:spcPct val="150000"/>
              </a:lnSpc>
              <a:buNone/>
            </a:pPr>
            <a:r>
              <a:rPr lang="en-IN" sz="2400" b="1" dirty="0">
                <a:solidFill>
                  <a:srgbClr val="FF0000"/>
                </a:solidFill>
                <a:latin typeface="+mn-lt"/>
              </a:rPr>
              <a:t>Memory Allocation</a:t>
            </a:r>
          </a:p>
          <a:p>
            <a:pPr marL="0" indent="0" algn="ctr">
              <a:lnSpc>
                <a:spcPct val="150000"/>
              </a:lnSpc>
              <a:buNone/>
            </a:pPr>
            <a:r>
              <a:rPr lang="en-IN" sz="2400" dirty="0">
                <a:latin typeface="+mn-lt"/>
              </a:rPr>
              <a:t>How to allocate memory?</a:t>
            </a:r>
          </a:p>
          <a:p>
            <a:pPr marL="0" indent="0" algn="ctr">
              <a:lnSpc>
                <a:spcPct val="150000"/>
              </a:lnSpc>
              <a:buNone/>
            </a:pPr>
            <a:r>
              <a:rPr lang="en-IN" sz="2400" dirty="0">
                <a:latin typeface="+mn-lt"/>
              </a:rPr>
              <a:t>Divide memory into several fixed sized partitions. </a:t>
            </a:r>
          </a:p>
          <a:p>
            <a:pPr marL="0" indent="0" algn="ctr">
              <a:lnSpc>
                <a:spcPct val="150000"/>
              </a:lnSpc>
              <a:buNone/>
            </a:pPr>
            <a:r>
              <a:rPr lang="en-IN" sz="2400" dirty="0">
                <a:latin typeface="+mn-lt"/>
              </a:rPr>
              <a:t>Each partition may contain exactly one process.</a:t>
            </a:r>
          </a:p>
          <a:p>
            <a:pPr marL="0" indent="0" algn="ctr">
              <a:lnSpc>
                <a:spcPct val="150000"/>
              </a:lnSpc>
              <a:buNone/>
            </a:pPr>
            <a:r>
              <a:rPr lang="en-IN" sz="2400" dirty="0">
                <a:latin typeface="+mn-lt"/>
              </a:rPr>
              <a:t>When a partition is free, a process is selected form the input queue and is loaded into the free partition.</a:t>
            </a:r>
          </a:p>
          <a:p>
            <a:pPr marL="0" indent="0" algn="ctr">
              <a:lnSpc>
                <a:spcPct val="150000"/>
              </a:lnSpc>
              <a:buNone/>
            </a:pPr>
            <a:r>
              <a:rPr lang="en-IN" sz="2400" dirty="0">
                <a:latin typeface="+mn-lt"/>
              </a:rPr>
              <a:t>When the process terminates, the partition become available for another process.</a:t>
            </a:r>
          </a:p>
          <a:p>
            <a:pPr marL="0" indent="0" algn="ctr">
              <a:lnSpc>
                <a:spcPct val="150000"/>
              </a:lnSpc>
              <a:buNone/>
            </a:pPr>
            <a:r>
              <a:rPr lang="en-IN" sz="2400" dirty="0">
                <a:latin typeface="+mn-lt"/>
              </a:rPr>
              <a:t>This is one of the simplest methods for allocating memory.</a:t>
            </a:r>
          </a:p>
          <a:p>
            <a:pPr marL="0" indent="0" algn="ctr">
              <a:lnSpc>
                <a:spcPct val="150000"/>
              </a:lnSpc>
              <a:buNone/>
            </a:pPr>
            <a:endParaRPr lang="en-IN" sz="2400" dirty="0">
              <a:latin typeface="+mn-lt"/>
            </a:endParaRPr>
          </a:p>
          <a:p>
            <a:pPr marL="0" indent="0">
              <a:buNone/>
            </a:pPr>
            <a:endParaRPr lang="en-IN" sz="2000" dirty="0">
              <a:latin typeface="+mn-lt"/>
            </a:endParaRPr>
          </a:p>
        </p:txBody>
      </p:sp>
      <p:sp>
        <p:nvSpPr>
          <p:cNvPr id="2" name="Google Shape;98;g2eff20282af_0_123">
            <a:extLst>
              <a:ext uri="{FF2B5EF4-FFF2-40B4-BE49-F238E27FC236}">
                <a16:creationId xmlns:a16="http://schemas.microsoft.com/office/drawing/2014/main" id="{20D74821-A3DC-2C3B-40FD-3A9E052F744A}"/>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3479001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C0A150-B076-6F98-1F3C-B613CAAF36A1}"/>
              </a:ext>
            </a:extLst>
          </p:cNvPr>
          <p:cNvSpPr>
            <a:spLocks noGrp="1"/>
          </p:cNvSpPr>
          <p:nvPr>
            <p:ph idx="1"/>
          </p:nvPr>
        </p:nvSpPr>
        <p:spPr>
          <a:xfrm>
            <a:off x="2536371" y="163286"/>
            <a:ext cx="9546772" cy="6596743"/>
          </a:xfrm>
        </p:spPr>
        <p:txBody>
          <a:bodyPr>
            <a:normAutofit/>
          </a:bodyPr>
          <a:lstStyle/>
          <a:p>
            <a:pPr marL="0" indent="0" algn="ctr">
              <a:lnSpc>
                <a:spcPct val="150000"/>
              </a:lnSpc>
              <a:buNone/>
            </a:pPr>
            <a:r>
              <a:rPr lang="en-IN" sz="2400" b="1" dirty="0">
                <a:solidFill>
                  <a:srgbClr val="FF0000"/>
                </a:solidFill>
                <a:latin typeface="+mn-lt"/>
              </a:rPr>
              <a:t>Dynamic Storage Allocation Problem</a:t>
            </a:r>
          </a:p>
          <a:p>
            <a:pPr marL="0" indent="0" algn="just">
              <a:lnSpc>
                <a:spcPct val="150000"/>
              </a:lnSpc>
              <a:buNone/>
            </a:pPr>
            <a:r>
              <a:rPr lang="en-IN" sz="2000" dirty="0">
                <a:latin typeface="+mn-lt"/>
              </a:rPr>
              <a:t>How to satisfy a request of size n from a list of free partitions/holes in main memory?</a:t>
            </a:r>
          </a:p>
          <a:p>
            <a:pPr marL="0" indent="0" algn="just">
              <a:lnSpc>
                <a:spcPct val="150000"/>
              </a:lnSpc>
              <a:buNone/>
            </a:pPr>
            <a:r>
              <a:rPr lang="en-IN" sz="2000" b="1" dirty="0">
                <a:latin typeface="+mn-lt"/>
              </a:rPr>
              <a:t>Solutions:</a:t>
            </a:r>
          </a:p>
          <a:p>
            <a:pPr marL="0" indent="0" algn="just">
              <a:lnSpc>
                <a:spcPct val="150000"/>
              </a:lnSpc>
              <a:buNone/>
            </a:pPr>
            <a:r>
              <a:rPr lang="en-IN" sz="2000" dirty="0">
                <a:latin typeface="+mn-lt"/>
              </a:rPr>
              <a:t>First fit</a:t>
            </a:r>
          </a:p>
          <a:p>
            <a:pPr marL="0" indent="0" algn="just">
              <a:lnSpc>
                <a:spcPct val="150000"/>
              </a:lnSpc>
              <a:buNone/>
            </a:pPr>
            <a:r>
              <a:rPr lang="en-IN" sz="2000" dirty="0">
                <a:latin typeface="+mn-lt"/>
              </a:rPr>
              <a:t>Best fit</a:t>
            </a:r>
          </a:p>
          <a:p>
            <a:pPr marL="0" indent="0" algn="just">
              <a:lnSpc>
                <a:spcPct val="150000"/>
              </a:lnSpc>
              <a:buNone/>
            </a:pPr>
            <a:r>
              <a:rPr lang="en-IN" sz="2000" dirty="0">
                <a:latin typeface="+mn-lt"/>
              </a:rPr>
              <a:t>Worst fit</a:t>
            </a:r>
          </a:p>
          <a:p>
            <a:pPr marL="0" indent="0" algn="just">
              <a:lnSpc>
                <a:spcPct val="150000"/>
              </a:lnSpc>
              <a:buNone/>
            </a:pPr>
            <a:r>
              <a:rPr lang="en-US" sz="2000" b="1" dirty="0">
                <a:solidFill>
                  <a:srgbClr val="0000FF"/>
                </a:solidFill>
                <a:effectLst/>
                <a:latin typeface="+mn-lt"/>
                <a:ea typeface="Cambria" panose="02040503050406030204" pitchFamily="18" charset="0"/>
                <a:cs typeface="Cambria" panose="02040503050406030204" pitchFamily="18" charset="0"/>
              </a:rPr>
              <a:t>First fit</a:t>
            </a:r>
            <a:r>
              <a:rPr lang="en-US" sz="2000" dirty="0">
                <a:solidFill>
                  <a:srgbClr val="0000FF"/>
                </a:solidFill>
                <a:effectLst/>
                <a:latin typeface="+mn-lt"/>
                <a:ea typeface="Cambria" panose="02040503050406030204" pitchFamily="18" charset="0"/>
                <a:cs typeface="Cambria" panose="02040503050406030204" pitchFamily="18" charset="0"/>
              </a:rPr>
              <a:t> </a:t>
            </a:r>
          </a:p>
          <a:p>
            <a:pPr marL="0" indent="0" algn="just">
              <a:lnSpc>
                <a:spcPct val="150000"/>
              </a:lnSpc>
              <a:buNone/>
            </a:pPr>
            <a:r>
              <a:rPr lang="en-US" sz="2000" dirty="0">
                <a:solidFill>
                  <a:srgbClr val="000000"/>
                </a:solidFill>
                <a:effectLst/>
                <a:latin typeface="+mn-lt"/>
                <a:ea typeface="Cambria" panose="02040503050406030204" pitchFamily="18" charset="0"/>
                <a:cs typeface="Cambria" panose="02040503050406030204" pitchFamily="18" charset="0"/>
              </a:rPr>
              <a:t>Allocate the first hole that is big enough. </a:t>
            </a:r>
          </a:p>
          <a:p>
            <a:pPr marL="0" indent="0" algn="just">
              <a:lnSpc>
                <a:spcPct val="150000"/>
              </a:lnSpc>
              <a:buNone/>
            </a:pPr>
            <a:r>
              <a:rPr lang="en-US" sz="2000" dirty="0">
                <a:solidFill>
                  <a:srgbClr val="000000"/>
                </a:solidFill>
                <a:effectLst/>
                <a:latin typeface="+mn-lt"/>
                <a:ea typeface="Cambria" panose="02040503050406030204" pitchFamily="18" charset="0"/>
                <a:cs typeface="Cambria" panose="02040503050406030204" pitchFamily="18" charset="0"/>
              </a:rPr>
              <a:t>Searching can start either at the beginning of the set of holes or where the previous first-fit search ended. </a:t>
            </a:r>
          </a:p>
          <a:p>
            <a:pPr marL="0" indent="0" algn="just">
              <a:lnSpc>
                <a:spcPct val="150000"/>
              </a:lnSpc>
              <a:buNone/>
            </a:pPr>
            <a:r>
              <a:rPr lang="en-US" sz="2000" dirty="0">
                <a:solidFill>
                  <a:srgbClr val="000000"/>
                </a:solidFill>
                <a:effectLst/>
                <a:latin typeface="+mn-lt"/>
                <a:ea typeface="Cambria" panose="02040503050406030204" pitchFamily="18" charset="0"/>
                <a:cs typeface="Cambria" panose="02040503050406030204" pitchFamily="18" charset="0"/>
              </a:rPr>
              <a:t>We can stop searching as soon as we find a free hole that is large enough.</a:t>
            </a:r>
            <a:endParaRPr lang="en-IN" sz="2000" dirty="0">
              <a:solidFill>
                <a:srgbClr val="000000"/>
              </a:solidFill>
              <a:effectLst/>
              <a:latin typeface="+mn-lt"/>
              <a:ea typeface="Cambria" panose="02040503050406030204" pitchFamily="18" charset="0"/>
              <a:cs typeface="Cambria" panose="02040503050406030204" pitchFamily="18" charset="0"/>
            </a:endParaRPr>
          </a:p>
          <a:p>
            <a:pPr marL="0" indent="0" algn="just">
              <a:lnSpc>
                <a:spcPct val="150000"/>
              </a:lnSpc>
              <a:buNone/>
            </a:pPr>
            <a:endParaRPr lang="en-IN" sz="2000" dirty="0">
              <a:latin typeface="+mn-lt"/>
            </a:endParaRPr>
          </a:p>
          <a:p>
            <a:endParaRPr lang="en-IN" sz="2000" dirty="0">
              <a:latin typeface="+mn-lt"/>
            </a:endParaRPr>
          </a:p>
        </p:txBody>
      </p:sp>
      <p:sp>
        <p:nvSpPr>
          <p:cNvPr id="2" name="Google Shape;98;g2eff20282af_0_123">
            <a:extLst>
              <a:ext uri="{FF2B5EF4-FFF2-40B4-BE49-F238E27FC236}">
                <a16:creationId xmlns:a16="http://schemas.microsoft.com/office/drawing/2014/main" id="{5F15BD1B-1B7C-9B47-5E0F-1C60EBC2ECB9}"/>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869012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C0A150-B076-6F98-1F3C-B613CAAF36A1}"/>
              </a:ext>
            </a:extLst>
          </p:cNvPr>
          <p:cNvSpPr>
            <a:spLocks noGrp="1"/>
          </p:cNvSpPr>
          <p:nvPr>
            <p:ph idx="1"/>
          </p:nvPr>
        </p:nvSpPr>
        <p:spPr>
          <a:xfrm>
            <a:off x="2536371" y="456249"/>
            <a:ext cx="8605105" cy="6596743"/>
          </a:xfrm>
        </p:spPr>
        <p:txBody>
          <a:bodyPr>
            <a:normAutofit/>
          </a:bodyPr>
          <a:lstStyle/>
          <a:p>
            <a:pPr marL="0" lvl="0" indent="0" algn="just">
              <a:lnSpc>
                <a:spcPct val="150000"/>
              </a:lnSpc>
              <a:buNone/>
            </a:pPr>
            <a:r>
              <a:rPr lang="en-US" sz="2000" b="1" dirty="0">
                <a:solidFill>
                  <a:srgbClr val="0000FF"/>
                </a:solidFill>
                <a:effectLst/>
                <a:latin typeface="+mn-lt"/>
                <a:ea typeface="Cambria" panose="02040503050406030204" pitchFamily="18" charset="0"/>
                <a:cs typeface="Cambria" panose="02040503050406030204" pitchFamily="18" charset="0"/>
              </a:rPr>
              <a:t>Best fit</a:t>
            </a:r>
            <a:endParaRPr lang="en-US" sz="2000" b="1" dirty="0">
              <a:solidFill>
                <a:srgbClr val="0000FF"/>
              </a:solidFill>
              <a:latin typeface="+mn-lt"/>
              <a:ea typeface="Cambria" panose="02040503050406030204" pitchFamily="18" charset="0"/>
              <a:cs typeface="Cambria" panose="02040503050406030204" pitchFamily="18" charset="0"/>
            </a:endParaRPr>
          </a:p>
          <a:p>
            <a:pPr marL="0" lvl="0" indent="0" algn="just">
              <a:lnSpc>
                <a:spcPct val="150000"/>
              </a:lnSpc>
              <a:buNone/>
            </a:pPr>
            <a:r>
              <a:rPr lang="en-US" sz="2000" dirty="0">
                <a:solidFill>
                  <a:srgbClr val="000000"/>
                </a:solidFill>
                <a:effectLst/>
                <a:latin typeface="+mn-lt"/>
                <a:ea typeface="Cambria" panose="02040503050406030204" pitchFamily="18" charset="0"/>
                <a:cs typeface="Cambria" panose="02040503050406030204" pitchFamily="18" charset="0"/>
              </a:rPr>
              <a:t> Allocate the smallest hole that is big enough. </a:t>
            </a:r>
          </a:p>
          <a:p>
            <a:pPr marL="0" lvl="0" indent="0" algn="just">
              <a:lnSpc>
                <a:spcPct val="150000"/>
              </a:lnSpc>
              <a:buNone/>
            </a:pPr>
            <a:r>
              <a:rPr lang="en-US" sz="2000" dirty="0">
                <a:solidFill>
                  <a:srgbClr val="000000"/>
                </a:solidFill>
                <a:effectLst/>
                <a:latin typeface="+mn-lt"/>
                <a:ea typeface="Cambria" panose="02040503050406030204" pitchFamily="18" charset="0"/>
                <a:cs typeface="Cambria" panose="02040503050406030204" pitchFamily="18" charset="0"/>
              </a:rPr>
              <a:t>We must search the entire list, unless the list is ordered by size. </a:t>
            </a:r>
          </a:p>
          <a:p>
            <a:pPr marL="0" lvl="0" indent="0" algn="just">
              <a:lnSpc>
                <a:spcPct val="150000"/>
              </a:lnSpc>
              <a:buNone/>
            </a:pPr>
            <a:r>
              <a:rPr lang="en-US" sz="2000" dirty="0">
                <a:solidFill>
                  <a:srgbClr val="000000"/>
                </a:solidFill>
                <a:effectLst/>
                <a:latin typeface="+mn-lt"/>
                <a:ea typeface="Cambria" panose="02040503050406030204" pitchFamily="18" charset="0"/>
                <a:cs typeface="Cambria" panose="02040503050406030204" pitchFamily="18" charset="0"/>
              </a:rPr>
              <a:t>This strategy produces the smallest leftover hole.</a:t>
            </a:r>
            <a:endParaRPr lang="en-IN" sz="2000" dirty="0">
              <a:solidFill>
                <a:srgbClr val="000000"/>
              </a:solidFill>
              <a:effectLst/>
              <a:latin typeface="+mn-lt"/>
              <a:ea typeface="Cambria" panose="02040503050406030204" pitchFamily="18" charset="0"/>
              <a:cs typeface="Cambria" panose="02040503050406030204" pitchFamily="18" charset="0"/>
            </a:endParaRPr>
          </a:p>
          <a:p>
            <a:pPr marL="0" lvl="0" indent="0" algn="just">
              <a:lnSpc>
                <a:spcPct val="150000"/>
              </a:lnSpc>
              <a:spcAft>
                <a:spcPts val="15"/>
              </a:spcAft>
              <a:buNone/>
            </a:pPr>
            <a:r>
              <a:rPr lang="en-US" sz="2000" b="1" dirty="0">
                <a:solidFill>
                  <a:srgbClr val="0000FF"/>
                </a:solidFill>
                <a:effectLst/>
                <a:latin typeface="+mn-lt"/>
                <a:ea typeface="Cambria" panose="02040503050406030204" pitchFamily="18" charset="0"/>
                <a:cs typeface="Cambria" panose="02040503050406030204" pitchFamily="18" charset="0"/>
              </a:rPr>
              <a:t>Worst fit</a:t>
            </a:r>
            <a:endParaRPr lang="en-US" sz="2000" b="1" dirty="0">
              <a:solidFill>
                <a:srgbClr val="0000FF"/>
              </a:solidFill>
              <a:latin typeface="+mn-lt"/>
              <a:ea typeface="Cambria" panose="02040503050406030204" pitchFamily="18" charset="0"/>
              <a:cs typeface="Cambria" panose="02040503050406030204" pitchFamily="18" charset="0"/>
            </a:endParaRPr>
          </a:p>
          <a:p>
            <a:pPr marL="0" lvl="0" indent="0" algn="just">
              <a:lnSpc>
                <a:spcPct val="150000"/>
              </a:lnSpc>
              <a:spcAft>
                <a:spcPts val="15"/>
              </a:spcAft>
              <a:buNone/>
            </a:pPr>
            <a:r>
              <a:rPr lang="en-US" sz="2000" dirty="0">
                <a:solidFill>
                  <a:srgbClr val="000000"/>
                </a:solidFill>
                <a:effectLst/>
                <a:latin typeface="+mn-lt"/>
                <a:ea typeface="Cambria" panose="02040503050406030204" pitchFamily="18" charset="0"/>
                <a:cs typeface="Cambria" panose="02040503050406030204" pitchFamily="18" charset="0"/>
              </a:rPr>
              <a:t> Allocate the largest hole. </a:t>
            </a:r>
          </a:p>
          <a:p>
            <a:pPr marL="0" lvl="0" indent="0" algn="just">
              <a:lnSpc>
                <a:spcPct val="150000"/>
              </a:lnSpc>
              <a:spcAft>
                <a:spcPts val="15"/>
              </a:spcAft>
              <a:buNone/>
            </a:pPr>
            <a:r>
              <a:rPr lang="en-US" sz="2000" dirty="0">
                <a:solidFill>
                  <a:srgbClr val="000000"/>
                </a:solidFill>
                <a:effectLst/>
                <a:latin typeface="+mn-lt"/>
                <a:ea typeface="Cambria" panose="02040503050406030204" pitchFamily="18" charset="0"/>
                <a:cs typeface="Cambria" panose="02040503050406030204" pitchFamily="18" charset="0"/>
              </a:rPr>
              <a:t>Again, we must search the entire list, unless it is sorted by size. </a:t>
            </a:r>
          </a:p>
          <a:p>
            <a:pPr marL="0" lvl="0" indent="0" algn="just">
              <a:lnSpc>
                <a:spcPct val="150000"/>
              </a:lnSpc>
              <a:spcAft>
                <a:spcPts val="15"/>
              </a:spcAft>
              <a:buNone/>
            </a:pPr>
            <a:r>
              <a:rPr lang="en-US" sz="2000" dirty="0">
                <a:solidFill>
                  <a:srgbClr val="000000"/>
                </a:solidFill>
                <a:effectLst/>
                <a:latin typeface="+mn-lt"/>
                <a:ea typeface="Cambria" panose="02040503050406030204" pitchFamily="18" charset="0"/>
                <a:cs typeface="Cambria" panose="02040503050406030204" pitchFamily="18" charset="0"/>
              </a:rPr>
              <a:t>This strategy produces the largest leftover hole, which may be more useful than the smaller leftover hole from a best-fit approach.</a:t>
            </a:r>
            <a:endParaRPr lang="en-IN" sz="2000" dirty="0">
              <a:solidFill>
                <a:srgbClr val="000000"/>
              </a:solidFill>
              <a:effectLst/>
              <a:latin typeface="+mn-lt"/>
              <a:ea typeface="Cambria" panose="02040503050406030204" pitchFamily="18" charset="0"/>
              <a:cs typeface="Cambria" panose="02040503050406030204" pitchFamily="18" charset="0"/>
            </a:endParaRPr>
          </a:p>
        </p:txBody>
      </p:sp>
      <p:sp>
        <p:nvSpPr>
          <p:cNvPr id="2" name="Google Shape;98;g2eff20282af_0_123">
            <a:extLst>
              <a:ext uri="{FF2B5EF4-FFF2-40B4-BE49-F238E27FC236}">
                <a16:creationId xmlns:a16="http://schemas.microsoft.com/office/drawing/2014/main" id="{4098D5E3-909D-49F4-9E77-0D0645CC6428}"/>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5466748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C0A150-B076-6F98-1F3C-B613CAAF36A1}"/>
              </a:ext>
            </a:extLst>
          </p:cNvPr>
          <p:cNvSpPr>
            <a:spLocks noGrp="1"/>
          </p:cNvSpPr>
          <p:nvPr>
            <p:ph idx="1"/>
          </p:nvPr>
        </p:nvSpPr>
        <p:spPr>
          <a:xfrm>
            <a:off x="2536371" y="163286"/>
            <a:ext cx="9546772" cy="6596743"/>
          </a:xfrm>
        </p:spPr>
        <p:txBody>
          <a:bodyPr>
            <a:normAutofit/>
          </a:bodyPr>
          <a:lstStyle/>
          <a:p>
            <a:pPr marL="0" indent="0" algn="just">
              <a:lnSpc>
                <a:spcPct val="150000"/>
              </a:lnSpc>
              <a:buNone/>
            </a:pPr>
            <a:r>
              <a:rPr lang="en-IN" sz="2000" dirty="0">
                <a:latin typeface="+mn-lt"/>
              </a:rPr>
              <a:t>If all these small pieces of memory were in one big free block instead. We might be able to run several more processes.</a:t>
            </a:r>
          </a:p>
          <a:p>
            <a:pPr marL="0" indent="0" algn="just">
              <a:lnSpc>
                <a:spcPct val="150000"/>
              </a:lnSpc>
              <a:buNone/>
            </a:pPr>
            <a:r>
              <a:rPr lang="en-IN" sz="2000" b="1" dirty="0">
                <a:latin typeface="+mn-lt"/>
              </a:rPr>
              <a:t>Internal fragmentation</a:t>
            </a:r>
          </a:p>
          <a:p>
            <a:pPr marL="0" indent="0" algn="just">
              <a:lnSpc>
                <a:spcPct val="150000"/>
              </a:lnSpc>
              <a:buNone/>
            </a:pPr>
            <a:r>
              <a:rPr lang="en-IN" sz="2000" dirty="0">
                <a:latin typeface="+mn-lt"/>
              </a:rPr>
              <a:t>It occurs when memory blocks assigned to processes are bigger than what the process actually needs.</a:t>
            </a:r>
          </a:p>
          <a:p>
            <a:pPr marL="0" indent="0" algn="just">
              <a:lnSpc>
                <a:spcPct val="150000"/>
              </a:lnSpc>
              <a:buNone/>
            </a:pPr>
            <a:r>
              <a:rPr lang="en-IN" sz="2000" dirty="0">
                <a:latin typeface="+mn-lt"/>
              </a:rPr>
              <a:t>Some portion of memory is left unused, as it cannot be used by another process.</a:t>
            </a:r>
          </a:p>
          <a:p>
            <a:pPr marL="0" indent="0" algn="just">
              <a:lnSpc>
                <a:spcPct val="150000"/>
              </a:lnSpc>
              <a:buNone/>
            </a:pPr>
            <a:r>
              <a:rPr lang="en-IN" sz="2000" b="1" dirty="0">
                <a:latin typeface="+mn-lt"/>
              </a:rPr>
              <a:t>Solution</a:t>
            </a:r>
            <a:r>
              <a:rPr lang="en-IN" sz="2000" dirty="0">
                <a:latin typeface="+mn-lt"/>
              </a:rPr>
              <a:t>: Make use of Best Fit approach for allocating memory segments to processes. </a:t>
            </a:r>
          </a:p>
          <a:p>
            <a:pPr marL="0" indent="0" algn="just">
              <a:lnSpc>
                <a:spcPct val="150000"/>
              </a:lnSpc>
              <a:buNone/>
            </a:pPr>
            <a:endParaRPr lang="en-IN" sz="2000" dirty="0">
              <a:latin typeface="+mn-lt"/>
            </a:endParaRPr>
          </a:p>
        </p:txBody>
      </p:sp>
    </p:spTree>
    <p:extLst>
      <p:ext uri="{BB962C8B-B14F-4D97-AF65-F5344CB8AC3E}">
        <p14:creationId xmlns:p14="http://schemas.microsoft.com/office/powerpoint/2010/main" val="13429026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C0A150-B076-6F98-1F3C-B613CAAF36A1}"/>
              </a:ext>
            </a:extLst>
          </p:cNvPr>
          <p:cNvSpPr>
            <a:spLocks noGrp="1"/>
          </p:cNvSpPr>
          <p:nvPr>
            <p:ph idx="1"/>
          </p:nvPr>
        </p:nvSpPr>
        <p:spPr>
          <a:xfrm>
            <a:off x="2508379" y="0"/>
            <a:ext cx="7494037" cy="6596743"/>
          </a:xfrm>
        </p:spPr>
        <p:txBody>
          <a:bodyPr>
            <a:normAutofit/>
          </a:bodyPr>
          <a:lstStyle/>
          <a:p>
            <a:pPr marL="0" indent="0" algn="just">
              <a:lnSpc>
                <a:spcPct val="150000"/>
              </a:lnSpc>
              <a:buNone/>
            </a:pPr>
            <a:r>
              <a:rPr lang="en-IN" sz="2400" dirty="0">
                <a:solidFill>
                  <a:srgbClr val="0070C0"/>
                </a:solidFill>
                <a:latin typeface="Times New Roman" panose="02020603050405020304" pitchFamily="18" charset="0"/>
                <a:cs typeface="Times New Roman" panose="02020603050405020304" pitchFamily="18" charset="0"/>
              </a:rPr>
              <a:t>Solution to external fragmentation</a:t>
            </a:r>
          </a:p>
          <a:p>
            <a:pPr algn="just">
              <a:lnSpc>
                <a:spcPct val="150000"/>
              </a:lnSpc>
            </a:pPr>
            <a:r>
              <a:rPr lang="en-IN" sz="2400" dirty="0">
                <a:solidFill>
                  <a:srgbClr val="0070C0"/>
                </a:solidFill>
                <a:latin typeface="Times New Roman" panose="02020603050405020304" pitchFamily="18" charset="0"/>
                <a:cs typeface="Times New Roman" panose="02020603050405020304" pitchFamily="18" charset="0"/>
              </a:rPr>
              <a:t>Compaction</a:t>
            </a:r>
          </a:p>
          <a:p>
            <a:pPr marL="0" indent="0" algn="just">
              <a:lnSpc>
                <a:spcPct val="150000"/>
              </a:lnSpc>
              <a:buNone/>
            </a:pPr>
            <a:r>
              <a:rPr lang="en-IN" sz="2400" dirty="0">
                <a:latin typeface="Times New Roman" panose="02020603050405020304" pitchFamily="18" charset="0"/>
                <a:cs typeface="Times New Roman" panose="02020603050405020304" pitchFamily="18" charset="0"/>
              </a:rPr>
              <a:t>Shuffle the memory contents so as to place all free memory together in one large block. </a:t>
            </a:r>
          </a:p>
          <a:p>
            <a:pPr marL="0" indent="0" algn="just">
              <a:lnSpc>
                <a:spcPct val="150000"/>
              </a:lnSpc>
              <a:buNone/>
            </a:pPr>
            <a:r>
              <a:rPr lang="en-IN" sz="2400" dirty="0">
                <a:latin typeface="Times New Roman" panose="02020603050405020304" pitchFamily="18" charset="0"/>
                <a:cs typeface="Times New Roman" panose="02020603050405020304" pitchFamily="18" charset="0"/>
              </a:rPr>
              <a:t>Cons:</a:t>
            </a:r>
          </a:p>
          <a:p>
            <a:pPr algn="just">
              <a:lnSpc>
                <a:spcPct val="150000"/>
              </a:lnSpc>
            </a:pPr>
            <a:r>
              <a:rPr lang="en-IN" sz="2400" dirty="0">
                <a:latin typeface="Times New Roman" panose="02020603050405020304" pitchFamily="18" charset="0"/>
                <a:cs typeface="Times New Roman" panose="02020603050405020304" pitchFamily="18" charset="0"/>
              </a:rPr>
              <a:t>Compaction is not always possible.</a:t>
            </a:r>
          </a:p>
          <a:p>
            <a:pPr algn="just">
              <a:lnSpc>
                <a:spcPct val="150000"/>
              </a:lnSpc>
            </a:pPr>
            <a:r>
              <a:rPr lang="en-IN" sz="2400" dirty="0">
                <a:latin typeface="Times New Roman" panose="02020603050405020304" pitchFamily="18" charset="0"/>
                <a:cs typeface="Times New Roman" panose="02020603050405020304" pitchFamily="18" charset="0"/>
              </a:rPr>
              <a:t>If relocation is static and is done at assembly or load time, compaction cannot be done. </a:t>
            </a:r>
          </a:p>
          <a:p>
            <a:pPr algn="just">
              <a:lnSpc>
                <a:spcPct val="150000"/>
              </a:lnSpc>
            </a:pPr>
            <a:r>
              <a:rPr lang="en-IN" sz="2400" dirty="0">
                <a:latin typeface="Times New Roman" panose="02020603050405020304" pitchFamily="18" charset="0"/>
                <a:cs typeface="Times New Roman" panose="02020603050405020304" pitchFamily="18" charset="0"/>
              </a:rPr>
              <a:t>It is possible only if relocation is dynamic and is done at execution time. </a:t>
            </a:r>
          </a:p>
          <a:p>
            <a:endParaRPr lang="en-IN" sz="2000" dirty="0">
              <a:latin typeface="+mn-lt"/>
            </a:endParaRPr>
          </a:p>
        </p:txBody>
      </p:sp>
      <p:sp>
        <p:nvSpPr>
          <p:cNvPr id="2" name="Google Shape;98;g2eff20282af_0_123">
            <a:extLst>
              <a:ext uri="{FF2B5EF4-FFF2-40B4-BE49-F238E27FC236}">
                <a16:creationId xmlns:a16="http://schemas.microsoft.com/office/drawing/2014/main" id="{9C987E28-8626-A5D3-B4B1-176ED324B08A}"/>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421885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Paging in Operating System with examples | Engineer's Portal">
            <a:extLst>
              <a:ext uri="{FF2B5EF4-FFF2-40B4-BE49-F238E27FC236}">
                <a16:creationId xmlns:a16="http://schemas.microsoft.com/office/drawing/2014/main" id="{AC7CD4BE-8696-6E76-A010-BA4534B871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2931" y="3943780"/>
            <a:ext cx="5924938" cy="291422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94C0A150-B076-6F98-1F3C-B613CAAF36A1}"/>
              </a:ext>
            </a:extLst>
          </p:cNvPr>
          <p:cNvSpPr>
            <a:spLocks noGrp="1"/>
          </p:cNvSpPr>
          <p:nvPr>
            <p:ph idx="1"/>
          </p:nvPr>
        </p:nvSpPr>
        <p:spPr>
          <a:xfrm>
            <a:off x="2396412" y="0"/>
            <a:ext cx="9546772" cy="5196632"/>
          </a:xfrm>
        </p:spPr>
        <p:txBody>
          <a:bodyPr>
            <a:normAutofit/>
          </a:bodyPr>
          <a:lstStyle/>
          <a:p>
            <a:pPr marL="0" indent="0" algn="ctr">
              <a:lnSpc>
                <a:spcPct val="150000"/>
              </a:lnSpc>
              <a:spcAft>
                <a:spcPts val="800"/>
              </a:spcAft>
              <a:buNone/>
            </a:pPr>
            <a:r>
              <a:rPr lang="en-US" sz="2400" b="1" dirty="0">
                <a:solidFill>
                  <a:srgbClr val="FF0000"/>
                </a:solidFill>
                <a:effectLst/>
                <a:latin typeface="+mn-lt"/>
                <a:ea typeface="Calibri" panose="020F0502020204030204" pitchFamily="34" charset="0"/>
                <a:cs typeface="Times New Roman" panose="02020603050405020304" pitchFamily="18" charset="0"/>
              </a:rPr>
              <a:t>Paging</a:t>
            </a:r>
            <a:endParaRPr lang="en-IN" sz="2400" dirty="0">
              <a:solidFill>
                <a:srgbClr val="FF0000"/>
              </a:solidFill>
              <a:effectLst/>
              <a:latin typeface="+mn-lt"/>
              <a:ea typeface="Calibri" panose="020F0502020204030204" pitchFamily="34" charset="0"/>
              <a:cs typeface="Times New Roman" panose="02020603050405020304" pitchFamily="18" charset="0"/>
            </a:endParaRPr>
          </a:p>
          <a:p>
            <a:pPr algn="just">
              <a:lnSpc>
                <a:spcPct val="150000"/>
              </a:lnSpc>
              <a:spcAft>
                <a:spcPts val="800"/>
              </a:spcAft>
            </a:pPr>
            <a:r>
              <a:rPr lang="en-US" sz="2400" dirty="0">
                <a:effectLst/>
                <a:latin typeface="+mn-lt"/>
                <a:ea typeface="Calibri" panose="020F0502020204030204" pitchFamily="34" charset="0"/>
                <a:cs typeface="Times New Roman" panose="02020603050405020304" pitchFamily="18" charset="0"/>
              </a:rPr>
              <a:t>Paging is a memory-management scheme that permits the physical address space of a process to be noncontiguous. </a:t>
            </a:r>
          </a:p>
          <a:p>
            <a:pPr algn="just">
              <a:lnSpc>
                <a:spcPct val="150000"/>
              </a:lnSpc>
              <a:spcAft>
                <a:spcPts val="800"/>
              </a:spcAft>
            </a:pPr>
            <a:r>
              <a:rPr lang="en-US" sz="2400" dirty="0">
                <a:effectLst/>
                <a:latin typeface="+mn-lt"/>
                <a:ea typeface="Calibri" panose="020F0502020204030204" pitchFamily="34" charset="0"/>
                <a:cs typeface="Times New Roman" panose="02020603050405020304" pitchFamily="18" charset="0"/>
              </a:rPr>
              <a:t>Paging avoids the considerable problem of fitting memory chunks of varying sizes onto the backing store.</a:t>
            </a:r>
          </a:p>
          <a:p>
            <a:pPr algn="just">
              <a:lnSpc>
                <a:spcPct val="150000"/>
              </a:lnSpc>
              <a:spcAft>
                <a:spcPts val="800"/>
              </a:spcAft>
            </a:pPr>
            <a:r>
              <a:rPr lang="en-US" sz="2400" dirty="0">
                <a:effectLst/>
                <a:latin typeface="+mn-lt"/>
                <a:ea typeface="Calibri" panose="020F0502020204030204" pitchFamily="34" charset="0"/>
                <a:cs typeface="Times New Roman" panose="02020603050405020304" pitchFamily="18" charset="0"/>
              </a:rPr>
              <a:t> </a:t>
            </a:r>
            <a:r>
              <a:rPr lang="en-US" sz="2400" dirty="0">
                <a:latin typeface="+mn-lt"/>
                <a:ea typeface="Calibri" panose="020F0502020204030204" pitchFamily="34" charset="0"/>
                <a:cs typeface="Times New Roman" panose="02020603050405020304" pitchFamily="18" charset="0"/>
              </a:rPr>
              <a:t>M</a:t>
            </a:r>
            <a:r>
              <a:rPr lang="en-US" sz="2400" dirty="0">
                <a:effectLst/>
                <a:latin typeface="+mn-lt"/>
                <a:ea typeface="Calibri" panose="020F0502020204030204" pitchFamily="34" charset="0"/>
                <a:cs typeface="Times New Roman" panose="02020603050405020304" pitchFamily="18" charset="0"/>
              </a:rPr>
              <a:t>ost memory-management schemes used before the introduction of paging suffered from this problem.</a:t>
            </a:r>
            <a:endParaRPr lang="en-IN" sz="2400" dirty="0">
              <a:effectLst/>
              <a:latin typeface="+mn-lt"/>
              <a:ea typeface="Calibri" panose="020F0502020204030204" pitchFamily="34" charset="0"/>
              <a:cs typeface="Times New Roman" panose="02020603050405020304" pitchFamily="18" charset="0"/>
            </a:endParaRPr>
          </a:p>
          <a:p>
            <a:endParaRPr lang="en-IN" sz="2000" dirty="0">
              <a:latin typeface="+mn-lt"/>
            </a:endParaRPr>
          </a:p>
        </p:txBody>
      </p:sp>
      <p:sp>
        <p:nvSpPr>
          <p:cNvPr id="2" name="Google Shape;98;g2eff20282af_0_123">
            <a:extLst>
              <a:ext uri="{FF2B5EF4-FFF2-40B4-BE49-F238E27FC236}">
                <a16:creationId xmlns:a16="http://schemas.microsoft.com/office/drawing/2014/main" id="{C26B6A40-AF2A-2F0C-BE56-59C072404D7D}"/>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6550486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04546-BA02-8059-737A-D6076CBEB69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697BECE-B1E0-0D69-0916-DD8448C63FD0}"/>
              </a:ext>
            </a:extLst>
          </p:cNvPr>
          <p:cNvSpPr txBox="1"/>
          <p:nvPr/>
        </p:nvSpPr>
        <p:spPr>
          <a:xfrm>
            <a:off x="4170680" y="6091801"/>
            <a:ext cx="6106160" cy="400110"/>
          </a:xfrm>
          <a:prstGeom prst="rect">
            <a:avLst/>
          </a:prstGeom>
          <a:noFill/>
        </p:spPr>
        <p:txBody>
          <a:bodyPr wrap="square">
            <a:spAutoFit/>
          </a:bodyPr>
          <a:lstStyle/>
          <a:p>
            <a:r>
              <a:rPr lang="en-US" sz="2000" dirty="0">
                <a:effectLst/>
                <a:ea typeface="Calibri" panose="020F0502020204030204" pitchFamily="34" charset="0"/>
              </a:rPr>
              <a:t>Paging model of logical and physical memory</a:t>
            </a:r>
            <a:endParaRPr lang="en-IN" sz="2000" dirty="0"/>
          </a:p>
        </p:txBody>
      </p:sp>
      <p:sp>
        <p:nvSpPr>
          <p:cNvPr id="3" name="Google Shape;98;g2eff20282af_0_123">
            <a:extLst>
              <a:ext uri="{FF2B5EF4-FFF2-40B4-BE49-F238E27FC236}">
                <a16:creationId xmlns:a16="http://schemas.microsoft.com/office/drawing/2014/main" id="{80417924-96B4-47E6-1A06-7BC32F21D36F}"/>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pic>
        <p:nvPicPr>
          <p:cNvPr id="6" name="Picture 5">
            <a:extLst>
              <a:ext uri="{FF2B5EF4-FFF2-40B4-BE49-F238E27FC236}">
                <a16:creationId xmlns:a16="http://schemas.microsoft.com/office/drawing/2014/main" id="{0F865DFE-1A8E-20D7-360C-6D4D7AC38708}"/>
              </a:ext>
            </a:extLst>
          </p:cNvPr>
          <p:cNvPicPr>
            <a:picLocks noChangeAspect="1"/>
          </p:cNvPicPr>
          <p:nvPr/>
        </p:nvPicPr>
        <p:blipFill>
          <a:blip r:embed="rId2"/>
          <a:stretch>
            <a:fillRect/>
          </a:stretch>
        </p:blipFill>
        <p:spPr>
          <a:xfrm>
            <a:off x="2494597" y="510211"/>
            <a:ext cx="9458325" cy="5981700"/>
          </a:xfrm>
          <a:prstGeom prst="rect">
            <a:avLst/>
          </a:prstGeom>
        </p:spPr>
      </p:pic>
    </p:spTree>
    <p:extLst>
      <p:ext uri="{BB962C8B-B14F-4D97-AF65-F5344CB8AC3E}">
        <p14:creationId xmlns:p14="http://schemas.microsoft.com/office/powerpoint/2010/main" val="33523072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a:extLst>
              <a:ext uri="{FF2B5EF4-FFF2-40B4-BE49-F238E27FC236}">
                <a16:creationId xmlns:a16="http://schemas.microsoft.com/office/drawing/2014/main" id="{C8BE5CCA-D309-873F-84F9-2F2E895C2A52}"/>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875280" y="120134"/>
            <a:ext cx="8696960" cy="5971667"/>
          </a:xfrm>
          <a:prstGeom prst="rect">
            <a:avLst/>
          </a:prstGeom>
          <a:noFill/>
          <a:ln>
            <a:noFill/>
          </a:ln>
        </p:spPr>
      </p:pic>
      <p:sp>
        <p:nvSpPr>
          <p:cNvPr id="5" name="TextBox 4">
            <a:extLst>
              <a:ext uri="{FF2B5EF4-FFF2-40B4-BE49-F238E27FC236}">
                <a16:creationId xmlns:a16="http://schemas.microsoft.com/office/drawing/2014/main" id="{93CB5A5E-F5C9-883F-9BB2-56B655F87C80}"/>
              </a:ext>
            </a:extLst>
          </p:cNvPr>
          <p:cNvSpPr txBox="1"/>
          <p:nvPr/>
        </p:nvSpPr>
        <p:spPr>
          <a:xfrm>
            <a:off x="4170680" y="6091801"/>
            <a:ext cx="6106160" cy="400110"/>
          </a:xfrm>
          <a:prstGeom prst="rect">
            <a:avLst/>
          </a:prstGeom>
          <a:noFill/>
        </p:spPr>
        <p:txBody>
          <a:bodyPr wrap="square">
            <a:spAutoFit/>
          </a:bodyPr>
          <a:lstStyle/>
          <a:p>
            <a:r>
              <a:rPr lang="en-US" sz="2000" dirty="0">
                <a:effectLst/>
                <a:ea typeface="Calibri" panose="020F0502020204030204" pitchFamily="34" charset="0"/>
              </a:rPr>
              <a:t>Paging model of logical and physical memory</a:t>
            </a:r>
            <a:endParaRPr lang="en-IN" sz="2000" dirty="0"/>
          </a:p>
        </p:txBody>
      </p:sp>
      <p:sp>
        <p:nvSpPr>
          <p:cNvPr id="3" name="Google Shape;98;g2eff20282af_0_123">
            <a:extLst>
              <a:ext uri="{FF2B5EF4-FFF2-40B4-BE49-F238E27FC236}">
                <a16:creationId xmlns:a16="http://schemas.microsoft.com/office/drawing/2014/main" id="{576F92E3-5D42-551D-4782-6976D412C246}"/>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1944973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C0A150-B076-6F98-1F3C-B613CAAF36A1}"/>
              </a:ext>
            </a:extLst>
          </p:cNvPr>
          <p:cNvSpPr>
            <a:spLocks noGrp="1"/>
          </p:cNvSpPr>
          <p:nvPr>
            <p:ph idx="1"/>
          </p:nvPr>
        </p:nvSpPr>
        <p:spPr>
          <a:xfrm>
            <a:off x="2536371" y="163286"/>
            <a:ext cx="9546772" cy="6596743"/>
          </a:xfrm>
        </p:spPr>
        <p:txBody>
          <a:bodyPr>
            <a:normAutofit/>
          </a:bodyPr>
          <a:lstStyle/>
          <a:p>
            <a:pPr marL="0" indent="0">
              <a:buNone/>
            </a:pPr>
            <a:r>
              <a:rPr lang="en-US" sz="2000" b="1" dirty="0">
                <a:latin typeface="+mn-lt"/>
              </a:rPr>
              <a:t>Translation of Logical Address to Physical Address using Page Table</a:t>
            </a:r>
          </a:p>
          <a:p>
            <a:pPr marL="0" indent="0">
              <a:buNone/>
            </a:pPr>
            <a:r>
              <a:rPr lang="en-US" sz="2000" dirty="0">
                <a:latin typeface="+mn-lt"/>
              </a:rPr>
              <a:t>Every address generated by the CPU is divided into two parts:</a:t>
            </a:r>
          </a:p>
          <a:p>
            <a:pPr marL="0" indent="0">
              <a:buNone/>
            </a:pPr>
            <a:r>
              <a:rPr lang="en-US" sz="2000" dirty="0">
                <a:latin typeface="+mn-lt"/>
              </a:rPr>
              <a:t>A page number (p) and A page offset (d)</a:t>
            </a:r>
          </a:p>
          <a:p>
            <a:endParaRPr lang="en-IN" sz="2000" dirty="0">
              <a:latin typeface="+mn-lt"/>
            </a:endParaRPr>
          </a:p>
        </p:txBody>
      </p:sp>
      <p:pic>
        <p:nvPicPr>
          <p:cNvPr id="2" name="Picture 1">
            <a:extLst>
              <a:ext uri="{FF2B5EF4-FFF2-40B4-BE49-F238E27FC236}">
                <a16:creationId xmlns:a16="http://schemas.microsoft.com/office/drawing/2014/main" id="{1E70221C-3F6E-0858-7C78-BA2A3DB9F85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9440" y="1374310"/>
            <a:ext cx="7614920" cy="1956264"/>
          </a:xfrm>
          <a:prstGeom prst="rect">
            <a:avLst/>
          </a:prstGeom>
          <a:noFill/>
          <a:ln>
            <a:noFill/>
          </a:ln>
        </p:spPr>
      </p:pic>
      <p:sp>
        <p:nvSpPr>
          <p:cNvPr id="5" name="TextBox 4">
            <a:extLst>
              <a:ext uri="{FF2B5EF4-FFF2-40B4-BE49-F238E27FC236}">
                <a16:creationId xmlns:a16="http://schemas.microsoft.com/office/drawing/2014/main" id="{8C0C643D-8EE3-0EEF-2819-DDB5A2124989}"/>
              </a:ext>
            </a:extLst>
          </p:cNvPr>
          <p:cNvSpPr txBox="1"/>
          <p:nvPr/>
        </p:nvSpPr>
        <p:spPr>
          <a:xfrm>
            <a:off x="4648200" y="3330574"/>
            <a:ext cx="6106160" cy="400110"/>
          </a:xfrm>
          <a:prstGeom prst="rect">
            <a:avLst/>
          </a:prstGeom>
          <a:noFill/>
        </p:spPr>
        <p:txBody>
          <a:bodyPr wrap="square">
            <a:spAutoFit/>
          </a:bodyPr>
          <a:lstStyle/>
          <a:p>
            <a:r>
              <a:rPr lang="en-US" sz="2000" dirty="0">
                <a:effectLst/>
                <a:ea typeface="Calibri" panose="020F0502020204030204" pitchFamily="34" charset="0"/>
              </a:rPr>
              <a:t>page number and page offset</a:t>
            </a:r>
            <a:endParaRPr lang="en-IN" sz="2000" dirty="0"/>
          </a:p>
        </p:txBody>
      </p:sp>
      <p:sp>
        <p:nvSpPr>
          <p:cNvPr id="7" name="TextBox 6">
            <a:extLst>
              <a:ext uri="{FF2B5EF4-FFF2-40B4-BE49-F238E27FC236}">
                <a16:creationId xmlns:a16="http://schemas.microsoft.com/office/drawing/2014/main" id="{2D3F1D30-0FA0-EB83-2F64-A89B066777BB}"/>
              </a:ext>
            </a:extLst>
          </p:cNvPr>
          <p:cNvSpPr txBox="1"/>
          <p:nvPr/>
        </p:nvSpPr>
        <p:spPr>
          <a:xfrm>
            <a:off x="2717800" y="3826628"/>
            <a:ext cx="8823960" cy="1633139"/>
          </a:xfrm>
          <a:prstGeom prst="rect">
            <a:avLst/>
          </a:prstGeom>
          <a:noFill/>
        </p:spPr>
        <p:txBody>
          <a:bodyPr wrap="square">
            <a:spAutoFit/>
          </a:bodyPr>
          <a:lstStyle/>
          <a:p>
            <a:pPr>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Page number(p) :- Used as an index into the page table </a:t>
            </a:r>
          </a:p>
          <a:p>
            <a:pPr>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Page Offset(d) :- </a:t>
            </a:r>
            <a:r>
              <a:rPr lang="en-US" sz="2000" dirty="0">
                <a:latin typeface="Times New Roman" panose="02020603050405020304" pitchFamily="18" charset="0"/>
                <a:ea typeface="Calibri" panose="020F0502020204030204" pitchFamily="34" charset="0"/>
                <a:cs typeface="Times New Roman" panose="02020603050405020304" pitchFamily="18" charset="0"/>
              </a:rPr>
              <a:t>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he displacement within the page.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Google Shape;98;g2eff20282af_0_123">
            <a:extLst>
              <a:ext uri="{FF2B5EF4-FFF2-40B4-BE49-F238E27FC236}">
                <a16:creationId xmlns:a16="http://schemas.microsoft.com/office/drawing/2014/main" id="{53A804DA-781B-FC9A-061F-CA1A8B850691}"/>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8695877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a:extLst>
              <a:ext uri="{FF2B5EF4-FFF2-40B4-BE49-F238E27FC236}">
                <a16:creationId xmlns:a16="http://schemas.microsoft.com/office/drawing/2014/main" id="{AE4B4D2D-4308-1C54-C9A8-72A2957529F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854960" y="274320"/>
            <a:ext cx="9001760" cy="5923280"/>
          </a:xfrm>
          <a:prstGeom prst="rect">
            <a:avLst/>
          </a:prstGeom>
          <a:noFill/>
          <a:ln>
            <a:noFill/>
          </a:ln>
        </p:spPr>
      </p:pic>
      <p:sp>
        <p:nvSpPr>
          <p:cNvPr id="5" name="TextBox 4">
            <a:extLst>
              <a:ext uri="{FF2B5EF4-FFF2-40B4-BE49-F238E27FC236}">
                <a16:creationId xmlns:a16="http://schemas.microsoft.com/office/drawing/2014/main" id="{95B45B11-2C4C-3103-71A1-DC7D7F1983A5}"/>
              </a:ext>
            </a:extLst>
          </p:cNvPr>
          <p:cNvSpPr txBox="1"/>
          <p:nvPr/>
        </p:nvSpPr>
        <p:spPr>
          <a:xfrm>
            <a:off x="2448560" y="6186085"/>
            <a:ext cx="8219440" cy="407035"/>
          </a:xfrm>
          <a:prstGeom prst="rect">
            <a:avLst/>
          </a:prstGeom>
          <a:noFill/>
        </p:spPr>
        <p:txBody>
          <a:bodyPr wrap="square">
            <a:spAutoFit/>
          </a:bodyPr>
          <a:lstStyle/>
          <a:p>
            <a:pPr>
              <a:lnSpc>
                <a:spcPct val="107000"/>
              </a:lnSpc>
              <a:spcAft>
                <a:spcPts val="800"/>
              </a:spcAft>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Translation of Logical Address  to Physical Address using Page Table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Google Shape;98;g2eff20282af_0_123">
            <a:extLst>
              <a:ext uri="{FF2B5EF4-FFF2-40B4-BE49-F238E27FC236}">
                <a16:creationId xmlns:a16="http://schemas.microsoft.com/office/drawing/2014/main" id="{1F64123A-D929-8381-FBC4-FF0E1389B809}"/>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
        <p:nvSpPr>
          <p:cNvPr id="4" name="AutoShape 2" descr="Paging | Memory Management | Operating System | Gate Vidyalay">
            <a:extLst>
              <a:ext uri="{FF2B5EF4-FFF2-40B4-BE49-F238E27FC236}">
                <a16:creationId xmlns:a16="http://schemas.microsoft.com/office/drawing/2014/main" id="{2A13296D-45F9-A925-98E6-74E5883F0820}"/>
              </a:ext>
            </a:extLst>
          </p:cNvPr>
          <p:cNvSpPr>
            <a:spLocks noChangeAspect="1" noChangeArrowheads="1"/>
          </p:cNvSpPr>
          <p:nvPr/>
        </p:nvSpPr>
        <p:spPr bwMode="auto">
          <a:xfrm>
            <a:off x="5943599" y="3276600"/>
            <a:ext cx="1324947"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1425201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C0A150-B076-6F98-1F3C-B613CAAF36A1}"/>
              </a:ext>
            </a:extLst>
          </p:cNvPr>
          <p:cNvSpPr>
            <a:spLocks noGrp="1"/>
          </p:cNvSpPr>
          <p:nvPr>
            <p:ph idx="1"/>
          </p:nvPr>
        </p:nvSpPr>
        <p:spPr>
          <a:xfrm>
            <a:off x="2536371" y="163286"/>
            <a:ext cx="9546772" cy="6596743"/>
          </a:xfrm>
        </p:spPr>
        <p:txBody>
          <a:bodyPr>
            <a:normAutofit/>
          </a:bodyPr>
          <a:lstStyle/>
          <a:p>
            <a:pPr marL="0" indent="0" algn="just">
              <a:lnSpc>
                <a:spcPct val="150000"/>
              </a:lnSpc>
              <a:buNone/>
            </a:pPr>
            <a:r>
              <a:rPr lang="en-US" sz="2400" b="1" dirty="0">
                <a:solidFill>
                  <a:srgbClr val="FF0000"/>
                </a:solidFill>
                <a:latin typeface="+mn-lt"/>
              </a:rPr>
              <a:t>Hardware implementation of Page Table</a:t>
            </a:r>
          </a:p>
          <a:p>
            <a:pPr marL="0" indent="0" algn="just">
              <a:lnSpc>
                <a:spcPct val="150000"/>
              </a:lnSpc>
              <a:buNone/>
            </a:pPr>
            <a:r>
              <a:rPr lang="en-US" sz="2400" dirty="0">
                <a:solidFill>
                  <a:srgbClr val="0000FF"/>
                </a:solidFill>
                <a:latin typeface="+mn-lt"/>
              </a:rPr>
              <a:t>Case 1: Implement the page table as a set of dedicated registers.</a:t>
            </a:r>
          </a:p>
          <a:p>
            <a:pPr marL="0" indent="0" algn="just">
              <a:lnSpc>
                <a:spcPct val="150000"/>
              </a:lnSpc>
              <a:buNone/>
            </a:pPr>
            <a:r>
              <a:rPr lang="en-US" sz="2400" dirty="0">
                <a:latin typeface="+mn-lt"/>
              </a:rPr>
              <a:t>Problem: This can be used only when page table is reasonably small.</a:t>
            </a:r>
          </a:p>
          <a:p>
            <a:pPr marL="0" indent="0" algn="just">
              <a:lnSpc>
                <a:spcPct val="150000"/>
              </a:lnSpc>
              <a:buNone/>
            </a:pPr>
            <a:r>
              <a:rPr lang="en-US" sz="2400" dirty="0">
                <a:solidFill>
                  <a:srgbClr val="0000FF"/>
                </a:solidFill>
                <a:latin typeface="+mn-lt"/>
              </a:rPr>
              <a:t>Case 2: Keep the page table in main memory and a page table base register </a:t>
            </a:r>
            <a:r>
              <a:rPr lang="en-US" sz="2400" dirty="0">
                <a:solidFill>
                  <a:srgbClr val="FF0000"/>
                </a:solidFill>
                <a:latin typeface="+mn-lt"/>
              </a:rPr>
              <a:t>(PTBR) points </a:t>
            </a:r>
            <a:r>
              <a:rPr lang="en-US" sz="2400" dirty="0">
                <a:solidFill>
                  <a:srgbClr val="0000FF"/>
                </a:solidFill>
                <a:latin typeface="+mn-lt"/>
              </a:rPr>
              <a:t>to the page table.</a:t>
            </a:r>
          </a:p>
          <a:p>
            <a:pPr marL="0" indent="0" algn="just">
              <a:lnSpc>
                <a:spcPct val="150000"/>
              </a:lnSpc>
              <a:buNone/>
            </a:pPr>
            <a:r>
              <a:rPr lang="en-IN" sz="2400" dirty="0">
                <a:latin typeface="+mn-lt"/>
              </a:rPr>
              <a:t>Problem: The time required to access a user memory location is increased as there are two memory accesses needed to access a byte (one for the page table entry, one for the byte)</a:t>
            </a:r>
          </a:p>
          <a:p>
            <a:pPr marL="0" indent="0" algn="just">
              <a:lnSpc>
                <a:spcPct val="150000"/>
              </a:lnSpc>
              <a:buNone/>
            </a:pPr>
            <a:endParaRPr lang="en-IN" sz="2000" dirty="0">
              <a:latin typeface="+mn-lt"/>
            </a:endParaRPr>
          </a:p>
        </p:txBody>
      </p:sp>
      <p:sp>
        <p:nvSpPr>
          <p:cNvPr id="2" name="Google Shape;98;g2eff20282af_0_123">
            <a:extLst>
              <a:ext uri="{FF2B5EF4-FFF2-40B4-BE49-F238E27FC236}">
                <a16:creationId xmlns:a16="http://schemas.microsoft.com/office/drawing/2014/main" id="{DBB9293B-6412-F6CE-60C8-B0A487831586}"/>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951CA5DE-2FE1-F36E-7CD7-A8C61CE44400}"/>
              </a:ext>
            </a:extLst>
          </p:cNvPr>
          <p:cNvPicPr>
            <a:picLocks noChangeAspect="1"/>
          </p:cNvPicPr>
          <p:nvPr/>
        </p:nvPicPr>
        <p:blipFill>
          <a:blip r:embed="rId2"/>
          <a:stretch>
            <a:fillRect/>
          </a:stretch>
        </p:blipFill>
        <p:spPr>
          <a:xfrm>
            <a:off x="7225003" y="4551589"/>
            <a:ext cx="4531568" cy="2306411"/>
          </a:xfrm>
          <a:prstGeom prst="rect">
            <a:avLst/>
          </a:prstGeom>
        </p:spPr>
      </p:pic>
    </p:spTree>
    <p:extLst>
      <p:ext uri="{BB962C8B-B14F-4D97-AF65-F5344CB8AC3E}">
        <p14:creationId xmlns:p14="http://schemas.microsoft.com/office/powerpoint/2010/main" val="37505857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C210A22-1F44-6BEC-8564-E6C2FE7CE397}"/>
              </a:ext>
            </a:extLst>
          </p:cNvPr>
          <p:cNvPicPr>
            <a:picLocks noChangeAspect="1"/>
          </p:cNvPicPr>
          <p:nvPr/>
        </p:nvPicPr>
        <p:blipFill>
          <a:blip r:embed="rId2"/>
          <a:stretch>
            <a:fillRect/>
          </a:stretch>
        </p:blipFill>
        <p:spPr>
          <a:xfrm>
            <a:off x="7576457" y="424834"/>
            <a:ext cx="4615543" cy="5000625"/>
          </a:xfrm>
          <a:prstGeom prst="rect">
            <a:avLst/>
          </a:prstGeom>
        </p:spPr>
      </p:pic>
      <p:sp>
        <p:nvSpPr>
          <p:cNvPr id="3" name="Content Placeholder 2">
            <a:extLst>
              <a:ext uri="{FF2B5EF4-FFF2-40B4-BE49-F238E27FC236}">
                <a16:creationId xmlns:a16="http://schemas.microsoft.com/office/drawing/2014/main" id="{94C0A150-B076-6F98-1F3C-B613CAAF36A1}"/>
              </a:ext>
            </a:extLst>
          </p:cNvPr>
          <p:cNvSpPr>
            <a:spLocks noGrp="1"/>
          </p:cNvSpPr>
          <p:nvPr>
            <p:ph idx="1"/>
          </p:nvPr>
        </p:nvSpPr>
        <p:spPr>
          <a:xfrm>
            <a:off x="2536371" y="163286"/>
            <a:ext cx="5180045" cy="6596743"/>
          </a:xfrm>
        </p:spPr>
        <p:txBody>
          <a:bodyPr>
            <a:normAutofit fontScale="92500"/>
          </a:bodyPr>
          <a:lstStyle/>
          <a:p>
            <a:pPr marL="0" indent="0" algn="just">
              <a:lnSpc>
                <a:spcPct val="150000"/>
              </a:lnSpc>
              <a:buNone/>
            </a:pPr>
            <a:r>
              <a:rPr lang="en-IN" sz="2400" dirty="0">
                <a:solidFill>
                  <a:srgbClr val="0000FF"/>
                </a:solidFill>
                <a:latin typeface="+mn-lt"/>
              </a:rPr>
              <a:t>Translation Lookaside Buffer(TLB)</a:t>
            </a:r>
          </a:p>
          <a:p>
            <a:pPr marL="0" indent="0" algn="just">
              <a:lnSpc>
                <a:spcPct val="150000"/>
              </a:lnSpc>
              <a:buNone/>
            </a:pPr>
            <a:r>
              <a:rPr lang="en-IN" sz="2400" dirty="0">
                <a:latin typeface="+mn-lt"/>
              </a:rPr>
              <a:t>The TLB is associative, high speed memory.</a:t>
            </a:r>
          </a:p>
          <a:p>
            <a:pPr marL="0" indent="0" algn="just">
              <a:lnSpc>
                <a:spcPct val="150000"/>
              </a:lnSpc>
              <a:buNone/>
            </a:pPr>
            <a:r>
              <a:rPr lang="en-IN" sz="2400" dirty="0">
                <a:latin typeface="+mn-lt"/>
              </a:rPr>
              <a:t>It consists of two parts</a:t>
            </a:r>
          </a:p>
          <a:p>
            <a:pPr algn="just">
              <a:lnSpc>
                <a:spcPct val="150000"/>
              </a:lnSpc>
            </a:pPr>
            <a:r>
              <a:rPr lang="en-IN" sz="2400" dirty="0">
                <a:latin typeface="+mn-lt"/>
              </a:rPr>
              <a:t>A key</a:t>
            </a:r>
          </a:p>
          <a:p>
            <a:pPr algn="just">
              <a:lnSpc>
                <a:spcPct val="150000"/>
              </a:lnSpc>
            </a:pPr>
            <a:r>
              <a:rPr lang="en-IN" sz="2400" dirty="0">
                <a:latin typeface="+mn-lt"/>
              </a:rPr>
              <a:t>A value</a:t>
            </a:r>
            <a:endParaRPr lang="en-US" sz="2400" dirty="0">
              <a:latin typeface="+mn-lt"/>
            </a:endParaRPr>
          </a:p>
          <a:p>
            <a:pPr marL="0" indent="0" algn="just">
              <a:lnSpc>
                <a:spcPct val="150000"/>
              </a:lnSpc>
              <a:buNone/>
            </a:pPr>
            <a:r>
              <a:rPr lang="en-US" sz="2400" dirty="0">
                <a:latin typeface="+mn-lt"/>
              </a:rPr>
              <a:t>When the associative memory is presented with an item, the item is compared with all keys simultaneously.</a:t>
            </a:r>
          </a:p>
          <a:p>
            <a:pPr marL="0" indent="0" algn="just">
              <a:lnSpc>
                <a:spcPct val="150000"/>
              </a:lnSpc>
              <a:buNone/>
            </a:pPr>
            <a:r>
              <a:rPr lang="en-US" sz="2400" dirty="0">
                <a:latin typeface="+mn-lt"/>
              </a:rPr>
              <a:t>If the item is found, the corresponding value field is returned.</a:t>
            </a:r>
          </a:p>
          <a:p>
            <a:pPr marL="0" indent="0" algn="just">
              <a:lnSpc>
                <a:spcPct val="150000"/>
              </a:lnSpc>
              <a:buNone/>
            </a:pPr>
            <a:r>
              <a:rPr lang="en-US" sz="2400" dirty="0">
                <a:latin typeface="+mn-lt"/>
              </a:rPr>
              <a:t>The search is fast.</a:t>
            </a:r>
          </a:p>
        </p:txBody>
      </p:sp>
      <p:sp>
        <p:nvSpPr>
          <p:cNvPr id="2" name="Google Shape;98;g2eff20282af_0_123">
            <a:extLst>
              <a:ext uri="{FF2B5EF4-FFF2-40B4-BE49-F238E27FC236}">
                <a16:creationId xmlns:a16="http://schemas.microsoft.com/office/drawing/2014/main" id="{B0C80FE6-2676-0D22-86FC-45318A6C3DE4}"/>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8775995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BE93EE-EB8E-654D-69AA-1FE66EC61FAF}"/>
              </a:ext>
            </a:extLst>
          </p:cNvPr>
          <p:cNvSpPr>
            <a:spLocks noGrp="1"/>
          </p:cNvSpPr>
          <p:nvPr>
            <p:ph idx="1"/>
          </p:nvPr>
        </p:nvSpPr>
        <p:spPr>
          <a:xfrm>
            <a:off x="2560320" y="162560"/>
            <a:ext cx="9489440" cy="6624320"/>
          </a:xfrm>
        </p:spPr>
        <p:txBody>
          <a:bodyPr>
            <a:normAutofit fontScale="92500" lnSpcReduction="10000"/>
          </a:bodyPr>
          <a:lstStyle/>
          <a:p>
            <a:pPr marL="0" indent="0" algn="just">
              <a:lnSpc>
                <a:spcPct val="160000"/>
              </a:lnSpc>
              <a:buNone/>
            </a:pPr>
            <a:r>
              <a:rPr lang="en-US" sz="2400" b="1" dirty="0">
                <a:latin typeface="+mn-lt"/>
              </a:rPr>
              <a:t>Usage of TLB with Page Table</a:t>
            </a:r>
          </a:p>
          <a:p>
            <a:pPr marL="0" indent="0" algn="just">
              <a:lnSpc>
                <a:spcPct val="160000"/>
              </a:lnSpc>
              <a:buNone/>
            </a:pPr>
            <a:r>
              <a:rPr lang="en-IN" sz="2400" dirty="0">
                <a:latin typeface="+mn-lt"/>
              </a:rPr>
              <a:t>The TLB contains only a few of the page table entries</a:t>
            </a:r>
          </a:p>
          <a:p>
            <a:pPr marL="0" indent="0" algn="just">
              <a:lnSpc>
                <a:spcPct val="160000"/>
              </a:lnSpc>
              <a:buNone/>
            </a:pPr>
            <a:r>
              <a:rPr lang="en-IN" sz="2400" dirty="0">
                <a:latin typeface="+mn-lt"/>
              </a:rPr>
              <a:t>When a logical address is generated by the CPU, its page number is presented to the TLB.</a:t>
            </a:r>
          </a:p>
          <a:p>
            <a:pPr marL="0" indent="0" algn="just">
              <a:lnSpc>
                <a:spcPct val="160000"/>
              </a:lnSpc>
              <a:buNone/>
            </a:pPr>
            <a:r>
              <a:rPr lang="en-IN" sz="2400" dirty="0">
                <a:latin typeface="+mn-lt"/>
              </a:rPr>
              <a:t>If the page number is found, its frame number is immediately available and is used to access memory    </a:t>
            </a:r>
            <a:r>
              <a:rPr lang="en-IN" sz="2400" dirty="0">
                <a:solidFill>
                  <a:srgbClr val="0000FF"/>
                </a:solidFill>
                <a:latin typeface="Aptos Display" panose="020B0004020202020204" pitchFamily="34" charset="0"/>
              </a:rPr>
              <a:t>→   </a:t>
            </a:r>
            <a:r>
              <a:rPr lang="en-IN" sz="2400" dirty="0">
                <a:solidFill>
                  <a:srgbClr val="0000FF"/>
                </a:solidFill>
                <a:latin typeface="+mn-lt"/>
              </a:rPr>
              <a:t>TLB Hit</a:t>
            </a:r>
          </a:p>
          <a:p>
            <a:pPr marL="0" indent="0" algn="just">
              <a:lnSpc>
                <a:spcPct val="160000"/>
              </a:lnSpc>
              <a:buNone/>
            </a:pPr>
            <a:r>
              <a:rPr lang="en-IN" sz="2400" dirty="0">
                <a:latin typeface="+mn-lt"/>
              </a:rPr>
              <a:t>If the page number is not in the TLB, a memory reference to the page table must be made.   </a:t>
            </a:r>
            <a:r>
              <a:rPr lang="en-IN" sz="2400" dirty="0">
                <a:latin typeface="Aptos Display" panose="020B0004020202020204" pitchFamily="34" charset="0"/>
              </a:rPr>
              <a:t>→  </a:t>
            </a:r>
            <a:r>
              <a:rPr lang="en-IN" sz="2400" dirty="0">
                <a:solidFill>
                  <a:srgbClr val="0000FF"/>
                </a:solidFill>
                <a:latin typeface="+mn-lt"/>
              </a:rPr>
              <a:t>TBL Miss </a:t>
            </a:r>
          </a:p>
          <a:p>
            <a:pPr marL="0" indent="0" algn="just">
              <a:lnSpc>
                <a:spcPct val="160000"/>
              </a:lnSpc>
              <a:buNone/>
            </a:pPr>
            <a:r>
              <a:rPr lang="en-US" sz="2400" dirty="0">
                <a:latin typeface="+mn-lt"/>
              </a:rPr>
              <a:t>When the frame number is obtained, we can use it to access memory.</a:t>
            </a:r>
          </a:p>
          <a:p>
            <a:pPr marL="0" indent="0" algn="just">
              <a:lnSpc>
                <a:spcPct val="160000"/>
              </a:lnSpc>
              <a:buNone/>
            </a:pPr>
            <a:r>
              <a:rPr lang="en-US" sz="2400" dirty="0">
                <a:latin typeface="+mn-lt"/>
              </a:rPr>
              <a:t>Also we add the page number and frame number to the TLB, so that they will be found quickly on the next reference. </a:t>
            </a:r>
          </a:p>
          <a:p>
            <a:pPr marL="0" indent="0" algn="just">
              <a:lnSpc>
                <a:spcPct val="150000"/>
              </a:lnSpc>
              <a:buNone/>
            </a:pPr>
            <a:endParaRPr lang="en-IN" sz="2000" dirty="0">
              <a:latin typeface="+mn-lt"/>
            </a:endParaRPr>
          </a:p>
        </p:txBody>
      </p:sp>
      <p:sp>
        <p:nvSpPr>
          <p:cNvPr id="2" name="Google Shape;98;g2eff20282af_0_123">
            <a:extLst>
              <a:ext uri="{FF2B5EF4-FFF2-40B4-BE49-F238E27FC236}">
                <a16:creationId xmlns:a16="http://schemas.microsoft.com/office/drawing/2014/main" id="{7A722B92-358F-4CAC-2C17-2E90629C813F}"/>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5932025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23837E3-2216-2C2D-01F7-79585B28053B}"/>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560320" y="375920"/>
            <a:ext cx="9479280" cy="5862320"/>
          </a:xfrm>
          <a:prstGeom prst="rect">
            <a:avLst/>
          </a:prstGeom>
          <a:noFill/>
          <a:ln>
            <a:noFill/>
          </a:ln>
        </p:spPr>
      </p:pic>
      <p:sp>
        <p:nvSpPr>
          <p:cNvPr id="6" name="TextBox 5">
            <a:extLst>
              <a:ext uri="{FF2B5EF4-FFF2-40B4-BE49-F238E27FC236}">
                <a16:creationId xmlns:a16="http://schemas.microsoft.com/office/drawing/2014/main" id="{FA04EBE7-02A6-5E05-F4F9-CD6D31D12911}"/>
              </a:ext>
            </a:extLst>
          </p:cNvPr>
          <p:cNvSpPr txBox="1"/>
          <p:nvPr/>
        </p:nvSpPr>
        <p:spPr>
          <a:xfrm>
            <a:off x="4003040" y="6228934"/>
            <a:ext cx="6106160" cy="506292"/>
          </a:xfrm>
          <a:prstGeom prst="rect">
            <a:avLst/>
          </a:prstGeom>
          <a:noFill/>
        </p:spPr>
        <p:txBody>
          <a:bodyPr wrap="square">
            <a:spAutoFit/>
          </a:bodyPr>
          <a:lstStyle/>
          <a:p>
            <a:pPr algn="ctr">
              <a:lnSpc>
                <a:spcPct val="150000"/>
              </a:lnSpc>
              <a:spcAft>
                <a:spcPts val="800"/>
              </a:spcAft>
            </a:pPr>
            <a:r>
              <a:rPr lang="en-US" sz="2000" dirty="0">
                <a:effectLst/>
                <a:ea typeface="Calibri" panose="020F0502020204030204" pitchFamily="34" charset="0"/>
                <a:cs typeface="Times New Roman" panose="02020603050405020304" pitchFamily="18" charset="0"/>
              </a:rPr>
              <a:t>Paging hardware with TLB.</a:t>
            </a:r>
            <a:endParaRPr lang="en-IN" sz="2000" dirty="0">
              <a:effectLst/>
              <a:ea typeface="Calibri" panose="020F0502020204030204" pitchFamily="34" charset="0"/>
              <a:cs typeface="Times New Roman" panose="02020603050405020304" pitchFamily="18" charset="0"/>
            </a:endParaRPr>
          </a:p>
        </p:txBody>
      </p:sp>
      <p:sp>
        <p:nvSpPr>
          <p:cNvPr id="2" name="Google Shape;98;g2eff20282af_0_123">
            <a:extLst>
              <a:ext uri="{FF2B5EF4-FFF2-40B4-BE49-F238E27FC236}">
                <a16:creationId xmlns:a16="http://schemas.microsoft.com/office/drawing/2014/main" id="{6B891E6A-BD93-C105-C3E3-897B257FC447}"/>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270995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BE93EE-EB8E-654D-69AA-1FE66EC61FAF}"/>
              </a:ext>
            </a:extLst>
          </p:cNvPr>
          <p:cNvSpPr>
            <a:spLocks noGrp="1"/>
          </p:cNvSpPr>
          <p:nvPr>
            <p:ph idx="1"/>
          </p:nvPr>
        </p:nvSpPr>
        <p:spPr>
          <a:xfrm>
            <a:off x="2560320" y="142240"/>
            <a:ext cx="9489440" cy="6624320"/>
          </a:xfrm>
        </p:spPr>
        <p:txBody>
          <a:bodyPr>
            <a:normAutofit lnSpcReduction="10000"/>
          </a:bodyPr>
          <a:lstStyle/>
          <a:p>
            <a:pPr marL="0" indent="0" algn="ctr">
              <a:lnSpc>
                <a:spcPct val="150000"/>
              </a:lnSpc>
              <a:buNone/>
            </a:pPr>
            <a:r>
              <a:rPr lang="en-US" sz="2000" b="1" dirty="0">
                <a:solidFill>
                  <a:srgbClr val="FF0000"/>
                </a:solidFill>
                <a:latin typeface="+mn-lt"/>
              </a:rPr>
              <a:t>Protection - Page Table Entries</a:t>
            </a:r>
          </a:p>
          <a:p>
            <a:pPr marL="0" indent="0" algn="just">
              <a:lnSpc>
                <a:spcPct val="150000"/>
              </a:lnSpc>
              <a:buNone/>
            </a:pPr>
            <a:r>
              <a:rPr lang="en-US" sz="2000" dirty="0">
                <a:latin typeface="+mn-lt"/>
              </a:rPr>
              <a:t>Page table entries contains several information about pages which vary from OS to OS.</a:t>
            </a:r>
          </a:p>
          <a:p>
            <a:pPr marL="0" indent="0" algn="just">
              <a:lnSpc>
                <a:spcPct val="150000"/>
              </a:lnSpc>
              <a:buNone/>
            </a:pPr>
            <a:r>
              <a:rPr lang="en-US" sz="2000" dirty="0">
                <a:latin typeface="+mn-lt"/>
              </a:rPr>
              <a:t>The most important information in a page table entry is the frame number.</a:t>
            </a:r>
          </a:p>
          <a:p>
            <a:pPr marL="0" indent="0" algn="just">
              <a:lnSpc>
                <a:spcPct val="150000"/>
              </a:lnSpc>
              <a:buNone/>
            </a:pPr>
            <a:r>
              <a:rPr lang="en-US" sz="2000" dirty="0">
                <a:latin typeface="+mn-lt"/>
              </a:rPr>
              <a:t>The remaining information are optional.</a:t>
            </a:r>
          </a:p>
          <a:p>
            <a:pPr marL="0" indent="0" algn="just">
              <a:lnSpc>
                <a:spcPct val="150000"/>
              </a:lnSpc>
              <a:buNone/>
            </a:pPr>
            <a:r>
              <a:rPr lang="en-IN" sz="2000" dirty="0">
                <a:solidFill>
                  <a:srgbClr val="0000FF"/>
                </a:solidFill>
                <a:latin typeface="+mn-lt"/>
              </a:rPr>
              <a:t>Frame number </a:t>
            </a:r>
            <a:r>
              <a:rPr lang="en-IN" sz="2000" dirty="0">
                <a:latin typeface="+mn-lt"/>
              </a:rPr>
              <a:t>denotes the frame where the page is present in the main memory.</a:t>
            </a:r>
          </a:p>
          <a:p>
            <a:pPr marL="0" indent="0" algn="just">
              <a:lnSpc>
                <a:spcPct val="150000"/>
              </a:lnSpc>
              <a:buNone/>
            </a:pPr>
            <a:r>
              <a:rPr lang="en-IN" sz="2000" dirty="0">
                <a:latin typeface="+mn-lt"/>
              </a:rPr>
              <a:t>The number of bits required for this depends on the number of frames in the main memory.</a:t>
            </a:r>
          </a:p>
          <a:p>
            <a:pPr marL="0" indent="0" algn="just">
              <a:lnSpc>
                <a:spcPct val="150000"/>
              </a:lnSpc>
              <a:buNone/>
            </a:pPr>
            <a:r>
              <a:rPr lang="en-IN" sz="2000" dirty="0">
                <a:latin typeface="+mn-lt"/>
              </a:rPr>
              <a:t>The </a:t>
            </a:r>
            <a:r>
              <a:rPr lang="en-IN" sz="2000" dirty="0">
                <a:solidFill>
                  <a:srgbClr val="0000FF"/>
                </a:solidFill>
                <a:latin typeface="+mn-lt"/>
              </a:rPr>
              <a:t>Present /Absent bit </a:t>
            </a:r>
            <a:r>
              <a:rPr lang="en-IN" sz="2000" dirty="0">
                <a:latin typeface="+mn-lt"/>
              </a:rPr>
              <a:t>specifies whether the page is present in the main memory or not.</a:t>
            </a:r>
          </a:p>
          <a:p>
            <a:pPr marL="0" indent="0" algn="just">
              <a:lnSpc>
                <a:spcPct val="150000"/>
              </a:lnSpc>
              <a:buNone/>
            </a:pPr>
            <a:r>
              <a:rPr lang="en-IN" sz="2000" dirty="0">
                <a:latin typeface="+mn-lt"/>
              </a:rPr>
              <a:t>It is also called </a:t>
            </a:r>
            <a:r>
              <a:rPr lang="en-IN" sz="2000" dirty="0">
                <a:solidFill>
                  <a:srgbClr val="0070C0"/>
                </a:solidFill>
                <a:latin typeface="+mn-lt"/>
              </a:rPr>
              <a:t>Valid/Invalid bit.</a:t>
            </a:r>
          </a:p>
          <a:p>
            <a:pPr marL="0" indent="0" algn="just">
              <a:lnSpc>
                <a:spcPct val="150000"/>
              </a:lnSpc>
              <a:buNone/>
            </a:pPr>
            <a:r>
              <a:rPr lang="en-IN" sz="2000" dirty="0">
                <a:latin typeface="+mn-lt"/>
              </a:rPr>
              <a:t>If the page we are looking for it not present in main memory, it is called </a:t>
            </a:r>
            <a:r>
              <a:rPr lang="en-IN" sz="2000" dirty="0">
                <a:solidFill>
                  <a:srgbClr val="0000FF"/>
                </a:solidFill>
                <a:latin typeface="+mn-lt"/>
              </a:rPr>
              <a:t>PAGE FAULT.</a:t>
            </a:r>
          </a:p>
          <a:p>
            <a:pPr marL="0" indent="0" algn="just">
              <a:lnSpc>
                <a:spcPct val="150000"/>
              </a:lnSpc>
              <a:buNone/>
            </a:pPr>
            <a:r>
              <a:rPr lang="en-IN" sz="2000" dirty="0">
                <a:latin typeface="+mn-lt"/>
              </a:rPr>
              <a:t>If the page we are looking for it is not present in main memory, the Present/Absent  bit is set to 0.</a:t>
            </a:r>
          </a:p>
        </p:txBody>
      </p:sp>
      <p:sp>
        <p:nvSpPr>
          <p:cNvPr id="2" name="Google Shape;98;g2eff20282af_0_123">
            <a:extLst>
              <a:ext uri="{FF2B5EF4-FFF2-40B4-BE49-F238E27FC236}">
                <a16:creationId xmlns:a16="http://schemas.microsoft.com/office/drawing/2014/main" id="{E91EE552-AEE3-943B-7194-8BE0E5413867}"/>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6921179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98;g2eff20282af_0_123">
            <a:extLst>
              <a:ext uri="{FF2B5EF4-FFF2-40B4-BE49-F238E27FC236}">
                <a16:creationId xmlns:a16="http://schemas.microsoft.com/office/drawing/2014/main" id="{DED178F0-AA14-B6DD-C6CF-59D0FCE1E095}"/>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pic>
        <p:nvPicPr>
          <p:cNvPr id="6" name="Picture 5">
            <a:extLst>
              <a:ext uri="{FF2B5EF4-FFF2-40B4-BE49-F238E27FC236}">
                <a16:creationId xmlns:a16="http://schemas.microsoft.com/office/drawing/2014/main" id="{F20377D7-845C-49C1-28B1-D51251DD90F8}"/>
              </a:ext>
            </a:extLst>
          </p:cNvPr>
          <p:cNvPicPr>
            <a:picLocks noChangeAspect="1"/>
          </p:cNvPicPr>
          <p:nvPr/>
        </p:nvPicPr>
        <p:blipFill>
          <a:blip r:embed="rId2"/>
          <a:stretch>
            <a:fillRect/>
          </a:stretch>
        </p:blipFill>
        <p:spPr>
          <a:xfrm>
            <a:off x="2453951" y="452463"/>
            <a:ext cx="9542107" cy="6388362"/>
          </a:xfrm>
          <a:prstGeom prst="rect">
            <a:avLst/>
          </a:prstGeom>
        </p:spPr>
      </p:pic>
    </p:spTree>
    <p:extLst>
      <p:ext uri="{BB962C8B-B14F-4D97-AF65-F5344CB8AC3E}">
        <p14:creationId xmlns:p14="http://schemas.microsoft.com/office/powerpoint/2010/main" val="9321724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BE93EE-EB8E-654D-69AA-1FE66EC61FAF}"/>
              </a:ext>
            </a:extLst>
          </p:cNvPr>
          <p:cNvSpPr>
            <a:spLocks noGrp="1"/>
          </p:cNvSpPr>
          <p:nvPr>
            <p:ph idx="1"/>
          </p:nvPr>
        </p:nvSpPr>
        <p:spPr>
          <a:xfrm>
            <a:off x="2560320" y="162560"/>
            <a:ext cx="9489440" cy="6624320"/>
          </a:xfrm>
        </p:spPr>
        <p:txBody>
          <a:bodyPr>
            <a:normAutofit/>
          </a:bodyPr>
          <a:lstStyle/>
          <a:p>
            <a:pPr marL="0" indent="0" algn="just">
              <a:lnSpc>
                <a:spcPct val="150000"/>
              </a:lnSpc>
              <a:buNone/>
            </a:pPr>
            <a:r>
              <a:rPr lang="en-US" sz="2000" dirty="0">
                <a:latin typeface="+mn-lt"/>
              </a:rPr>
              <a:t>The </a:t>
            </a:r>
            <a:r>
              <a:rPr lang="en-US" sz="2000" dirty="0">
                <a:solidFill>
                  <a:srgbClr val="0000FF"/>
                </a:solidFill>
                <a:latin typeface="+mn-lt"/>
              </a:rPr>
              <a:t>protection bit </a:t>
            </a:r>
            <a:r>
              <a:rPr lang="en-US" sz="2000" dirty="0">
                <a:latin typeface="+mn-lt"/>
              </a:rPr>
              <a:t>also known as Read/Write bit is used for page protection.</a:t>
            </a:r>
          </a:p>
          <a:p>
            <a:pPr marL="0" indent="0" algn="just">
              <a:lnSpc>
                <a:spcPct val="150000"/>
              </a:lnSpc>
              <a:buNone/>
            </a:pPr>
            <a:r>
              <a:rPr lang="en-US" sz="2000" dirty="0">
                <a:latin typeface="+mn-lt"/>
              </a:rPr>
              <a:t>It specifies the permissions for read or write operations on the page.</a:t>
            </a:r>
          </a:p>
          <a:p>
            <a:pPr marL="0" indent="0" algn="just">
              <a:lnSpc>
                <a:spcPct val="150000"/>
              </a:lnSpc>
              <a:buNone/>
            </a:pPr>
            <a:r>
              <a:rPr lang="en-US" sz="2000" dirty="0">
                <a:latin typeface="+mn-lt"/>
              </a:rPr>
              <a:t>The bit is set to 0 if only read operation is allowed.</a:t>
            </a:r>
          </a:p>
          <a:p>
            <a:pPr marL="0" indent="0" algn="just">
              <a:lnSpc>
                <a:spcPct val="150000"/>
              </a:lnSpc>
              <a:buNone/>
            </a:pPr>
            <a:r>
              <a:rPr lang="en-US" sz="2000" dirty="0">
                <a:latin typeface="+mn-lt"/>
              </a:rPr>
              <a:t>The bit is set to 1 if both read and write operations are allowed.</a:t>
            </a:r>
          </a:p>
          <a:p>
            <a:pPr marL="0" indent="0" algn="just">
              <a:lnSpc>
                <a:spcPct val="150000"/>
              </a:lnSpc>
              <a:buNone/>
            </a:pPr>
            <a:r>
              <a:rPr lang="en-IN" sz="2000" dirty="0">
                <a:latin typeface="+mn-lt"/>
              </a:rPr>
              <a:t>The </a:t>
            </a:r>
            <a:r>
              <a:rPr lang="en-IN" sz="2000" dirty="0">
                <a:solidFill>
                  <a:srgbClr val="0000FF"/>
                </a:solidFill>
                <a:latin typeface="+mn-lt"/>
              </a:rPr>
              <a:t>reference bit </a:t>
            </a:r>
            <a:r>
              <a:rPr lang="en-IN" sz="2000" dirty="0">
                <a:latin typeface="+mn-lt"/>
              </a:rPr>
              <a:t>specifies whether the page has been referenced in the last clock cycle or not.</a:t>
            </a:r>
          </a:p>
          <a:p>
            <a:pPr marL="0" indent="0" algn="just">
              <a:lnSpc>
                <a:spcPct val="150000"/>
              </a:lnSpc>
              <a:buNone/>
            </a:pPr>
            <a:r>
              <a:rPr lang="en-IN" sz="2000" dirty="0">
                <a:latin typeface="+mn-lt"/>
              </a:rPr>
              <a:t>It is set to 1 when page is accessed.</a:t>
            </a:r>
          </a:p>
          <a:p>
            <a:pPr marL="0" indent="0" algn="just">
              <a:lnSpc>
                <a:spcPct val="150000"/>
              </a:lnSpc>
              <a:buNone/>
            </a:pPr>
            <a:r>
              <a:rPr lang="en-IN" sz="2000" dirty="0">
                <a:latin typeface="+mn-lt"/>
              </a:rPr>
              <a:t>The </a:t>
            </a:r>
            <a:r>
              <a:rPr lang="en-IN" sz="2000" dirty="0">
                <a:solidFill>
                  <a:srgbClr val="0000FF"/>
                </a:solidFill>
                <a:latin typeface="+mn-lt"/>
              </a:rPr>
              <a:t>caching bit </a:t>
            </a:r>
            <a:r>
              <a:rPr lang="en-IN" sz="2000" dirty="0">
                <a:latin typeface="+mn-lt"/>
              </a:rPr>
              <a:t>is used for enabling or disabling caching of the page.</a:t>
            </a:r>
          </a:p>
          <a:p>
            <a:pPr marL="0" indent="0" algn="just">
              <a:lnSpc>
                <a:spcPct val="150000"/>
              </a:lnSpc>
              <a:buNone/>
            </a:pPr>
            <a:r>
              <a:rPr lang="en-IN" sz="2000" dirty="0">
                <a:latin typeface="+mn-lt"/>
              </a:rPr>
              <a:t>When we need fresh data we have to disable caching so as to avoid fetching of old data from the cache.</a:t>
            </a:r>
          </a:p>
          <a:p>
            <a:pPr marL="0" indent="0" algn="just">
              <a:lnSpc>
                <a:spcPct val="150000"/>
              </a:lnSpc>
              <a:buNone/>
            </a:pPr>
            <a:r>
              <a:rPr lang="en-IN" sz="2000" dirty="0">
                <a:latin typeface="+mn-lt"/>
              </a:rPr>
              <a:t>When caching has to be disabled, this bit is set to 1. Otherwise it is set 0.</a:t>
            </a:r>
          </a:p>
          <a:p>
            <a:pPr marL="0" indent="0">
              <a:buNone/>
            </a:pPr>
            <a:endParaRPr lang="en-IN" sz="2000" dirty="0">
              <a:latin typeface="+mn-lt"/>
            </a:endParaRPr>
          </a:p>
        </p:txBody>
      </p:sp>
      <p:sp>
        <p:nvSpPr>
          <p:cNvPr id="2" name="Google Shape;98;g2eff20282af_0_123">
            <a:extLst>
              <a:ext uri="{FF2B5EF4-FFF2-40B4-BE49-F238E27FC236}">
                <a16:creationId xmlns:a16="http://schemas.microsoft.com/office/drawing/2014/main" id="{11FA62D9-AEAD-5E2A-AA8F-C1C49A6D1220}"/>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14758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E5685-5E0B-E1DC-AFF7-6E731FC97FA7}"/>
            </a:ext>
          </a:extLst>
        </p:cNvPr>
        <p:cNvGrpSpPr/>
        <p:nvPr/>
      </p:nvGrpSpPr>
      <p:grpSpPr>
        <a:xfrm>
          <a:off x="0" y="0"/>
          <a:ext cx="0" cy="0"/>
          <a:chOff x="0" y="0"/>
          <a:chExt cx="0" cy="0"/>
        </a:xfrm>
      </p:grpSpPr>
      <p:sp>
        <p:nvSpPr>
          <p:cNvPr id="2" name="Google Shape;98;g2eff20282af_0_123">
            <a:extLst>
              <a:ext uri="{FF2B5EF4-FFF2-40B4-BE49-F238E27FC236}">
                <a16:creationId xmlns:a16="http://schemas.microsoft.com/office/drawing/2014/main" id="{6BD6AD57-086A-3EAD-06C3-6E29EC8397E3}"/>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
        <p:nvSpPr>
          <p:cNvPr id="5" name="Content Placeholder 4">
            <a:extLst>
              <a:ext uri="{FF2B5EF4-FFF2-40B4-BE49-F238E27FC236}">
                <a16:creationId xmlns:a16="http://schemas.microsoft.com/office/drawing/2014/main" id="{6CB25387-72F5-0CC3-AB62-64379FB5730B}"/>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742BBBD6-B7F4-C849-3A2E-2BFAA50F60DB}"/>
              </a:ext>
            </a:extLst>
          </p:cNvPr>
          <p:cNvPicPr>
            <a:picLocks noChangeAspect="1"/>
          </p:cNvPicPr>
          <p:nvPr/>
        </p:nvPicPr>
        <p:blipFill>
          <a:blip r:embed="rId2"/>
          <a:stretch>
            <a:fillRect/>
          </a:stretch>
        </p:blipFill>
        <p:spPr>
          <a:xfrm>
            <a:off x="2208751" y="1041849"/>
            <a:ext cx="9585043" cy="5663682"/>
          </a:xfrm>
          <a:prstGeom prst="rect">
            <a:avLst/>
          </a:prstGeom>
        </p:spPr>
      </p:pic>
      <p:sp>
        <p:nvSpPr>
          <p:cNvPr id="8" name="TextBox 7">
            <a:extLst>
              <a:ext uri="{FF2B5EF4-FFF2-40B4-BE49-F238E27FC236}">
                <a16:creationId xmlns:a16="http://schemas.microsoft.com/office/drawing/2014/main" id="{B2F4BC7E-3E79-0B81-60EC-323EE984E515}"/>
              </a:ext>
            </a:extLst>
          </p:cNvPr>
          <p:cNvSpPr txBox="1"/>
          <p:nvPr/>
        </p:nvSpPr>
        <p:spPr>
          <a:xfrm>
            <a:off x="2708694" y="357574"/>
            <a:ext cx="3710767" cy="584775"/>
          </a:xfrm>
          <a:prstGeom prst="rect">
            <a:avLst/>
          </a:prstGeom>
          <a:noFill/>
        </p:spPr>
        <p:txBody>
          <a:bodyPr wrap="square" rtlCol="0">
            <a:spAutoFit/>
          </a:bodyPr>
          <a:lstStyle/>
          <a:p>
            <a:r>
              <a:rPr lang="en-US" sz="3200" b="1" dirty="0">
                <a:solidFill>
                  <a:srgbClr val="002060"/>
                </a:solidFill>
              </a:rPr>
              <a:t>SHARED DATA</a:t>
            </a:r>
          </a:p>
        </p:txBody>
      </p:sp>
    </p:spTree>
    <p:extLst>
      <p:ext uri="{BB962C8B-B14F-4D97-AF65-F5344CB8AC3E}">
        <p14:creationId xmlns:p14="http://schemas.microsoft.com/office/powerpoint/2010/main" val="1785807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BE93EE-EB8E-654D-69AA-1FE66EC61FAF}"/>
              </a:ext>
            </a:extLst>
          </p:cNvPr>
          <p:cNvSpPr>
            <a:spLocks noGrp="1"/>
          </p:cNvSpPr>
          <p:nvPr>
            <p:ph idx="1"/>
          </p:nvPr>
        </p:nvSpPr>
        <p:spPr>
          <a:xfrm>
            <a:off x="2560320" y="162560"/>
            <a:ext cx="9489440" cy="6624320"/>
          </a:xfrm>
        </p:spPr>
        <p:txBody>
          <a:bodyPr>
            <a:normAutofit/>
          </a:bodyPr>
          <a:lstStyle/>
          <a:p>
            <a:pPr marL="0" indent="0" algn="just">
              <a:lnSpc>
                <a:spcPct val="150000"/>
              </a:lnSpc>
              <a:buNone/>
            </a:pPr>
            <a:r>
              <a:rPr lang="en-US" sz="2000" dirty="0">
                <a:solidFill>
                  <a:srgbClr val="0000FF"/>
                </a:solidFill>
                <a:latin typeface="+mn-lt"/>
              </a:rPr>
              <a:t>The Dirty bit</a:t>
            </a:r>
            <a:r>
              <a:rPr lang="en-US" sz="2000" dirty="0">
                <a:latin typeface="+mn-lt"/>
              </a:rPr>
              <a:t> is also known as the Modified bit.</a:t>
            </a:r>
          </a:p>
          <a:p>
            <a:pPr marL="0" indent="0" algn="just">
              <a:lnSpc>
                <a:spcPct val="150000"/>
              </a:lnSpc>
              <a:buNone/>
            </a:pPr>
            <a:r>
              <a:rPr lang="en-US" sz="2000" dirty="0">
                <a:latin typeface="+mn-lt"/>
              </a:rPr>
              <a:t>It Specifies whether the page has been modified or not.</a:t>
            </a:r>
          </a:p>
          <a:p>
            <a:pPr marL="0" indent="0" algn="just">
              <a:lnSpc>
                <a:spcPct val="150000"/>
              </a:lnSpc>
              <a:buNone/>
            </a:pPr>
            <a:r>
              <a:rPr lang="en-US" sz="2000" dirty="0">
                <a:latin typeface="+mn-lt"/>
              </a:rPr>
              <a:t>If the page has been modified, then this bit is set to 1otherwise set to 0.</a:t>
            </a:r>
          </a:p>
          <a:p>
            <a:pPr marL="0" indent="0" algn="just">
              <a:lnSpc>
                <a:spcPct val="150000"/>
              </a:lnSpc>
              <a:buNone/>
            </a:pPr>
            <a:r>
              <a:rPr lang="en-US" sz="2000" dirty="0">
                <a:latin typeface="+mn-lt"/>
              </a:rPr>
              <a:t>This bit helps in avoiding unnecessary writes to the secondary memory when a page is being replaced by another page.</a:t>
            </a:r>
          </a:p>
          <a:p>
            <a:pPr marL="0" indent="0">
              <a:buNone/>
            </a:pPr>
            <a:endParaRPr lang="en-IN" sz="2000" dirty="0">
              <a:latin typeface="+mn-lt"/>
            </a:endParaRPr>
          </a:p>
        </p:txBody>
      </p:sp>
      <p:sp>
        <p:nvSpPr>
          <p:cNvPr id="2" name="Google Shape;98;g2eff20282af_0_123">
            <a:extLst>
              <a:ext uri="{FF2B5EF4-FFF2-40B4-BE49-F238E27FC236}">
                <a16:creationId xmlns:a16="http://schemas.microsoft.com/office/drawing/2014/main" id="{AE08B441-BF9B-2324-17B2-87C5AF8AA069}"/>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200951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BE93EE-EB8E-654D-69AA-1FE66EC61FAF}"/>
              </a:ext>
            </a:extLst>
          </p:cNvPr>
          <p:cNvSpPr>
            <a:spLocks noGrp="1"/>
          </p:cNvSpPr>
          <p:nvPr>
            <p:ph idx="1"/>
          </p:nvPr>
        </p:nvSpPr>
        <p:spPr>
          <a:xfrm>
            <a:off x="2560320" y="162560"/>
            <a:ext cx="9489440" cy="6624320"/>
          </a:xfrm>
        </p:spPr>
        <p:txBody>
          <a:bodyPr>
            <a:normAutofit lnSpcReduction="10000"/>
          </a:bodyPr>
          <a:lstStyle/>
          <a:p>
            <a:pPr marL="0" indent="0" algn="ctr">
              <a:lnSpc>
                <a:spcPct val="150000"/>
              </a:lnSpc>
              <a:spcAft>
                <a:spcPts val="800"/>
              </a:spcAft>
              <a:buNone/>
            </a:pPr>
            <a:r>
              <a:rPr lang="en-US" sz="2400" b="1" dirty="0">
                <a:solidFill>
                  <a:srgbClr val="FF0000"/>
                </a:solidFill>
                <a:effectLst/>
                <a:latin typeface="+mn-lt"/>
                <a:ea typeface="Calibri" panose="020F0502020204030204" pitchFamily="34" charset="0"/>
                <a:cs typeface="Times New Roman" panose="02020603050405020304" pitchFamily="18" charset="0"/>
              </a:rPr>
              <a:t>Shared Pages</a:t>
            </a:r>
            <a:endParaRPr lang="en-IN" sz="2400" b="1" dirty="0">
              <a:solidFill>
                <a:srgbClr val="FF0000"/>
              </a:solidFill>
              <a:effectLst/>
              <a:latin typeface="+mn-lt"/>
              <a:ea typeface="Calibri" panose="020F0502020204030204" pitchFamily="34" charset="0"/>
              <a:cs typeface="Times New Roman" panose="02020603050405020304" pitchFamily="18" charset="0"/>
            </a:endParaRPr>
          </a:p>
          <a:p>
            <a:pPr marL="0" indent="0" algn="just">
              <a:lnSpc>
                <a:spcPct val="150000"/>
              </a:lnSpc>
              <a:spcAft>
                <a:spcPts val="800"/>
              </a:spcAft>
              <a:buNone/>
            </a:pPr>
            <a:r>
              <a:rPr lang="en-US" sz="2000" dirty="0">
                <a:effectLst/>
                <a:latin typeface="+mn-lt"/>
                <a:ea typeface="Calibri" panose="020F0502020204030204" pitchFamily="34" charset="0"/>
                <a:cs typeface="Times New Roman" panose="02020603050405020304" pitchFamily="18" charset="0"/>
              </a:rPr>
              <a:t>An advantage of paging is the possibility of </a:t>
            </a:r>
            <a:r>
              <a:rPr lang="en-US" sz="2000" b="1" dirty="0">
                <a:effectLst/>
                <a:latin typeface="+mn-lt"/>
                <a:ea typeface="Calibri" panose="020F0502020204030204" pitchFamily="34" charset="0"/>
                <a:cs typeface="Times New Roman" panose="02020603050405020304" pitchFamily="18" charset="0"/>
              </a:rPr>
              <a:t>sharing common code</a:t>
            </a:r>
            <a:r>
              <a:rPr lang="en-US" sz="2000" dirty="0">
                <a:effectLst/>
                <a:latin typeface="+mn-lt"/>
                <a:ea typeface="Calibri" panose="020F0502020204030204" pitchFamily="34" charset="0"/>
                <a:cs typeface="Times New Roman" panose="02020603050405020304" pitchFamily="18" charset="0"/>
              </a:rPr>
              <a:t>. </a:t>
            </a:r>
          </a:p>
          <a:p>
            <a:pPr marL="0" indent="0" algn="just">
              <a:lnSpc>
                <a:spcPct val="150000"/>
              </a:lnSpc>
              <a:spcAft>
                <a:spcPts val="800"/>
              </a:spcAft>
              <a:buNone/>
            </a:pPr>
            <a:r>
              <a:rPr lang="en-US" sz="2000" dirty="0">
                <a:effectLst/>
                <a:latin typeface="+mn-lt"/>
                <a:ea typeface="Calibri" panose="020F0502020204030204" pitchFamily="34" charset="0"/>
                <a:cs typeface="Times New Roman" panose="02020603050405020304" pitchFamily="18" charset="0"/>
              </a:rPr>
              <a:t>This is particularly important in a time-sharing environment. </a:t>
            </a:r>
          </a:p>
          <a:p>
            <a:pPr marL="0" indent="0" algn="just">
              <a:lnSpc>
                <a:spcPct val="150000"/>
              </a:lnSpc>
              <a:spcAft>
                <a:spcPts val="800"/>
              </a:spcAft>
              <a:buNone/>
            </a:pPr>
            <a:r>
              <a:rPr lang="en-US" sz="2000" dirty="0">
                <a:effectLst/>
                <a:latin typeface="+mn-lt"/>
                <a:ea typeface="Calibri" panose="020F0502020204030204" pitchFamily="34" charset="0"/>
                <a:cs typeface="Times New Roman" panose="02020603050405020304" pitchFamily="18" charset="0"/>
              </a:rPr>
              <a:t>Consider a system that supports 40 users, each of whom executes a text editor. </a:t>
            </a:r>
          </a:p>
          <a:p>
            <a:pPr marL="0" indent="0" algn="just">
              <a:lnSpc>
                <a:spcPct val="150000"/>
              </a:lnSpc>
              <a:spcAft>
                <a:spcPts val="800"/>
              </a:spcAft>
              <a:buNone/>
            </a:pPr>
            <a:r>
              <a:rPr lang="en-US" sz="2000" dirty="0">
                <a:effectLst/>
                <a:latin typeface="+mn-lt"/>
                <a:ea typeface="Calibri" panose="020F0502020204030204" pitchFamily="34" charset="0"/>
                <a:cs typeface="Times New Roman" panose="02020603050405020304" pitchFamily="18" charset="0"/>
              </a:rPr>
              <a:t>If the text editor consists of 150 KB of code and 50 KB of data space, </a:t>
            </a:r>
          </a:p>
          <a:p>
            <a:pPr marL="0" indent="0" algn="just">
              <a:lnSpc>
                <a:spcPct val="150000"/>
              </a:lnSpc>
              <a:spcAft>
                <a:spcPts val="800"/>
              </a:spcAft>
              <a:buNone/>
            </a:pPr>
            <a:r>
              <a:rPr lang="en-US" sz="2000" dirty="0">
                <a:effectLst/>
                <a:latin typeface="+mn-lt"/>
                <a:ea typeface="Calibri" panose="020F0502020204030204" pitchFamily="34" charset="0"/>
                <a:cs typeface="Times New Roman" panose="02020603050405020304" pitchFamily="18" charset="0"/>
              </a:rPr>
              <a:t>we need, (150 x 40) + (50 x 40) = 6000 + 2000 =  8,000 KB to support the 40 users.</a:t>
            </a:r>
          </a:p>
          <a:p>
            <a:pPr marL="0" indent="0" algn="just">
              <a:lnSpc>
                <a:spcPct val="150000"/>
              </a:lnSpc>
              <a:spcAft>
                <a:spcPts val="800"/>
              </a:spcAft>
              <a:buNone/>
            </a:pPr>
            <a:r>
              <a:rPr lang="en-US" sz="2000" dirty="0">
                <a:latin typeface="+mn-lt"/>
                <a:ea typeface="Calibri" panose="020F0502020204030204" pitchFamily="34" charset="0"/>
                <a:cs typeface="Times New Roman" panose="02020603050405020304" pitchFamily="18" charset="0"/>
              </a:rPr>
              <a:t>H</a:t>
            </a:r>
            <a:r>
              <a:rPr lang="en-US" sz="2000" dirty="0">
                <a:effectLst/>
                <a:latin typeface="+mn-lt"/>
                <a:ea typeface="Calibri" panose="020F0502020204030204" pitchFamily="34" charset="0"/>
                <a:cs typeface="Times New Roman" panose="02020603050405020304" pitchFamily="18" charset="0"/>
              </a:rPr>
              <a:t>owever, If the code is reentrant code (or pure code), it can be shared among different processes.</a:t>
            </a:r>
          </a:p>
          <a:p>
            <a:pPr marL="0" indent="0" algn="just">
              <a:lnSpc>
                <a:spcPct val="150000"/>
              </a:lnSpc>
              <a:spcAft>
                <a:spcPts val="800"/>
              </a:spcAft>
              <a:buNone/>
            </a:pPr>
            <a:r>
              <a:rPr lang="en-US" sz="2000" dirty="0">
                <a:latin typeface="+mn-lt"/>
                <a:ea typeface="Calibri" panose="020F0502020204030204" pitchFamily="34" charset="0"/>
                <a:cs typeface="Times New Roman" panose="02020603050405020304" pitchFamily="18" charset="0"/>
              </a:rPr>
              <a:t>Code that is non self modifying code. It never changes during execution.</a:t>
            </a:r>
          </a:p>
          <a:p>
            <a:pPr marL="0" indent="0" algn="just">
              <a:lnSpc>
                <a:spcPct val="150000"/>
              </a:lnSpc>
              <a:spcAft>
                <a:spcPts val="800"/>
              </a:spcAft>
              <a:buNone/>
            </a:pPr>
            <a:r>
              <a:rPr lang="en-US" sz="2000" dirty="0">
                <a:effectLst/>
                <a:latin typeface="+mn-lt"/>
                <a:ea typeface="Calibri" panose="020F0502020204030204" pitchFamily="34" charset="0"/>
                <a:cs typeface="Times New Roman" panose="02020603050405020304" pitchFamily="18" charset="0"/>
              </a:rPr>
              <a:t>Thus, 2 or more processes can execute the same code at the same time.</a:t>
            </a:r>
          </a:p>
          <a:p>
            <a:pPr marL="0" indent="0" algn="just">
              <a:lnSpc>
                <a:spcPct val="150000"/>
              </a:lnSpc>
              <a:spcAft>
                <a:spcPts val="800"/>
              </a:spcAft>
              <a:buNone/>
            </a:pPr>
            <a:endParaRPr lang="en-US" sz="2000" dirty="0">
              <a:effectLst/>
              <a:latin typeface="+mn-lt"/>
              <a:ea typeface="Calibri" panose="020F0502020204030204" pitchFamily="34" charset="0"/>
              <a:cs typeface="Times New Roman" panose="02020603050405020304" pitchFamily="18" charset="0"/>
            </a:endParaRPr>
          </a:p>
          <a:p>
            <a:pPr marL="0" indent="0">
              <a:buNone/>
            </a:pPr>
            <a:endParaRPr lang="en-IN" sz="2000" dirty="0">
              <a:latin typeface="+mn-lt"/>
            </a:endParaRPr>
          </a:p>
        </p:txBody>
      </p:sp>
      <p:sp>
        <p:nvSpPr>
          <p:cNvPr id="2" name="Google Shape;98;g2eff20282af_0_123">
            <a:extLst>
              <a:ext uri="{FF2B5EF4-FFF2-40B4-BE49-F238E27FC236}">
                <a16:creationId xmlns:a16="http://schemas.microsoft.com/office/drawing/2014/main" id="{063B9B51-DFC2-0194-AEBF-65E347FA0939}"/>
              </a:ext>
            </a:extLst>
          </p:cNvPr>
          <p:cNvSpPr txBox="1"/>
          <p:nvPr/>
        </p:nvSpPr>
        <p:spPr>
          <a:xfrm>
            <a:off x="524064" y="3873690"/>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569141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BE93EE-EB8E-654D-69AA-1FE66EC61FAF}"/>
              </a:ext>
            </a:extLst>
          </p:cNvPr>
          <p:cNvSpPr>
            <a:spLocks noGrp="1"/>
          </p:cNvSpPr>
          <p:nvPr>
            <p:ph idx="1"/>
          </p:nvPr>
        </p:nvSpPr>
        <p:spPr>
          <a:xfrm>
            <a:off x="2560320" y="162560"/>
            <a:ext cx="9489440" cy="5923280"/>
          </a:xfrm>
        </p:spPr>
        <p:txBody>
          <a:bodyPr>
            <a:normAutofit/>
          </a:bodyPr>
          <a:lstStyle/>
          <a:p>
            <a:pPr marL="0" indent="0" algn="just">
              <a:lnSpc>
                <a:spcPct val="150000"/>
              </a:lnSpc>
              <a:buNone/>
            </a:pPr>
            <a:r>
              <a:rPr lang="en-US" sz="2000" dirty="0">
                <a:latin typeface="+mn-lt"/>
              </a:rPr>
              <a:t>Each process has its own copy of registers and data storage to hold the data for the process’s execution. The data for two different processes will, of course, be different.</a:t>
            </a:r>
          </a:p>
          <a:p>
            <a:pPr marL="0" indent="0" algn="just">
              <a:lnSpc>
                <a:spcPct val="150000"/>
              </a:lnSpc>
              <a:buNone/>
            </a:pPr>
            <a:endParaRPr lang="en-US" sz="2000" dirty="0">
              <a:latin typeface="+mn-lt"/>
            </a:endParaRPr>
          </a:p>
          <a:p>
            <a:pPr marL="0" indent="0">
              <a:buNone/>
            </a:pPr>
            <a:endParaRPr lang="en-US" sz="2000" dirty="0">
              <a:latin typeface="+mn-lt"/>
            </a:endParaRPr>
          </a:p>
          <a:p>
            <a:endParaRPr lang="en-IN" sz="2000" dirty="0">
              <a:latin typeface="+mn-lt"/>
            </a:endParaRPr>
          </a:p>
        </p:txBody>
      </p:sp>
      <p:sp>
        <p:nvSpPr>
          <p:cNvPr id="5" name="TextBox 4">
            <a:extLst>
              <a:ext uri="{FF2B5EF4-FFF2-40B4-BE49-F238E27FC236}">
                <a16:creationId xmlns:a16="http://schemas.microsoft.com/office/drawing/2014/main" id="{11752405-BB25-C7D9-56B5-DF6EE48DE7D5}"/>
              </a:ext>
            </a:extLst>
          </p:cNvPr>
          <p:cNvSpPr txBox="1"/>
          <p:nvPr/>
        </p:nvSpPr>
        <p:spPr>
          <a:xfrm>
            <a:off x="4414520" y="6275782"/>
            <a:ext cx="6106160" cy="506292"/>
          </a:xfrm>
          <a:prstGeom prst="rect">
            <a:avLst/>
          </a:prstGeom>
          <a:noFill/>
        </p:spPr>
        <p:txBody>
          <a:bodyPr wrap="square">
            <a:spAutoFit/>
          </a:bodyPr>
          <a:lstStyle/>
          <a:p>
            <a:pPr algn="ctr">
              <a:lnSpc>
                <a:spcPct val="150000"/>
              </a:lnSpc>
              <a:spcAft>
                <a:spcPts val="800"/>
              </a:spcAft>
            </a:pPr>
            <a:r>
              <a:rPr lang="en-US" sz="2000" dirty="0">
                <a:effectLst/>
                <a:ea typeface="Calibri" panose="020F0502020204030204" pitchFamily="34" charset="0"/>
                <a:cs typeface="Times New Roman" panose="02020603050405020304" pitchFamily="18" charset="0"/>
              </a:rPr>
              <a:t>Sharing of code in a paging environment.</a:t>
            </a:r>
            <a:endParaRPr lang="en-IN" sz="2000" dirty="0">
              <a:effectLst/>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B080C276-410D-19E3-1A62-A6D3E1D315D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92400" y="1259840"/>
            <a:ext cx="9072880" cy="4131310"/>
          </a:xfrm>
          <a:prstGeom prst="rect">
            <a:avLst/>
          </a:prstGeom>
          <a:noFill/>
          <a:ln>
            <a:noFill/>
          </a:ln>
        </p:spPr>
      </p:pic>
    </p:spTree>
    <p:extLst>
      <p:ext uri="{BB962C8B-B14F-4D97-AF65-F5344CB8AC3E}">
        <p14:creationId xmlns:p14="http://schemas.microsoft.com/office/powerpoint/2010/main" val="2888738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BE93EE-EB8E-654D-69AA-1FE66EC61FAF}"/>
              </a:ext>
            </a:extLst>
          </p:cNvPr>
          <p:cNvSpPr>
            <a:spLocks noGrp="1"/>
          </p:cNvSpPr>
          <p:nvPr>
            <p:ph idx="1"/>
          </p:nvPr>
        </p:nvSpPr>
        <p:spPr>
          <a:xfrm>
            <a:off x="2560320" y="162560"/>
            <a:ext cx="9489440" cy="6624320"/>
          </a:xfrm>
        </p:spPr>
        <p:txBody>
          <a:bodyPr>
            <a:normAutofit/>
          </a:bodyPr>
          <a:lstStyle/>
          <a:p>
            <a:pPr marL="0" indent="0" algn="just">
              <a:lnSpc>
                <a:spcPct val="150000"/>
              </a:lnSpc>
              <a:buNone/>
            </a:pPr>
            <a:r>
              <a:rPr lang="en-US" sz="2400" dirty="0">
                <a:effectLst/>
                <a:latin typeface="+mn-lt"/>
                <a:ea typeface="Calibri" panose="020F0502020204030204" pitchFamily="34" charset="0"/>
              </a:rPr>
              <a:t>An advantage of paging is the possibility of </a:t>
            </a:r>
            <a:r>
              <a:rPr lang="en-US" sz="2400" b="1" dirty="0">
                <a:effectLst/>
                <a:latin typeface="+mn-lt"/>
                <a:ea typeface="Calibri" panose="020F0502020204030204" pitchFamily="34" charset="0"/>
              </a:rPr>
              <a:t>sharing common code</a:t>
            </a:r>
            <a:r>
              <a:rPr lang="en-US" sz="2400" dirty="0">
                <a:effectLst/>
                <a:latin typeface="+mn-lt"/>
                <a:ea typeface="Calibri" panose="020F0502020204030204" pitchFamily="34" charset="0"/>
              </a:rPr>
              <a:t>. </a:t>
            </a:r>
          </a:p>
          <a:p>
            <a:pPr marL="0" indent="0" algn="just">
              <a:lnSpc>
                <a:spcPct val="150000"/>
              </a:lnSpc>
              <a:buNone/>
            </a:pPr>
            <a:r>
              <a:rPr lang="en-US" sz="2400" dirty="0">
                <a:effectLst/>
                <a:latin typeface="+mn-lt"/>
                <a:ea typeface="Calibri" panose="020F0502020204030204" pitchFamily="34" charset="0"/>
              </a:rPr>
              <a:t>This is particularly important in a time-sharing environment. </a:t>
            </a:r>
          </a:p>
          <a:p>
            <a:pPr marL="0" indent="0" algn="just">
              <a:lnSpc>
                <a:spcPct val="150000"/>
              </a:lnSpc>
              <a:buNone/>
            </a:pPr>
            <a:r>
              <a:rPr lang="en-US" sz="2400" dirty="0">
                <a:effectLst/>
                <a:latin typeface="+mn-lt"/>
                <a:ea typeface="Calibri" panose="020F0502020204030204" pitchFamily="34" charset="0"/>
              </a:rPr>
              <a:t>Consider a system that supports 40 users, each of whom executes a text editor. If the text editor consists of 150 KB of code and 50 KB of data space, </a:t>
            </a:r>
          </a:p>
          <a:p>
            <a:pPr marL="0" indent="0" algn="just">
              <a:lnSpc>
                <a:spcPct val="150000"/>
              </a:lnSpc>
              <a:buNone/>
            </a:pPr>
            <a:r>
              <a:rPr lang="en-US" sz="2400" dirty="0">
                <a:effectLst/>
                <a:latin typeface="+mn-lt"/>
                <a:ea typeface="Calibri" panose="020F0502020204030204" pitchFamily="34" charset="0"/>
              </a:rPr>
              <a:t>we need, </a:t>
            </a:r>
            <a:r>
              <a:rPr lang="en-US" sz="2400" dirty="0">
                <a:effectLst/>
                <a:latin typeface="+mn-lt"/>
                <a:ea typeface="Calibri" panose="020F0502020204030204" pitchFamily="34" charset="0"/>
                <a:cs typeface="Times New Roman" panose="02020603050405020304" pitchFamily="18" charset="0"/>
              </a:rPr>
              <a:t>(150 x 40) + (50 x 40) = 6000 + 2000 = </a:t>
            </a:r>
            <a:r>
              <a:rPr lang="en-US" sz="2400" dirty="0">
                <a:effectLst/>
                <a:latin typeface="+mn-lt"/>
                <a:ea typeface="Calibri" panose="020F0502020204030204" pitchFamily="34" charset="0"/>
              </a:rPr>
              <a:t>8,000 KB to support the 40 users.</a:t>
            </a:r>
          </a:p>
          <a:p>
            <a:pPr marL="0" indent="0" algn="just">
              <a:lnSpc>
                <a:spcPct val="150000"/>
              </a:lnSpc>
              <a:buNone/>
            </a:pPr>
            <a:r>
              <a:rPr lang="en-US" sz="2400" dirty="0">
                <a:latin typeface="+mn-lt"/>
                <a:ea typeface="Calibri" panose="020F0502020204030204" pitchFamily="34" charset="0"/>
              </a:rPr>
              <a:t>Now, if the code is shared, we need:</a:t>
            </a:r>
          </a:p>
          <a:p>
            <a:pPr marL="0" indent="0" algn="just">
              <a:lnSpc>
                <a:spcPct val="150000"/>
              </a:lnSpc>
              <a:buNone/>
            </a:pPr>
            <a:r>
              <a:rPr lang="en-US" sz="2400" dirty="0">
                <a:latin typeface="+mn-lt"/>
                <a:ea typeface="Calibri" panose="020F0502020204030204" pitchFamily="34" charset="0"/>
              </a:rPr>
              <a:t>150 + (50 x 40) = 150 + 2000 = 2150 KB to support 40 users.</a:t>
            </a:r>
          </a:p>
          <a:p>
            <a:pPr marL="0" indent="0" algn="just">
              <a:lnSpc>
                <a:spcPct val="150000"/>
              </a:lnSpc>
              <a:buNone/>
            </a:pPr>
            <a:endParaRPr lang="en-IN" sz="2000" dirty="0">
              <a:latin typeface="+mn-lt"/>
            </a:endParaRPr>
          </a:p>
        </p:txBody>
      </p:sp>
      <p:sp>
        <p:nvSpPr>
          <p:cNvPr id="2" name="Google Shape;98;g2eff20282af_0_123">
            <a:extLst>
              <a:ext uri="{FF2B5EF4-FFF2-40B4-BE49-F238E27FC236}">
                <a16:creationId xmlns:a16="http://schemas.microsoft.com/office/drawing/2014/main" id="{8B3D3E66-F2B6-564C-9F77-DDE40487074B}"/>
              </a:ext>
            </a:extLst>
          </p:cNvPr>
          <p:cNvSpPr txBox="1"/>
          <p:nvPr/>
        </p:nvSpPr>
        <p:spPr>
          <a:xfrm>
            <a:off x="524064" y="3892352"/>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56328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BE93EE-EB8E-654D-69AA-1FE66EC61FAF}"/>
              </a:ext>
            </a:extLst>
          </p:cNvPr>
          <p:cNvSpPr>
            <a:spLocks noGrp="1"/>
          </p:cNvSpPr>
          <p:nvPr>
            <p:ph idx="1"/>
          </p:nvPr>
        </p:nvSpPr>
        <p:spPr>
          <a:xfrm>
            <a:off x="2560320" y="162560"/>
            <a:ext cx="9489440" cy="6624320"/>
          </a:xfrm>
        </p:spPr>
        <p:txBody>
          <a:bodyPr>
            <a:normAutofit/>
          </a:bodyPr>
          <a:lstStyle/>
          <a:p>
            <a:pPr marL="0" indent="0" algn="ctr">
              <a:lnSpc>
                <a:spcPct val="160000"/>
              </a:lnSpc>
              <a:buNone/>
            </a:pPr>
            <a:r>
              <a:rPr lang="en-US" sz="2400" b="1" dirty="0">
                <a:solidFill>
                  <a:srgbClr val="FF0000"/>
                </a:solidFill>
                <a:effectLst/>
                <a:latin typeface="+mn-lt"/>
                <a:ea typeface="Calibri" panose="020F0502020204030204" pitchFamily="34" charset="0"/>
                <a:cs typeface="Times New Roman" panose="02020603050405020304" pitchFamily="18" charset="0"/>
              </a:rPr>
              <a:t>Hierarchical paging</a:t>
            </a:r>
            <a:endParaRPr lang="en-IN" sz="2400" b="1" dirty="0">
              <a:solidFill>
                <a:srgbClr val="FF0000"/>
              </a:solidFill>
              <a:effectLst/>
              <a:latin typeface="+mn-lt"/>
              <a:ea typeface="Calibri" panose="020F0502020204030204" pitchFamily="34" charset="0"/>
              <a:cs typeface="Times New Roman" panose="02020603050405020304" pitchFamily="18" charset="0"/>
            </a:endParaRPr>
          </a:p>
          <a:p>
            <a:pPr marL="0" indent="0" algn="just">
              <a:lnSpc>
                <a:spcPct val="160000"/>
              </a:lnSpc>
              <a:spcAft>
                <a:spcPts val="800"/>
              </a:spcAft>
              <a:buNone/>
            </a:pPr>
            <a:r>
              <a:rPr lang="en-US" sz="2400" dirty="0">
                <a:effectLst/>
                <a:latin typeface="+mn-lt"/>
                <a:ea typeface="Calibri" panose="020F0502020204030204" pitchFamily="34" charset="0"/>
                <a:cs typeface="Times New Roman" panose="02020603050405020304" pitchFamily="18" charset="0"/>
              </a:rPr>
              <a:t>Most modern computer systems support a large logical address space (2</a:t>
            </a:r>
            <a:r>
              <a:rPr lang="en-US" sz="2400" baseline="30000" dirty="0">
                <a:effectLst/>
                <a:latin typeface="+mn-lt"/>
                <a:ea typeface="Calibri" panose="020F0502020204030204" pitchFamily="34" charset="0"/>
                <a:cs typeface="Times New Roman" panose="02020603050405020304" pitchFamily="18" charset="0"/>
              </a:rPr>
              <a:t>32</a:t>
            </a:r>
            <a:r>
              <a:rPr lang="en-US" sz="2400" dirty="0">
                <a:effectLst/>
                <a:latin typeface="+mn-lt"/>
                <a:ea typeface="Calibri" panose="020F0502020204030204" pitchFamily="34" charset="0"/>
                <a:cs typeface="Times New Roman" panose="02020603050405020304" pitchFamily="18" charset="0"/>
              </a:rPr>
              <a:t> to 2</a:t>
            </a:r>
            <a:r>
              <a:rPr lang="en-US" sz="2400" baseline="30000" dirty="0">
                <a:effectLst/>
                <a:latin typeface="+mn-lt"/>
                <a:ea typeface="Calibri" panose="020F0502020204030204" pitchFamily="34" charset="0"/>
                <a:cs typeface="Times New Roman" panose="02020603050405020304" pitchFamily="18" charset="0"/>
              </a:rPr>
              <a:t>64</a:t>
            </a:r>
            <a:r>
              <a:rPr lang="en-US" sz="2400" dirty="0">
                <a:effectLst/>
                <a:latin typeface="+mn-lt"/>
                <a:ea typeface="Calibri" panose="020F0502020204030204" pitchFamily="34" charset="0"/>
                <a:cs typeface="Times New Roman" panose="02020603050405020304" pitchFamily="18" charset="0"/>
              </a:rPr>
              <a:t>). </a:t>
            </a:r>
          </a:p>
          <a:p>
            <a:pPr marL="0" indent="0" algn="just">
              <a:lnSpc>
                <a:spcPct val="160000"/>
              </a:lnSpc>
              <a:spcAft>
                <a:spcPts val="800"/>
              </a:spcAft>
              <a:buNone/>
            </a:pPr>
            <a:r>
              <a:rPr lang="en-US" sz="2400" dirty="0">
                <a:latin typeface="+mn-lt"/>
                <a:ea typeface="Calibri" panose="020F0502020204030204" pitchFamily="34" charset="0"/>
                <a:cs typeface="Times New Roman" panose="02020603050405020304" pitchFamily="18" charset="0"/>
              </a:rPr>
              <a:t>I</a:t>
            </a:r>
            <a:r>
              <a:rPr lang="en-US" sz="2400" dirty="0">
                <a:effectLst/>
                <a:latin typeface="+mn-lt"/>
                <a:ea typeface="Calibri" panose="020F0502020204030204" pitchFamily="34" charset="0"/>
                <a:cs typeface="Times New Roman" panose="02020603050405020304" pitchFamily="18" charset="0"/>
              </a:rPr>
              <a:t>n such an environment, the page table itself becomes excessively large. </a:t>
            </a:r>
          </a:p>
          <a:p>
            <a:pPr marL="0" indent="0" algn="just">
              <a:lnSpc>
                <a:spcPct val="160000"/>
              </a:lnSpc>
              <a:spcAft>
                <a:spcPts val="800"/>
              </a:spcAft>
              <a:buNone/>
            </a:pPr>
            <a:r>
              <a:rPr lang="en-US" sz="2400" dirty="0">
                <a:effectLst/>
                <a:latin typeface="+mn-lt"/>
                <a:ea typeface="Calibri" panose="020F0502020204030204" pitchFamily="34" charset="0"/>
                <a:cs typeface="Times New Roman" panose="02020603050405020304" pitchFamily="18" charset="0"/>
              </a:rPr>
              <a:t>For example, consider a system with:  </a:t>
            </a:r>
          </a:p>
          <a:p>
            <a:pPr marL="0" indent="0" algn="just">
              <a:lnSpc>
                <a:spcPct val="160000"/>
              </a:lnSpc>
              <a:spcAft>
                <a:spcPts val="800"/>
              </a:spcAft>
              <a:buNone/>
            </a:pPr>
            <a:r>
              <a:rPr lang="en-US" sz="2400" dirty="0">
                <a:effectLst/>
                <a:latin typeface="+mn-lt"/>
                <a:ea typeface="Calibri" panose="020F0502020204030204" pitchFamily="34" charset="0"/>
                <a:cs typeface="Times New Roman" panose="02020603050405020304" pitchFamily="18" charset="0"/>
              </a:rPr>
              <a:t>32-bit logical address space. </a:t>
            </a:r>
          </a:p>
          <a:p>
            <a:pPr marL="0" indent="0" algn="just">
              <a:lnSpc>
                <a:spcPct val="160000"/>
              </a:lnSpc>
              <a:spcAft>
                <a:spcPts val="800"/>
              </a:spcAft>
              <a:buNone/>
            </a:pPr>
            <a:r>
              <a:rPr lang="en-US" sz="2400" dirty="0">
                <a:effectLst/>
                <a:latin typeface="+mn-lt"/>
                <a:ea typeface="Calibri" panose="020F0502020204030204" pitchFamily="34" charset="0"/>
                <a:cs typeface="Times New Roman" panose="02020603050405020304" pitchFamily="18" charset="0"/>
              </a:rPr>
              <a:t>If the page size in such a system is 4 KB (2</a:t>
            </a:r>
            <a:r>
              <a:rPr lang="en-US" sz="2400" baseline="30000" dirty="0">
                <a:effectLst/>
                <a:latin typeface="+mn-lt"/>
                <a:ea typeface="Calibri" panose="020F0502020204030204" pitchFamily="34" charset="0"/>
                <a:cs typeface="Times New Roman" panose="02020603050405020304" pitchFamily="18" charset="0"/>
              </a:rPr>
              <a:t>12</a:t>
            </a:r>
            <a:r>
              <a:rPr lang="en-US" sz="2400" dirty="0">
                <a:effectLst/>
                <a:latin typeface="+mn-lt"/>
                <a:ea typeface="Calibri" panose="020F0502020204030204" pitchFamily="34" charset="0"/>
                <a:cs typeface="Times New Roman" panose="02020603050405020304" pitchFamily="18" charset="0"/>
              </a:rPr>
              <a:t>)</a:t>
            </a:r>
          </a:p>
          <a:p>
            <a:pPr marL="0" indent="0">
              <a:buNone/>
            </a:pPr>
            <a:endParaRPr lang="en-IN" sz="2000" dirty="0">
              <a:latin typeface="+mn-lt"/>
            </a:endParaRPr>
          </a:p>
        </p:txBody>
      </p:sp>
      <p:sp>
        <p:nvSpPr>
          <p:cNvPr id="2" name="Google Shape;98;g2eff20282af_0_123">
            <a:extLst>
              <a:ext uri="{FF2B5EF4-FFF2-40B4-BE49-F238E27FC236}">
                <a16:creationId xmlns:a16="http://schemas.microsoft.com/office/drawing/2014/main" id="{BB92C939-ED4B-0C10-1EA0-9FFAFFC4FC53}"/>
              </a:ext>
            </a:extLst>
          </p:cNvPr>
          <p:cNvSpPr txBox="1"/>
          <p:nvPr/>
        </p:nvSpPr>
        <p:spPr>
          <a:xfrm>
            <a:off x="524064" y="3892352"/>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8519980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92B6F4-B39D-8DFD-0B59-09087AFA5A06}"/>
              </a:ext>
            </a:extLst>
          </p:cNvPr>
          <p:cNvSpPr>
            <a:spLocks noGrp="1"/>
          </p:cNvSpPr>
          <p:nvPr>
            <p:ph idx="1"/>
          </p:nvPr>
        </p:nvSpPr>
        <p:spPr>
          <a:xfrm>
            <a:off x="2570480" y="111760"/>
            <a:ext cx="9428480" cy="6614160"/>
          </a:xfrm>
        </p:spPr>
        <p:txBody>
          <a:bodyPr/>
          <a:lstStyle/>
          <a:p>
            <a:pPr marL="0" indent="0" algn="just">
              <a:lnSpc>
                <a:spcPct val="160000"/>
              </a:lnSpc>
              <a:spcAft>
                <a:spcPts val="800"/>
              </a:spcAft>
              <a:buNone/>
            </a:pPr>
            <a:r>
              <a:rPr lang="en-US" sz="2400" dirty="0">
                <a:latin typeface="+mn-lt"/>
                <a:ea typeface="Calibri" panose="020F0502020204030204" pitchFamily="34" charset="0"/>
                <a:cs typeface="Times New Roman" panose="02020603050405020304" pitchFamily="18" charset="0"/>
              </a:rPr>
              <a:t>T</a:t>
            </a:r>
            <a:r>
              <a:rPr lang="en-US" sz="2400" dirty="0">
                <a:effectLst/>
                <a:latin typeface="+mn-lt"/>
                <a:ea typeface="Calibri" panose="020F0502020204030204" pitchFamily="34" charset="0"/>
                <a:cs typeface="Times New Roman" panose="02020603050405020304" pitchFamily="18" charset="0"/>
              </a:rPr>
              <a:t>hen a page table may consist of up to (2</a:t>
            </a:r>
            <a:r>
              <a:rPr lang="en-US" sz="2400" baseline="30000" dirty="0">
                <a:effectLst/>
                <a:latin typeface="+mn-lt"/>
                <a:ea typeface="Calibri" panose="020F0502020204030204" pitchFamily="34" charset="0"/>
                <a:cs typeface="Times New Roman" panose="02020603050405020304" pitchFamily="18" charset="0"/>
              </a:rPr>
              <a:t>32</a:t>
            </a:r>
            <a:r>
              <a:rPr lang="en-US" sz="2400" dirty="0">
                <a:effectLst/>
                <a:latin typeface="+mn-lt"/>
                <a:ea typeface="Calibri" panose="020F0502020204030204" pitchFamily="34" charset="0"/>
                <a:cs typeface="Times New Roman" panose="02020603050405020304" pitchFamily="18" charset="0"/>
              </a:rPr>
              <a:t> /2</a:t>
            </a:r>
            <a:r>
              <a:rPr lang="en-US" sz="2400" baseline="30000" dirty="0">
                <a:effectLst/>
                <a:latin typeface="+mn-lt"/>
                <a:ea typeface="Calibri" panose="020F0502020204030204" pitchFamily="34" charset="0"/>
                <a:cs typeface="Times New Roman" panose="02020603050405020304" pitchFamily="18" charset="0"/>
              </a:rPr>
              <a:t>12</a:t>
            </a:r>
            <a:r>
              <a:rPr lang="en-US" sz="2400" dirty="0">
                <a:effectLst/>
                <a:latin typeface="+mn-lt"/>
                <a:ea typeface="Calibri" panose="020F0502020204030204" pitchFamily="34" charset="0"/>
                <a:cs typeface="Times New Roman" panose="02020603050405020304" pitchFamily="18" charset="0"/>
              </a:rPr>
              <a:t>) = 1 million entries(approx.)</a:t>
            </a:r>
          </a:p>
          <a:p>
            <a:pPr marL="0" indent="0" algn="just">
              <a:lnSpc>
                <a:spcPct val="160000"/>
              </a:lnSpc>
              <a:spcAft>
                <a:spcPts val="800"/>
              </a:spcAft>
              <a:buNone/>
            </a:pPr>
            <a:r>
              <a:rPr lang="en-US" sz="2400" dirty="0">
                <a:effectLst/>
                <a:latin typeface="+mn-lt"/>
                <a:ea typeface="Calibri" panose="020F0502020204030204" pitchFamily="34" charset="0"/>
                <a:cs typeface="Times New Roman" panose="02020603050405020304" pitchFamily="18" charset="0"/>
              </a:rPr>
              <a:t>Consider each entry consists of 4 bytes</a:t>
            </a:r>
          </a:p>
          <a:p>
            <a:pPr marL="0" indent="0" algn="just">
              <a:lnSpc>
                <a:spcPct val="160000"/>
              </a:lnSpc>
              <a:spcAft>
                <a:spcPts val="800"/>
              </a:spcAft>
              <a:buNone/>
            </a:pPr>
            <a:r>
              <a:rPr lang="en-US" sz="2400" dirty="0">
                <a:effectLst/>
                <a:latin typeface="+mn-lt"/>
                <a:ea typeface="Calibri" panose="020F0502020204030204" pitchFamily="34" charset="0"/>
                <a:cs typeface="Times New Roman" panose="02020603050405020304" pitchFamily="18" charset="0"/>
              </a:rPr>
              <a:t>So, each process may need up to ( 4 x 1 million) bytes = 4MB of physical address space</a:t>
            </a:r>
            <a:endParaRPr lang="en-IN" sz="2400" dirty="0">
              <a:effectLst/>
              <a:latin typeface="+mn-lt"/>
              <a:ea typeface="Calibri" panose="020F0502020204030204" pitchFamily="34" charset="0"/>
              <a:cs typeface="Times New Roman" panose="02020603050405020304" pitchFamily="18" charset="0"/>
            </a:endParaRPr>
          </a:p>
          <a:p>
            <a:pPr marL="0" indent="0" algn="just">
              <a:lnSpc>
                <a:spcPct val="160000"/>
              </a:lnSpc>
              <a:spcAft>
                <a:spcPts val="800"/>
              </a:spcAft>
              <a:buNone/>
            </a:pPr>
            <a:r>
              <a:rPr lang="en-US" sz="2400" dirty="0">
                <a:effectLst/>
                <a:latin typeface="+mn-lt"/>
                <a:ea typeface="Calibri" panose="020F0502020204030204" pitchFamily="34" charset="0"/>
                <a:cs typeface="Times New Roman" panose="02020603050405020304" pitchFamily="18" charset="0"/>
              </a:rPr>
              <a:t>Trying to collect a page table of this size contiguously in main memory is clearly not a good idea. </a:t>
            </a:r>
            <a:endParaRPr lang="en-IN" sz="2400" dirty="0">
              <a:effectLst/>
              <a:latin typeface="+mn-lt"/>
              <a:ea typeface="Calibri" panose="020F0502020204030204" pitchFamily="34" charset="0"/>
              <a:cs typeface="Times New Roman" panose="02020603050405020304" pitchFamily="18" charset="0"/>
            </a:endParaRPr>
          </a:p>
          <a:p>
            <a:endParaRPr lang="en-IN" dirty="0"/>
          </a:p>
        </p:txBody>
      </p:sp>
      <p:sp>
        <p:nvSpPr>
          <p:cNvPr id="2" name="Google Shape;98;g2eff20282af_0_123">
            <a:extLst>
              <a:ext uri="{FF2B5EF4-FFF2-40B4-BE49-F238E27FC236}">
                <a16:creationId xmlns:a16="http://schemas.microsoft.com/office/drawing/2014/main" id="{63D45BC8-49DB-BC1B-118A-47B0ED9F6E2C}"/>
              </a:ext>
            </a:extLst>
          </p:cNvPr>
          <p:cNvSpPr txBox="1"/>
          <p:nvPr/>
        </p:nvSpPr>
        <p:spPr>
          <a:xfrm>
            <a:off x="524064" y="3892352"/>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136817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BE93EE-EB8E-654D-69AA-1FE66EC61FAF}"/>
              </a:ext>
            </a:extLst>
          </p:cNvPr>
          <p:cNvSpPr>
            <a:spLocks noGrp="1"/>
          </p:cNvSpPr>
          <p:nvPr>
            <p:ph idx="1"/>
          </p:nvPr>
        </p:nvSpPr>
        <p:spPr>
          <a:xfrm>
            <a:off x="2560320" y="162560"/>
            <a:ext cx="9489440" cy="6624320"/>
          </a:xfrm>
        </p:spPr>
        <p:txBody>
          <a:bodyPr>
            <a:normAutofit/>
          </a:bodyPr>
          <a:lstStyle/>
          <a:p>
            <a:pPr marL="0" indent="0" algn="just">
              <a:lnSpc>
                <a:spcPct val="150000"/>
              </a:lnSpc>
              <a:buNone/>
            </a:pPr>
            <a:r>
              <a:rPr lang="en-US" sz="2000" dirty="0">
                <a:latin typeface="+mn-lt"/>
              </a:rPr>
              <a:t>Solution: Divide the page table into smaller sizes.</a:t>
            </a:r>
          </a:p>
          <a:p>
            <a:pPr marL="0" indent="0" algn="just">
              <a:lnSpc>
                <a:spcPct val="150000"/>
              </a:lnSpc>
              <a:buNone/>
            </a:pPr>
            <a:r>
              <a:rPr lang="en-US" sz="2000" dirty="0">
                <a:latin typeface="+mn-lt"/>
              </a:rPr>
              <a:t>Multilevel  Paging</a:t>
            </a:r>
          </a:p>
          <a:p>
            <a:pPr marL="0" indent="0" algn="just">
              <a:lnSpc>
                <a:spcPct val="150000"/>
              </a:lnSpc>
              <a:buNone/>
            </a:pPr>
            <a:r>
              <a:rPr lang="en-US" sz="2000" dirty="0">
                <a:latin typeface="+mn-lt"/>
              </a:rPr>
              <a:t>Use a two level paging algorithm, in which the page table itself is also paged.</a:t>
            </a:r>
          </a:p>
          <a:p>
            <a:pPr marL="0" indent="0" algn="just">
              <a:lnSpc>
                <a:spcPct val="150000"/>
              </a:lnSpc>
              <a:buNone/>
            </a:pPr>
            <a:endParaRPr lang="en-US" sz="2000" dirty="0">
              <a:latin typeface="+mn-lt"/>
            </a:endParaRPr>
          </a:p>
          <a:p>
            <a:pPr indent="0">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Page number                  Page offset</a:t>
            </a:r>
          </a:p>
          <a:p>
            <a:pPr indent="457200">
              <a:lnSpc>
                <a:spcPct val="107000"/>
              </a:lnSpc>
              <a:spcAft>
                <a:spcPts val="800"/>
              </a:spcAft>
            </a:pPr>
            <a:r>
              <a:rPr lang="en-IN" sz="1800" kern="100" dirty="0">
                <a:latin typeface="Calibri" panose="020F0502020204030204" pitchFamily="34" charset="0"/>
                <a:ea typeface="Calibri" panose="020F0502020204030204" pitchFamily="34" charset="0"/>
                <a:cs typeface="Times New Roman" panose="02020603050405020304" pitchFamily="18" charset="0"/>
              </a:rPr>
              <a:t>  </a:t>
            </a:r>
          </a:p>
          <a:p>
            <a:pPr indent="0">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20                                         12                             = 32 bits</a:t>
            </a:r>
          </a:p>
          <a:p>
            <a:pPr indent="0">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Page number(p): - Used as an index into a page table</a:t>
            </a:r>
          </a:p>
          <a:p>
            <a:pPr indent="0">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Page offset (d) :- The displacement within the page</a:t>
            </a:r>
          </a:p>
          <a:p>
            <a:pPr indent="0">
              <a:lnSpc>
                <a:spcPct val="107000"/>
              </a:lnSpc>
              <a:spcAft>
                <a:spcPts val="800"/>
              </a:spcAft>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E9426588-D353-9D52-635B-99F3D3CA0E39}"/>
              </a:ext>
            </a:extLst>
          </p:cNvPr>
          <p:cNvGraphicFramePr>
            <a:graphicFrameLocks noGrp="1"/>
          </p:cNvGraphicFramePr>
          <p:nvPr/>
        </p:nvGraphicFramePr>
        <p:xfrm>
          <a:off x="2560320" y="3139441"/>
          <a:ext cx="3850640" cy="396239"/>
        </p:xfrm>
        <a:graphic>
          <a:graphicData uri="http://schemas.openxmlformats.org/drawingml/2006/table">
            <a:tbl>
              <a:tblPr firstRow="1" firstCol="1" bandRow="1">
                <a:tableStyleId>{5C22544A-7EE6-4342-B048-85BDC9FD1C3A}</a:tableStyleId>
              </a:tblPr>
              <a:tblGrid>
                <a:gridCol w="1910080">
                  <a:extLst>
                    <a:ext uri="{9D8B030D-6E8A-4147-A177-3AD203B41FA5}">
                      <a16:colId xmlns:a16="http://schemas.microsoft.com/office/drawing/2014/main" val="675940260"/>
                    </a:ext>
                  </a:extLst>
                </a:gridCol>
                <a:gridCol w="1940560">
                  <a:extLst>
                    <a:ext uri="{9D8B030D-6E8A-4147-A177-3AD203B41FA5}">
                      <a16:colId xmlns:a16="http://schemas.microsoft.com/office/drawing/2014/main" val="2422653224"/>
                    </a:ext>
                  </a:extLst>
                </a:gridCol>
              </a:tblGrid>
              <a:tr h="396239">
                <a:tc>
                  <a:txBody>
                    <a:bodyPr/>
                    <a:lstStyle/>
                    <a:p>
                      <a:pPr algn="ctr">
                        <a:lnSpc>
                          <a:spcPct val="107000"/>
                        </a:lnSpc>
                        <a:spcAft>
                          <a:spcPts val="800"/>
                        </a:spcAft>
                      </a:pPr>
                      <a:r>
                        <a:rPr lang="en-IN" sz="2000" kern="100" dirty="0">
                          <a:effectLst/>
                        </a:rPr>
                        <a:t>p</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2000" kern="100" dirty="0">
                          <a:effectLst/>
                        </a:rPr>
                        <a:t>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42230414"/>
                  </a:ext>
                </a:extLst>
              </a:tr>
            </a:tbl>
          </a:graphicData>
        </a:graphic>
      </p:graphicFrame>
      <p:sp>
        <p:nvSpPr>
          <p:cNvPr id="2" name="Google Shape;98;g2eff20282af_0_123">
            <a:extLst>
              <a:ext uri="{FF2B5EF4-FFF2-40B4-BE49-F238E27FC236}">
                <a16:creationId xmlns:a16="http://schemas.microsoft.com/office/drawing/2014/main" id="{AA12D338-C2F6-7963-F277-B6A15B2BCC87}"/>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5953119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a:extLst>
              <a:ext uri="{FF2B5EF4-FFF2-40B4-BE49-F238E27FC236}">
                <a16:creationId xmlns:a16="http://schemas.microsoft.com/office/drawing/2014/main" id="{FA2FD4DE-BD90-9B02-5EAB-022670BBDE14}"/>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556000" y="646645"/>
            <a:ext cx="6085840" cy="1344715"/>
          </a:xfrm>
          <a:prstGeom prst="rect">
            <a:avLst/>
          </a:prstGeom>
          <a:noFill/>
          <a:ln>
            <a:noFill/>
          </a:ln>
        </p:spPr>
      </p:pic>
      <p:sp>
        <p:nvSpPr>
          <p:cNvPr id="5" name="TextBox 4">
            <a:extLst>
              <a:ext uri="{FF2B5EF4-FFF2-40B4-BE49-F238E27FC236}">
                <a16:creationId xmlns:a16="http://schemas.microsoft.com/office/drawing/2014/main" id="{8FCBA905-628A-2432-3F08-154E34222898}"/>
              </a:ext>
            </a:extLst>
          </p:cNvPr>
          <p:cNvSpPr txBox="1"/>
          <p:nvPr/>
        </p:nvSpPr>
        <p:spPr>
          <a:xfrm>
            <a:off x="2519680" y="2871467"/>
            <a:ext cx="9499600" cy="1634807"/>
          </a:xfrm>
          <a:prstGeom prst="rect">
            <a:avLst/>
          </a:prstGeom>
          <a:noFill/>
        </p:spPr>
        <p:txBody>
          <a:bodyPr wrap="square">
            <a:spAutoFit/>
          </a:bodyPr>
          <a:lstStyle/>
          <a:p>
            <a:pPr algn="just">
              <a:lnSpc>
                <a:spcPct val="150000"/>
              </a:lnSpc>
              <a:spcAft>
                <a:spcPts val="800"/>
              </a:spcAft>
            </a:pPr>
            <a:r>
              <a:rPr lang="en-US" sz="2000" dirty="0">
                <a:effectLst/>
                <a:ea typeface="Calibri" panose="020F0502020204030204" pitchFamily="34" charset="0"/>
                <a:cs typeface="Times New Roman" panose="02020603050405020304" pitchFamily="18" charset="0"/>
              </a:rPr>
              <a:t>P1 is an index into the outer page table </a:t>
            </a:r>
            <a:endParaRPr lang="en-US" sz="2000" dirty="0">
              <a:ea typeface="Calibri" panose="020F0502020204030204" pitchFamily="34" charset="0"/>
              <a:cs typeface="Times New Roman" panose="02020603050405020304" pitchFamily="18" charset="0"/>
            </a:endParaRPr>
          </a:p>
          <a:p>
            <a:pPr algn="just">
              <a:lnSpc>
                <a:spcPct val="150000"/>
              </a:lnSpc>
              <a:spcAft>
                <a:spcPts val="800"/>
              </a:spcAft>
            </a:pPr>
            <a:r>
              <a:rPr lang="en-US" sz="2000" dirty="0">
                <a:effectLst/>
                <a:ea typeface="Calibri" panose="020F0502020204030204" pitchFamily="34" charset="0"/>
                <a:cs typeface="Times New Roman" panose="02020603050405020304" pitchFamily="18" charset="0"/>
              </a:rPr>
              <a:t>P2 is the displacement within the page of the outer page table. </a:t>
            </a:r>
          </a:p>
          <a:p>
            <a:pPr algn="just">
              <a:lnSpc>
                <a:spcPct val="150000"/>
              </a:lnSpc>
              <a:spcAft>
                <a:spcPts val="800"/>
              </a:spcAft>
            </a:pPr>
            <a:r>
              <a:rPr lang="en-US" sz="2000" dirty="0">
                <a:ea typeface="Calibri" panose="020F0502020204030204" pitchFamily="34" charset="0"/>
                <a:cs typeface="Times New Roman" panose="02020603050405020304" pitchFamily="18" charset="0"/>
              </a:rPr>
              <a:t>Page offset(d) – The displacement within the page.</a:t>
            </a:r>
            <a:endParaRPr lang="en-US" sz="2000" dirty="0">
              <a:effectLst/>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8B1DD8E0-BCE1-1F32-A976-68A997F8F4C0}"/>
              </a:ext>
            </a:extLst>
          </p:cNvPr>
          <p:cNvSpPr txBox="1"/>
          <p:nvPr/>
        </p:nvSpPr>
        <p:spPr>
          <a:xfrm>
            <a:off x="4251960" y="2315980"/>
            <a:ext cx="6106160" cy="400110"/>
          </a:xfrm>
          <a:prstGeom prst="rect">
            <a:avLst/>
          </a:prstGeom>
          <a:noFill/>
        </p:spPr>
        <p:txBody>
          <a:bodyPr wrap="square">
            <a:spAutoFit/>
          </a:bodyPr>
          <a:lstStyle/>
          <a:p>
            <a:r>
              <a:rPr lang="en-US" sz="2000" dirty="0">
                <a:effectLst/>
                <a:ea typeface="Calibri" panose="020F0502020204030204" pitchFamily="34" charset="0"/>
              </a:rPr>
              <a:t>An example of logical address space division</a:t>
            </a:r>
            <a:endParaRPr lang="en-IN" sz="2000" dirty="0"/>
          </a:p>
        </p:txBody>
      </p:sp>
      <p:sp>
        <p:nvSpPr>
          <p:cNvPr id="3" name="Google Shape;98;g2eff20282af_0_123">
            <a:extLst>
              <a:ext uri="{FF2B5EF4-FFF2-40B4-BE49-F238E27FC236}">
                <a16:creationId xmlns:a16="http://schemas.microsoft.com/office/drawing/2014/main" id="{1A34B853-DB50-E36C-7D26-57A62BB996B6}"/>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2587615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2644A6D-E805-4DB0-C408-5E92DDD07992}"/>
              </a:ext>
            </a:extLst>
          </p:cNvPr>
          <p:cNvSpPr txBox="1"/>
          <p:nvPr/>
        </p:nvSpPr>
        <p:spPr>
          <a:xfrm>
            <a:off x="4251801" y="6169102"/>
            <a:ext cx="6106160" cy="506292"/>
          </a:xfrm>
          <a:prstGeom prst="rect">
            <a:avLst/>
          </a:prstGeom>
          <a:noFill/>
        </p:spPr>
        <p:txBody>
          <a:bodyPr wrap="square">
            <a:spAutoFit/>
          </a:bodyPr>
          <a:lstStyle/>
          <a:p>
            <a:pPr algn="ctr">
              <a:lnSpc>
                <a:spcPct val="150000"/>
              </a:lnSpc>
              <a:spcAft>
                <a:spcPts val="800"/>
              </a:spcAft>
            </a:pPr>
            <a:r>
              <a:rPr lang="en-US" sz="2000" dirty="0">
                <a:effectLst/>
                <a:ea typeface="Calibri" panose="020F0502020204030204" pitchFamily="34" charset="0"/>
                <a:cs typeface="Times New Roman" panose="02020603050405020304" pitchFamily="18" charset="0"/>
              </a:rPr>
              <a:t>A two-level page-table scheme</a:t>
            </a:r>
            <a:endParaRPr lang="en-IN" sz="2000" dirty="0">
              <a:effectLst/>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74524265-434A-6C32-F00B-DAC4744953A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65120" y="565784"/>
            <a:ext cx="8595360" cy="5603317"/>
          </a:xfrm>
          <a:prstGeom prst="rect">
            <a:avLst/>
          </a:prstGeom>
          <a:noFill/>
          <a:ln>
            <a:noFill/>
          </a:ln>
        </p:spPr>
      </p:pic>
      <p:sp>
        <p:nvSpPr>
          <p:cNvPr id="3" name="Google Shape;98;g2eff20282af_0_123">
            <a:extLst>
              <a:ext uri="{FF2B5EF4-FFF2-40B4-BE49-F238E27FC236}">
                <a16:creationId xmlns:a16="http://schemas.microsoft.com/office/drawing/2014/main" id="{D4238854-77EE-728D-9F58-A1F1C2165C80}"/>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9141265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4F0A147-C1E3-C4F7-54D6-DCF46CEC9EA1}"/>
              </a:ext>
            </a:extLst>
          </p:cNvPr>
          <p:cNvSpPr txBox="1"/>
          <p:nvPr/>
        </p:nvSpPr>
        <p:spPr>
          <a:xfrm>
            <a:off x="3921760" y="6199555"/>
            <a:ext cx="7421880" cy="400110"/>
          </a:xfrm>
          <a:prstGeom prst="rect">
            <a:avLst/>
          </a:prstGeom>
          <a:noFill/>
        </p:spPr>
        <p:txBody>
          <a:bodyPr wrap="square">
            <a:spAutoFit/>
          </a:bodyPr>
          <a:lstStyle/>
          <a:p>
            <a:r>
              <a:rPr lang="en-US" sz="2000" dirty="0">
                <a:effectLst/>
                <a:ea typeface="Calibri" panose="020F0502020204030204" pitchFamily="34" charset="0"/>
              </a:rPr>
              <a:t>Address translation for a two-level 32-bit paging architecture.</a:t>
            </a:r>
            <a:endParaRPr lang="en-IN" sz="2000" dirty="0"/>
          </a:p>
        </p:txBody>
      </p:sp>
      <p:pic>
        <p:nvPicPr>
          <p:cNvPr id="2" name="Picture 1">
            <a:extLst>
              <a:ext uri="{FF2B5EF4-FFF2-40B4-BE49-F238E27FC236}">
                <a16:creationId xmlns:a16="http://schemas.microsoft.com/office/drawing/2014/main" id="{4BAB7EE4-44F0-566B-C711-F225E50FB05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04160" y="518160"/>
            <a:ext cx="9022080" cy="5415280"/>
          </a:xfrm>
          <a:prstGeom prst="rect">
            <a:avLst/>
          </a:prstGeom>
          <a:noFill/>
          <a:ln>
            <a:noFill/>
          </a:ln>
        </p:spPr>
      </p:pic>
      <p:sp>
        <p:nvSpPr>
          <p:cNvPr id="3" name="Google Shape;98;g2eff20282af_0_123">
            <a:extLst>
              <a:ext uri="{FF2B5EF4-FFF2-40B4-BE49-F238E27FC236}">
                <a16:creationId xmlns:a16="http://schemas.microsoft.com/office/drawing/2014/main" id="{CF20F5B0-6981-18C4-3210-7C986EBE75B8}"/>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6684559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BE93EE-EB8E-654D-69AA-1FE66EC61FAF}"/>
              </a:ext>
            </a:extLst>
          </p:cNvPr>
          <p:cNvSpPr>
            <a:spLocks noGrp="1"/>
          </p:cNvSpPr>
          <p:nvPr>
            <p:ph idx="1"/>
          </p:nvPr>
        </p:nvSpPr>
        <p:spPr>
          <a:xfrm>
            <a:off x="2560320" y="162560"/>
            <a:ext cx="9489440" cy="6624320"/>
          </a:xfrm>
        </p:spPr>
        <p:txBody>
          <a:bodyPr>
            <a:normAutofit lnSpcReduction="10000"/>
          </a:bodyPr>
          <a:lstStyle/>
          <a:p>
            <a:pPr marL="0" indent="0" algn="ctr">
              <a:buNone/>
            </a:pPr>
            <a:r>
              <a:rPr lang="en-US" sz="2400" b="1" dirty="0">
                <a:solidFill>
                  <a:srgbClr val="FF0000"/>
                </a:solidFill>
                <a:latin typeface="+mn-lt"/>
              </a:rPr>
              <a:t>Hashed Page Tables</a:t>
            </a:r>
          </a:p>
          <a:p>
            <a:pPr marL="0" indent="0" algn="just">
              <a:lnSpc>
                <a:spcPct val="150000"/>
              </a:lnSpc>
              <a:buNone/>
            </a:pPr>
            <a:r>
              <a:rPr lang="en-IN" sz="2400" dirty="0">
                <a:latin typeface="+mn-lt"/>
              </a:rPr>
              <a:t>Used for handling address spaces larger than 32 bits( or large address spaces)</a:t>
            </a:r>
          </a:p>
          <a:p>
            <a:pPr marL="0" indent="0" algn="just">
              <a:lnSpc>
                <a:spcPct val="150000"/>
              </a:lnSpc>
              <a:buNone/>
            </a:pPr>
            <a:r>
              <a:rPr lang="en-IN" sz="2400" dirty="0">
                <a:latin typeface="+mn-lt"/>
              </a:rPr>
              <a:t>Here,</a:t>
            </a:r>
          </a:p>
          <a:p>
            <a:pPr marL="0" indent="0" algn="just">
              <a:lnSpc>
                <a:spcPct val="150000"/>
              </a:lnSpc>
              <a:buNone/>
            </a:pPr>
            <a:r>
              <a:rPr lang="en-IN" sz="2400" dirty="0">
                <a:latin typeface="+mn-lt"/>
              </a:rPr>
              <a:t>The hash value is the virtual page number</a:t>
            </a:r>
          </a:p>
          <a:p>
            <a:pPr marL="0" indent="0" algn="just">
              <a:lnSpc>
                <a:spcPct val="150000"/>
              </a:lnSpc>
              <a:buNone/>
            </a:pPr>
            <a:r>
              <a:rPr lang="en-IN" sz="2400" dirty="0">
                <a:latin typeface="+mn-lt"/>
              </a:rPr>
              <a:t>Each entry in the hash table contains a linked list of elements that hash to the same location.</a:t>
            </a:r>
          </a:p>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Each element consists of three fields: </a:t>
            </a:r>
          </a:p>
          <a:p>
            <a:pPr marL="342900" indent="-342900" algn="just">
              <a:lnSpc>
                <a:spcPct val="150000"/>
              </a:lnSpc>
              <a:buAutoNum type="arabicParenBoth"/>
            </a:pPr>
            <a:r>
              <a:rPr lang="en-US" sz="2400" dirty="0">
                <a:effectLst/>
                <a:latin typeface="+mn-lt"/>
                <a:ea typeface="Calibri" panose="020F0502020204030204" pitchFamily="34" charset="0"/>
                <a:cs typeface="Times New Roman" panose="02020603050405020304" pitchFamily="18" charset="0"/>
              </a:rPr>
              <a:t>the virtual page number,</a:t>
            </a:r>
          </a:p>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(2) the value of the mapped page frame, and</a:t>
            </a:r>
          </a:p>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(3) a pointer to the next element in the linked list.</a:t>
            </a:r>
            <a:endParaRPr lang="en-IN" sz="2400" dirty="0">
              <a:effectLst/>
              <a:latin typeface="+mn-lt"/>
              <a:ea typeface="Calibri" panose="020F0502020204030204" pitchFamily="34" charset="0"/>
              <a:cs typeface="Times New Roman" panose="02020603050405020304" pitchFamily="18" charset="0"/>
            </a:endParaRPr>
          </a:p>
          <a:p>
            <a:pPr marL="0" indent="0">
              <a:buNone/>
            </a:pPr>
            <a:endParaRPr lang="en-IN" sz="2000" dirty="0">
              <a:latin typeface="+mn-lt"/>
            </a:endParaRPr>
          </a:p>
        </p:txBody>
      </p:sp>
      <p:sp>
        <p:nvSpPr>
          <p:cNvPr id="2" name="Google Shape;98;g2eff20282af_0_123">
            <a:extLst>
              <a:ext uri="{FF2B5EF4-FFF2-40B4-BE49-F238E27FC236}">
                <a16:creationId xmlns:a16="http://schemas.microsoft.com/office/drawing/2014/main" id="{DD81E657-EE36-BF96-D1E2-7798A42967B7}"/>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5814135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BE93EE-EB8E-654D-69AA-1FE66EC61FAF}"/>
              </a:ext>
            </a:extLst>
          </p:cNvPr>
          <p:cNvSpPr>
            <a:spLocks noGrp="1"/>
          </p:cNvSpPr>
          <p:nvPr>
            <p:ph idx="1"/>
          </p:nvPr>
        </p:nvSpPr>
        <p:spPr>
          <a:xfrm>
            <a:off x="2560320" y="162560"/>
            <a:ext cx="9489440" cy="6624320"/>
          </a:xfrm>
        </p:spPr>
        <p:txBody>
          <a:bodyPr>
            <a:normAutofit/>
          </a:bodyPr>
          <a:lstStyle/>
          <a:p>
            <a:pPr marL="0" indent="0" algn="just">
              <a:lnSpc>
                <a:spcPct val="150000"/>
              </a:lnSpc>
              <a:buNone/>
            </a:pPr>
            <a:r>
              <a:rPr lang="en-US" sz="2400" b="1" dirty="0">
                <a:effectLst/>
                <a:latin typeface="+mn-lt"/>
                <a:ea typeface="Calibri" panose="020F0502020204030204" pitchFamily="34" charset="0"/>
                <a:cs typeface="Times New Roman" panose="02020603050405020304" pitchFamily="18" charset="0"/>
              </a:rPr>
              <a:t>The algorithm works as follows: </a:t>
            </a:r>
          </a:p>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The virtual page number in the virtual address is hashed into the hash table. </a:t>
            </a:r>
          </a:p>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The virtual page number is compared with field 1 in the first element in the linked list. </a:t>
            </a:r>
          </a:p>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If there is a match, the corresponding page frame (field 2) is used to form the desired physical address. </a:t>
            </a:r>
          </a:p>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If there is no match, subsequent entries in the linked list are searched for a matching virtual page number. </a:t>
            </a:r>
          </a:p>
          <a:p>
            <a:endParaRPr lang="en-IN" sz="2000" dirty="0">
              <a:latin typeface="+mn-lt"/>
            </a:endParaRPr>
          </a:p>
        </p:txBody>
      </p:sp>
      <p:sp>
        <p:nvSpPr>
          <p:cNvPr id="2" name="Google Shape;98;g2eff20282af_0_123">
            <a:extLst>
              <a:ext uri="{FF2B5EF4-FFF2-40B4-BE49-F238E27FC236}">
                <a16:creationId xmlns:a16="http://schemas.microsoft.com/office/drawing/2014/main" id="{B5C7CFCC-EA6C-55D2-BE90-27D9D0A16145}"/>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975937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FEAEAB9-BFA0-91B6-B5C8-370A10A7532B}"/>
              </a:ext>
            </a:extLst>
          </p:cNvPr>
          <p:cNvSpPr txBox="1"/>
          <p:nvPr/>
        </p:nvSpPr>
        <p:spPr>
          <a:xfrm>
            <a:off x="3693001" y="6124538"/>
            <a:ext cx="6106160" cy="506292"/>
          </a:xfrm>
          <a:prstGeom prst="rect">
            <a:avLst/>
          </a:prstGeom>
          <a:noFill/>
        </p:spPr>
        <p:txBody>
          <a:bodyPr wrap="square">
            <a:spAutoFit/>
          </a:bodyPr>
          <a:lstStyle/>
          <a:p>
            <a:pPr algn="ctr">
              <a:lnSpc>
                <a:spcPct val="150000"/>
              </a:lnSpc>
              <a:spcAft>
                <a:spcPts val="800"/>
              </a:spcAft>
              <a:tabLst>
                <a:tab pos="1524000" algn="l"/>
                <a:tab pos="2865755" algn="ctr"/>
              </a:tabLst>
            </a:pPr>
            <a:r>
              <a:rPr lang="en-US" sz="2000" dirty="0">
                <a:effectLst/>
                <a:ea typeface="Calibri" panose="020F0502020204030204" pitchFamily="34" charset="0"/>
                <a:cs typeface="Times New Roman" panose="02020603050405020304" pitchFamily="18" charset="0"/>
              </a:rPr>
              <a:t>Hashed page Table</a:t>
            </a:r>
            <a:endParaRPr lang="en-IN" sz="2000" dirty="0">
              <a:effectLst/>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7A158C01-3666-B015-AAE2-7F1A1F48488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83840" y="365760"/>
            <a:ext cx="9072880" cy="5758778"/>
          </a:xfrm>
          <a:prstGeom prst="rect">
            <a:avLst/>
          </a:prstGeom>
          <a:noFill/>
          <a:ln>
            <a:noFill/>
          </a:ln>
        </p:spPr>
      </p:pic>
      <p:sp>
        <p:nvSpPr>
          <p:cNvPr id="3" name="Google Shape;98;g2eff20282af_0_123">
            <a:extLst>
              <a:ext uri="{FF2B5EF4-FFF2-40B4-BE49-F238E27FC236}">
                <a16:creationId xmlns:a16="http://schemas.microsoft.com/office/drawing/2014/main" id="{1643BC0A-7E70-F352-82B0-18A3AC6EFCAC}"/>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4162146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BE93EE-EB8E-654D-69AA-1FE66EC61FAF}"/>
              </a:ext>
            </a:extLst>
          </p:cNvPr>
          <p:cNvSpPr>
            <a:spLocks noGrp="1"/>
          </p:cNvSpPr>
          <p:nvPr>
            <p:ph idx="1"/>
          </p:nvPr>
        </p:nvSpPr>
        <p:spPr>
          <a:xfrm>
            <a:off x="2560320" y="162560"/>
            <a:ext cx="9489440" cy="6695440"/>
          </a:xfrm>
        </p:spPr>
        <p:txBody>
          <a:bodyPr>
            <a:normAutofit/>
          </a:bodyPr>
          <a:lstStyle/>
          <a:p>
            <a:pPr marL="0" indent="0" algn="ctr">
              <a:lnSpc>
                <a:spcPct val="150000"/>
              </a:lnSpc>
              <a:buNone/>
            </a:pPr>
            <a:r>
              <a:rPr lang="en-US" sz="2400" b="1" dirty="0">
                <a:solidFill>
                  <a:srgbClr val="FF0000"/>
                </a:solidFill>
                <a:effectLst/>
                <a:latin typeface="+mn-lt"/>
                <a:ea typeface="Calibri" panose="020F0502020204030204" pitchFamily="34" charset="0"/>
                <a:cs typeface="Times New Roman" panose="02020603050405020304" pitchFamily="18" charset="0"/>
              </a:rPr>
              <a:t>Clustered Page Tables</a:t>
            </a:r>
          </a:p>
          <a:p>
            <a:pPr marL="0" indent="0" algn="just">
              <a:lnSpc>
                <a:spcPct val="150000"/>
              </a:lnSpc>
              <a:buNone/>
            </a:pPr>
            <a:r>
              <a:rPr lang="en-US" sz="2400" dirty="0">
                <a:latin typeface="+mn-lt"/>
                <a:ea typeface="Calibri" panose="020F0502020204030204" pitchFamily="34" charset="0"/>
                <a:cs typeface="Times New Roman" panose="02020603050405020304" pitchFamily="18" charset="0"/>
              </a:rPr>
              <a:t>This a </a:t>
            </a:r>
            <a:r>
              <a:rPr lang="en-US" sz="2400" dirty="0">
                <a:effectLst/>
                <a:latin typeface="+mn-lt"/>
                <a:ea typeface="Calibri" panose="020F0502020204030204" pitchFamily="34" charset="0"/>
                <a:cs typeface="Times New Roman" panose="02020603050405020304" pitchFamily="18" charset="0"/>
              </a:rPr>
              <a:t>variation of the </a:t>
            </a:r>
            <a:r>
              <a:rPr lang="en-US" sz="2400" dirty="0">
                <a:latin typeface="+mn-lt"/>
                <a:ea typeface="Calibri" panose="020F0502020204030204" pitchFamily="34" charset="0"/>
                <a:cs typeface="Times New Roman" panose="02020603050405020304" pitchFamily="18" charset="0"/>
              </a:rPr>
              <a:t>hashed page tables which is favorable for 64- bit address.</a:t>
            </a:r>
          </a:p>
          <a:p>
            <a:pPr marL="0" indent="0" algn="just">
              <a:lnSpc>
                <a:spcPct val="150000"/>
              </a:lnSpc>
              <a:buNone/>
            </a:pPr>
            <a:r>
              <a:rPr lang="en-US" sz="2400" dirty="0">
                <a:latin typeface="+mn-lt"/>
                <a:ea typeface="Calibri" panose="020F0502020204030204" pitchFamily="34" charset="0"/>
                <a:cs typeface="Times New Roman" panose="02020603050405020304" pitchFamily="18" charset="0"/>
              </a:rPr>
              <a:t>It is </a:t>
            </a:r>
            <a:r>
              <a:rPr lang="en-US" sz="2400" dirty="0">
                <a:effectLst/>
                <a:latin typeface="+mn-lt"/>
                <a:ea typeface="Calibri" panose="020F0502020204030204" pitchFamily="34" charset="0"/>
                <a:cs typeface="Times New Roman" panose="02020603050405020304" pitchFamily="18" charset="0"/>
              </a:rPr>
              <a:t>similar to the hashed page tables except that each entry in the hash table refers to several pages rather than a single page.</a:t>
            </a:r>
          </a:p>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Therefore, a single page-table entry can store the mappings for multiple physical-page frames. </a:t>
            </a:r>
          </a:p>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Clustered page tables are particularly useful for sparse address spaces, where memory references are noncontiguous and scattered throughout the address space.</a:t>
            </a:r>
            <a:endParaRPr lang="en-IN" sz="2400" dirty="0">
              <a:effectLst/>
              <a:latin typeface="+mn-lt"/>
              <a:ea typeface="Calibri" panose="020F0502020204030204" pitchFamily="34" charset="0"/>
              <a:cs typeface="Times New Roman" panose="02020603050405020304" pitchFamily="18" charset="0"/>
            </a:endParaRPr>
          </a:p>
          <a:p>
            <a:endParaRPr lang="en-IN" sz="2000" dirty="0">
              <a:latin typeface="+mn-lt"/>
            </a:endParaRPr>
          </a:p>
        </p:txBody>
      </p:sp>
      <p:sp>
        <p:nvSpPr>
          <p:cNvPr id="4" name="Google Shape;98;g2eff20282af_0_123">
            <a:extLst>
              <a:ext uri="{FF2B5EF4-FFF2-40B4-BE49-F238E27FC236}">
                <a16:creationId xmlns:a16="http://schemas.microsoft.com/office/drawing/2014/main" id="{A312A2E0-41EE-9280-904C-1CDED7D848E7}"/>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900967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BE93EE-EB8E-654D-69AA-1FE66EC61FAF}"/>
              </a:ext>
            </a:extLst>
          </p:cNvPr>
          <p:cNvSpPr>
            <a:spLocks noGrp="1"/>
          </p:cNvSpPr>
          <p:nvPr>
            <p:ph idx="1"/>
          </p:nvPr>
        </p:nvSpPr>
        <p:spPr>
          <a:xfrm>
            <a:off x="2560320" y="162560"/>
            <a:ext cx="9489440" cy="6421120"/>
          </a:xfrm>
        </p:spPr>
        <p:txBody>
          <a:bodyPr>
            <a:noAutofit/>
          </a:bodyPr>
          <a:lstStyle/>
          <a:p>
            <a:pPr marL="0" indent="0" algn="ctr">
              <a:lnSpc>
                <a:spcPct val="150000"/>
              </a:lnSpc>
              <a:buNone/>
            </a:pPr>
            <a:r>
              <a:rPr lang="en-US" sz="2400" b="1" dirty="0">
                <a:solidFill>
                  <a:srgbClr val="FF0000"/>
                </a:solidFill>
                <a:effectLst/>
                <a:latin typeface="+mn-lt"/>
                <a:ea typeface="Calibri" panose="020F0502020204030204" pitchFamily="34" charset="0"/>
                <a:cs typeface="Times New Roman" panose="02020603050405020304" pitchFamily="18" charset="0"/>
              </a:rPr>
              <a:t>Inverted Page Tables</a:t>
            </a:r>
            <a:endParaRPr lang="en-IN" sz="2400" dirty="0">
              <a:solidFill>
                <a:srgbClr val="FF0000"/>
              </a:solidFill>
              <a:effectLst/>
              <a:latin typeface="+mn-lt"/>
              <a:ea typeface="Calibri" panose="020F0502020204030204" pitchFamily="34" charset="0"/>
              <a:cs typeface="Times New Roman" panose="02020603050405020304" pitchFamily="18" charset="0"/>
            </a:endParaRPr>
          </a:p>
          <a:p>
            <a:pPr marL="0" indent="0" algn="just">
              <a:lnSpc>
                <a:spcPct val="150000"/>
              </a:lnSpc>
              <a:buNone/>
            </a:pPr>
            <a:r>
              <a:rPr lang="en-IN" sz="2400" dirty="0">
                <a:latin typeface="+mn-lt"/>
              </a:rPr>
              <a:t>In most Operating systems, a separate page table is maintained for each processes.</a:t>
            </a:r>
          </a:p>
          <a:p>
            <a:pPr marL="0" indent="0" algn="just">
              <a:lnSpc>
                <a:spcPct val="150000"/>
              </a:lnSpc>
              <a:buNone/>
            </a:pPr>
            <a:r>
              <a:rPr lang="en-IN" sz="2400" dirty="0">
                <a:latin typeface="+mn-lt"/>
              </a:rPr>
              <a:t>So, for ‘n’ number of processes, there will be ‘n’ number of page tables.</a:t>
            </a:r>
          </a:p>
          <a:p>
            <a:pPr marL="0" indent="0" algn="just">
              <a:lnSpc>
                <a:spcPct val="150000"/>
              </a:lnSpc>
              <a:buNone/>
            </a:pPr>
            <a:r>
              <a:rPr lang="en-IN" sz="2400" dirty="0">
                <a:latin typeface="+mn-lt"/>
              </a:rPr>
              <a:t>For large processes, there would be many pages and for maintaining information about these pages, there would be too many entries in their page tables which itself would occupy a lot of the memory.</a:t>
            </a:r>
          </a:p>
          <a:p>
            <a:pPr marL="0" indent="0" algn="just">
              <a:lnSpc>
                <a:spcPct val="150000"/>
              </a:lnSpc>
              <a:buNone/>
            </a:pPr>
            <a:r>
              <a:rPr lang="en-IN" sz="2400" dirty="0">
                <a:latin typeface="+mn-lt"/>
              </a:rPr>
              <a:t>Hence memory utilization is not efficient as a lot of memory is wasted in maintaining page tables itself.</a:t>
            </a:r>
          </a:p>
          <a:p>
            <a:pPr marL="0" indent="0" algn="just">
              <a:lnSpc>
                <a:spcPct val="150000"/>
              </a:lnSpc>
              <a:buNone/>
            </a:pPr>
            <a:r>
              <a:rPr lang="en-IN" sz="2400" dirty="0">
                <a:latin typeface="+mn-lt"/>
              </a:rPr>
              <a:t>Solution to this problem: Use Inverted Page Tables</a:t>
            </a:r>
          </a:p>
        </p:txBody>
      </p:sp>
      <p:sp>
        <p:nvSpPr>
          <p:cNvPr id="2" name="Google Shape;98;g2eff20282af_0_123">
            <a:extLst>
              <a:ext uri="{FF2B5EF4-FFF2-40B4-BE49-F238E27FC236}">
                <a16:creationId xmlns:a16="http://schemas.microsoft.com/office/drawing/2014/main" id="{314527AB-E0EC-682A-673A-206F5DB59FB5}"/>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995825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BE93EE-EB8E-654D-69AA-1FE66EC61FAF}"/>
              </a:ext>
            </a:extLst>
          </p:cNvPr>
          <p:cNvSpPr>
            <a:spLocks noGrp="1"/>
          </p:cNvSpPr>
          <p:nvPr>
            <p:ph idx="1"/>
          </p:nvPr>
        </p:nvSpPr>
        <p:spPr>
          <a:xfrm>
            <a:off x="2560320" y="162560"/>
            <a:ext cx="9489440" cy="6624320"/>
          </a:xfrm>
        </p:spPr>
        <p:txBody>
          <a:bodyPr>
            <a:normAutofit/>
          </a:bodyPr>
          <a:lstStyle/>
          <a:p>
            <a:pPr marL="0" indent="0" algn="just">
              <a:lnSpc>
                <a:spcPct val="150000"/>
              </a:lnSpc>
              <a:spcAft>
                <a:spcPts val="800"/>
              </a:spcAft>
              <a:buNone/>
              <a:tabLst>
                <a:tab pos="1524000" algn="l"/>
                <a:tab pos="2865755" algn="ctr"/>
              </a:tabLst>
            </a:pPr>
            <a:r>
              <a:rPr lang="en-US" sz="2400" dirty="0">
                <a:effectLst/>
                <a:latin typeface="+mn-lt"/>
                <a:ea typeface="Calibri" panose="020F0502020204030204" pitchFamily="34" charset="0"/>
                <a:cs typeface="Times New Roman" panose="02020603050405020304" pitchFamily="18" charset="0"/>
              </a:rPr>
              <a:t>An inverted page table has one entry for each real page (or frame) of memory. </a:t>
            </a:r>
          </a:p>
          <a:p>
            <a:pPr marL="0" indent="0" algn="just">
              <a:lnSpc>
                <a:spcPct val="150000"/>
              </a:lnSpc>
              <a:spcAft>
                <a:spcPts val="800"/>
              </a:spcAft>
              <a:buNone/>
              <a:tabLst>
                <a:tab pos="1524000" algn="l"/>
                <a:tab pos="2865755" algn="ctr"/>
              </a:tabLst>
            </a:pPr>
            <a:r>
              <a:rPr lang="en-US" sz="2400" dirty="0">
                <a:effectLst/>
                <a:latin typeface="+mn-lt"/>
                <a:ea typeface="Calibri" panose="020F0502020204030204" pitchFamily="34" charset="0"/>
                <a:cs typeface="Times New Roman" panose="02020603050405020304" pitchFamily="18" charset="0"/>
              </a:rPr>
              <a:t>Each entry consists of the virtual address of the page stored in that real memory location, with information about the process that owns that page. </a:t>
            </a:r>
          </a:p>
          <a:p>
            <a:pPr marL="0" indent="0" algn="just">
              <a:lnSpc>
                <a:spcPct val="150000"/>
              </a:lnSpc>
              <a:spcAft>
                <a:spcPts val="800"/>
              </a:spcAft>
              <a:buNone/>
              <a:tabLst>
                <a:tab pos="1524000" algn="l"/>
                <a:tab pos="2865755" algn="ctr"/>
              </a:tabLst>
            </a:pPr>
            <a:r>
              <a:rPr lang="en-US" sz="2400" dirty="0">
                <a:effectLst/>
                <a:latin typeface="+mn-lt"/>
                <a:ea typeface="Calibri" panose="020F0502020204030204" pitchFamily="34" charset="0"/>
                <a:cs typeface="Times New Roman" panose="02020603050405020304" pitchFamily="18" charset="0"/>
              </a:rPr>
              <a:t>Thus, only one page table is in the system, and it has only one entry for each page of physical memory. </a:t>
            </a:r>
          </a:p>
          <a:p>
            <a:pPr marL="0" indent="0" algn="just">
              <a:lnSpc>
                <a:spcPct val="150000"/>
              </a:lnSpc>
              <a:spcAft>
                <a:spcPts val="800"/>
              </a:spcAft>
              <a:buNone/>
              <a:tabLst>
                <a:tab pos="1524000" algn="l"/>
                <a:tab pos="2865755" algn="ctr"/>
              </a:tabLst>
            </a:pPr>
            <a:r>
              <a:rPr lang="en-US" sz="2400" dirty="0">
                <a:effectLst/>
                <a:latin typeface="+mn-lt"/>
                <a:ea typeface="Calibri" panose="020F0502020204030204" pitchFamily="34" charset="0"/>
                <a:cs typeface="Times New Roman" panose="02020603050405020304" pitchFamily="18" charset="0"/>
              </a:rPr>
              <a:t>Each virtual address in the system consists of a triple</a:t>
            </a:r>
            <a:endParaRPr lang="en-IN" sz="2400" dirty="0">
              <a:effectLst/>
              <a:latin typeface="+mn-lt"/>
              <a:ea typeface="Calibri" panose="020F0502020204030204" pitchFamily="34" charset="0"/>
              <a:cs typeface="Times New Roman" panose="02020603050405020304" pitchFamily="18" charset="0"/>
            </a:endParaRPr>
          </a:p>
          <a:p>
            <a:pPr marL="0" indent="0" algn="just">
              <a:lnSpc>
                <a:spcPct val="150000"/>
              </a:lnSpc>
              <a:spcAft>
                <a:spcPts val="800"/>
              </a:spcAft>
              <a:buNone/>
              <a:tabLst>
                <a:tab pos="1524000" algn="l"/>
                <a:tab pos="2865755" algn="ctr"/>
              </a:tabLst>
            </a:pPr>
            <a:r>
              <a:rPr lang="en-US" sz="2400" dirty="0">
                <a:effectLst/>
                <a:latin typeface="+mn-lt"/>
                <a:ea typeface="Calibri" panose="020F0502020204030204" pitchFamily="34" charset="0"/>
                <a:cs typeface="Times New Roman" panose="02020603050405020304" pitchFamily="18" charset="0"/>
              </a:rPr>
              <a:t>&lt;process-id, page-number, offset&gt;.</a:t>
            </a:r>
            <a:endParaRPr lang="en-IN" sz="2400" dirty="0">
              <a:effectLst/>
              <a:latin typeface="+mn-lt"/>
              <a:ea typeface="Calibri" panose="020F0502020204030204" pitchFamily="34" charset="0"/>
              <a:cs typeface="Times New Roman" panose="02020603050405020304" pitchFamily="18" charset="0"/>
            </a:endParaRPr>
          </a:p>
          <a:p>
            <a:pPr marL="0" indent="0" algn="just">
              <a:lnSpc>
                <a:spcPct val="150000"/>
              </a:lnSpc>
              <a:buNone/>
            </a:pPr>
            <a:r>
              <a:rPr lang="en-US" sz="2400" dirty="0">
                <a:effectLst/>
                <a:latin typeface="+mn-lt"/>
                <a:ea typeface="Calibri" panose="020F0502020204030204" pitchFamily="34" charset="0"/>
              </a:rPr>
              <a:t>Each inverted page-table entry is a pair &lt;process-id, page-number&gt; </a:t>
            </a:r>
            <a:endParaRPr lang="en-IN" sz="2400" dirty="0">
              <a:latin typeface="+mn-lt"/>
            </a:endParaRPr>
          </a:p>
        </p:txBody>
      </p:sp>
      <p:sp>
        <p:nvSpPr>
          <p:cNvPr id="2" name="Google Shape;98;g2eff20282af_0_123">
            <a:extLst>
              <a:ext uri="{FF2B5EF4-FFF2-40B4-BE49-F238E27FC236}">
                <a16:creationId xmlns:a16="http://schemas.microsoft.com/office/drawing/2014/main" id="{700FEB15-E2DD-5389-F810-4B463982A8AB}"/>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3085289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BE93EE-EB8E-654D-69AA-1FE66EC61FAF}"/>
              </a:ext>
            </a:extLst>
          </p:cNvPr>
          <p:cNvSpPr>
            <a:spLocks noGrp="1"/>
          </p:cNvSpPr>
          <p:nvPr>
            <p:ph idx="1"/>
          </p:nvPr>
        </p:nvSpPr>
        <p:spPr>
          <a:xfrm>
            <a:off x="2560320" y="162560"/>
            <a:ext cx="9489440" cy="6624320"/>
          </a:xfrm>
        </p:spPr>
        <p:txBody>
          <a:bodyPr>
            <a:normAutofit/>
          </a:bodyPr>
          <a:lstStyle/>
          <a:p>
            <a:pPr marL="0" indent="0" algn="just">
              <a:lnSpc>
                <a:spcPct val="150000"/>
              </a:lnSpc>
              <a:buNone/>
            </a:pPr>
            <a:r>
              <a:rPr lang="en-US" sz="2400" dirty="0">
                <a:effectLst/>
                <a:latin typeface="+mn-lt"/>
                <a:ea typeface="Calibri" panose="020F0502020204030204" pitchFamily="34" charset="0"/>
              </a:rPr>
              <a:t>When a memory reference occurs, part of the virtual address, consisting of &lt;process-id, page number&gt;, is presented to the memory subsystem. </a:t>
            </a:r>
          </a:p>
          <a:p>
            <a:pPr marL="0" indent="0" algn="just">
              <a:lnSpc>
                <a:spcPct val="150000"/>
              </a:lnSpc>
              <a:buNone/>
            </a:pPr>
            <a:r>
              <a:rPr lang="en-US" sz="2400" dirty="0">
                <a:effectLst/>
                <a:latin typeface="+mn-lt"/>
                <a:ea typeface="Calibri" panose="020F0502020204030204" pitchFamily="34" charset="0"/>
              </a:rPr>
              <a:t>The inverted page table is then searched for a match. </a:t>
            </a:r>
          </a:p>
          <a:p>
            <a:pPr marL="0" indent="0" algn="just">
              <a:lnSpc>
                <a:spcPct val="150000"/>
              </a:lnSpc>
              <a:buNone/>
            </a:pPr>
            <a:r>
              <a:rPr lang="en-US" sz="2400" dirty="0">
                <a:effectLst/>
                <a:latin typeface="+mn-lt"/>
                <a:ea typeface="Calibri" panose="020F0502020204030204" pitchFamily="34" charset="0"/>
              </a:rPr>
              <a:t>If a match is found-say, at entry </a:t>
            </a:r>
            <a:r>
              <a:rPr lang="en-US" sz="2400" dirty="0" err="1">
                <a:effectLst/>
                <a:latin typeface="+mn-lt"/>
                <a:ea typeface="Calibri" panose="020F0502020204030204" pitchFamily="34" charset="0"/>
              </a:rPr>
              <a:t>i</a:t>
            </a:r>
            <a:r>
              <a:rPr lang="en-US" sz="2400" dirty="0">
                <a:effectLst/>
                <a:latin typeface="+mn-lt"/>
                <a:ea typeface="Calibri" panose="020F0502020204030204" pitchFamily="34" charset="0"/>
              </a:rPr>
              <a:t>-then the physical address &lt;</a:t>
            </a:r>
            <a:r>
              <a:rPr lang="en-US" sz="2400" dirty="0" err="1">
                <a:effectLst/>
                <a:latin typeface="+mn-lt"/>
                <a:ea typeface="Calibri" panose="020F0502020204030204" pitchFamily="34" charset="0"/>
              </a:rPr>
              <a:t>i</a:t>
            </a:r>
            <a:r>
              <a:rPr lang="en-US" sz="2400" dirty="0">
                <a:effectLst/>
                <a:latin typeface="+mn-lt"/>
                <a:ea typeface="Calibri" panose="020F0502020204030204" pitchFamily="34" charset="0"/>
              </a:rPr>
              <a:t>, offset&gt; is generated. </a:t>
            </a:r>
          </a:p>
          <a:p>
            <a:pPr marL="0" indent="0" algn="just">
              <a:lnSpc>
                <a:spcPct val="150000"/>
              </a:lnSpc>
              <a:buNone/>
            </a:pPr>
            <a:r>
              <a:rPr lang="en-US" sz="2400" dirty="0">
                <a:effectLst/>
                <a:latin typeface="+mn-lt"/>
                <a:ea typeface="Calibri" panose="020F0502020204030204" pitchFamily="34" charset="0"/>
              </a:rPr>
              <a:t>If no match is found, then an illegal  </a:t>
            </a:r>
            <a:r>
              <a:rPr lang="en-US" sz="2400" dirty="0">
                <a:effectLst/>
                <a:latin typeface="+mn-lt"/>
                <a:ea typeface="Calibri" panose="020F0502020204030204" pitchFamily="34" charset="0"/>
                <a:cs typeface="Times New Roman" panose="02020603050405020304" pitchFamily="18" charset="0"/>
              </a:rPr>
              <a:t>address access has been attempted.</a:t>
            </a:r>
            <a:endParaRPr lang="en-IN" sz="2400" dirty="0">
              <a:effectLst/>
              <a:latin typeface="+mn-lt"/>
              <a:ea typeface="Calibri" panose="020F0502020204030204" pitchFamily="34" charset="0"/>
              <a:cs typeface="Times New Roman" panose="02020603050405020304" pitchFamily="18" charset="0"/>
            </a:endParaRPr>
          </a:p>
          <a:p>
            <a:pPr marL="0" indent="0" algn="just">
              <a:lnSpc>
                <a:spcPct val="150000"/>
              </a:lnSpc>
              <a:buNone/>
            </a:pPr>
            <a:endParaRPr lang="en-IN" sz="2000" dirty="0">
              <a:latin typeface="+mn-lt"/>
            </a:endParaRPr>
          </a:p>
        </p:txBody>
      </p:sp>
      <p:sp>
        <p:nvSpPr>
          <p:cNvPr id="2" name="Google Shape;98;g2eff20282af_0_123">
            <a:extLst>
              <a:ext uri="{FF2B5EF4-FFF2-40B4-BE49-F238E27FC236}">
                <a16:creationId xmlns:a16="http://schemas.microsoft.com/office/drawing/2014/main" id="{F6466EA4-B267-0D4C-334D-301487663061}"/>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98383900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B63C47-1141-D484-6165-B70C312400D5}"/>
              </a:ext>
            </a:extLst>
          </p:cNvPr>
          <p:cNvSpPr>
            <a:spLocks noGrp="1"/>
          </p:cNvSpPr>
          <p:nvPr>
            <p:ph idx="1"/>
          </p:nvPr>
        </p:nvSpPr>
        <p:spPr>
          <a:xfrm>
            <a:off x="2555913" y="0"/>
            <a:ext cx="9408405" cy="6753340"/>
          </a:xfrm>
        </p:spPr>
        <p:txBody>
          <a:bodyPr>
            <a:noAutofit/>
          </a:bodyPr>
          <a:lstStyle/>
          <a:p>
            <a:pPr marL="0" indent="0" algn="ctr">
              <a:lnSpc>
                <a:spcPct val="150000"/>
              </a:lnSpc>
              <a:spcBef>
                <a:spcPts val="0"/>
              </a:spcBef>
              <a:buNone/>
            </a:pPr>
            <a:r>
              <a:rPr lang="en-IN" sz="2400" b="1" dirty="0">
                <a:solidFill>
                  <a:srgbClr val="FF0000"/>
                </a:solidFill>
                <a:latin typeface="+mn-lt"/>
              </a:rPr>
              <a:t>Virtual Memory</a:t>
            </a:r>
          </a:p>
          <a:p>
            <a:pPr marL="0" indent="0" algn="just">
              <a:lnSpc>
                <a:spcPct val="150000"/>
              </a:lnSpc>
              <a:spcBef>
                <a:spcPts val="0"/>
              </a:spcBef>
              <a:buNone/>
            </a:pPr>
            <a:r>
              <a:rPr lang="en-IN" sz="2400" dirty="0">
                <a:latin typeface="+mn-lt"/>
              </a:rPr>
              <a:t>So far we have discussed various memory management strategies used in computer systems.</a:t>
            </a:r>
          </a:p>
          <a:p>
            <a:pPr marL="0" indent="0" algn="ctr">
              <a:lnSpc>
                <a:spcPct val="150000"/>
              </a:lnSpc>
              <a:spcBef>
                <a:spcPts val="0"/>
              </a:spcBef>
              <a:buNone/>
            </a:pPr>
            <a:r>
              <a:rPr lang="en-IN" sz="2400" dirty="0">
                <a:latin typeface="+mn-lt"/>
              </a:rPr>
              <a:t>Purpose ?</a:t>
            </a:r>
          </a:p>
          <a:p>
            <a:pPr marL="0" indent="0" algn="just">
              <a:lnSpc>
                <a:spcPct val="150000"/>
              </a:lnSpc>
              <a:spcBef>
                <a:spcPts val="0"/>
              </a:spcBef>
              <a:buNone/>
            </a:pPr>
            <a:r>
              <a:rPr lang="en-IN" sz="2400" dirty="0">
                <a:latin typeface="+mn-lt"/>
              </a:rPr>
              <a:t>Keep many processes in memory simultaneously to allow multiprogramming.</a:t>
            </a:r>
          </a:p>
          <a:p>
            <a:pPr marL="0" indent="0" algn="just">
              <a:lnSpc>
                <a:spcPct val="150000"/>
              </a:lnSpc>
              <a:spcBef>
                <a:spcPts val="0"/>
              </a:spcBef>
              <a:buNone/>
            </a:pPr>
            <a:r>
              <a:rPr lang="en-IN" sz="2400" dirty="0">
                <a:latin typeface="+mn-lt"/>
              </a:rPr>
              <a:t>However,</a:t>
            </a:r>
          </a:p>
          <a:p>
            <a:pPr marL="0" indent="0" algn="just">
              <a:lnSpc>
                <a:spcPct val="150000"/>
              </a:lnSpc>
              <a:spcBef>
                <a:spcPts val="0"/>
              </a:spcBef>
              <a:buNone/>
            </a:pPr>
            <a:r>
              <a:rPr lang="en-IN" sz="2400" dirty="0">
                <a:latin typeface="+mn-lt"/>
              </a:rPr>
              <a:t>They tend to require that an entire process be in memory before it can execute.</a:t>
            </a:r>
          </a:p>
          <a:p>
            <a:pPr marL="0" indent="0" algn="just">
              <a:lnSpc>
                <a:spcPct val="150000"/>
              </a:lnSpc>
              <a:spcBef>
                <a:spcPts val="0"/>
              </a:spcBef>
              <a:buNone/>
            </a:pPr>
            <a:r>
              <a:rPr lang="en-IN" sz="2400" dirty="0">
                <a:latin typeface="+mn-lt"/>
              </a:rPr>
              <a:t>Hence the processes that can be loaded on to the main memory is often limited by the size of the main memory.</a:t>
            </a:r>
          </a:p>
          <a:p>
            <a:pPr marL="0" indent="0" algn="just">
              <a:lnSpc>
                <a:spcPct val="150000"/>
              </a:lnSpc>
              <a:spcBef>
                <a:spcPts val="0"/>
              </a:spcBef>
              <a:buNone/>
            </a:pPr>
            <a:endParaRPr lang="en-IN" sz="2400" dirty="0">
              <a:latin typeface="+mn-lt"/>
            </a:endParaRPr>
          </a:p>
          <a:p>
            <a:pPr marL="0" indent="0" algn="just">
              <a:lnSpc>
                <a:spcPct val="170000"/>
              </a:lnSpc>
              <a:spcBef>
                <a:spcPts val="0"/>
              </a:spcBef>
              <a:buNone/>
            </a:pPr>
            <a:endParaRPr lang="en-IN" sz="2000" dirty="0">
              <a:latin typeface="+mn-lt"/>
            </a:endParaRPr>
          </a:p>
        </p:txBody>
      </p:sp>
      <p:sp>
        <p:nvSpPr>
          <p:cNvPr id="4" name="Google Shape;98;g2eff20282af_0_123">
            <a:extLst>
              <a:ext uri="{FF2B5EF4-FFF2-40B4-BE49-F238E27FC236}">
                <a16:creationId xmlns:a16="http://schemas.microsoft.com/office/drawing/2014/main" id="{C16D84F7-5646-D2C0-9C93-3B3E360C5BD3}"/>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53507288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4F8FFB2-3CBA-681B-AD48-BD19CF0A70B0}"/>
              </a:ext>
            </a:extLst>
          </p:cNvPr>
          <p:cNvSpPr txBox="1"/>
          <p:nvPr/>
        </p:nvSpPr>
        <p:spPr>
          <a:xfrm>
            <a:off x="3359180" y="6280862"/>
            <a:ext cx="6106160" cy="506292"/>
          </a:xfrm>
          <a:prstGeom prst="rect">
            <a:avLst/>
          </a:prstGeom>
          <a:noFill/>
        </p:spPr>
        <p:txBody>
          <a:bodyPr wrap="square">
            <a:spAutoFit/>
          </a:bodyPr>
          <a:lstStyle/>
          <a:p>
            <a:pPr algn="ctr">
              <a:lnSpc>
                <a:spcPct val="150000"/>
              </a:lnSpc>
              <a:spcAft>
                <a:spcPts val="800"/>
              </a:spcAft>
              <a:tabLst>
                <a:tab pos="1524000" algn="l"/>
                <a:tab pos="2865755" algn="ctr"/>
              </a:tabLst>
            </a:pPr>
            <a:r>
              <a:rPr lang="en-US" sz="2000" dirty="0">
                <a:effectLst/>
                <a:ea typeface="Calibri" panose="020F0502020204030204" pitchFamily="34" charset="0"/>
                <a:cs typeface="Times New Roman" panose="02020603050405020304" pitchFamily="18" charset="0"/>
              </a:rPr>
              <a:t>Inverted page table.</a:t>
            </a:r>
            <a:endParaRPr lang="en-IN" sz="2000" dirty="0">
              <a:effectLst/>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5C19FB14-ABA8-2F37-887A-BEA07F697A0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63520" y="254000"/>
            <a:ext cx="9113520" cy="6026861"/>
          </a:xfrm>
          <a:prstGeom prst="rect">
            <a:avLst/>
          </a:prstGeom>
          <a:noFill/>
          <a:ln>
            <a:noFill/>
          </a:ln>
        </p:spPr>
      </p:pic>
      <p:sp>
        <p:nvSpPr>
          <p:cNvPr id="3" name="Google Shape;98;g2eff20282af_0_123">
            <a:extLst>
              <a:ext uri="{FF2B5EF4-FFF2-40B4-BE49-F238E27FC236}">
                <a16:creationId xmlns:a16="http://schemas.microsoft.com/office/drawing/2014/main" id="{AEBEF87C-0E20-A30B-92CE-9E09D813EBAA}"/>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11703914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BE93EE-EB8E-654D-69AA-1FE66EC61FAF}"/>
              </a:ext>
            </a:extLst>
          </p:cNvPr>
          <p:cNvSpPr>
            <a:spLocks noGrp="1"/>
          </p:cNvSpPr>
          <p:nvPr>
            <p:ph idx="1"/>
          </p:nvPr>
        </p:nvSpPr>
        <p:spPr>
          <a:xfrm>
            <a:off x="2560320" y="162560"/>
            <a:ext cx="9489440" cy="6624320"/>
          </a:xfrm>
        </p:spPr>
        <p:txBody>
          <a:bodyPr>
            <a:normAutofit/>
          </a:bodyPr>
          <a:lstStyle/>
          <a:p>
            <a:pPr marL="0" indent="0" algn="just">
              <a:lnSpc>
                <a:spcPct val="150000"/>
              </a:lnSpc>
              <a:buNone/>
            </a:pPr>
            <a:r>
              <a:rPr lang="en-US" sz="2400" b="1" dirty="0">
                <a:latin typeface="+mn-lt"/>
              </a:rPr>
              <a:t>Advantages of Inverted Page Tables:</a:t>
            </a:r>
          </a:p>
          <a:p>
            <a:pPr marL="0" indent="0" algn="just">
              <a:lnSpc>
                <a:spcPct val="150000"/>
              </a:lnSpc>
              <a:buNone/>
            </a:pPr>
            <a:r>
              <a:rPr lang="en-US" sz="2400" dirty="0">
                <a:latin typeface="+mn-lt"/>
              </a:rPr>
              <a:t>Reduces memory usage.</a:t>
            </a:r>
          </a:p>
          <a:p>
            <a:pPr marL="0" indent="0" algn="just">
              <a:lnSpc>
                <a:spcPct val="150000"/>
              </a:lnSpc>
              <a:buNone/>
            </a:pPr>
            <a:r>
              <a:rPr lang="en-US" sz="2400" b="1" dirty="0">
                <a:latin typeface="+mn-lt"/>
              </a:rPr>
              <a:t>Disadvantages of Inverted Page Tables:</a:t>
            </a:r>
          </a:p>
          <a:p>
            <a:pPr marL="0" indent="0" algn="just">
              <a:lnSpc>
                <a:spcPct val="150000"/>
              </a:lnSpc>
              <a:buNone/>
            </a:pPr>
            <a:r>
              <a:rPr lang="en-US" sz="2400" dirty="0">
                <a:latin typeface="+mn-lt"/>
              </a:rPr>
              <a:t>Increased search time as inverted page table is sorted by physical address, but  lookups occur on virtual addresses. The whole table might to be searched for a match.</a:t>
            </a:r>
          </a:p>
          <a:p>
            <a:pPr marL="0" indent="0" algn="just">
              <a:lnSpc>
                <a:spcPct val="150000"/>
              </a:lnSpc>
              <a:buNone/>
            </a:pPr>
            <a:r>
              <a:rPr lang="en-IN" sz="2400" dirty="0">
                <a:latin typeface="+mn-lt"/>
              </a:rPr>
              <a:t>Difficulty in implementing shared memory.</a:t>
            </a:r>
          </a:p>
          <a:p>
            <a:pPr marL="0" indent="0">
              <a:buNone/>
            </a:pPr>
            <a:endParaRPr lang="en-IN" sz="2000" dirty="0">
              <a:latin typeface="+mn-lt"/>
            </a:endParaRPr>
          </a:p>
        </p:txBody>
      </p:sp>
      <p:sp>
        <p:nvSpPr>
          <p:cNvPr id="2" name="Google Shape;98;g2eff20282af_0_123">
            <a:extLst>
              <a:ext uri="{FF2B5EF4-FFF2-40B4-BE49-F238E27FC236}">
                <a16:creationId xmlns:a16="http://schemas.microsoft.com/office/drawing/2014/main" id="{CF48D918-DE9B-3FEF-B2C5-308412323B1E}"/>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9812295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BE93EE-EB8E-654D-69AA-1FE66EC61FAF}"/>
              </a:ext>
            </a:extLst>
          </p:cNvPr>
          <p:cNvSpPr>
            <a:spLocks noGrp="1"/>
          </p:cNvSpPr>
          <p:nvPr>
            <p:ph idx="1"/>
          </p:nvPr>
        </p:nvSpPr>
        <p:spPr>
          <a:xfrm>
            <a:off x="2560320" y="162560"/>
            <a:ext cx="9489440" cy="6624320"/>
          </a:xfrm>
        </p:spPr>
        <p:txBody>
          <a:bodyPr>
            <a:normAutofit/>
          </a:bodyPr>
          <a:lstStyle/>
          <a:p>
            <a:pPr marL="0" indent="0" algn="ctr">
              <a:lnSpc>
                <a:spcPct val="150000"/>
              </a:lnSpc>
              <a:buNone/>
            </a:pPr>
            <a:r>
              <a:rPr lang="en-US" sz="2400" b="1" dirty="0">
                <a:solidFill>
                  <a:srgbClr val="FF0000"/>
                </a:solidFill>
                <a:effectLst/>
                <a:latin typeface="+mn-lt"/>
                <a:ea typeface="Calibri" panose="020F0502020204030204" pitchFamily="34" charset="0"/>
                <a:cs typeface="Times New Roman" panose="02020603050405020304" pitchFamily="18" charset="0"/>
              </a:rPr>
              <a:t>Segmentation</a:t>
            </a:r>
          </a:p>
          <a:p>
            <a:pPr marL="0" indent="0" algn="just">
              <a:lnSpc>
                <a:spcPct val="150000"/>
              </a:lnSpc>
              <a:buNone/>
            </a:pPr>
            <a:r>
              <a:rPr lang="en-US" sz="2400" dirty="0">
                <a:latin typeface="+mn-lt"/>
                <a:ea typeface="Calibri" panose="020F0502020204030204" pitchFamily="34" charset="0"/>
                <a:cs typeface="Times New Roman" panose="02020603050405020304" pitchFamily="18" charset="0"/>
              </a:rPr>
              <a:t>Segmentation is another non – contiguous memory allocation technique like paging.</a:t>
            </a:r>
          </a:p>
          <a:p>
            <a:pPr marL="0" indent="0" algn="just">
              <a:lnSpc>
                <a:spcPct val="150000"/>
              </a:lnSpc>
              <a:buNone/>
            </a:pPr>
            <a:r>
              <a:rPr lang="en-US" sz="2400" dirty="0">
                <a:latin typeface="+mn-lt"/>
                <a:ea typeface="Calibri" panose="020F0502020204030204" pitchFamily="34" charset="0"/>
                <a:cs typeface="Times New Roman" panose="02020603050405020304" pitchFamily="18" charset="0"/>
              </a:rPr>
              <a:t>Unlike paging, in segmentation, the processes are not divided into fixed size pages.</a:t>
            </a:r>
          </a:p>
          <a:p>
            <a:pPr marL="0" indent="0" algn="just">
              <a:lnSpc>
                <a:spcPct val="150000"/>
              </a:lnSpc>
              <a:buNone/>
            </a:pPr>
            <a:r>
              <a:rPr lang="en-US" sz="2400" dirty="0">
                <a:latin typeface="+mn-lt"/>
                <a:ea typeface="Calibri" panose="020F0502020204030204" pitchFamily="34" charset="0"/>
                <a:cs typeface="Times New Roman" panose="02020603050405020304" pitchFamily="18" charset="0"/>
              </a:rPr>
              <a:t>Instead, the processes are divided into several modules called segments which improves the visualization for the users.</a:t>
            </a:r>
          </a:p>
          <a:p>
            <a:pPr marL="0" indent="0" algn="just">
              <a:lnSpc>
                <a:spcPct val="150000"/>
              </a:lnSpc>
              <a:buNone/>
            </a:pPr>
            <a:r>
              <a:rPr lang="en-US" sz="2400" dirty="0">
                <a:latin typeface="+mn-lt"/>
                <a:ea typeface="Calibri" panose="020F0502020204030204" pitchFamily="34" charset="0"/>
                <a:cs typeface="Times New Roman" panose="02020603050405020304" pitchFamily="18" charset="0"/>
              </a:rPr>
              <a:t>So, here , both secondary memory and main memory are divided into partitions of unequal sizes. </a:t>
            </a:r>
          </a:p>
          <a:p>
            <a:pPr marL="0" indent="0" algn="just">
              <a:lnSpc>
                <a:spcPct val="150000"/>
              </a:lnSpc>
              <a:buNone/>
            </a:pPr>
            <a:endParaRPr lang="en-US" sz="2000" dirty="0">
              <a:latin typeface="+mn-lt"/>
              <a:ea typeface="Calibri" panose="020F0502020204030204" pitchFamily="34" charset="0"/>
              <a:cs typeface="Times New Roman" panose="02020603050405020304" pitchFamily="18" charset="0"/>
            </a:endParaRPr>
          </a:p>
          <a:p>
            <a:pPr marL="0" indent="0" algn="just">
              <a:lnSpc>
                <a:spcPct val="150000"/>
              </a:lnSpc>
              <a:buNone/>
            </a:pPr>
            <a:endParaRPr lang="en-IN" sz="2000" dirty="0">
              <a:effectLst/>
              <a:latin typeface="+mn-lt"/>
              <a:ea typeface="Calibri" panose="020F0502020204030204" pitchFamily="34" charset="0"/>
              <a:cs typeface="Times New Roman" panose="02020603050405020304" pitchFamily="18" charset="0"/>
            </a:endParaRPr>
          </a:p>
          <a:p>
            <a:endParaRPr lang="en-IN" sz="2000" dirty="0">
              <a:latin typeface="+mn-lt"/>
            </a:endParaRPr>
          </a:p>
        </p:txBody>
      </p:sp>
      <p:sp>
        <p:nvSpPr>
          <p:cNvPr id="2" name="Google Shape;98;g2eff20282af_0_123">
            <a:extLst>
              <a:ext uri="{FF2B5EF4-FFF2-40B4-BE49-F238E27FC236}">
                <a16:creationId xmlns:a16="http://schemas.microsoft.com/office/drawing/2014/main" id="{EF7F3C75-A074-6B68-2266-246A5519244C}"/>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31836409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3E5A5F-7A40-68E3-8153-613B05C3BB77}"/>
              </a:ext>
            </a:extLst>
          </p:cNvPr>
          <p:cNvSpPr txBox="1"/>
          <p:nvPr/>
        </p:nvSpPr>
        <p:spPr>
          <a:xfrm>
            <a:off x="5290888" y="6370320"/>
            <a:ext cx="6106160" cy="400110"/>
          </a:xfrm>
          <a:prstGeom prst="rect">
            <a:avLst/>
          </a:prstGeom>
          <a:noFill/>
        </p:spPr>
        <p:txBody>
          <a:bodyPr wrap="square">
            <a:spAutoFit/>
          </a:bodyPr>
          <a:lstStyle/>
          <a:p>
            <a:r>
              <a:rPr lang="en-US" sz="2000" dirty="0">
                <a:effectLst/>
                <a:ea typeface="Calibri" panose="020F0502020204030204" pitchFamily="34" charset="0"/>
              </a:rPr>
              <a:t>User's view of a program.</a:t>
            </a:r>
            <a:endParaRPr lang="en-IN" sz="2000" dirty="0"/>
          </a:p>
        </p:txBody>
      </p:sp>
      <p:pic>
        <p:nvPicPr>
          <p:cNvPr id="2" name="Picture 1">
            <a:extLst>
              <a:ext uri="{FF2B5EF4-FFF2-40B4-BE49-F238E27FC236}">
                <a16:creationId xmlns:a16="http://schemas.microsoft.com/office/drawing/2014/main" id="{703166D4-ED3E-870C-1386-1CE2FB41983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66720" y="386080"/>
            <a:ext cx="8575040" cy="5760720"/>
          </a:xfrm>
          <a:prstGeom prst="rect">
            <a:avLst/>
          </a:prstGeom>
          <a:noFill/>
          <a:ln>
            <a:noFill/>
          </a:ln>
        </p:spPr>
      </p:pic>
      <p:sp>
        <p:nvSpPr>
          <p:cNvPr id="3" name="Google Shape;98;g2eff20282af_0_123">
            <a:extLst>
              <a:ext uri="{FF2B5EF4-FFF2-40B4-BE49-F238E27FC236}">
                <a16:creationId xmlns:a16="http://schemas.microsoft.com/office/drawing/2014/main" id="{6DFC3DAE-18C4-5286-2A85-7EFBAD48BA78}"/>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51873386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BE93EE-EB8E-654D-69AA-1FE66EC61FAF}"/>
              </a:ext>
            </a:extLst>
          </p:cNvPr>
          <p:cNvSpPr>
            <a:spLocks noGrp="1"/>
          </p:cNvSpPr>
          <p:nvPr>
            <p:ph idx="1"/>
          </p:nvPr>
        </p:nvSpPr>
        <p:spPr>
          <a:xfrm>
            <a:off x="2560320" y="162560"/>
            <a:ext cx="9489440" cy="6624320"/>
          </a:xfrm>
        </p:spPr>
        <p:txBody>
          <a:bodyPr>
            <a:normAutofit/>
          </a:bodyPr>
          <a:lstStyle/>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A logical address space is a collection of segments. </a:t>
            </a:r>
          </a:p>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Each segment has a name and a length. </a:t>
            </a:r>
          </a:p>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The addresses specify both the segment name and the offset within the segment. </a:t>
            </a:r>
          </a:p>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The user therefore specifies each address by two quantities: A segment name and An offset. </a:t>
            </a:r>
          </a:p>
          <a:p>
            <a:pPr marL="0" indent="0" algn="just">
              <a:lnSpc>
                <a:spcPct val="150000"/>
              </a:lnSpc>
              <a:buNone/>
            </a:pPr>
            <a:endParaRPr lang="en-IN" sz="2000" dirty="0">
              <a:latin typeface="+mn-lt"/>
            </a:endParaRPr>
          </a:p>
        </p:txBody>
      </p:sp>
      <p:sp>
        <p:nvSpPr>
          <p:cNvPr id="2" name="Google Shape;98;g2eff20282af_0_123">
            <a:extLst>
              <a:ext uri="{FF2B5EF4-FFF2-40B4-BE49-F238E27FC236}">
                <a16:creationId xmlns:a16="http://schemas.microsoft.com/office/drawing/2014/main" id="{9124042F-ACAF-86DC-CF57-DD1855D404CC}"/>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09375518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4A0C6B-2399-6A0E-6275-5EDACC6549CA}"/>
              </a:ext>
            </a:extLst>
          </p:cNvPr>
          <p:cNvSpPr>
            <a:spLocks noGrp="1"/>
          </p:cNvSpPr>
          <p:nvPr>
            <p:ph idx="1"/>
          </p:nvPr>
        </p:nvSpPr>
        <p:spPr>
          <a:xfrm>
            <a:off x="2519680" y="304800"/>
            <a:ext cx="9458960" cy="6553200"/>
          </a:xfrm>
        </p:spPr>
        <p:txBody>
          <a:bodyPr>
            <a:normAutofit/>
          </a:bodyPr>
          <a:lstStyle/>
          <a:p>
            <a:pPr marL="0" indent="0" algn="just">
              <a:lnSpc>
                <a:spcPct val="150000"/>
              </a:lnSpc>
              <a:buNone/>
            </a:pPr>
            <a:r>
              <a:rPr lang="en-US" sz="2400" dirty="0">
                <a:latin typeface="+mn-lt"/>
                <a:ea typeface="Calibri" panose="020F0502020204030204" pitchFamily="34" charset="0"/>
                <a:cs typeface="Times New Roman" panose="02020603050405020304" pitchFamily="18" charset="0"/>
              </a:rPr>
              <a:t>While paging – the user specifies only a single address, which is partitioned by the hardware into a page number and an offset, all invisible to the programmer.</a:t>
            </a:r>
          </a:p>
          <a:p>
            <a:pPr marL="0" indent="0" algn="just">
              <a:lnSpc>
                <a:spcPct val="150000"/>
              </a:lnSpc>
              <a:spcAft>
                <a:spcPts val="800"/>
              </a:spcAft>
              <a:buNone/>
              <a:tabLst>
                <a:tab pos="1524000" algn="l"/>
                <a:tab pos="2865755" algn="ctr"/>
              </a:tabLst>
            </a:pPr>
            <a:r>
              <a:rPr lang="en-US" sz="2400" dirty="0">
                <a:effectLst/>
                <a:latin typeface="+mn-lt"/>
                <a:ea typeface="Calibri" panose="020F0502020204030204" pitchFamily="34" charset="0"/>
                <a:cs typeface="Times New Roman" panose="02020603050405020304" pitchFamily="18" charset="0"/>
              </a:rPr>
              <a:t>For simplicity of implementation, segments are numbered and are referred to by a segment number, rather than by a segment name. </a:t>
            </a:r>
          </a:p>
          <a:p>
            <a:pPr marL="0" indent="0" algn="just">
              <a:lnSpc>
                <a:spcPct val="150000"/>
              </a:lnSpc>
              <a:spcAft>
                <a:spcPts val="800"/>
              </a:spcAft>
              <a:buNone/>
              <a:tabLst>
                <a:tab pos="1524000" algn="l"/>
                <a:tab pos="2865755" algn="ctr"/>
              </a:tabLst>
            </a:pPr>
            <a:r>
              <a:rPr lang="en-US" sz="2400" dirty="0">
                <a:effectLst/>
                <a:latin typeface="+mn-lt"/>
                <a:ea typeface="Calibri" panose="020F0502020204030204" pitchFamily="34" charset="0"/>
                <a:cs typeface="Times New Roman" panose="02020603050405020304" pitchFamily="18" charset="0"/>
              </a:rPr>
              <a:t>Thus, a logical address consists of a two tuple:</a:t>
            </a:r>
            <a:endParaRPr lang="en-IN" sz="2400" dirty="0">
              <a:effectLst/>
              <a:latin typeface="+mn-lt"/>
              <a:ea typeface="Calibri" panose="020F0502020204030204" pitchFamily="34" charset="0"/>
              <a:cs typeface="Times New Roman" panose="02020603050405020304" pitchFamily="18" charset="0"/>
            </a:endParaRPr>
          </a:p>
          <a:p>
            <a:pPr marL="0" indent="0" algn="just">
              <a:lnSpc>
                <a:spcPct val="150000"/>
              </a:lnSpc>
              <a:spcAft>
                <a:spcPts val="800"/>
              </a:spcAft>
              <a:buNone/>
              <a:tabLst>
                <a:tab pos="1524000" algn="l"/>
                <a:tab pos="2865755" algn="ctr"/>
              </a:tabLst>
            </a:pPr>
            <a:r>
              <a:rPr lang="en-US" sz="2400" dirty="0">
                <a:effectLst/>
                <a:latin typeface="+mn-lt"/>
                <a:ea typeface="Calibri" panose="020F0502020204030204" pitchFamily="34" charset="0"/>
                <a:cs typeface="Times New Roman" panose="02020603050405020304" pitchFamily="18" charset="0"/>
              </a:rPr>
              <a:t>	&lt;segment-number, offset&gt;.</a:t>
            </a:r>
            <a:endParaRPr lang="en-IN" sz="2400" dirty="0">
              <a:effectLst/>
              <a:latin typeface="+mn-lt"/>
              <a:ea typeface="Calibri" panose="020F0502020204030204" pitchFamily="34" charset="0"/>
              <a:cs typeface="Times New Roman" panose="02020603050405020304" pitchFamily="18" charset="0"/>
            </a:endParaRPr>
          </a:p>
          <a:p>
            <a:endParaRPr lang="en-IN" dirty="0"/>
          </a:p>
        </p:txBody>
      </p:sp>
      <p:sp>
        <p:nvSpPr>
          <p:cNvPr id="2" name="Google Shape;98;g2eff20282af_0_123">
            <a:extLst>
              <a:ext uri="{FF2B5EF4-FFF2-40B4-BE49-F238E27FC236}">
                <a16:creationId xmlns:a16="http://schemas.microsoft.com/office/drawing/2014/main" id="{0D82B3D4-A28B-79BA-EE8F-313CA68E7689}"/>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20860356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BE93EE-EB8E-654D-69AA-1FE66EC61FAF}"/>
              </a:ext>
            </a:extLst>
          </p:cNvPr>
          <p:cNvSpPr>
            <a:spLocks noGrp="1"/>
          </p:cNvSpPr>
          <p:nvPr>
            <p:ph idx="1"/>
          </p:nvPr>
        </p:nvSpPr>
        <p:spPr>
          <a:xfrm>
            <a:off x="2560320" y="162560"/>
            <a:ext cx="9489440" cy="6624320"/>
          </a:xfrm>
        </p:spPr>
        <p:txBody>
          <a:bodyPr>
            <a:normAutofit/>
          </a:bodyPr>
          <a:lstStyle/>
          <a:p>
            <a:pPr marL="0" indent="0" algn="ctr">
              <a:lnSpc>
                <a:spcPct val="150000"/>
              </a:lnSpc>
              <a:buNone/>
            </a:pPr>
            <a:r>
              <a:rPr lang="en-IN" sz="2000" b="1" dirty="0">
                <a:solidFill>
                  <a:srgbClr val="FF0000"/>
                </a:solidFill>
                <a:latin typeface="+mn-lt"/>
              </a:rPr>
              <a:t>Segment Table</a:t>
            </a:r>
          </a:p>
          <a:p>
            <a:pPr marL="0" indent="0" algn="just">
              <a:lnSpc>
                <a:spcPct val="150000"/>
              </a:lnSpc>
              <a:buNone/>
            </a:pPr>
            <a:r>
              <a:rPr lang="en-IN" sz="2000" dirty="0">
                <a:latin typeface="+mn-lt"/>
              </a:rPr>
              <a:t>We must define an implementation to map two dimensional user defined addresses into one dimensional physical addresses.</a:t>
            </a:r>
          </a:p>
          <a:p>
            <a:pPr marL="0" indent="0" algn="just">
              <a:lnSpc>
                <a:spcPct val="150000"/>
              </a:lnSpc>
              <a:buNone/>
            </a:pPr>
            <a:r>
              <a:rPr lang="en-IN" sz="2000" dirty="0">
                <a:latin typeface="+mn-lt"/>
              </a:rPr>
              <a:t>This mapping is done by using a segment table.</a:t>
            </a:r>
          </a:p>
          <a:p>
            <a:pPr marL="0" indent="0" algn="just">
              <a:lnSpc>
                <a:spcPct val="150000"/>
              </a:lnSpc>
              <a:buNone/>
            </a:pPr>
            <a:r>
              <a:rPr lang="en-IN" sz="2000" dirty="0">
                <a:latin typeface="+mn-lt"/>
              </a:rPr>
              <a:t>Each entry in the segment table has a segment base and a segment limit.</a:t>
            </a:r>
          </a:p>
          <a:p>
            <a:pPr marL="0" indent="0" algn="just">
              <a:lnSpc>
                <a:spcPct val="150000"/>
              </a:lnSpc>
              <a:buNone/>
            </a:pPr>
            <a:r>
              <a:rPr lang="en-IN" sz="2000" dirty="0">
                <a:latin typeface="+mn-lt"/>
              </a:rPr>
              <a:t>The segment base contains the starting physical address where the segment resides in memory, whereas the segment limit specifies the length of the segment.</a:t>
            </a:r>
          </a:p>
          <a:p>
            <a:pPr marL="0" indent="0" algn="just">
              <a:lnSpc>
                <a:spcPct val="150000"/>
              </a:lnSpc>
              <a:buNone/>
            </a:pPr>
            <a:r>
              <a:rPr lang="en-IN" sz="2000" dirty="0">
                <a:latin typeface="+mn-lt"/>
              </a:rPr>
              <a:t> </a:t>
            </a:r>
          </a:p>
        </p:txBody>
      </p:sp>
      <p:graphicFrame>
        <p:nvGraphicFramePr>
          <p:cNvPr id="2" name="Table 1">
            <a:extLst>
              <a:ext uri="{FF2B5EF4-FFF2-40B4-BE49-F238E27FC236}">
                <a16:creationId xmlns:a16="http://schemas.microsoft.com/office/drawing/2014/main" id="{809DE920-8461-45AE-8EAD-C9ADCD834F21}"/>
              </a:ext>
            </a:extLst>
          </p:cNvPr>
          <p:cNvGraphicFramePr>
            <a:graphicFrameLocks noGrp="1"/>
          </p:cNvGraphicFramePr>
          <p:nvPr/>
        </p:nvGraphicFramePr>
        <p:xfrm>
          <a:off x="4206240" y="3992880"/>
          <a:ext cx="5079998" cy="2794002"/>
        </p:xfrm>
        <a:graphic>
          <a:graphicData uri="http://schemas.openxmlformats.org/drawingml/2006/table">
            <a:tbl>
              <a:tblPr firstRow="1" firstCol="1" bandRow="1">
                <a:tableStyleId>{5C22544A-7EE6-4342-B048-85BDC9FD1C3A}</a:tableStyleId>
              </a:tblPr>
              <a:tblGrid>
                <a:gridCol w="2071613">
                  <a:extLst>
                    <a:ext uri="{9D8B030D-6E8A-4147-A177-3AD203B41FA5}">
                      <a16:colId xmlns:a16="http://schemas.microsoft.com/office/drawing/2014/main" val="3020066578"/>
                    </a:ext>
                  </a:extLst>
                </a:gridCol>
                <a:gridCol w="1341029">
                  <a:extLst>
                    <a:ext uri="{9D8B030D-6E8A-4147-A177-3AD203B41FA5}">
                      <a16:colId xmlns:a16="http://schemas.microsoft.com/office/drawing/2014/main" val="2474579682"/>
                    </a:ext>
                  </a:extLst>
                </a:gridCol>
                <a:gridCol w="1667356">
                  <a:extLst>
                    <a:ext uri="{9D8B030D-6E8A-4147-A177-3AD203B41FA5}">
                      <a16:colId xmlns:a16="http://schemas.microsoft.com/office/drawing/2014/main" val="1287019431"/>
                    </a:ext>
                  </a:extLst>
                </a:gridCol>
              </a:tblGrid>
              <a:tr h="465667">
                <a:tc>
                  <a:txBody>
                    <a:bodyPr/>
                    <a:lstStyle/>
                    <a:p>
                      <a:pPr algn="ctr">
                        <a:lnSpc>
                          <a:spcPct val="107000"/>
                        </a:lnSpc>
                        <a:spcAft>
                          <a:spcPts val="800"/>
                        </a:spcAft>
                      </a:pPr>
                      <a:r>
                        <a:rPr lang="en-IN" sz="2000" kern="100" dirty="0">
                          <a:effectLst/>
                        </a:rPr>
                        <a:t>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2000" kern="100" dirty="0">
                          <a:effectLst/>
                        </a:rPr>
                        <a:t>Limit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2000" kern="100">
                          <a:effectLst/>
                        </a:rPr>
                        <a:t>Base</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57359557"/>
                  </a:ext>
                </a:extLst>
              </a:tr>
              <a:tr h="465667">
                <a:tc>
                  <a:txBody>
                    <a:bodyPr/>
                    <a:lstStyle/>
                    <a:p>
                      <a:pPr algn="ctr">
                        <a:lnSpc>
                          <a:spcPct val="107000"/>
                        </a:lnSpc>
                        <a:spcAft>
                          <a:spcPts val="800"/>
                        </a:spcAft>
                      </a:pPr>
                      <a:r>
                        <a:rPr lang="en-IN" sz="2000" kern="100">
                          <a:effectLst/>
                        </a:rPr>
                        <a:t>Segment 0</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2000" kern="100" dirty="0">
                          <a:effectLst/>
                        </a:rPr>
                        <a:t>1000</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2000" kern="100">
                          <a:effectLst/>
                        </a:rPr>
                        <a:t>1400</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15179086"/>
                  </a:ext>
                </a:extLst>
              </a:tr>
              <a:tr h="465667">
                <a:tc>
                  <a:txBody>
                    <a:bodyPr/>
                    <a:lstStyle/>
                    <a:p>
                      <a:pPr algn="ctr">
                        <a:lnSpc>
                          <a:spcPct val="107000"/>
                        </a:lnSpc>
                        <a:spcAft>
                          <a:spcPts val="800"/>
                        </a:spcAft>
                      </a:pPr>
                      <a:r>
                        <a:rPr lang="en-IN" sz="2000" kern="100">
                          <a:effectLst/>
                        </a:rPr>
                        <a:t>Segment 1</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2000" kern="100" dirty="0">
                          <a:effectLst/>
                        </a:rPr>
                        <a:t>400</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2000" kern="100" dirty="0">
                          <a:effectLst/>
                        </a:rPr>
                        <a:t>6300</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66552424"/>
                  </a:ext>
                </a:extLst>
              </a:tr>
              <a:tr h="465667">
                <a:tc>
                  <a:txBody>
                    <a:bodyPr/>
                    <a:lstStyle/>
                    <a:p>
                      <a:pPr algn="ctr">
                        <a:lnSpc>
                          <a:spcPct val="107000"/>
                        </a:lnSpc>
                        <a:spcAft>
                          <a:spcPts val="800"/>
                        </a:spcAft>
                      </a:pPr>
                      <a:r>
                        <a:rPr lang="en-IN" sz="2000" kern="100">
                          <a:effectLst/>
                        </a:rPr>
                        <a:t>Segment 2</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2000" kern="100">
                          <a:effectLst/>
                        </a:rPr>
                        <a:t>400</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2000" kern="100" dirty="0">
                          <a:effectLst/>
                        </a:rPr>
                        <a:t>4300</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69973866"/>
                  </a:ext>
                </a:extLst>
              </a:tr>
              <a:tr h="465667">
                <a:tc>
                  <a:txBody>
                    <a:bodyPr/>
                    <a:lstStyle/>
                    <a:p>
                      <a:pPr algn="ctr">
                        <a:lnSpc>
                          <a:spcPct val="107000"/>
                        </a:lnSpc>
                        <a:spcAft>
                          <a:spcPts val="800"/>
                        </a:spcAft>
                      </a:pPr>
                      <a:r>
                        <a:rPr lang="en-IN" sz="2000" kern="100">
                          <a:effectLst/>
                        </a:rPr>
                        <a:t>Segment 3</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2000" kern="100" dirty="0">
                          <a:effectLst/>
                        </a:rPr>
                        <a:t>1100</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2000" kern="100" dirty="0">
                          <a:effectLst/>
                        </a:rPr>
                        <a:t>3200</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60598051"/>
                  </a:ext>
                </a:extLst>
              </a:tr>
              <a:tr h="465667">
                <a:tc>
                  <a:txBody>
                    <a:bodyPr/>
                    <a:lstStyle/>
                    <a:p>
                      <a:pPr algn="ctr">
                        <a:lnSpc>
                          <a:spcPct val="107000"/>
                        </a:lnSpc>
                        <a:spcAft>
                          <a:spcPts val="800"/>
                        </a:spcAft>
                      </a:pPr>
                      <a:r>
                        <a:rPr lang="en-IN" sz="2000" kern="100">
                          <a:effectLst/>
                        </a:rPr>
                        <a:t>Segment 4</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2000" kern="100">
                          <a:effectLst/>
                        </a:rPr>
                        <a:t>1000</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2000" kern="100" dirty="0">
                          <a:effectLst/>
                        </a:rPr>
                        <a:t>4700</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17985643"/>
                  </a:ext>
                </a:extLst>
              </a:tr>
            </a:tbl>
          </a:graphicData>
        </a:graphic>
      </p:graphicFrame>
      <p:sp>
        <p:nvSpPr>
          <p:cNvPr id="4" name="Google Shape;98;g2eff20282af_0_123">
            <a:extLst>
              <a:ext uri="{FF2B5EF4-FFF2-40B4-BE49-F238E27FC236}">
                <a16:creationId xmlns:a16="http://schemas.microsoft.com/office/drawing/2014/main" id="{4C50A5D9-D31D-FD65-D7CB-48EEEC62106B}"/>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2528099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2E9AC19-3C66-8C2E-3441-92595977F989}"/>
              </a:ext>
            </a:extLst>
          </p:cNvPr>
          <p:cNvSpPr txBox="1"/>
          <p:nvPr/>
        </p:nvSpPr>
        <p:spPr>
          <a:xfrm>
            <a:off x="4048760" y="6138622"/>
            <a:ext cx="6106160" cy="506292"/>
          </a:xfrm>
          <a:prstGeom prst="rect">
            <a:avLst/>
          </a:prstGeom>
          <a:noFill/>
        </p:spPr>
        <p:txBody>
          <a:bodyPr wrap="square">
            <a:spAutoFit/>
          </a:bodyPr>
          <a:lstStyle/>
          <a:p>
            <a:pPr algn="ctr">
              <a:lnSpc>
                <a:spcPct val="150000"/>
              </a:lnSpc>
              <a:spcAft>
                <a:spcPts val="800"/>
              </a:spcAft>
              <a:tabLst>
                <a:tab pos="1524000" algn="l"/>
                <a:tab pos="2865755" algn="ctr"/>
              </a:tabLst>
            </a:pPr>
            <a:r>
              <a:rPr lang="en-US" sz="2000" dirty="0">
                <a:effectLst/>
                <a:ea typeface="Calibri" panose="020F0502020204030204" pitchFamily="34" charset="0"/>
                <a:cs typeface="Times New Roman" panose="02020603050405020304" pitchFamily="18" charset="0"/>
              </a:rPr>
              <a:t>Example of segmentation.</a:t>
            </a:r>
            <a:endParaRPr lang="en-IN" sz="2000" dirty="0">
              <a:effectLst/>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8AB4BE35-DB17-A16B-9D08-2BC2232171E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54960" y="213086"/>
            <a:ext cx="8859520" cy="5925536"/>
          </a:xfrm>
          <a:prstGeom prst="rect">
            <a:avLst/>
          </a:prstGeom>
          <a:noFill/>
          <a:ln>
            <a:noFill/>
          </a:ln>
        </p:spPr>
      </p:pic>
      <p:sp>
        <p:nvSpPr>
          <p:cNvPr id="3" name="Google Shape;98;g2eff20282af_0_123">
            <a:extLst>
              <a:ext uri="{FF2B5EF4-FFF2-40B4-BE49-F238E27FC236}">
                <a16:creationId xmlns:a16="http://schemas.microsoft.com/office/drawing/2014/main" id="{5D3F8FEC-AA89-18B9-5DAF-76C8F010A591}"/>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27805001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BE93EE-EB8E-654D-69AA-1FE66EC61FAF}"/>
              </a:ext>
            </a:extLst>
          </p:cNvPr>
          <p:cNvSpPr>
            <a:spLocks noGrp="1"/>
          </p:cNvSpPr>
          <p:nvPr>
            <p:ph idx="1"/>
          </p:nvPr>
        </p:nvSpPr>
        <p:spPr>
          <a:xfrm>
            <a:off x="2560320" y="162560"/>
            <a:ext cx="9489440" cy="6624320"/>
          </a:xfrm>
        </p:spPr>
        <p:txBody>
          <a:bodyPr>
            <a:normAutofit/>
          </a:bodyPr>
          <a:lstStyle/>
          <a:p>
            <a:pPr marL="0" indent="0" algn="ctr">
              <a:buNone/>
            </a:pPr>
            <a:r>
              <a:rPr lang="en-IN" sz="2400" b="1" dirty="0">
                <a:solidFill>
                  <a:srgbClr val="FF0000"/>
                </a:solidFill>
                <a:latin typeface="+mn-lt"/>
              </a:rPr>
              <a:t>Segmentation Hardware</a:t>
            </a:r>
          </a:p>
          <a:p>
            <a:pPr marL="0" indent="0" algn="just">
              <a:lnSpc>
                <a:spcPct val="150000"/>
              </a:lnSpc>
              <a:buNone/>
            </a:pPr>
            <a:r>
              <a:rPr lang="en-IN" sz="2400" dirty="0">
                <a:latin typeface="+mn-lt"/>
              </a:rPr>
              <a:t>Although in segmentation the user can now refer to objects in the program by a two dimensional address, the actual physical memory is still, of course, a one dimensional sequence of bytes.</a:t>
            </a:r>
          </a:p>
          <a:p>
            <a:pPr marL="0" indent="0" algn="just">
              <a:lnSpc>
                <a:spcPct val="150000"/>
              </a:lnSpc>
              <a:buNone/>
            </a:pPr>
            <a:r>
              <a:rPr lang="en-IN" sz="2400" dirty="0">
                <a:latin typeface="+mn-lt"/>
              </a:rPr>
              <a:t>Thus, we must define an implementation to map two dimensional user defined addresses into one dimensional physical addresses.</a:t>
            </a:r>
          </a:p>
          <a:p>
            <a:pPr marL="0" indent="0" algn="just">
              <a:lnSpc>
                <a:spcPct val="150000"/>
              </a:lnSpc>
              <a:buNone/>
            </a:pPr>
            <a:r>
              <a:rPr lang="en-IN" sz="2400" dirty="0">
                <a:latin typeface="+mn-lt"/>
              </a:rPr>
              <a:t>This is done with the help of a segment table. </a:t>
            </a:r>
          </a:p>
          <a:p>
            <a:pPr marL="0" indent="0" algn="just">
              <a:lnSpc>
                <a:spcPct val="150000"/>
              </a:lnSpc>
              <a:buNone/>
            </a:pPr>
            <a:endParaRPr lang="en-IN" sz="2000" dirty="0">
              <a:latin typeface="+mn-lt"/>
            </a:endParaRPr>
          </a:p>
        </p:txBody>
      </p:sp>
      <p:sp>
        <p:nvSpPr>
          <p:cNvPr id="2" name="Google Shape;98;g2eff20282af_0_123">
            <a:extLst>
              <a:ext uri="{FF2B5EF4-FFF2-40B4-BE49-F238E27FC236}">
                <a16:creationId xmlns:a16="http://schemas.microsoft.com/office/drawing/2014/main" id="{B68145E4-5170-D581-ABB1-0622DDBE0BA3}"/>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673778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30209B-8455-0469-88B2-8F4B0A60958D}"/>
              </a:ext>
            </a:extLst>
          </p:cNvPr>
          <p:cNvSpPr>
            <a:spLocks noGrp="1"/>
          </p:cNvSpPr>
          <p:nvPr>
            <p:ph idx="1"/>
          </p:nvPr>
        </p:nvSpPr>
        <p:spPr>
          <a:xfrm>
            <a:off x="2540000" y="193040"/>
            <a:ext cx="9398000" cy="6461760"/>
          </a:xfrm>
        </p:spPr>
        <p:txBody>
          <a:bodyPr/>
          <a:lstStyle/>
          <a:p>
            <a:pPr marL="0" indent="0" algn="just">
              <a:lnSpc>
                <a:spcPct val="150000"/>
              </a:lnSpc>
              <a:buNone/>
            </a:pPr>
            <a:r>
              <a:rPr lang="en-IN" sz="2400" dirty="0">
                <a:latin typeface="+mn-lt"/>
              </a:rPr>
              <a:t>A logical address consists of two parts:</a:t>
            </a:r>
          </a:p>
          <a:p>
            <a:pPr marL="0" indent="0" algn="just">
              <a:lnSpc>
                <a:spcPct val="150000"/>
              </a:lnSpc>
              <a:buNone/>
            </a:pPr>
            <a:r>
              <a:rPr lang="en-IN" sz="2400" dirty="0">
                <a:latin typeface="+mn-lt"/>
              </a:rPr>
              <a:t>A segment number, ‘s’, and an offset into that segment, ‘d’.</a:t>
            </a:r>
          </a:p>
          <a:p>
            <a:pPr marL="0" indent="0" algn="just">
              <a:lnSpc>
                <a:spcPct val="150000"/>
              </a:lnSpc>
              <a:buNone/>
            </a:pPr>
            <a:r>
              <a:rPr lang="en-IN" sz="2400" dirty="0">
                <a:latin typeface="+mn-lt"/>
              </a:rPr>
              <a:t>The segment number is used as an index to the segment table.</a:t>
            </a:r>
          </a:p>
          <a:p>
            <a:pPr marL="0" indent="0" algn="just">
              <a:lnSpc>
                <a:spcPct val="150000"/>
              </a:lnSpc>
              <a:buNone/>
            </a:pPr>
            <a:r>
              <a:rPr lang="en-IN" sz="2400" dirty="0">
                <a:latin typeface="+mn-lt"/>
              </a:rPr>
              <a:t>The offset d of the logical address must be between 0 and segment limit.</a:t>
            </a:r>
          </a:p>
          <a:p>
            <a:pPr marL="0" indent="0" algn="just">
              <a:lnSpc>
                <a:spcPct val="150000"/>
              </a:lnSpc>
              <a:buNone/>
            </a:pPr>
            <a:r>
              <a:rPr lang="en-IN" sz="2400" dirty="0">
                <a:latin typeface="+mn-lt"/>
              </a:rPr>
              <a:t>If it is not, we trap to the OS(logical addressing attempt beyond, end of segment)</a:t>
            </a:r>
          </a:p>
          <a:p>
            <a:pPr marL="0" indent="0" algn="just">
              <a:lnSpc>
                <a:spcPct val="150000"/>
              </a:lnSpc>
              <a:buNone/>
            </a:pPr>
            <a:r>
              <a:rPr lang="en-IN" sz="2400" dirty="0">
                <a:latin typeface="+mn-lt"/>
              </a:rPr>
              <a:t>When a offset is legal, it is added to the segment base to produce the address in physical memory of the desired byte</a:t>
            </a:r>
          </a:p>
          <a:p>
            <a:pPr marL="0" indent="0">
              <a:buNone/>
            </a:pPr>
            <a:endParaRPr lang="en-IN" dirty="0"/>
          </a:p>
        </p:txBody>
      </p:sp>
      <p:sp>
        <p:nvSpPr>
          <p:cNvPr id="2" name="Google Shape;98;g2eff20282af_0_123">
            <a:extLst>
              <a:ext uri="{FF2B5EF4-FFF2-40B4-BE49-F238E27FC236}">
                <a16:creationId xmlns:a16="http://schemas.microsoft.com/office/drawing/2014/main" id="{4FB92AE0-D558-D696-9927-170E9318ECD0}"/>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1923229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BE93EE-EB8E-654D-69AA-1FE66EC61FAF}"/>
              </a:ext>
            </a:extLst>
          </p:cNvPr>
          <p:cNvSpPr>
            <a:spLocks noGrp="1"/>
          </p:cNvSpPr>
          <p:nvPr>
            <p:ph idx="1"/>
          </p:nvPr>
        </p:nvSpPr>
        <p:spPr>
          <a:xfrm>
            <a:off x="2560320" y="162560"/>
            <a:ext cx="9489440" cy="6624320"/>
          </a:xfrm>
        </p:spPr>
        <p:txBody>
          <a:bodyPr>
            <a:normAutofit/>
          </a:bodyPr>
          <a:lstStyle/>
          <a:p>
            <a:pPr marL="0" indent="0" algn="just">
              <a:lnSpc>
                <a:spcPct val="150000"/>
              </a:lnSpc>
              <a:buNone/>
            </a:pPr>
            <a:r>
              <a:rPr lang="en-IN" sz="2000" dirty="0">
                <a:latin typeface="+mn-lt"/>
              </a:rPr>
              <a:t>.</a:t>
            </a:r>
          </a:p>
          <a:p>
            <a:endParaRPr lang="en-IN" sz="2000" dirty="0">
              <a:latin typeface="+mn-lt"/>
            </a:endParaRPr>
          </a:p>
        </p:txBody>
      </p:sp>
      <p:sp>
        <p:nvSpPr>
          <p:cNvPr id="5" name="TextBox 4">
            <a:extLst>
              <a:ext uri="{FF2B5EF4-FFF2-40B4-BE49-F238E27FC236}">
                <a16:creationId xmlns:a16="http://schemas.microsoft.com/office/drawing/2014/main" id="{D14AC78C-49CD-1D46-AB5C-F0A41AD134B3}"/>
              </a:ext>
            </a:extLst>
          </p:cNvPr>
          <p:cNvSpPr txBox="1"/>
          <p:nvPr/>
        </p:nvSpPr>
        <p:spPr>
          <a:xfrm>
            <a:off x="3784600" y="6118302"/>
            <a:ext cx="6106160" cy="506292"/>
          </a:xfrm>
          <a:prstGeom prst="rect">
            <a:avLst/>
          </a:prstGeom>
          <a:noFill/>
        </p:spPr>
        <p:txBody>
          <a:bodyPr wrap="square">
            <a:spAutoFit/>
          </a:bodyPr>
          <a:lstStyle/>
          <a:p>
            <a:pPr algn="ctr">
              <a:lnSpc>
                <a:spcPct val="150000"/>
              </a:lnSpc>
              <a:spcAft>
                <a:spcPts val="800"/>
              </a:spcAft>
              <a:tabLst>
                <a:tab pos="1524000" algn="l"/>
                <a:tab pos="2865755" algn="ctr"/>
              </a:tabLst>
            </a:pPr>
            <a:r>
              <a:rPr lang="en-US" sz="2000" dirty="0">
                <a:effectLst/>
                <a:ea typeface="Calibri" panose="020F0502020204030204" pitchFamily="34" charset="0"/>
                <a:cs typeface="Times New Roman" panose="02020603050405020304" pitchFamily="18" charset="0"/>
              </a:rPr>
              <a:t>Segmentation hardware.</a:t>
            </a:r>
            <a:endParaRPr lang="en-IN" sz="2000" dirty="0">
              <a:effectLst/>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698B2D2D-8439-8332-CC13-FA89EE0B943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54960" y="518160"/>
            <a:ext cx="8900160" cy="5364480"/>
          </a:xfrm>
          <a:prstGeom prst="rect">
            <a:avLst/>
          </a:prstGeom>
          <a:noFill/>
          <a:ln>
            <a:noFill/>
          </a:ln>
        </p:spPr>
      </p:pic>
      <p:sp>
        <p:nvSpPr>
          <p:cNvPr id="4" name="Google Shape;98;g2eff20282af_0_123">
            <a:extLst>
              <a:ext uri="{FF2B5EF4-FFF2-40B4-BE49-F238E27FC236}">
                <a16:creationId xmlns:a16="http://schemas.microsoft.com/office/drawing/2014/main" id="{15EE80EB-2525-043B-FD18-4111794E8154}"/>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20140696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13106CD-A8F9-6208-AC1D-9BA54D29E8C1}"/>
              </a:ext>
            </a:extLst>
          </p:cNvPr>
          <p:cNvSpPr txBox="1"/>
          <p:nvPr/>
        </p:nvSpPr>
        <p:spPr>
          <a:xfrm>
            <a:off x="2649220" y="4856480"/>
            <a:ext cx="9471660" cy="2561470"/>
          </a:xfrm>
          <a:prstGeom prst="rect">
            <a:avLst/>
          </a:prstGeom>
          <a:noFill/>
        </p:spPr>
        <p:txBody>
          <a:bodyPr wrap="square">
            <a:spAutoFit/>
          </a:bodyPr>
          <a:lstStyle/>
          <a:p>
            <a:pPr algn="just">
              <a:lnSpc>
                <a:spcPct val="150000"/>
              </a:lnSpc>
              <a:spcAft>
                <a:spcPts val="800"/>
              </a:spcAft>
            </a:pP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Example: Reference to byte 53 of segment2 mapped to onto location 4300 + 53 = 4353</a:t>
            </a:r>
          </a:p>
          <a:p>
            <a:pPr algn="just">
              <a:lnSpc>
                <a:spcPct val="150000"/>
              </a:lnSpc>
              <a:spcAft>
                <a:spcPts val="800"/>
              </a:spcAft>
            </a:pPr>
            <a:r>
              <a:rPr lang="en-IN" sz="2000" kern="100" dirty="0">
                <a:latin typeface="Calibri" panose="020F0502020204030204" pitchFamily="34" charset="0"/>
                <a:ea typeface="Calibri" panose="020F0502020204030204" pitchFamily="34" charset="0"/>
                <a:cs typeface="Times New Roman" panose="02020603050405020304" pitchFamily="18" charset="0"/>
              </a:rPr>
              <a:t>Reference to byte 852 of segment 3 mapped to onto location 3200 + 852 = 4052</a:t>
            </a:r>
          </a:p>
          <a:p>
            <a:pPr algn="just">
              <a:lnSpc>
                <a:spcPct val="150000"/>
              </a:lnSpc>
              <a:spcAft>
                <a:spcPts val="800"/>
              </a:spcAft>
            </a:pPr>
            <a:r>
              <a:rPr lang="en-IN" sz="2000" kern="100" dirty="0">
                <a:latin typeface="Calibri" panose="020F0502020204030204" pitchFamily="34" charset="0"/>
                <a:ea typeface="Calibri" panose="020F0502020204030204" pitchFamily="34" charset="0"/>
                <a:cs typeface="Times New Roman" panose="02020603050405020304" pitchFamily="18" charset="0"/>
              </a:rPr>
              <a:t>Reference to byte 1222 of segment 0 would result in a trap to the OS, as this segment is only 1000 bytes long.</a:t>
            </a:r>
          </a:p>
          <a:p>
            <a:pPr>
              <a:lnSpc>
                <a:spcPct val="107000"/>
              </a:lnSpc>
              <a:spcAft>
                <a:spcPts val="800"/>
              </a:spcAft>
            </a:pP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06EB2CCA-4664-E871-C2EE-A9E1ADE8FA2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54960" y="213086"/>
            <a:ext cx="8859520" cy="4643394"/>
          </a:xfrm>
          <a:prstGeom prst="rect">
            <a:avLst/>
          </a:prstGeom>
          <a:noFill/>
          <a:ln>
            <a:noFill/>
          </a:ln>
        </p:spPr>
      </p:pic>
      <p:sp>
        <p:nvSpPr>
          <p:cNvPr id="3" name="Google Shape;98;g2eff20282af_0_123">
            <a:extLst>
              <a:ext uri="{FF2B5EF4-FFF2-40B4-BE49-F238E27FC236}">
                <a16:creationId xmlns:a16="http://schemas.microsoft.com/office/drawing/2014/main" id="{1301B3F4-69D7-0562-D7FA-A0BE11935B8C}"/>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69383385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B63C47-1141-D484-6165-B70C312400D5}"/>
              </a:ext>
            </a:extLst>
          </p:cNvPr>
          <p:cNvSpPr>
            <a:spLocks noGrp="1"/>
          </p:cNvSpPr>
          <p:nvPr>
            <p:ph idx="1"/>
          </p:nvPr>
        </p:nvSpPr>
        <p:spPr>
          <a:xfrm>
            <a:off x="3008675" y="2415287"/>
            <a:ext cx="7964126" cy="1766656"/>
          </a:xfrm>
        </p:spPr>
        <p:txBody>
          <a:bodyPr>
            <a:noAutofit/>
          </a:bodyPr>
          <a:lstStyle/>
          <a:p>
            <a:pPr marL="0" indent="0" algn="ctr">
              <a:lnSpc>
                <a:spcPct val="150000"/>
              </a:lnSpc>
              <a:spcBef>
                <a:spcPts val="0"/>
              </a:spcBef>
              <a:buNone/>
            </a:pPr>
            <a:r>
              <a:rPr lang="en-IN" sz="3600" dirty="0">
                <a:solidFill>
                  <a:schemeClr val="accent1">
                    <a:lumMod val="75000"/>
                  </a:schemeClr>
                </a:solidFill>
                <a:latin typeface="+mn-lt"/>
              </a:rPr>
              <a:t>Virtual Memory Management</a:t>
            </a:r>
          </a:p>
          <a:p>
            <a:pPr algn="ctr">
              <a:lnSpc>
                <a:spcPct val="170000"/>
              </a:lnSpc>
              <a:spcBef>
                <a:spcPts val="0"/>
              </a:spcBef>
            </a:pPr>
            <a:endParaRPr lang="en-IN" sz="3200" dirty="0">
              <a:solidFill>
                <a:schemeClr val="accent1">
                  <a:lumMod val="75000"/>
                </a:schemeClr>
              </a:solidFill>
              <a:latin typeface="+mn-lt"/>
            </a:endParaRPr>
          </a:p>
        </p:txBody>
      </p:sp>
      <p:sp>
        <p:nvSpPr>
          <p:cNvPr id="2" name="Google Shape;98;g2eff20282af_0_123">
            <a:extLst>
              <a:ext uri="{FF2B5EF4-FFF2-40B4-BE49-F238E27FC236}">
                <a16:creationId xmlns:a16="http://schemas.microsoft.com/office/drawing/2014/main" id="{21A8CC63-45D4-A285-1AC3-9890B18C8A76}"/>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61300051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B63C47-1141-D484-6165-B70C312400D5}"/>
              </a:ext>
            </a:extLst>
          </p:cNvPr>
          <p:cNvSpPr>
            <a:spLocks noGrp="1"/>
          </p:cNvSpPr>
          <p:nvPr>
            <p:ph idx="1"/>
          </p:nvPr>
        </p:nvSpPr>
        <p:spPr>
          <a:xfrm>
            <a:off x="2555913" y="-1"/>
            <a:ext cx="9408405" cy="7348251"/>
          </a:xfrm>
        </p:spPr>
        <p:txBody>
          <a:bodyPr>
            <a:noAutofit/>
          </a:bodyPr>
          <a:lstStyle/>
          <a:p>
            <a:pPr marL="0" indent="0" algn="ctr">
              <a:lnSpc>
                <a:spcPct val="150000"/>
              </a:lnSpc>
              <a:spcBef>
                <a:spcPts val="0"/>
              </a:spcBef>
              <a:buNone/>
            </a:pPr>
            <a:r>
              <a:rPr lang="en-IN" sz="2400" b="1" dirty="0">
                <a:solidFill>
                  <a:srgbClr val="FF0000"/>
                </a:solidFill>
                <a:latin typeface="+mn-lt"/>
              </a:rPr>
              <a:t>Why Virtual Memory</a:t>
            </a:r>
          </a:p>
          <a:p>
            <a:pPr marL="0" indent="0" algn="just">
              <a:lnSpc>
                <a:spcPct val="150000"/>
              </a:lnSpc>
              <a:spcBef>
                <a:spcPts val="0"/>
              </a:spcBef>
              <a:buNone/>
            </a:pPr>
            <a:r>
              <a:rPr lang="en-IN" sz="2400" dirty="0">
                <a:latin typeface="+mn-lt"/>
              </a:rPr>
              <a:t>Virtual memory is a storage scheme where secondary memory can be treated as though it is a part of main memory and large processes can be stored in it. Only the part of the process that is actually needed for execution will be loaded on to the actual main memory.</a:t>
            </a:r>
          </a:p>
          <a:p>
            <a:pPr marL="0" indent="0" algn="just">
              <a:lnSpc>
                <a:spcPct val="150000"/>
              </a:lnSpc>
              <a:spcBef>
                <a:spcPts val="0"/>
              </a:spcBef>
              <a:buNone/>
            </a:pPr>
            <a:r>
              <a:rPr lang="en-IN" sz="2400" dirty="0">
                <a:solidFill>
                  <a:srgbClr val="0000FF"/>
                </a:solidFill>
                <a:latin typeface="+mn-lt"/>
              </a:rPr>
              <a:t>An examination of real programs shows that:</a:t>
            </a:r>
          </a:p>
          <a:p>
            <a:pPr marL="0" indent="0" algn="just">
              <a:lnSpc>
                <a:spcPct val="150000"/>
              </a:lnSpc>
              <a:spcBef>
                <a:spcPts val="0"/>
              </a:spcBef>
              <a:buNone/>
            </a:pPr>
            <a:r>
              <a:rPr lang="en-IN" sz="2400" dirty="0">
                <a:latin typeface="+mn-lt"/>
              </a:rPr>
              <a:t>Programs often have code to handle unusual error conditions. Since theses errors seldom, if ever, occur in practice, this code is almost never executed.</a:t>
            </a:r>
          </a:p>
          <a:p>
            <a:pPr marL="0" indent="0" algn="just">
              <a:lnSpc>
                <a:spcPct val="150000"/>
              </a:lnSpc>
              <a:spcBef>
                <a:spcPts val="0"/>
              </a:spcBef>
              <a:buNone/>
            </a:pPr>
            <a:r>
              <a:rPr lang="en-IN" sz="2400" dirty="0">
                <a:latin typeface="+mn-lt"/>
              </a:rPr>
              <a:t>Arrays, list, and ta tables are often allocated more memory than they actually need. An array may be declared 100 by 100 elements, even </a:t>
            </a:r>
            <a:r>
              <a:rPr lang="en-IN" sz="2400" dirty="0" err="1">
                <a:latin typeface="+mn-lt"/>
              </a:rPr>
              <a:t>thiugh</a:t>
            </a:r>
            <a:r>
              <a:rPr lang="en-IN" sz="2400" dirty="0">
                <a:latin typeface="+mn-lt"/>
              </a:rPr>
              <a:t> it is seldom larger than 10 by 10 elements.</a:t>
            </a:r>
          </a:p>
          <a:p>
            <a:pPr marL="0" indent="0" algn="just">
              <a:lnSpc>
                <a:spcPct val="150000"/>
              </a:lnSpc>
              <a:spcBef>
                <a:spcPts val="0"/>
              </a:spcBef>
              <a:buNone/>
            </a:pPr>
            <a:endParaRPr lang="en-IN" sz="2400" dirty="0">
              <a:latin typeface="+mn-lt"/>
            </a:endParaRPr>
          </a:p>
          <a:p>
            <a:pPr marL="0" indent="0" algn="just">
              <a:lnSpc>
                <a:spcPct val="170000"/>
              </a:lnSpc>
              <a:spcBef>
                <a:spcPts val="0"/>
              </a:spcBef>
              <a:buNone/>
            </a:pPr>
            <a:endParaRPr lang="en-IN" sz="2000" dirty="0">
              <a:latin typeface="+mn-lt"/>
            </a:endParaRPr>
          </a:p>
        </p:txBody>
      </p:sp>
      <p:sp>
        <p:nvSpPr>
          <p:cNvPr id="2" name="Google Shape;98;g2eff20282af_0_123">
            <a:extLst>
              <a:ext uri="{FF2B5EF4-FFF2-40B4-BE49-F238E27FC236}">
                <a16:creationId xmlns:a16="http://schemas.microsoft.com/office/drawing/2014/main" id="{911E8CA9-020D-FF79-D37E-2BE9785FB3A3}"/>
              </a:ext>
            </a:extLst>
          </p:cNvPr>
          <p:cNvSpPr txBox="1"/>
          <p:nvPr/>
        </p:nvSpPr>
        <p:spPr>
          <a:xfrm>
            <a:off x="524064" y="3891899"/>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9902722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B63C47-1141-D484-6165-B70C312400D5}"/>
              </a:ext>
            </a:extLst>
          </p:cNvPr>
          <p:cNvSpPr>
            <a:spLocks noGrp="1"/>
          </p:cNvSpPr>
          <p:nvPr>
            <p:ph idx="1"/>
          </p:nvPr>
        </p:nvSpPr>
        <p:spPr>
          <a:xfrm>
            <a:off x="2555913" y="0"/>
            <a:ext cx="9408405" cy="6753340"/>
          </a:xfrm>
        </p:spPr>
        <p:txBody>
          <a:bodyPr>
            <a:noAutofit/>
          </a:bodyPr>
          <a:lstStyle/>
          <a:p>
            <a:pPr marL="0" indent="0" algn="just">
              <a:lnSpc>
                <a:spcPct val="170000"/>
              </a:lnSpc>
              <a:spcBef>
                <a:spcPts val="0"/>
              </a:spcBef>
              <a:buNone/>
            </a:pPr>
            <a:r>
              <a:rPr lang="en-IN" sz="2000" dirty="0">
                <a:latin typeface="+mn-lt"/>
              </a:rPr>
              <a:t>An assembler symbol table may have room for 3000 symbols, although the average program has less than 200 symbols.</a:t>
            </a:r>
          </a:p>
          <a:p>
            <a:pPr marL="0" indent="0" algn="just">
              <a:lnSpc>
                <a:spcPct val="170000"/>
              </a:lnSpc>
              <a:spcBef>
                <a:spcPts val="0"/>
              </a:spcBef>
              <a:buNone/>
            </a:pPr>
            <a:endParaRPr lang="en-IN" sz="2000" dirty="0">
              <a:latin typeface="+mn-lt"/>
            </a:endParaRPr>
          </a:p>
        </p:txBody>
      </p:sp>
      <p:sp>
        <p:nvSpPr>
          <p:cNvPr id="7" name="TextBox 6">
            <a:extLst>
              <a:ext uri="{FF2B5EF4-FFF2-40B4-BE49-F238E27FC236}">
                <a16:creationId xmlns:a16="http://schemas.microsoft.com/office/drawing/2014/main" id="{D10AD90C-8709-C4AB-5F27-6F6BFBDEF937}"/>
              </a:ext>
            </a:extLst>
          </p:cNvPr>
          <p:cNvSpPr txBox="1"/>
          <p:nvPr/>
        </p:nvSpPr>
        <p:spPr>
          <a:xfrm>
            <a:off x="3006031" y="6247048"/>
            <a:ext cx="8804313" cy="506292"/>
          </a:xfrm>
          <a:prstGeom prst="rect">
            <a:avLst/>
          </a:prstGeom>
          <a:noFill/>
        </p:spPr>
        <p:txBody>
          <a:bodyPr wrap="square">
            <a:spAutoFit/>
          </a:bodyPr>
          <a:lstStyle/>
          <a:p>
            <a:pPr algn="ctr">
              <a:lnSpc>
                <a:spcPct val="150000"/>
              </a:lnSpc>
              <a:spcAft>
                <a:spcPts val="800"/>
              </a:spcAft>
            </a:pPr>
            <a:r>
              <a:rPr lang="en-US" sz="2000" dirty="0">
                <a:effectLst/>
                <a:ea typeface="Calibri" panose="020F0502020204030204" pitchFamily="34" charset="0"/>
                <a:cs typeface="Times New Roman" panose="02020603050405020304" pitchFamily="18" charset="0"/>
              </a:rPr>
              <a:t>Diagram showing virtual memory that is larger than physical memory.</a:t>
            </a:r>
            <a:endParaRPr lang="en-IN" sz="2000" dirty="0">
              <a:effectLst/>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A04CEF91-6829-1733-862A-4B87E1EE21E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73680" y="1158240"/>
            <a:ext cx="9190638" cy="5088808"/>
          </a:xfrm>
          <a:prstGeom prst="rect">
            <a:avLst/>
          </a:prstGeom>
          <a:noFill/>
          <a:ln>
            <a:noFill/>
          </a:ln>
        </p:spPr>
      </p:pic>
      <p:sp>
        <p:nvSpPr>
          <p:cNvPr id="4" name="Google Shape;98;g2eff20282af_0_123">
            <a:extLst>
              <a:ext uri="{FF2B5EF4-FFF2-40B4-BE49-F238E27FC236}">
                <a16:creationId xmlns:a16="http://schemas.microsoft.com/office/drawing/2014/main" id="{511F89DB-CDFB-01BF-596A-19330D026C7F}"/>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9298095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B63C47-1141-D484-6165-B70C312400D5}"/>
              </a:ext>
            </a:extLst>
          </p:cNvPr>
          <p:cNvSpPr>
            <a:spLocks noGrp="1"/>
          </p:cNvSpPr>
          <p:nvPr>
            <p:ph idx="1"/>
          </p:nvPr>
        </p:nvSpPr>
        <p:spPr>
          <a:xfrm>
            <a:off x="2544897" y="77118"/>
            <a:ext cx="9540607" cy="6563168"/>
          </a:xfrm>
        </p:spPr>
        <p:txBody>
          <a:bodyPr>
            <a:noAutofit/>
          </a:bodyPr>
          <a:lstStyle/>
          <a:p>
            <a:pPr marL="0" indent="0" algn="just">
              <a:lnSpc>
                <a:spcPct val="150000"/>
              </a:lnSpc>
              <a:spcBef>
                <a:spcPts val="0"/>
              </a:spcBef>
              <a:buNone/>
            </a:pPr>
            <a:r>
              <a:rPr lang="en-IN" sz="2400" dirty="0">
                <a:solidFill>
                  <a:srgbClr val="0000FF"/>
                </a:solidFill>
                <a:latin typeface="+mn-lt"/>
              </a:rPr>
              <a:t>Benefits of being able to execute a program that is only partially in memory</a:t>
            </a:r>
          </a:p>
          <a:p>
            <a:pPr marL="0" lvl="0" indent="0" algn="just">
              <a:lnSpc>
                <a:spcPct val="150000"/>
              </a:lnSpc>
              <a:buNone/>
            </a:pPr>
            <a:r>
              <a:rPr lang="en-US" sz="2400" dirty="0">
                <a:solidFill>
                  <a:srgbClr val="000000"/>
                </a:solidFill>
                <a:effectLst/>
                <a:latin typeface="+mn-lt"/>
                <a:ea typeface="Cambria" panose="02040503050406030204" pitchFamily="18" charset="0"/>
                <a:cs typeface="Cambria" panose="02040503050406030204" pitchFamily="18" charset="0"/>
              </a:rPr>
              <a:t>A program would no longer be constrained by the amount of physical memory that is available. Users would be able to write programs for an extremely large virtual address space, simplifying the programming task. </a:t>
            </a:r>
            <a:endParaRPr lang="en-IN" sz="2400" dirty="0">
              <a:solidFill>
                <a:srgbClr val="000000"/>
              </a:solidFill>
              <a:effectLst/>
              <a:latin typeface="+mn-lt"/>
              <a:ea typeface="Cambria" panose="02040503050406030204" pitchFamily="18" charset="0"/>
              <a:cs typeface="Cambria" panose="02040503050406030204" pitchFamily="18" charset="0"/>
            </a:endParaRPr>
          </a:p>
          <a:p>
            <a:pPr marL="0" lvl="0" indent="0" algn="just">
              <a:lnSpc>
                <a:spcPct val="150000"/>
              </a:lnSpc>
              <a:buNone/>
            </a:pPr>
            <a:r>
              <a:rPr lang="en-US" sz="2400" dirty="0">
                <a:solidFill>
                  <a:srgbClr val="000000"/>
                </a:solidFill>
                <a:effectLst/>
                <a:latin typeface="+mn-lt"/>
                <a:ea typeface="Cambria" panose="02040503050406030204" pitchFamily="18" charset="0"/>
                <a:cs typeface="Cambria" panose="02040503050406030204" pitchFamily="18" charset="0"/>
              </a:rPr>
              <a:t>Because each user program could take less physical memory, more programs could be run at the same time, with a corresponding increase in CPU utilization and throughput but with no increase in response time or turnaround time.</a:t>
            </a:r>
            <a:endParaRPr lang="en-IN" sz="2400" dirty="0">
              <a:solidFill>
                <a:srgbClr val="000000"/>
              </a:solidFill>
              <a:effectLst/>
              <a:latin typeface="+mn-lt"/>
              <a:ea typeface="Cambria" panose="02040503050406030204" pitchFamily="18" charset="0"/>
              <a:cs typeface="Cambria" panose="02040503050406030204" pitchFamily="18" charset="0"/>
            </a:endParaRPr>
          </a:p>
          <a:p>
            <a:pPr marL="0" lvl="0" indent="0" algn="just">
              <a:lnSpc>
                <a:spcPct val="150000"/>
              </a:lnSpc>
              <a:spcAft>
                <a:spcPts val="15"/>
              </a:spcAft>
              <a:buNone/>
            </a:pPr>
            <a:r>
              <a:rPr lang="en-US" sz="2400" dirty="0">
                <a:solidFill>
                  <a:srgbClr val="000000"/>
                </a:solidFill>
                <a:effectLst/>
                <a:latin typeface="+mn-lt"/>
                <a:ea typeface="Cambria" panose="02040503050406030204" pitchFamily="18" charset="0"/>
                <a:cs typeface="Cambria" panose="02040503050406030204" pitchFamily="18" charset="0"/>
              </a:rPr>
              <a:t>Less I/O would be needed to load or swap each user program into memory, so each user program would run faster.</a:t>
            </a:r>
            <a:endParaRPr lang="en-IN" sz="2400" dirty="0">
              <a:solidFill>
                <a:srgbClr val="000000"/>
              </a:solidFill>
              <a:effectLst/>
              <a:latin typeface="+mn-lt"/>
              <a:ea typeface="Cambria" panose="02040503050406030204" pitchFamily="18" charset="0"/>
              <a:cs typeface="Cambria" panose="02040503050406030204" pitchFamily="18" charset="0"/>
            </a:endParaRPr>
          </a:p>
        </p:txBody>
      </p:sp>
      <p:sp>
        <p:nvSpPr>
          <p:cNvPr id="2" name="Google Shape;98;g2eff20282af_0_123">
            <a:extLst>
              <a:ext uri="{FF2B5EF4-FFF2-40B4-BE49-F238E27FC236}">
                <a16:creationId xmlns:a16="http://schemas.microsoft.com/office/drawing/2014/main" id="{8C4E7D8C-7804-A530-57E4-13420A1FB219}"/>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57257571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2B0D53-AEEC-AB75-9E1C-FE2AEA51BD7A}"/>
              </a:ext>
            </a:extLst>
          </p:cNvPr>
          <p:cNvSpPr>
            <a:spLocks noGrp="1"/>
          </p:cNvSpPr>
          <p:nvPr>
            <p:ph idx="1"/>
          </p:nvPr>
        </p:nvSpPr>
        <p:spPr>
          <a:xfrm>
            <a:off x="2555913" y="154236"/>
            <a:ext cx="9452473" cy="6703764"/>
          </a:xfrm>
        </p:spPr>
        <p:txBody>
          <a:bodyPr>
            <a:normAutofit/>
          </a:bodyPr>
          <a:lstStyle/>
          <a:p>
            <a:pPr marL="0" indent="0" algn="ctr">
              <a:lnSpc>
                <a:spcPct val="150000"/>
              </a:lnSpc>
              <a:buNone/>
            </a:pPr>
            <a:r>
              <a:rPr lang="en-IN" sz="2400" b="1" dirty="0">
                <a:latin typeface="+mn-lt"/>
              </a:rPr>
              <a:t>Running a program that is not entirely in memory would benefit both the system and the user. </a:t>
            </a:r>
          </a:p>
          <a:p>
            <a:pPr marL="0" indent="0" algn="ctr">
              <a:lnSpc>
                <a:spcPct val="150000"/>
              </a:lnSpc>
              <a:buNone/>
            </a:pPr>
            <a:endParaRPr lang="en-IN" sz="2400" b="1" dirty="0">
              <a:latin typeface="+mn-lt"/>
            </a:endParaRPr>
          </a:p>
          <a:p>
            <a:pPr marL="0" indent="0" algn="ctr">
              <a:lnSpc>
                <a:spcPct val="150000"/>
              </a:lnSpc>
              <a:buNone/>
            </a:pPr>
            <a:r>
              <a:rPr lang="en-IN" sz="2400" b="1" dirty="0">
                <a:latin typeface="+mn-lt"/>
              </a:rPr>
              <a:t>Virtual memory involves the separation of logical memory </a:t>
            </a:r>
            <a:r>
              <a:rPr lang="en-IN" sz="2400" b="1" dirty="0" err="1">
                <a:latin typeface="+mn-lt"/>
              </a:rPr>
              <a:t>sa</a:t>
            </a:r>
            <a:r>
              <a:rPr lang="en-IN" sz="2400" b="1" dirty="0">
                <a:latin typeface="+mn-lt"/>
              </a:rPr>
              <a:t> perceived by users from physical memory.</a:t>
            </a:r>
          </a:p>
          <a:p>
            <a:pPr marL="0" indent="0" algn="ctr">
              <a:lnSpc>
                <a:spcPct val="150000"/>
              </a:lnSpc>
              <a:buNone/>
            </a:pPr>
            <a:endParaRPr lang="en-IN" sz="2400" b="1" dirty="0">
              <a:latin typeface="+mn-lt"/>
            </a:endParaRPr>
          </a:p>
          <a:p>
            <a:pPr marL="0" indent="0" algn="ctr">
              <a:lnSpc>
                <a:spcPct val="150000"/>
              </a:lnSpc>
              <a:buNone/>
            </a:pPr>
            <a:r>
              <a:rPr lang="en-IN" sz="2400" b="1" dirty="0">
                <a:latin typeface="+mn-lt"/>
              </a:rPr>
              <a:t>This separation, allows an extremely large virtually memory to be provided for programmers when only a smaller physical memory is available. </a:t>
            </a:r>
          </a:p>
        </p:txBody>
      </p:sp>
      <p:sp>
        <p:nvSpPr>
          <p:cNvPr id="2" name="Google Shape;98;g2eff20282af_0_123">
            <a:extLst>
              <a:ext uri="{FF2B5EF4-FFF2-40B4-BE49-F238E27FC236}">
                <a16:creationId xmlns:a16="http://schemas.microsoft.com/office/drawing/2014/main" id="{BE158BB8-8112-87DA-C0EC-CC6B3E98C915}"/>
              </a:ext>
            </a:extLst>
          </p:cNvPr>
          <p:cNvSpPr txBox="1"/>
          <p:nvPr/>
        </p:nvSpPr>
        <p:spPr>
          <a:xfrm>
            <a:off x="524064" y="3891899"/>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10120731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2B0D53-AEEC-AB75-9E1C-FE2AEA51BD7A}"/>
              </a:ext>
            </a:extLst>
          </p:cNvPr>
          <p:cNvSpPr>
            <a:spLocks noGrp="1"/>
          </p:cNvSpPr>
          <p:nvPr>
            <p:ph idx="1"/>
          </p:nvPr>
        </p:nvSpPr>
        <p:spPr>
          <a:xfrm>
            <a:off x="2555913" y="154235"/>
            <a:ext cx="9527230" cy="6594907"/>
          </a:xfrm>
        </p:spPr>
        <p:txBody>
          <a:bodyPr>
            <a:normAutofit fontScale="92500" lnSpcReduction="10000"/>
          </a:bodyPr>
          <a:lstStyle/>
          <a:p>
            <a:pPr marL="0" indent="0" algn="ctr">
              <a:lnSpc>
                <a:spcPct val="160000"/>
              </a:lnSpc>
              <a:spcAft>
                <a:spcPts val="800"/>
              </a:spcAft>
              <a:buNone/>
            </a:pPr>
            <a:r>
              <a:rPr lang="en-US" sz="2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Demand Paging</a:t>
            </a:r>
            <a:endParaRPr lang="en-IN"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60000"/>
              </a:lnSpc>
              <a:spcAft>
                <a:spcPts val="800"/>
              </a:spcAft>
              <a:buNone/>
            </a:pPr>
            <a:r>
              <a:rPr lang="en-US" sz="2400" dirty="0">
                <a:solidFill>
                  <a:srgbClr val="000000"/>
                </a:solidFill>
                <a:effectLst/>
                <a:latin typeface="+mn-lt"/>
                <a:ea typeface="Cambria" panose="02040503050406030204" pitchFamily="18" charset="0"/>
                <a:cs typeface="Times New Roman" panose="02020603050405020304" pitchFamily="18" charset="0"/>
              </a:rPr>
              <a:t>How can an executable program be loaded from disk to memory?</a:t>
            </a:r>
          </a:p>
          <a:p>
            <a:pPr marL="0" indent="0" algn="just">
              <a:lnSpc>
                <a:spcPct val="160000"/>
              </a:lnSpc>
              <a:spcAft>
                <a:spcPts val="800"/>
              </a:spcAft>
              <a:buNone/>
            </a:pPr>
            <a:r>
              <a:rPr lang="en-US" sz="2400" b="1" dirty="0">
                <a:solidFill>
                  <a:srgbClr val="000000"/>
                </a:solidFill>
                <a:latin typeface="+mn-lt"/>
                <a:ea typeface="Cambria" panose="02040503050406030204" pitchFamily="18" charset="0"/>
                <a:cs typeface="Times New Roman" panose="02020603050405020304" pitchFamily="18" charset="0"/>
              </a:rPr>
              <a:t>Approach-1:</a:t>
            </a:r>
          </a:p>
          <a:p>
            <a:pPr marL="0" indent="0" algn="just">
              <a:lnSpc>
                <a:spcPct val="160000"/>
              </a:lnSpc>
              <a:spcAft>
                <a:spcPts val="800"/>
              </a:spcAft>
              <a:buNone/>
            </a:pPr>
            <a:r>
              <a:rPr lang="en-US" sz="2400" dirty="0">
                <a:solidFill>
                  <a:srgbClr val="000000"/>
                </a:solidFill>
                <a:effectLst/>
                <a:latin typeface="+mn-lt"/>
                <a:ea typeface="Cambria" panose="02040503050406030204" pitchFamily="18" charset="0"/>
                <a:cs typeface="Times New Roman" panose="02020603050405020304" pitchFamily="18" charset="0"/>
              </a:rPr>
              <a:t>Load the entire program in physical memory at program execution time.</a:t>
            </a:r>
          </a:p>
          <a:p>
            <a:pPr marL="0" indent="0" algn="just">
              <a:lnSpc>
                <a:spcPct val="160000"/>
              </a:lnSpc>
              <a:spcAft>
                <a:spcPts val="800"/>
              </a:spcAft>
              <a:buNone/>
            </a:pPr>
            <a:r>
              <a:rPr lang="en-US" sz="2400" b="1" dirty="0">
                <a:solidFill>
                  <a:srgbClr val="000000"/>
                </a:solidFill>
                <a:latin typeface="+mn-lt"/>
                <a:ea typeface="Cambria" panose="02040503050406030204" pitchFamily="18" charset="0"/>
                <a:cs typeface="Times New Roman" panose="02020603050405020304" pitchFamily="18" charset="0"/>
              </a:rPr>
              <a:t>Problem:</a:t>
            </a:r>
          </a:p>
          <a:p>
            <a:pPr marL="0" indent="0" algn="just">
              <a:lnSpc>
                <a:spcPct val="160000"/>
              </a:lnSpc>
              <a:spcAft>
                <a:spcPts val="800"/>
              </a:spcAft>
              <a:buNone/>
            </a:pPr>
            <a:r>
              <a:rPr lang="en-US" sz="2400" dirty="0">
                <a:solidFill>
                  <a:srgbClr val="000000"/>
                </a:solidFill>
                <a:effectLst/>
                <a:latin typeface="+mn-lt"/>
                <a:ea typeface="Cambria" panose="02040503050406030204" pitchFamily="18" charset="0"/>
                <a:cs typeface="Times New Roman" panose="02020603050405020304" pitchFamily="18" charset="0"/>
              </a:rPr>
              <a:t>We may not initially need the entire program in memory. Consider a program that starts with a list of available options from which the user is to select. Loading the entire program into memory results in loading the executable code for all options, regardless of whether an option is ultimately selected by the user or not.</a:t>
            </a:r>
          </a:p>
          <a:p>
            <a:pPr marL="0" indent="0" algn="just">
              <a:lnSpc>
                <a:spcPct val="160000"/>
              </a:lnSpc>
              <a:spcAft>
                <a:spcPts val="800"/>
              </a:spcAft>
              <a:buNone/>
            </a:pPr>
            <a:r>
              <a:rPr lang="en-US" sz="2400" dirty="0">
                <a:solidFill>
                  <a:srgbClr val="000000"/>
                </a:solidFill>
                <a:effectLst/>
                <a:latin typeface="+mn-lt"/>
                <a:ea typeface="Cambria" panose="02040503050406030204" pitchFamily="18" charset="0"/>
                <a:cs typeface="Times New Roman" panose="02020603050405020304" pitchFamily="18" charset="0"/>
              </a:rPr>
              <a:t> </a:t>
            </a:r>
            <a:endParaRPr lang="en-IN" sz="2400" dirty="0">
              <a:effectLst/>
              <a:latin typeface="+mn-lt"/>
              <a:ea typeface="Calibri" panose="020F0502020204030204" pitchFamily="34" charset="0"/>
              <a:cs typeface="Times New Roman" panose="02020603050405020304" pitchFamily="18" charset="0"/>
            </a:endParaRPr>
          </a:p>
          <a:p>
            <a:endParaRPr lang="en-IN" dirty="0"/>
          </a:p>
        </p:txBody>
      </p:sp>
      <p:sp>
        <p:nvSpPr>
          <p:cNvPr id="2" name="Google Shape;98;g2eff20282af_0_123">
            <a:extLst>
              <a:ext uri="{FF2B5EF4-FFF2-40B4-BE49-F238E27FC236}">
                <a16:creationId xmlns:a16="http://schemas.microsoft.com/office/drawing/2014/main" id="{151F4637-1EE0-098B-ED52-AA620792A1E1}"/>
              </a:ext>
            </a:extLst>
          </p:cNvPr>
          <p:cNvSpPr txBox="1"/>
          <p:nvPr/>
        </p:nvSpPr>
        <p:spPr>
          <a:xfrm>
            <a:off x="524064" y="3891899"/>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05648751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2B0D53-AEEC-AB75-9E1C-FE2AEA51BD7A}"/>
              </a:ext>
            </a:extLst>
          </p:cNvPr>
          <p:cNvSpPr>
            <a:spLocks noGrp="1"/>
          </p:cNvSpPr>
          <p:nvPr>
            <p:ph idx="1"/>
          </p:nvPr>
        </p:nvSpPr>
        <p:spPr>
          <a:xfrm>
            <a:off x="2555913" y="154236"/>
            <a:ext cx="9452473" cy="6599104"/>
          </a:xfrm>
        </p:spPr>
        <p:txBody>
          <a:bodyPr>
            <a:normAutofit lnSpcReduction="10000"/>
          </a:bodyPr>
          <a:lstStyle/>
          <a:p>
            <a:pPr marL="0" indent="0" algn="just">
              <a:lnSpc>
                <a:spcPct val="150000"/>
              </a:lnSpc>
              <a:buNone/>
            </a:pPr>
            <a:r>
              <a:rPr lang="en-IN" sz="2400" b="1" dirty="0">
                <a:latin typeface="+mn-lt"/>
              </a:rPr>
              <a:t>Approach – 2:</a:t>
            </a:r>
          </a:p>
          <a:p>
            <a:pPr marL="0" indent="0" algn="just">
              <a:lnSpc>
                <a:spcPct val="150000"/>
              </a:lnSpc>
              <a:buNone/>
            </a:pPr>
            <a:r>
              <a:rPr lang="en-IN" sz="2400" dirty="0">
                <a:latin typeface="+mn-lt"/>
              </a:rPr>
              <a:t>Load pages only as they are needed. Pages are only loaded when they are demanded during program execution. Pages that are never accessed are thus never loaded into physical memory. </a:t>
            </a:r>
            <a:r>
              <a:rPr lang="en-IN" sz="2400" dirty="0">
                <a:solidFill>
                  <a:srgbClr val="0000FF"/>
                </a:solidFill>
                <a:latin typeface="+mn-lt"/>
              </a:rPr>
              <a:t>This is called Demand Paging</a:t>
            </a:r>
            <a:r>
              <a:rPr lang="en-IN" sz="2400" dirty="0">
                <a:latin typeface="+mn-lt"/>
              </a:rPr>
              <a:t>.</a:t>
            </a:r>
          </a:p>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A demand-paging system is similar to a paging system </a:t>
            </a:r>
            <a:r>
              <a:rPr lang="en-US" sz="2400" dirty="0">
                <a:solidFill>
                  <a:srgbClr val="0000FF"/>
                </a:solidFill>
                <a:effectLst/>
                <a:latin typeface="+mn-lt"/>
                <a:ea typeface="Calibri" panose="020F0502020204030204" pitchFamily="34" charset="0"/>
                <a:cs typeface="Times New Roman" panose="02020603050405020304" pitchFamily="18" charset="0"/>
              </a:rPr>
              <a:t>with swapping where processes reside in secondary memory (usually a disk). </a:t>
            </a:r>
          </a:p>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When we want to execute a process, we swap it into memory. </a:t>
            </a:r>
          </a:p>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Rather than swapping the entire process into memory, however, we use a </a:t>
            </a:r>
            <a:r>
              <a:rPr lang="en-US" sz="2400" dirty="0">
                <a:solidFill>
                  <a:srgbClr val="0000FF"/>
                </a:solidFill>
                <a:effectLst/>
                <a:latin typeface="+mn-lt"/>
                <a:ea typeface="Calibri" panose="020F0502020204030204" pitchFamily="34" charset="0"/>
                <a:cs typeface="Times New Roman" panose="02020603050405020304" pitchFamily="18" charset="0"/>
              </a:rPr>
              <a:t>lazy swapper.</a:t>
            </a:r>
            <a:endParaRPr lang="en-IN" sz="2400" dirty="0">
              <a:solidFill>
                <a:srgbClr val="0000FF"/>
              </a:solidFill>
              <a:effectLst/>
              <a:latin typeface="+mn-lt"/>
              <a:ea typeface="Calibri" panose="020F0502020204030204" pitchFamily="34" charset="0"/>
              <a:cs typeface="Times New Roman" panose="02020603050405020304" pitchFamily="18" charset="0"/>
            </a:endParaRPr>
          </a:p>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A lazy swapper never swaps a page into memory unless that page will be needed. </a:t>
            </a:r>
          </a:p>
          <a:p>
            <a:pPr marL="0" indent="0" algn="just">
              <a:lnSpc>
                <a:spcPct val="150000"/>
              </a:lnSpc>
              <a:buNone/>
            </a:pPr>
            <a:endParaRPr lang="en-IN" sz="2000" dirty="0">
              <a:latin typeface="+mn-lt"/>
            </a:endParaRPr>
          </a:p>
        </p:txBody>
      </p:sp>
      <p:sp>
        <p:nvSpPr>
          <p:cNvPr id="2" name="Google Shape;98;g2eff20282af_0_123">
            <a:extLst>
              <a:ext uri="{FF2B5EF4-FFF2-40B4-BE49-F238E27FC236}">
                <a16:creationId xmlns:a16="http://schemas.microsoft.com/office/drawing/2014/main" id="{89469DCC-FFE1-0A79-4121-56D462693ED7}"/>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78995385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2B0D53-AEEC-AB75-9E1C-FE2AEA51BD7A}"/>
              </a:ext>
            </a:extLst>
          </p:cNvPr>
          <p:cNvSpPr>
            <a:spLocks noGrp="1"/>
          </p:cNvSpPr>
          <p:nvPr>
            <p:ph idx="1"/>
          </p:nvPr>
        </p:nvSpPr>
        <p:spPr>
          <a:xfrm>
            <a:off x="2555913" y="154236"/>
            <a:ext cx="9452473" cy="6599104"/>
          </a:xfrm>
        </p:spPr>
        <p:txBody>
          <a:bodyPr>
            <a:normAutofit/>
          </a:bodyPr>
          <a:lstStyle/>
          <a:p>
            <a:pPr marL="0" indent="0">
              <a:lnSpc>
                <a:spcPct val="150000"/>
              </a:lnSpc>
              <a:spcAft>
                <a:spcPts val="800"/>
              </a:spcAft>
              <a:buNone/>
            </a:pPr>
            <a:r>
              <a:rPr lang="en-US" sz="2400" dirty="0">
                <a:solidFill>
                  <a:srgbClr val="000000"/>
                </a:solidFill>
                <a:effectLst/>
                <a:highlight>
                  <a:srgbClr val="FFFF00"/>
                </a:highlight>
                <a:latin typeface="+mn-lt"/>
                <a:ea typeface="Times New Roman" panose="02020603050405020304" pitchFamily="18" charset="0"/>
                <a:cs typeface="Times New Roman" panose="02020603050405020304" pitchFamily="18" charset="0"/>
              </a:rPr>
              <a:t> </a:t>
            </a:r>
            <a:endParaRPr lang="en-IN" sz="2400" dirty="0">
              <a:effectLst/>
              <a:highlight>
                <a:srgbClr val="FFFF00"/>
              </a:highlight>
              <a:latin typeface="+mn-lt"/>
              <a:ea typeface="Calibri" panose="020F0502020204030204" pitchFamily="34" charset="0"/>
              <a:cs typeface="Times New Roman" panose="02020603050405020304" pitchFamily="18" charset="0"/>
            </a:endParaRPr>
          </a:p>
          <a:p>
            <a:pPr marL="0" indent="0" algn="just">
              <a:lnSpc>
                <a:spcPct val="150000"/>
              </a:lnSpc>
              <a:buNone/>
            </a:pPr>
            <a:endParaRPr lang="en-IN" sz="2400" dirty="0">
              <a:latin typeface="+mn-lt"/>
            </a:endParaRPr>
          </a:p>
        </p:txBody>
      </p:sp>
      <p:sp>
        <p:nvSpPr>
          <p:cNvPr id="4" name="TextBox 3">
            <a:extLst>
              <a:ext uri="{FF2B5EF4-FFF2-40B4-BE49-F238E27FC236}">
                <a16:creationId xmlns:a16="http://schemas.microsoft.com/office/drawing/2014/main" id="{3B03132C-A207-757D-5D4E-CD9F44437287}"/>
              </a:ext>
            </a:extLst>
          </p:cNvPr>
          <p:cNvSpPr txBox="1"/>
          <p:nvPr/>
        </p:nvSpPr>
        <p:spPr>
          <a:xfrm>
            <a:off x="2555913" y="154236"/>
            <a:ext cx="9452473" cy="3359061"/>
          </a:xfrm>
          <a:prstGeom prst="rect">
            <a:avLst/>
          </a:prstGeom>
          <a:noFill/>
        </p:spPr>
        <p:txBody>
          <a:bodyPr wrap="square">
            <a:spAutoFit/>
          </a:bodyPr>
          <a:lstStyle/>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Since we are now viewing a process as a sequence of pages, rather than as one large contiguous address space, use of the term swapper is technically incorrect. </a:t>
            </a:r>
          </a:p>
          <a:p>
            <a:pPr marL="0" indent="0" algn="just">
              <a:lnSpc>
                <a:spcPct val="150000"/>
              </a:lnSpc>
              <a:buNone/>
            </a:pPr>
            <a:r>
              <a:rPr lang="en-US" sz="2400" dirty="0">
                <a:effectLst/>
                <a:latin typeface="+mn-lt"/>
                <a:ea typeface="Calibri" panose="020F0502020204030204" pitchFamily="34" charset="0"/>
                <a:cs typeface="Times New Roman" panose="02020603050405020304" pitchFamily="18" charset="0"/>
              </a:rPr>
              <a:t>So, in connection with Demand Paging we will use the term </a:t>
            </a:r>
            <a:r>
              <a:rPr lang="en-US" sz="2400" dirty="0">
                <a:solidFill>
                  <a:srgbClr val="0000FF"/>
                </a:solidFill>
                <a:effectLst/>
                <a:latin typeface="+mn-lt"/>
                <a:ea typeface="Calibri" panose="020F0502020204030204" pitchFamily="34" charset="0"/>
                <a:cs typeface="Times New Roman" panose="02020603050405020304" pitchFamily="18" charset="0"/>
              </a:rPr>
              <a:t>Pager.</a:t>
            </a:r>
          </a:p>
          <a:p>
            <a:pPr marL="0" indent="0" algn="ctr">
              <a:lnSpc>
                <a:spcPct val="150000"/>
              </a:lnSpc>
              <a:buNone/>
            </a:pPr>
            <a:r>
              <a:rPr lang="en-US" sz="2400" b="1" dirty="0">
                <a:effectLst/>
                <a:latin typeface="+mn-lt"/>
                <a:ea typeface="Calibri" panose="020F0502020204030204" pitchFamily="34" charset="0"/>
                <a:cs typeface="Times New Roman" panose="02020603050405020304" pitchFamily="18" charset="0"/>
              </a:rPr>
              <a:t>A swapper manipulates entire processes, whereas a pager is concerned with the individual pages of a process. </a:t>
            </a:r>
            <a:endParaRPr lang="en-IN" sz="2400" b="1" dirty="0">
              <a:effectLst/>
              <a:latin typeface="+mn-lt"/>
              <a:ea typeface="Calibri" panose="020F0502020204030204" pitchFamily="34" charset="0"/>
              <a:cs typeface="Times New Roman" panose="02020603050405020304" pitchFamily="18" charset="0"/>
            </a:endParaRPr>
          </a:p>
        </p:txBody>
      </p:sp>
      <p:sp>
        <p:nvSpPr>
          <p:cNvPr id="2" name="Google Shape;98;g2eff20282af_0_123">
            <a:extLst>
              <a:ext uri="{FF2B5EF4-FFF2-40B4-BE49-F238E27FC236}">
                <a16:creationId xmlns:a16="http://schemas.microsoft.com/office/drawing/2014/main" id="{10D8441B-D002-C868-8A40-30B6B6DB2C58}"/>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50907207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FD964D3-E23D-41AE-0A20-A881A0723C79}"/>
              </a:ext>
            </a:extLst>
          </p:cNvPr>
          <p:cNvSpPr txBox="1"/>
          <p:nvPr/>
        </p:nvSpPr>
        <p:spPr>
          <a:xfrm>
            <a:off x="4457700" y="6174545"/>
            <a:ext cx="6106884" cy="506292"/>
          </a:xfrm>
          <a:prstGeom prst="rect">
            <a:avLst/>
          </a:prstGeom>
          <a:noFill/>
        </p:spPr>
        <p:txBody>
          <a:bodyPr wrap="square">
            <a:spAutoFit/>
          </a:bodyPr>
          <a:lstStyle/>
          <a:p>
            <a:pPr algn="ctr">
              <a:lnSpc>
                <a:spcPct val="150000"/>
              </a:lnSpc>
              <a:spcAft>
                <a:spcPts val="800"/>
              </a:spcAft>
            </a:pPr>
            <a:r>
              <a:rPr lang="en-US" sz="2000" dirty="0">
                <a:effectLst/>
                <a:ea typeface="Calibri" panose="020F0502020204030204" pitchFamily="34" charset="0"/>
                <a:cs typeface="Times New Roman" panose="02020603050405020304" pitchFamily="18" charset="0"/>
              </a:rPr>
              <a:t>Transfer of a paged memory to contiguous disk space.</a:t>
            </a:r>
            <a:endParaRPr lang="en-IN" sz="2000" dirty="0">
              <a:effectLst/>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3AA8D989-39AE-2243-B38A-649D10C118E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56560" y="314960"/>
            <a:ext cx="8981440" cy="5699759"/>
          </a:xfrm>
          <a:prstGeom prst="rect">
            <a:avLst/>
          </a:prstGeom>
          <a:noFill/>
          <a:ln>
            <a:noFill/>
          </a:ln>
        </p:spPr>
      </p:pic>
      <p:sp>
        <p:nvSpPr>
          <p:cNvPr id="3" name="Google Shape;98;g2eff20282af_0_123">
            <a:extLst>
              <a:ext uri="{FF2B5EF4-FFF2-40B4-BE49-F238E27FC236}">
                <a16:creationId xmlns:a16="http://schemas.microsoft.com/office/drawing/2014/main" id="{1293E3B4-39F1-2BAB-9D7F-A65681A74545}"/>
              </a:ext>
            </a:extLst>
          </p:cNvPr>
          <p:cNvSpPr txBox="1"/>
          <p:nvPr/>
        </p:nvSpPr>
        <p:spPr>
          <a:xfrm>
            <a:off x="524064" y="3891899"/>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4749638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D5B1F5-357A-873A-4753-35518F4032A7}"/>
              </a:ext>
            </a:extLst>
          </p:cNvPr>
          <p:cNvSpPr>
            <a:spLocks noGrp="1"/>
          </p:cNvSpPr>
          <p:nvPr>
            <p:ph idx="1"/>
          </p:nvPr>
        </p:nvSpPr>
        <p:spPr>
          <a:xfrm>
            <a:off x="2577947" y="132202"/>
            <a:ext cx="9408405" cy="6510969"/>
          </a:xfrm>
        </p:spPr>
        <p:txBody>
          <a:bodyPr>
            <a:normAutofit/>
          </a:bodyPr>
          <a:lstStyle/>
          <a:p>
            <a:pPr marL="0" indent="0" algn="ctr">
              <a:lnSpc>
                <a:spcPct val="150000"/>
              </a:lnSpc>
              <a:buNone/>
            </a:pPr>
            <a:r>
              <a:rPr lang="en-IN" sz="2400" b="1" dirty="0">
                <a:solidFill>
                  <a:srgbClr val="FF0000"/>
                </a:solidFill>
                <a:latin typeface="+mn-lt"/>
              </a:rPr>
              <a:t>Hardware Implementation of Demand Paging</a:t>
            </a:r>
          </a:p>
          <a:p>
            <a:pPr marL="0" indent="0" algn="just">
              <a:lnSpc>
                <a:spcPct val="150000"/>
              </a:lnSpc>
              <a:buNone/>
            </a:pPr>
            <a:r>
              <a:rPr lang="en-IN" sz="2400" dirty="0">
                <a:latin typeface="+mn-lt"/>
              </a:rPr>
              <a:t>In Demand paging, pages are only loaded when they are demanded during program execution. Pages that are never accessed are thus never loaded into physical  memory.</a:t>
            </a:r>
          </a:p>
          <a:p>
            <a:pPr marL="0" indent="0" algn="just">
              <a:lnSpc>
                <a:spcPct val="150000"/>
              </a:lnSpc>
              <a:buNone/>
            </a:pPr>
            <a:r>
              <a:rPr lang="en-IN" sz="2400" dirty="0">
                <a:latin typeface="+mn-lt"/>
              </a:rPr>
              <a:t>The pager takes care of swapping pages in and out of the memory.</a:t>
            </a:r>
          </a:p>
          <a:p>
            <a:pPr marL="0" indent="0" algn="just">
              <a:lnSpc>
                <a:spcPct val="150000"/>
              </a:lnSpc>
              <a:buNone/>
            </a:pPr>
            <a:r>
              <a:rPr lang="en-IN" sz="2400" dirty="0">
                <a:latin typeface="+mn-lt"/>
              </a:rPr>
              <a:t>How can the hardware implementation be done to distinguish between pages that are in memory and  the pages that are on the disk?</a:t>
            </a:r>
          </a:p>
        </p:txBody>
      </p:sp>
      <p:sp>
        <p:nvSpPr>
          <p:cNvPr id="2" name="Google Shape;98;g2eff20282af_0_123">
            <a:extLst>
              <a:ext uri="{FF2B5EF4-FFF2-40B4-BE49-F238E27FC236}">
                <a16:creationId xmlns:a16="http://schemas.microsoft.com/office/drawing/2014/main" id="{5F916119-F760-164B-B29C-B769FC85F7EB}"/>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34678971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4F5147-00DD-8564-A176-CAD1FA0B247D}"/>
              </a:ext>
            </a:extLst>
          </p:cNvPr>
          <p:cNvSpPr>
            <a:spLocks noGrp="1"/>
          </p:cNvSpPr>
          <p:nvPr>
            <p:ph idx="1"/>
          </p:nvPr>
        </p:nvSpPr>
        <p:spPr>
          <a:xfrm>
            <a:off x="2590799" y="163286"/>
            <a:ext cx="9416143" cy="6498771"/>
          </a:xfrm>
        </p:spPr>
        <p:txBody>
          <a:bodyPr>
            <a:normAutofit lnSpcReduction="10000"/>
          </a:bodyPr>
          <a:lstStyle/>
          <a:p>
            <a:pPr marL="0" indent="0" algn="just">
              <a:lnSpc>
                <a:spcPct val="150000"/>
              </a:lnSpc>
              <a:buNone/>
            </a:pPr>
            <a:r>
              <a:rPr lang="en-IN" sz="2600" dirty="0">
                <a:latin typeface="+mn-lt"/>
              </a:rPr>
              <a:t>We can make use of the Present/Absent Bit or Valid/Invalid Bit.</a:t>
            </a:r>
          </a:p>
          <a:p>
            <a:pPr marL="0" indent="0" algn="just">
              <a:lnSpc>
                <a:spcPct val="150000"/>
              </a:lnSpc>
              <a:buNone/>
            </a:pPr>
            <a:r>
              <a:rPr lang="en-IN" sz="2600" dirty="0">
                <a:latin typeface="+mn-lt"/>
              </a:rPr>
              <a:t>If the Bit is set to ‘VALID’ – The page is both legal and in memory.</a:t>
            </a:r>
          </a:p>
          <a:p>
            <a:pPr marL="0" indent="0" algn="just">
              <a:lnSpc>
                <a:spcPct val="150000"/>
              </a:lnSpc>
              <a:buNone/>
            </a:pPr>
            <a:r>
              <a:rPr lang="en-IN" sz="2600" dirty="0">
                <a:latin typeface="+mn-lt"/>
              </a:rPr>
              <a:t>If the Bit is set to ‘INVALID’ – The page is either not in the logical address space off the process or is valid but is currently on the disk.</a:t>
            </a:r>
          </a:p>
          <a:p>
            <a:pPr marL="0" indent="0" algn="just">
              <a:lnSpc>
                <a:spcPct val="150000"/>
              </a:lnSpc>
              <a:buNone/>
            </a:pPr>
            <a:r>
              <a:rPr lang="en-US" sz="2600" b="1" dirty="0">
                <a:solidFill>
                  <a:srgbClr val="FF0000"/>
                </a:solidFill>
                <a:effectLst/>
                <a:latin typeface="+mn-lt"/>
                <a:ea typeface="Calibri" panose="020F0502020204030204" pitchFamily="34" charset="0"/>
              </a:rPr>
              <a:t>Page Table Entries</a:t>
            </a:r>
          </a:p>
          <a:p>
            <a:pPr marL="0" indent="0" algn="just">
              <a:lnSpc>
                <a:spcPct val="150000"/>
              </a:lnSpc>
              <a:buNone/>
            </a:pPr>
            <a:r>
              <a:rPr lang="en-US" sz="2600" dirty="0">
                <a:latin typeface="+mn-lt"/>
                <a:ea typeface="Calibri" panose="020F0502020204030204" pitchFamily="34" charset="0"/>
              </a:rPr>
              <a:t>Page Table Entries for pages that are brought to memory. – will be set as usual</a:t>
            </a:r>
          </a:p>
          <a:p>
            <a:pPr marL="0" indent="0" algn="just">
              <a:lnSpc>
                <a:spcPct val="150000"/>
              </a:lnSpc>
              <a:buNone/>
            </a:pPr>
            <a:r>
              <a:rPr lang="en-US" sz="2600" dirty="0">
                <a:latin typeface="+mn-lt"/>
                <a:ea typeface="Calibri" panose="020F0502020204030204" pitchFamily="34" charset="0"/>
              </a:rPr>
              <a:t>P</a:t>
            </a:r>
            <a:r>
              <a:rPr lang="en-US" sz="2600" dirty="0">
                <a:effectLst/>
                <a:latin typeface="+mn-lt"/>
                <a:ea typeface="Calibri" panose="020F0502020204030204" pitchFamily="34" charset="0"/>
              </a:rPr>
              <a:t>age-table entries for a pages that </a:t>
            </a:r>
            <a:r>
              <a:rPr lang="en-US" sz="2600" dirty="0">
                <a:latin typeface="+mn-lt"/>
                <a:ea typeface="Calibri" panose="020F0502020204030204" pitchFamily="34" charset="0"/>
              </a:rPr>
              <a:t>are</a:t>
            </a:r>
            <a:r>
              <a:rPr lang="en-US" sz="2600" dirty="0">
                <a:effectLst/>
                <a:latin typeface="+mn-lt"/>
                <a:ea typeface="Calibri" panose="020F0502020204030204" pitchFamily="34" charset="0"/>
              </a:rPr>
              <a:t> not currently in memory – will be either  marked as  invalid or contains the address of the page on disk. </a:t>
            </a:r>
          </a:p>
          <a:p>
            <a:pPr marL="0" indent="0" algn="just">
              <a:lnSpc>
                <a:spcPct val="150000"/>
              </a:lnSpc>
              <a:buNone/>
            </a:pPr>
            <a:endParaRPr lang="en-IN" sz="2600" dirty="0">
              <a:latin typeface="+mn-lt"/>
            </a:endParaRPr>
          </a:p>
          <a:p>
            <a:endParaRPr lang="en-IN" dirty="0"/>
          </a:p>
        </p:txBody>
      </p:sp>
      <p:sp>
        <p:nvSpPr>
          <p:cNvPr id="2" name="Google Shape;98;g2eff20282af_0_123">
            <a:extLst>
              <a:ext uri="{FF2B5EF4-FFF2-40B4-BE49-F238E27FC236}">
                <a16:creationId xmlns:a16="http://schemas.microsoft.com/office/drawing/2014/main" id="{F10589B0-C1C5-893C-ECD8-2EF9D35E2CD8}"/>
              </a:ext>
            </a:extLst>
          </p:cNvPr>
          <p:cNvSpPr txBox="1"/>
          <p:nvPr/>
        </p:nvSpPr>
        <p:spPr>
          <a:xfrm>
            <a:off x="524064" y="3891899"/>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52016172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EC05D3-4E13-31D3-863F-3E35498E9D50}"/>
              </a:ext>
            </a:extLst>
          </p:cNvPr>
          <p:cNvSpPr>
            <a:spLocks noGrp="1"/>
          </p:cNvSpPr>
          <p:nvPr>
            <p:ph idx="1"/>
          </p:nvPr>
        </p:nvSpPr>
        <p:spPr>
          <a:xfrm>
            <a:off x="2555913" y="99152"/>
            <a:ext cx="9342304" cy="6599103"/>
          </a:xfrm>
        </p:spPr>
        <p:txBody>
          <a:bodyPr/>
          <a:lstStyle/>
          <a:p>
            <a:pPr marL="0" indent="0" algn="just">
              <a:lnSpc>
                <a:spcPct val="149000"/>
              </a:lnSpc>
              <a:spcAft>
                <a:spcPts val="15"/>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
        <p:nvSpPr>
          <p:cNvPr id="10" name="TextBox 9">
            <a:extLst>
              <a:ext uri="{FF2B5EF4-FFF2-40B4-BE49-F238E27FC236}">
                <a16:creationId xmlns:a16="http://schemas.microsoft.com/office/drawing/2014/main" id="{9D5DFC5A-4A16-D2F0-6207-40A085215B4F}"/>
              </a:ext>
            </a:extLst>
          </p:cNvPr>
          <p:cNvSpPr txBox="1"/>
          <p:nvPr/>
        </p:nvSpPr>
        <p:spPr>
          <a:xfrm>
            <a:off x="3635829" y="6351708"/>
            <a:ext cx="6210299" cy="506292"/>
          </a:xfrm>
          <a:prstGeom prst="rect">
            <a:avLst/>
          </a:prstGeom>
          <a:noFill/>
        </p:spPr>
        <p:txBody>
          <a:bodyPr wrap="square">
            <a:spAutoFit/>
          </a:bodyPr>
          <a:lstStyle/>
          <a:p>
            <a:pPr algn="ctr">
              <a:lnSpc>
                <a:spcPct val="150000"/>
              </a:lnSpc>
              <a:spcAft>
                <a:spcPts val="800"/>
              </a:spcAft>
            </a:pPr>
            <a:r>
              <a:rPr lang="en-US" sz="2000" dirty="0">
                <a:effectLst/>
                <a:ea typeface="Calibri" panose="020F0502020204030204" pitchFamily="34" charset="0"/>
                <a:cs typeface="Times New Roman" panose="02020603050405020304" pitchFamily="18" charset="0"/>
              </a:rPr>
              <a:t>Page table when some pages are not in main memory.</a:t>
            </a:r>
            <a:endParaRPr lang="en-IN" sz="2000" dirty="0">
              <a:effectLst/>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C64A4450-D390-ADCE-BDD6-4114CC19CE8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05760" y="426720"/>
            <a:ext cx="8992457" cy="5924987"/>
          </a:xfrm>
          <a:prstGeom prst="rect">
            <a:avLst/>
          </a:prstGeom>
          <a:noFill/>
          <a:ln>
            <a:noFill/>
          </a:ln>
        </p:spPr>
      </p:pic>
      <p:sp>
        <p:nvSpPr>
          <p:cNvPr id="4" name="Google Shape;98;g2eff20282af_0_123">
            <a:extLst>
              <a:ext uri="{FF2B5EF4-FFF2-40B4-BE49-F238E27FC236}">
                <a16:creationId xmlns:a16="http://schemas.microsoft.com/office/drawing/2014/main" id="{3BC331E3-F113-D3D6-455A-0421ACEB1D74}"/>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65923089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2B0D53-AEEC-AB75-9E1C-FE2AEA51BD7A}"/>
              </a:ext>
            </a:extLst>
          </p:cNvPr>
          <p:cNvSpPr>
            <a:spLocks noGrp="1"/>
          </p:cNvSpPr>
          <p:nvPr>
            <p:ph idx="1"/>
          </p:nvPr>
        </p:nvSpPr>
        <p:spPr>
          <a:xfrm>
            <a:off x="2555913" y="154236"/>
            <a:ext cx="9452473" cy="6599104"/>
          </a:xfrm>
        </p:spPr>
        <p:txBody>
          <a:bodyPr>
            <a:normAutofit/>
          </a:bodyPr>
          <a:lstStyle/>
          <a:p>
            <a:pPr marL="0" indent="0" algn="ctr">
              <a:lnSpc>
                <a:spcPct val="150000"/>
              </a:lnSpc>
              <a:buNone/>
            </a:pPr>
            <a:r>
              <a:rPr lang="en-IN" sz="2400" b="1" dirty="0">
                <a:solidFill>
                  <a:srgbClr val="FF0000"/>
                </a:solidFill>
                <a:latin typeface="+mn-lt"/>
              </a:rPr>
              <a:t>Page Fault</a:t>
            </a:r>
          </a:p>
          <a:p>
            <a:pPr marL="0" indent="0" algn="just">
              <a:lnSpc>
                <a:spcPct val="150000"/>
              </a:lnSpc>
              <a:buNone/>
            </a:pPr>
            <a:r>
              <a:rPr lang="en-US" sz="2400" dirty="0">
                <a:latin typeface="+mn-lt"/>
                <a:ea typeface="Calibri" panose="020F0502020204030204" pitchFamily="34" charset="0"/>
                <a:cs typeface="Times New Roman" panose="02020603050405020304" pitchFamily="18" charset="0"/>
              </a:rPr>
              <a:t>W</a:t>
            </a:r>
            <a:r>
              <a:rPr lang="en-US" sz="2400" dirty="0">
                <a:effectLst/>
                <a:latin typeface="+mn-lt"/>
                <a:ea typeface="Calibri" panose="020F0502020204030204" pitchFamily="34" charset="0"/>
                <a:cs typeface="Times New Roman" panose="02020603050405020304" pitchFamily="18" charset="0"/>
              </a:rPr>
              <a:t>hat would  happen if a process tries to access a page that is not present in memory? </a:t>
            </a:r>
          </a:p>
          <a:p>
            <a:pPr marL="0" indent="0" algn="just">
              <a:lnSpc>
                <a:spcPct val="150000"/>
              </a:lnSpc>
              <a:buNone/>
            </a:pPr>
            <a:r>
              <a:rPr lang="en-US" sz="2400" b="1" dirty="0">
                <a:latin typeface="+mn-lt"/>
                <a:ea typeface="Calibri" panose="020F0502020204030204" pitchFamily="34" charset="0"/>
                <a:cs typeface="Times New Roman" panose="02020603050405020304" pitchFamily="18" charset="0"/>
              </a:rPr>
              <a:t>This scenario is known as a page fault</a:t>
            </a:r>
          </a:p>
          <a:p>
            <a:pPr marL="0" indent="0" algn="just">
              <a:lnSpc>
                <a:spcPct val="150000"/>
              </a:lnSpc>
              <a:buNone/>
            </a:pPr>
            <a:r>
              <a:rPr lang="en-US" sz="2400" dirty="0">
                <a:latin typeface="+mn-lt"/>
                <a:ea typeface="Calibri" panose="020F0502020204030204" pitchFamily="34" charset="0"/>
                <a:cs typeface="Times New Roman" panose="02020603050405020304" pitchFamily="18" charset="0"/>
              </a:rPr>
              <a:t>Access to a page marked invalid causes a page fault trap.</a:t>
            </a:r>
          </a:p>
          <a:p>
            <a:pPr marL="0" indent="0" algn="just">
              <a:lnSpc>
                <a:spcPct val="150000"/>
              </a:lnSpc>
              <a:buNone/>
            </a:pPr>
            <a:r>
              <a:rPr lang="en-US" sz="2400" dirty="0">
                <a:latin typeface="+mn-lt"/>
                <a:ea typeface="Calibri" panose="020F0502020204030204" pitchFamily="34" charset="0"/>
                <a:cs typeface="Times New Roman" panose="02020603050405020304" pitchFamily="18" charset="0"/>
              </a:rPr>
              <a:t>The paging hardware, in translating the address through the page table, will notice that the invalid bit is set, causing a trap to the OS.</a:t>
            </a:r>
          </a:p>
          <a:p>
            <a:pPr marL="0" indent="0" algn="just">
              <a:lnSpc>
                <a:spcPct val="150000"/>
              </a:lnSpc>
              <a:buNone/>
            </a:pPr>
            <a:endParaRPr lang="en-US" sz="2000" dirty="0">
              <a:latin typeface="+mn-lt"/>
              <a:ea typeface="Calibri" panose="020F0502020204030204" pitchFamily="34" charset="0"/>
              <a:cs typeface="Times New Roman" panose="02020603050405020304" pitchFamily="18" charset="0"/>
            </a:endParaRPr>
          </a:p>
          <a:p>
            <a:pPr marL="0" indent="0" algn="just">
              <a:lnSpc>
                <a:spcPct val="150000"/>
              </a:lnSpc>
              <a:buNone/>
            </a:pPr>
            <a:endParaRPr lang="en-IN" sz="2400" dirty="0">
              <a:latin typeface="+mn-lt"/>
            </a:endParaRPr>
          </a:p>
        </p:txBody>
      </p:sp>
      <p:sp>
        <p:nvSpPr>
          <p:cNvPr id="2" name="Google Shape;98;g2eff20282af_0_123">
            <a:extLst>
              <a:ext uri="{FF2B5EF4-FFF2-40B4-BE49-F238E27FC236}">
                <a16:creationId xmlns:a16="http://schemas.microsoft.com/office/drawing/2014/main" id="{55322BB5-3EF8-ED87-3F57-FE0FFF7EEC49}"/>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1577328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87BFA0-F150-084B-AEA8-C7460330E9E7}"/>
              </a:ext>
            </a:extLst>
          </p:cNvPr>
          <p:cNvSpPr>
            <a:spLocks noGrp="1"/>
          </p:cNvSpPr>
          <p:nvPr>
            <p:ph idx="1"/>
          </p:nvPr>
        </p:nvSpPr>
        <p:spPr>
          <a:xfrm>
            <a:off x="2601686" y="108857"/>
            <a:ext cx="9274628" cy="6553200"/>
          </a:xfrm>
        </p:spPr>
        <p:txBody>
          <a:bodyPr/>
          <a:lstStyle/>
          <a:p>
            <a:pPr marL="0" indent="0" algn="just">
              <a:lnSpc>
                <a:spcPct val="150000"/>
              </a:lnSpc>
              <a:buNone/>
            </a:pPr>
            <a:r>
              <a:rPr lang="en-US" sz="2400" dirty="0">
                <a:solidFill>
                  <a:srgbClr val="0000FF"/>
                </a:solidFill>
                <a:latin typeface="+mn-lt"/>
                <a:ea typeface="Calibri" panose="020F0502020204030204" pitchFamily="34" charset="0"/>
                <a:cs typeface="Times New Roman" panose="02020603050405020304" pitchFamily="18" charset="0"/>
              </a:rPr>
              <a:t>A page fault may occur at any memory reference</a:t>
            </a:r>
          </a:p>
          <a:p>
            <a:pPr marL="0" indent="0" algn="just">
              <a:lnSpc>
                <a:spcPct val="150000"/>
              </a:lnSpc>
              <a:buNone/>
            </a:pPr>
            <a:r>
              <a:rPr lang="en-US" sz="2400" dirty="0">
                <a:latin typeface="+mn-lt"/>
                <a:ea typeface="Calibri" panose="020F0502020204030204" pitchFamily="34" charset="0"/>
                <a:cs typeface="Times New Roman" panose="02020603050405020304" pitchFamily="18" charset="0"/>
              </a:rPr>
              <a:t>If the page fault occurs on the instruction fetch, we can restart by fetching the instruction again.</a:t>
            </a:r>
          </a:p>
          <a:p>
            <a:pPr marL="0" indent="0" algn="just">
              <a:lnSpc>
                <a:spcPct val="150000"/>
              </a:lnSpc>
              <a:buNone/>
            </a:pPr>
            <a:r>
              <a:rPr lang="en-US" sz="2400" dirty="0">
                <a:latin typeface="+mn-lt"/>
                <a:ea typeface="Calibri" panose="020F0502020204030204" pitchFamily="34" charset="0"/>
                <a:cs typeface="Times New Roman" panose="02020603050405020304" pitchFamily="18" charset="0"/>
              </a:rPr>
              <a:t>If a page fault occurs while we are fetching on operand, we must fetch and decode the instruction again and then fetch the operand. </a:t>
            </a:r>
          </a:p>
          <a:p>
            <a:endParaRPr lang="en-IN" dirty="0"/>
          </a:p>
        </p:txBody>
      </p:sp>
      <p:sp>
        <p:nvSpPr>
          <p:cNvPr id="2" name="Google Shape;98;g2eff20282af_0_123">
            <a:extLst>
              <a:ext uri="{FF2B5EF4-FFF2-40B4-BE49-F238E27FC236}">
                <a16:creationId xmlns:a16="http://schemas.microsoft.com/office/drawing/2014/main" id="{F6F8EE8D-C134-D5D5-878D-95EA2ED6EC67}"/>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58122166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8F5360C-0F93-F4D4-8A9C-8C6BE0F35557}"/>
              </a:ext>
            </a:extLst>
          </p:cNvPr>
          <p:cNvSpPr>
            <a:spLocks noGrp="1"/>
          </p:cNvSpPr>
          <p:nvPr>
            <p:ph idx="1"/>
          </p:nvPr>
        </p:nvSpPr>
        <p:spPr>
          <a:xfrm>
            <a:off x="2555913" y="121186"/>
            <a:ext cx="9452473" cy="6643171"/>
          </a:xfrm>
        </p:spPr>
        <p:txBody>
          <a:bodyPr>
            <a:normAutofit/>
          </a:bodyPr>
          <a:lstStyle/>
          <a:p>
            <a:pPr marL="0" indent="0" algn="just">
              <a:lnSpc>
                <a:spcPct val="150000"/>
              </a:lnSpc>
              <a:buNone/>
            </a:pPr>
            <a:r>
              <a:rPr lang="en-IN" sz="2400" dirty="0">
                <a:solidFill>
                  <a:srgbClr val="0000FF"/>
                </a:solidFill>
                <a:latin typeface="+mn-lt"/>
              </a:rPr>
              <a:t>Consider a three address instruction for adding the contents of A to B and placing the result in C</a:t>
            </a:r>
          </a:p>
          <a:p>
            <a:pPr marL="457200" indent="-457200" algn="just">
              <a:lnSpc>
                <a:spcPct val="150000"/>
              </a:lnSpc>
              <a:buAutoNum type="arabicPeriod"/>
            </a:pPr>
            <a:r>
              <a:rPr lang="en-IN" sz="2400" dirty="0">
                <a:latin typeface="+mn-lt"/>
              </a:rPr>
              <a:t>Fetch and decode the instruction(ADD)</a:t>
            </a:r>
          </a:p>
          <a:p>
            <a:pPr marL="457200" indent="-457200" algn="just">
              <a:lnSpc>
                <a:spcPct val="150000"/>
              </a:lnSpc>
              <a:buAutoNum type="arabicPeriod"/>
            </a:pPr>
            <a:r>
              <a:rPr lang="en-IN" sz="2400" dirty="0">
                <a:latin typeface="+mn-lt"/>
              </a:rPr>
              <a:t>Fetch A</a:t>
            </a:r>
          </a:p>
          <a:p>
            <a:pPr marL="457200" indent="-457200" algn="just">
              <a:lnSpc>
                <a:spcPct val="150000"/>
              </a:lnSpc>
              <a:buAutoNum type="arabicPeriod"/>
            </a:pPr>
            <a:r>
              <a:rPr lang="en-IN" sz="2400" dirty="0">
                <a:latin typeface="+mn-lt"/>
              </a:rPr>
              <a:t>Fetch B</a:t>
            </a:r>
          </a:p>
          <a:p>
            <a:pPr marL="457200" indent="-457200" algn="just">
              <a:lnSpc>
                <a:spcPct val="150000"/>
              </a:lnSpc>
              <a:buAutoNum type="arabicPeriod"/>
            </a:pPr>
            <a:r>
              <a:rPr lang="en-IN" sz="2400" dirty="0">
                <a:latin typeface="+mn-lt"/>
              </a:rPr>
              <a:t>Add A and B</a:t>
            </a:r>
          </a:p>
          <a:p>
            <a:pPr marL="457200" indent="-457200" algn="just">
              <a:lnSpc>
                <a:spcPct val="150000"/>
              </a:lnSpc>
              <a:buAutoNum type="arabicPeriod"/>
            </a:pPr>
            <a:r>
              <a:rPr lang="en-IN" sz="2400" dirty="0">
                <a:latin typeface="+mn-lt"/>
              </a:rPr>
              <a:t>Store the sum in C.</a:t>
            </a:r>
          </a:p>
          <a:p>
            <a:pPr marL="0" indent="0" algn="just">
              <a:lnSpc>
                <a:spcPct val="150000"/>
              </a:lnSpc>
              <a:buNone/>
            </a:pPr>
            <a:r>
              <a:rPr lang="en-IN" sz="2400" dirty="0">
                <a:latin typeface="+mn-lt"/>
              </a:rPr>
              <a:t>Assume that C is a page which is not yet present in memory.</a:t>
            </a:r>
          </a:p>
          <a:p>
            <a:pPr marL="0" indent="0" algn="just">
              <a:lnSpc>
                <a:spcPct val="150000"/>
              </a:lnSpc>
              <a:buNone/>
            </a:pPr>
            <a:r>
              <a:rPr lang="en-IN" sz="2400" dirty="0">
                <a:latin typeface="+mn-lt"/>
              </a:rPr>
              <a:t>Then a page fault will occur when trying to store the sum in C.</a:t>
            </a:r>
          </a:p>
        </p:txBody>
      </p:sp>
      <p:sp>
        <p:nvSpPr>
          <p:cNvPr id="3" name="Google Shape;98;g2eff20282af_0_123">
            <a:extLst>
              <a:ext uri="{FF2B5EF4-FFF2-40B4-BE49-F238E27FC236}">
                <a16:creationId xmlns:a16="http://schemas.microsoft.com/office/drawing/2014/main" id="{E65A4156-143B-4724-550B-C5F554681BDF}"/>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81103786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5B71F9-4B1C-B71A-588B-1064ED60398F}"/>
              </a:ext>
            </a:extLst>
          </p:cNvPr>
          <p:cNvSpPr>
            <a:spLocks noGrp="1"/>
          </p:cNvSpPr>
          <p:nvPr>
            <p:ph idx="1"/>
          </p:nvPr>
        </p:nvSpPr>
        <p:spPr>
          <a:xfrm>
            <a:off x="2522863" y="77118"/>
            <a:ext cx="9518573" cy="6599104"/>
          </a:xfrm>
        </p:spPr>
        <p:txBody>
          <a:bodyPr>
            <a:normAutofit/>
          </a:bodyPr>
          <a:lstStyle/>
          <a:p>
            <a:pPr marL="0" indent="0" algn="just">
              <a:lnSpc>
                <a:spcPct val="150000"/>
              </a:lnSpc>
              <a:buNone/>
            </a:pPr>
            <a:r>
              <a:rPr lang="en-IN" sz="2400" dirty="0">
                <a:latin typeface="+mn-lt"/>
              </a:rPr>
              <a:t>In this case, we have to get the desired page, bring it into memory, correct the page table and restart the instruction.</a:t>
            </a:r>
          </a:p>
          <a:p>
            <a:pPr marL="0" indent="0" algn="just">
              <a:lnSpc>
                <a:spcPct val="150000"/>
              </a:lnSpc>
              <a:buNone/>
            </a:pPr>
            <a:r>
              <a:rPr lang="en-IN" sz="2400" dirty="0">
                <a:latin typeface="+mn-lt"/>
              </a:rPr>
              <a:t>While restarting we have to</a:t>
            </a:r>
          </a:p>
          <a:p>
            <a:pPr marL="457200" indent="-457200" algn="just">
              <a:lnSpc>
                <a:spcPct val="150000"/>
              </a:lnSpc>
              <a:buAutoNum type="arabicPeriod"/>
            </a:pPr>
            <a:r>
              <a:rPr lang="en-IN" sz="2400" dirty="0">
                <a:latin typeface="+mn-lt"/>
              </a:rPr>
              <a:t>Fetch the instruction again</a:t>
            </a:r>
          </a:p>
          <a:p>
            <a:pPr marL="457200" indent="-457200" algn="just">
              <a:lnSpc>
                <a:spcPct val="150000"/>
              </a:lnSpc>
              <a:buAutoNum type="arabicPeriod"/>
            </a:pPr>
            <a:r>
              <a:rPr lang="en-IN" sz="2400" dirty="0">
                <a:latin typeface="+mn-lt"/>
              </a:rPr>
              <a:t>Decode it again</a:t>
            </a:r>
          </a:p>
          <a:p>
            <a:pPr marL="457200" indent="-457200" algn="just">
              <a:lnSpc>
                <a:spcPct val="150000"/>
              </a:lnSpc>
              <a:buAutoNum type="arabicPeriod"/>
            </a:pPr>
            <a:r>
              <a:rPr lang="en-IN" sz="2400" dirty="0">
                <a:latin typeface="+mn-lt"/>
              </a:rPr>
              <a:t>Fetch the 2 operands A and B again</a:t>
            </a:r>
          </a:p>
          <a:p>
            <a:pPr marL="457200" indent="-457200" algn="just">
              <a:lnSpc>
                <a:spcPct val="150000"/>
              </a:lnSpc>
              <a:buAutoNum type="arabicPeriod"/>
            </a:pPr>
            <a:r>
              <a:rPr lang="en-IN" sz="2400" dirty="0">
                <a:latin typeface="+mn-lt"/>
              </a:rPr>
              <a:t>Perform the addition again and</a:t>
            </a:r>
          </a:p>
          <a:p>
            <a:pPr marL="457200" indent="-457200" algn="just">
              <a:lnSpc>
                <a:spcPct val="150000"/>
              </a:lnSpc>
              <a:buAutoNum type="arabicPeriod"/>
            </a:pPr>
            <a:r>
              <a:rPr lang="en-IN" sz="2400" dirty="0">
                <a:latin typeface="+mn-lt"/>
              </a:rPr>
              <a:t>Store the sum in C</a:t>
            </a:r>
          </a:p>
          <a:p>
            <a:pPr marL="0" indent="0" algn="just">
              <a:lnSpc>
                <a:spcPct val="150000"/>
              </a:lnSpc>
              <a:buNone/>
            </a:pPr>
            <a:endParaRPr lang="en-IN" sz="2400" dirty="0">
              <a:latin typeface="+mn-lt"/>
            </a:endParaRPr>
          </a:p>
        </p:txBody>
      </p:sp>
      <p:sp>
        <p:nvSpPr>
          <p:cNvPr id="2" name="Google Shape;98;g2eff20282af_0_123">
            <a:extLst>
              <a:ext uri="{FF2B5EF4-FFF2-40B4-BE49-F238E27FC236}">
                <a16:creationId xmlns:a16="http://schemas.microsoft.com/office/drawing/2014/main" id="{385BC8BA-C9F8-B676-9026-2D3FEA6B01F0}"/>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46125333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52FC12-8DDB-7D6C-225B-B6957A6A4889}"/>
              </a:ext>
            </a:extLst>
          </p:cNvPr>
          <p:cNvSpPr>
            <a:spLocks noGrp="1"/>
          </p:cNvSpPr>
          <p:nvPr>
            <p:ph idx="1"/>
          </p:nvPr>
        </p:nvSpPr>
        <p:spPr>
          <a:xfrm>
            <a:off x="2544896" y="187287"/>
            <a:ext cx="9441456" cy="6555036"/>
          </a:xfrm>
        </p:spPr>
        <p:txBody>
          <a:bodyPr>
            <a:normAutofit/>
          </a:bodyPr>
          <a:lstStyle/>
          <a:p>
            <a:pPr marL="0" indent="0" algn="just">
              <a:lnSpc>
                <a:spcPct val="150000"/>
              </a:lnSpc>
              <a:spcAft>
                <a:spcPts val="800"/>
              </a:spcAft>
              <a:buNone/>
            </a:pPr>
            <a:r>
              <a:rPr lang="en-US" sz="2400" dirty="0">
                <a:solidFill>
                  <a:srgbClr val="0000FF"/>
                </a:solidFill>
                <a:effectLst/>
                <a:latin typeface="+mn-lt"/>
                <a:ea typeface="Calibri" panose="020F0502020204030204" pitchFamily="34" charset="0"/>
                <a:cs typeface="Times New Roman" panose="02020603050405020304" pitchFamily="18" charset="0"/>
              </a:rPr>
              <a:t>The procedure for handling this page faults</a:t>
            </a:r>
            <a:endParaRPr lang="en-IN" sz="2400" dirty="0">
              <a:solidFill>
                <a:srgbClr val="0000FF"/>
              </a:solidFill>
              <a:effectLst/>
              <a:latin typeface="+mn-lt"/>
              <a:ea typeface="Calibri" panose="020F0502020204030204" pitchFamily="34" charset="0"/>
              <a:cs typeface="Times New Roman" panose="02020603050405020304" pitchFamily="18" charset="0"/>
            </a:endParaRPr>
          </a:p>
          <a:p>
            <a:pPr marL="457200" lvl="0" indent="-457200" algn="just">
              <a:lnSpc>
                <a:spcPct val="150000"/>
              </a:lnSpc>
              <a:buAutoNum type="arabicPeriod"/>
            </a:pPr>
            <a:r>
              <a:rPr lang="en-US" sz="2400" dirty="0">
                <a:solidFill>
                  <a:srgbClr val="000000"/>
                </a:solidFill>
                <a:effectLst/>
                <a:latin typeface="+mn-lt"/>
                <a:ea typeface="Cambria" panose="02040503050406030204" pitchFamily="18" charset="0"/>
                <a:cs typeface="Cambria" panose="02040503050406030204" pitchFamily="18" charset="0"/>
              </a:rPr>
              <a:t>We check an internal table (usually kept with the process control block) for this process to determine whether the reference was a valid or an invalid memory access.</a:t>
            </a:r>
          </a:p>
          <a:p>
            <a:pPr marL="457200" lvl="0" indent="-457200" algn="just">
              <a:lnSpc>
                <a:spcPct val="150000"/>
              </a:lnSpc>
              <a:buAutoNum type="arabicPeriod"/>
            </a:pPr>
            <a:r>
              <a:rPr lang="en-US" sz="2400" dirty="0">
                <a:solidFill>
                  <a:srgbClr val="000000"/>
                </a:solidFill>
                <a:effectLst/>
                <a:latin typeface="+mn-lt"/>
                <a:ea typeface="Cambria" panose="02040503050406030204" pitchFamily="18" charset="0"/>
                <a:cs typeface="Cambria" panose="02040503050406030204" pitchFamily="18" charset="0"/>
              </a:rPr>
              <a:t> If the reference was invalid, we terminate the process. </a:t>
            </a:r>
          </a:p>
          <a:p>
            <a:pPr marL="457200" lvl="0" indent="-457200" algn="just">
              <a:lnSpc>
                <a:spcPct val="150000"/>
              </a:lnSpc>
              <a:buAutoNum type="arabicPeriod"/>
            </a:pPr>
            <a:r>
              <a:rPr lang="en-US" sz="2400" dirty="0">
                <a:solidFill>
                  <a:srgbClr val="000000"/>
                </a:solidFill>
                <a:effectLst/>
                <a:latin typeface="+mn-lt"/>
                <a:ea typeface="Cambria" panose="02040503050406030204" pitchFamily="18" charset="0"/>
                <a:cs typeface="Cambria" panose="02040503050406030204" pitchFamily="18" charset="0"/>
              </a:rPr>
              <a:t>If it was valid, but we have not yet brought in that page, we now page it in.</a:t>
            </a:r>
          </a:p>
          <a:p>
            <a:pPr marL="457200" lvl="0" indent="-457200" algn="just">
              <a:lnSpc>
                <a:spcPct val="150000"/>
              </a:lnSpc>
              <a:buAutoNum type="arabicPeriod"/>
            </a:pPr>
            <a:r>
              <a:rPr lang="en-US" sz="2400" dirty="0">
                <a:solidFill>
                  <a:srgbClr val="000000"/>
                </a:solidFill>
                <a:effectLst/>
                <a:latin typeface="+mn-lt"/>
                <a:ea typeface="Cambria" panose="02040503050406030204" pitchFamily="18" charset="0"/>
                <a:cs typeface="Cambria" panose="02040503050406030204" pitchFamily="18" charset="0"/>
              </a:rPr>
              <a:t>We find a free frame (by taking one from the free-frame list, for example).</a:t>
            </a:r>
            <a:endParaRPr lang="en-IN" sz="2400" dirty="0">
              <a:solidFill>
                <a:srgbClr val="000000"/>
              </a:solidFill>
              <a:latin typeface="+mn-lt"/>
              <a:ea typeface="Cambria" panose="02040503050406030204" pitchFamily="18" charset="0"/>
              <a:cs typeface="Cambria" panose="02040503050406030204" pitchFamily="18" charset="0"/>
            </a:endParaRPr>
          </a:p>
          <a:p>
            <a:pPr marL="0" indent="0">
              <a:buNone/>
            </a:pPr>
            <a:endParaRPr lang="en-IN" sz="2000" dirty="0">
              <a:latin typeface="+mn-lt"/>
            </a:endParaRPr>
          </a:p>
        </p:txBody>
      </p:sp>
      <p:sp>
        <p:nvSpPr>
          <p:cNvPr id="2" name="Google Shape;98;g2eff20282af_0_123">
            <a:extLst>
              <a:ext uri="{FF2B5EF4-FFF2-40B4-BE49-F238E27FC236}">
                <a16:creationId xmlns:a16="http://schemas.microsoft.com/office/drawing/2014/main" id="{8B5DE5B6-4222-AB37-E0D9-BEF88AA10AB7}"/>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50154105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099CA3-2D81-2952-A16B-10374A403855}"/>
              </a:ext>
            </a:extLst>
          </p:cNvPr>
          <p:cNvSpPr>
            <a:spLocks noGrp="1"/>
          </p:cNvSpPr>
          <p:nvPr>
            <p:ph idx="1"/>
          </p:nvPr>
        </p:nvSpPr>
        <p:spPr>
          <a:xfrm>
            <a:off x="2590800" y="141514"/>
            <a:ext cx="9437914" cy="6531429"/>
          </a:xfrm>
        </p:spPr>
        <p:txBody>
          <a:bodyPr/>
          <a:lstStyle/>
          <a:p>
            <a:pPr marL="0" lvl="0" indent="0" algn="just">
              <a:lnSpc>
                <a:spcPct val="150000"/>
              </a:lnSpc>
              <a:buNone/>
            </a:pPr>
            <a:r>
              <a:rPr lang="en-US" sz="2400" dirty="0">
                <a:solidFill>
                  <a:srgbClr val="000000"/>
                </a:solidFill>
                <a:effectLst/>
                <a:latin typeface="+mn-lt"/>
                <a:ea typeface="Cambria" panose="02040503050406030204" pitchFamily="18" charset="0"/>
                <a:cs typeface="Cambria" panose="02040503050406030204" pitchFamily="18" charset="0"/>
              </a:rPr>
              <a:t>5. We schedule a disk operation to read the desired page into the newly allocated frame.</a:t>
            </a:r>
          </a:p>
          <a:p>
            <a:pPr marL="0" lvl="0" indent="0" algn="just">
              <a:lnSpc>
                <a:spcPct val="150000"/>
              </a:lnSpc>
              <a:buNone/>
            </a:pPr>
            <a:r>
              <a:rPr lang="en-US" sz="2400" dirty="0">
                <a:solidFill>
                  <a:srgbClr val="000000"/>
                </a:solidFill>
                <a:latin typeface="+mn-lt"/>
                <a:ea typeface="Cambria" panose="02040503050406030204" pitchFamily="18" charset="0"/>
                <a:cs typeface="Cambria" panose="02040503050406030204" pitchFamily="18" charset="0"/>
              </a:rPr>
              <a:t>6. </a:t>
            </a:r>
            <a:r>
              <a:rPr lang="en-US" sz="2400" dirty="0">
                <a:solidFill>
                  <a:srgbClr val="000000"/>
                </a:solidFill>
                <a:effectLst/>
                <a:latin typeface="+mn-lt"/>
                <a:ea typeface="Cambria" panose="02040503050406030204" pitchFamily="18" charset="0"/>
                <a:cs typeface="Cambria" panose="02040503050406030204" pitchFamily="18" charset="0"/>
              </a:rPr>
              <a:t>When the disk read is complete, we modify the internal table kept with the process and the page table to indicate that the page is now in memory. </a:t>
            </a:r>
          </a:p>
          <a:p>
            <a:pPr marL="0" lvl="0" indent="0" algn="just">
              <a:lnSpc>
                <a:spcPct val="150000"/>
              </a:lnSpc>
              <a:buNone/>
            </a:pPr>
            <a:r>
              <a:rPr lang="en-US" sz="2400" dirty="0">
                <a:solidFill>
                  <a:srgbClr val="000000"/>
                </a:solidFill>
                <a:effectLst/>
                <a:latin typeface="+mn-lt"/>
                <a:ea typeface="Cambria" panose="02040503050406030204" pitchFamily="18" charset="0"/>
                <a:cs typeface="Cambria" panose="02040503050406030204" pitchFamily="18" charset="0"/>
              </a:rPr>
              <a:t>7. We restart the instruction that was interrupted by the trap. </a:t>
            </a:r>
          </a:p>
          <a:p>
            <a:pPr marL="0" lvl="0" indent="0" algn="just">
              <a:lnSpc>
                <a:spcPct val="150000"/>
              </a:lnSpc>
              <a:buNone/>
            </a:pPr>
            <a:r>
              <a:rPr lang="en-US" sz="2400" b="1" dirty="0">
                <a:solidFill>
                  <a:srgbClr val="000000"/>
                </a:solidFill>
                <a:effectLst/>
                <a:latin typeface="+mn-lt"/>
                <a:ea typeface="Cambria" panose="02040503050406030204" pitchFamily="18" charset="0"/>
                <a:cs typeface="Cambria" panose="02040503050406030204" pitchFamily="18" charset="0"/>
              </a:rPr>
              <a:t>The process can now access the page as though it had always been in memory.</a:t>
            </a:r>
            <a:endParaRPr lang="en-IN" sz="2400" b="1" dirty="0">
              <a:solidFill>
                <a:srgbClr val="000000"/>
              </a:solidFill>
              <a:effectLst/>
              <a:latin typeface="+mn-lt"/>
              <a:ea typeface="Cambria" panose="02040503050406030204" pitchFamily="18" charset="0"/>
              <a:cs typeface="Cambria" panose="02040503050406030204" pitchFamily="18" charset="0"/>
            </a:endParaRPr>
          </a:p>
          <a:p>
            <a:pPr marL="0" indent="0">
              <a:buNone/>
            </a:pPr>
            <a:endParaRPr lang="en-IN" dirty="0"/>
          </a:p>
        </p:txBody>
      </p:sp>
      <p:sp>
        <p:nvSpPr>
          <p:cNvPr id="2" name="Google Shape;98;g2eff20282af_0_123">
            <a:extLst>
              <a:ext uri="{FF2B5EF4-FFF2-40B4-BE49-F238E27FC236}">
                <a16:creationId xmlns:a16="http://schemas.microsoft.com/office/drawing/2014/main" id="{DB346E88-6A31-B0D4-43D3-50F7B1E2C26C}"/>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5526510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4BC1BFC-D63C-D2FB-A5C9-15DE9B47C912}"/>
              </a:ext>
            </a:extLst>
          </p:cNvPr>
          <p:cNvSpPr txBox="1"/>
          <p:nvPr/>
        </p:nvSpPr>
        <p:spPr>
          <a:xfrm>
            <a:off x="3826330" y="6267000"/>
            <a:ext cx="6106884" cy="400110"/>
          </a:xfrm>
          <a:prstGeom prst="rect">
            <a:avLst/>
          </a:prstGeom>
          <a:noFill/>
        </p:spPr>
        <p:txBody>
          <a:bodyPr wrap="square">
            <a:spAutoFit/>
          </a:bodyPr>
          <a:lstStyle/>
          <a:p>
            <a:pPr algn="ctr"/>
            <a:r>
              <a:rPr lang="en-US" sz="2000" dirty="0">
                <a:ea typeface="Calibri" panose="020F0502020204030204" pitchFamily="34" charset="0"/>
              </a:rPr>
              <a:t>H</a:t>
            </a:r>
            <a:r>
              <a:rPr lang="en-US" sz="2000" dirty="0">
                <a:effectLst/>
                <a:ea typeface="Calibri" panose="020F0502020204030204" pitchFamily="34" charset="0"/>
              </a:rPr>
              <a:t>andling a page fault.</a:t>
            </a:r>
            <a:endParaRPr lang="en-IN" sz="2000" dirty="0"/>
          </a:p>
        </p:txBody>
      </p:sp>
      <p:pic>
        <p:nvPicPr>
          <p:cNvPr id="2" name="Picture 1">
            <a:extLst>
              <a:ext uri="{FF2B5EF4-FFF2-40B4-BE49-F238E27FC236}">
                <a16:creationId xmlns:a16="http://schemas.microsoft.com/office/drawing/2014/main" id="{E42C70CF-4E59-730D-54FB-AC3CE1A61EE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83840" y="497840"/>
            <a:ext cx="9052560" cy="5527040"/>
          </a:xfrm>
          <a:prstGeom prst="rect">
            <a:avLst/>
          </a:prstGeom>
          <a:noFill/>
          <a:ln>
            <a:noFill/>
          </a:ln>
        </p:spPr>
      </p:pic>
      <p:sp>
        <p:nvSpPr>
          <p:cNvPr id="3" name="Google Shape;98;g2eff20282af_0_123">
            <a:extLst>
              <a:ext uri="{FF2B5EF4-FFF2-40B4-BE49-F238E27FC236}">
                <a16:creationId xmlns:a16="http://schemas.microsoft.com/office/drawing/2014/main" id="{933061B5-B50E-F81E-B2B9-4EC224D7CF57}"/>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24424273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A6BD3D-503B-CC82-A3CA-F3F719AF9CE8}"/>
              </a:ext>
            </a:extLst>
          </p:cNvPr>
          <p:cNvSpPr>
            <a:spLocks noGrp="1"/>
          </p:cNvSpPr>
          <p:nvPr>
            <p:ph idx="1"/>
          </p:nvPr>
        </p:nvSpPr>
        <p:spPr>
          <a:xfrm>
            <a:off x="2577947" y="143219"/>
            <a:ext cx="9474506" cy="6599104"/>
          </a:xfrm>
        </p:spPr>
        <p:txBody>
          <a:bodyPr>
            <a:normAutofit/>
          </a:bodyPr>
          <a:lstStyle/>
          <a:p>
            <a:pPr marL="0" indent="0" algn="ctr">
              <a:buNone/>
            </a:pPr>
            <a:r>
              <a:rPr lang="en-IN" sz="2400" b="1" dirty="0">
                <a:solidFill>
                  <a:srgbClr val="FF0000"/>
                </a:solidFill>
                <a:latin typeface="+mn-lt"/>
              </a:rPr>
              <a:t>Performance of Demand Paging</a:t>
            </a:r>
          </a:p>
          <a:p>
            <a:pPr marL="0" indent="0" algn="just">
              <a:lnSpc>
                <a:spcPct val="150000"/>
              </a:lnSpc>
              <a:buNone/>
            </a:pPr>
            <a:r>
              <a:rPr lang="en-IN" sz="2400" dirty="0">
                <a:latin typeface="+mn-lt"/>
              </a:rPr>
              <a:t>A computer system’s performance can be significantly affected by Demand Paging.</a:t>
            </a:r>
          </a:p>
          <a:p>
            <a:pPr marL="0" indent="0" algn="just">
              <a:lnSpc>
                <a:spcPct val="150000"/>
              </a:lnSpc>
              <a:buNone/>
            </a:pPr>
            <a:r>
              <a:rPr lang="en-IN" sz="2400" dirty="0">
                <a:latin typeface="+mn-lt"/>
              </a:rPr>
              <a:t>Let us see how, by taking a look at the Effective Access Time.</a:t>
            </a:r>
          </a:p>
          <a:p>
            <a:pPr marL="0" indent="0" algn="just">
              <a:lnSpc>
                <a:spcPct val="150000"/>
              </a:lnSpc>
              <a:buNone/>
            </a:pPr>
            <a:r>
              <a:rPr lang="en-IN" sz="2400" dirty="0">
                <a:latin typeface="+mn-lt"/>
              </a:rPr>
              <a:t>The Memory Access Time (ma) for most systems usually ranges from 10 to 200ns.</a:t>
            </a:r>
          </a:p>
          <a:p>
            <a:pPr marL="0" indent="0" algn="just">
              <a:lnSpc>
                <a:spcPct val="150000"/>
              </a:lnSpc>
              <a:buNone/>
            </a:pPr>
            <a:r>
              <a:rPr lang="en-IN" sz="2400" dirty="0">
                <a:latin typeface="+mn-lt"/>
              </a:rPr>
              <a:t>If there are no page faults, the Effective Access Time will be equal to the Memory Access Time.</a:t>
            </a:r>
          </a:p>
          <a:p>
            <a:endParaRPr lang="en-IN" sz="2000" dirty="0">
              <a:latin typeface="+mn-lt"/>
            </a:endParaRPr>
          </a:p>
        </p:txBody>
      </p:sp>
      <p:sp>
        <p:nvSpPr>
          <p:cNvPr id="2" name="Google Shape;98;g2eff20282af_0_123">
            <a:extLst>
              <a:ext uri="{FF2B5EF4-FFF2-40B4-BE49-F238E27FC236}">
                <a16:creationId xmlns:a16="http://schemas.microsoft.com/office/drawing/2014/main" id="{29119618-6E61-6A1D-C97B-BF611A1DFB78}"/>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16706015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AE60B6-826A-3D76-A252-944B0B102BC5}"/>
              </a:ext>
            </a:extLst>
          </p:cNvPr>
          <p:cNvSpPr>
            <a:spLocks noGrp="1"/>
          </p:cNvSpPr>
          <p:nvPr>
            <p:ph idx="1"/>
          </p:nvPr>
        </p:nvSpPr>
        <p:spPr>
          <a:xfrm>
            <a:off x="2569029" y="228600"/>
            <a:ext cx="9405257" cy="6422571"/>
          </a:xfrm>
        </p:spPr>
        <p:txBody>
          <a:bodyPr/>
          <a:lstStyle/>
          <a:p>
            <a:pPr marL="0" indent="0" algn="just">
              <a:lnSpc>
                <a:spcPct val="150000"/>
              </a:lnSpc>
              <a:buNone/>
            </a:pPr>
            <a:r>
              <a:rPr lang="en-IN" sz="2400" dirty="0">
                <a:latin typeface="+mn-lt"/>
              </a:rPr>
              <a:t>But what if a page fault occurs?</a:t>
            </a:r>
          </a:p>
          <a:p>
            <a:pPr marL="0" indent="0" algn="just">
              <a:lnSpc>
                <a:spcPct val="150000"/>
              </a:lnSpc>
              <a:spcAft>
                <a:spcPts val="800"/>
              </a:spcAft>
              <a:buNone/>
            </a:pPr>
            <a:r>
              <a:rPr lang="en-US" sz="2400" dirty="0">
                <a:effectLst/>
                <a:latin typeface="+mn-lt"/>
                <a:ea typeface="Calibri" panose="020F0502020204030204" pitchFamily="34" charset="0"/>
                <a:cs typeface="Times New Roman" panose="02020603050405020304" pitchFamily="18" charset="0"/>
              </a:rPr>
              <a:t>Let p be the probability of a page fault (0 &lt;=p&lt;=1). </a:t>
            </a:r>
            <a:endParaRPr lang="en-IN" sz="2400" dirty="0">
              <a:effectLst/>
              <a:latin typeface="+mn-lt"/>
              <a:ea typeface="Calibri" panose="020F0502020204030204" pitchFamily="34" charset="0"/>
              <a:cs typeface="Times New Roman" panose="02020603050405020304" pitchFamily="18" charset="0"/>
            </a:endParaRPr>
          </a:p>
          <a:p>
            <a:pPr marL="0" indent="0" algn="just">
              <a:lnSpc>
                <a:spcPct val="150000"/>
              </a:lnSpc>
              <a:spcAft>
                <a:spcPts val="800"/>
              </a:spcAft>
              <a:buNone/>
            </a:pPr>
            <a:r>
              <a:rPr lang="en-US" sz="2400" b="1" dirty="0">
                <a:effectLst/>
                <a:latin typeface="+mn-lt"/>
                <a:ea typeface="Calibri" panose="020F0502020204030204" pitchFamily="34" charset="0"/>
                <a:cs typeface="Times New Roman" panose="02020603050405020304" pitchFamily="18" charset="0"/>
              </a:rPr>
              <a:t>Effective access time</a:t>
            </a:r>
            <a:r>
              <a:rPr lang="en-US" sz="2400" dirty="0">
                <a:effectLst/>
                <a:latin typeface="+mn-lt"/>
                <a:ea typeface="Calibri" panose="020F0502020204030204" pitchFamily="34" charset="0"/>
                <a:cs typeface="Times New Roman" panose="02020603050405020304" pitchFamily="18" charset="0"/>
              </a:rPr>
              <a:t> = </a:t>
            </a:r>
            <a:r>
              <a:rPr lang="en-US" sz="2400" dirty="0">
                <a:solidFill>
                  <a:srgbClr val="0000FF"/>
                </a:solidFill>
                <a:effectLst/>
                <a:latin typeface="+mn-lt"/>
                <a:ea typeface="Calibri" panose="020F0502020204030204" pitchFamily="34" charset="0"/>
                <a:cs typeface="Times New Roman" panose="02020603050405020304" pitchFamily="18" charset="0"/>
              </a:rPr>
              <a:t>(1 - p) x ma </a:t>
            </a:r>
            <a:r>
              <a:rPr lang="en-US" sz="2400" dirty="0">
                <a:effectLst/>
                <a:latin typeface="+mn-lt"/>
                <a:ea typeface="Calibri" panose="020F0502020204030204" pitchFamily="34" charset="0"/>
                <a:cs typeface="Times New Roman" panose="02020603050405020304" pitchFamily="18" charset="0"/>
              </a:rPr>
              <a:t>+ </a:t>
            </a:r>
            <a:r>
              <a:rPr lang="en-US" sz="2400" dirty="0">
                <a:solidFill>
                  <a:srgbClr val="FF0000"/>
                </a:solidFill>
                <a:effectLst/>
                <a:latin typeface="+mn-lt"/>
                <a:ea typeface="Calibri" panose="020F0502020204030204" pitchFamily="34" charset="0"/>
                <a:cs typeface="Times New Roman" panose="02020603050405020304" pitchFamily="18" charset="0"/>
              </a:rPr>
              <a:t>p x page fault time</a:t>
            </a:r>
            <a:endParaRPr lang="en-IN" sz="2400" dirty="0">
              <a:solidFill>
                <a:srgbClr val="FF0000"/>
              </a:solidFill>
              <a:effectLst/>
              <a:latin typeface="+mn-lt"/>
              <a:ea typeface="Calibri" panose="020F0502020204030204" pitchFamily="34" charset="0"/>
              <a:cs typeface="Times New Roman" panose="02020603050405020304" pitchFamily="18" charset="0"/>
            </a:endParaRPr>
          </a:p>
          <a:p>
            <a:pPr marL="0" indent="0" algn="just">
              <a:lnSpc>
                <a:spcPct val="150000"/>
              </a:lnSpc>
              <a:buNone/>
            </a:pPr>
            <a:r>
              <a:rPr lang="en-IN" sz="2400" dirty="0">
                <a:solidFill>
                  <a:srgbClr val="0000FF"/>
                </a:solidFill>
                <a:latin typeface="+mn-lt"/>
              </a:rPr>
              <a:t>Time spent for normal memory access</a:t>
            </a:r>
          </a:p>
          <a:p>
            <a:pPr marL="0" indent="0" algn="just">
              <a:lnSpc>
                <a:spcPct val="150000"/>
              </a:lnSpc>
              <a:buNone/>
            </a:pPr>
            <a:r>
              <a:rPr lang="en-IN" sz="2400" dirty="0">
                <a:solidFill>
                  <a:srgbClr val="FF0000"/>
                </a:solidFill>
                <a:latin typeface="+mn-lt"/>
              </a:rPr>
              <a:t>Time spent for handling page fault</a:t>
            </a:r>
          </a:p>
          <a:p>
            <a:pPr marL="0" indent="0">
              <a:buNone/>
            </a:pPr>
            <a:endParaRPr lang="en-IN" dirty="0"/>
          </a:p>
        </p:txBody>
      </p:sp>
      <p:sp>
        <p:nvSpPr>
          <p:cNvPr id="2" name="Google Shape;98;g2eff20282af_0_123">
            <a:extLst>
              <a:ext uri="{FF2B5EF4-FFF2-40B4-BE49-F238E27FC236}">
                <a16:creationId xmlns:a16="http://schemas.microsoft.com/office/drawing/2014/main" id="{23153881-6CF6-9D75-154C-7AFA4D085E19}"/>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00276394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3886A6-B351-C9A3-1BE1-3F4D7621981E}"/>
              </a:ext>
            </a:extLst>
          </p:cNvPr>
          <p:cNvSpPr>
            <a:spLocks noGrp="1"/>
          </p:cNvSpPr>
          <p:nvPr>
            <p:ph idx="1"/>
          </p:nvPr>
        </p:nvSpPr>
        <p:spPr>
          <a:xfrm>
            <a:off x="2511846" y="132202"/>
            <a:ext cx="9584674" cy="6725798"/>
          </a:xfrm>
        </p:spPr>
        <p:txBody>
          <a:bodyPr>
            <a:normAutofit/>
          </a:bodyPr>
          <a:lstStyle/>
          <a:p>
            <a:pPr marL="0" indent="0" algn="just">
              <a:lnSpc>
                <a:spcPct val="150000"/>
              </a:lnSpc>
              <a:buNone/>
            </a:pPr>
            <a:r>
              <a:rPr lang="en-IN" sz="2000" b="1" dirty="0">
                <a:solidFill>
                  <a:srgbClr val="0000FF"/>
                </a:solidFill>
                <a:latin typeface="+mn-lt"/>
              </a:rPr>
              <a:t>The sequence that occurs when a page fault happens:</a:t>
            </a:r>
          </a:p>
          <a:p>
            <a:pPr marL="0" indent="0" algn="just">
              <a:lnSpc>
                <a:spcPct val="150000"/>
              </a:lnSpc>
              <a:spcAft>
                <a:spcPts val="800"/>
              </a:spcAft>
              <a:buNone/>
            </a:pPr>
            <a:r>
              <a:rPr lang="en-US" sz="2000" dirty="0">
                <a:effectLst/>
                <a:latin typeface="+mn-lt"/>
                <a:ea typeface="Calibri" panose="020F0502020204030204" pitchFamily="34" charset="0"/>
                <a:cs typeface="Times New Roman" panose="02020603050405020304" pitchFamily="18" charset="0"/>
              </a:rPr>
              <a:t>1. Trap to the operating system.</a:t>
            </a:r>
            <a:endParaRPr lang="en-IN" sz="2000" dirty="0">
              <a:effectLst/>
              <a:latin typeface="+mn-lt"/>
              <a:ea typeface="Calibri" panose="020F0502020204030204" pitchFamily="34" charset="0"/>
              <a:cs typeface="Times New Roman" panose="02020603050405020304" pitchFamily="18" charset="0"/>
            </a:endParaRPr>
          </a:p>
          <a:p>
            <a:pPr marL="0" indent="0" algn="just">
              <a:lnSpc>
                <a:spcPct val="150000"/>
              </a:lnSpc>
              <a:spcAft>
                <a:spcPts val="800"/>
              </a:spcAft>
              <a:buNone/>
            </a:pPr>
            <a:r>
              <a:rPr lang="en-US" sz="2000" dirty="0">
                <a:effectLst/>
                <a:latin typeface="+mn-lt"/>
                <a:ea typeface="Calibri" panose="020F0502020204030204" pitchFamily="34" charset="0"/>
                <a:cs typeface="Times New Roman" panose="02020603050405020304" pitchFamily="18" charset="0"/>
              </a:rPr>
              <a:t>2. Save the user registers and process state.</a:t>
            </a:r>
            <a:endParaRPr lang="en-IN" sz="2000" dirty="0">
              <a:effectLst/>
              <a:latin typeface="+mn-lt"/>
              <a:ea typeface="Calibri" panose="020F0502020204030204" pitchFamily="34" charset="0"/>
              <a:cs typeface="Times New Roman" panose="02020603050405020304" pitchFamily="18" charset="0"/>
            </a:endParaRPr>
          </a:p>
          <a:p>
            <a:pPr marL="0" indent="0" algn="just">
              <a:lnSpc>
                <a:spcPct val="150000"/>
              </a:lnSpc>
              <a:spcAft>
                <a:spcPts val="800"/>
              </a:spcAft>
              <a:buNone/>
            </a:pPr>
            <a:r>
              <a:rPr lang="en-US" sz="2000" dirty="0">
                <a:effectLst/>
                <a:latin typeface="+mn-lt"/>
                <a:ea typeface="Calibri" panose="020F0502020204030204" pitchFamily="34" charset="0"/>
                <a:cs typeface="Times New Roman" panose="02020603050405020304" pitchFamily="18" charset="0"/>
              </a:rPr>
              <a:t>3. Determine that the interrupt was a</a:t>
            </a:r>
            <a:r>
              <a:rPr lang="en-US" sz="2000" dirty="0">
                <a:latin typeface="+mn-lt"/>
                <a:ea typeface="Calibri" panose="020F0502020204030204" pitchFamily="34" charset="0"/>
                <a:cs typeface="Times New Roman" panose="02020603050405020304" pitchFamily="18" charset="0"/>
              </a:rPr>
              <a:t> </a:t>
            </a:r>
            <a:r>
              <a:rPr lang="en-US" sz="2000" dirty="0">
                <a:effectLst/>
                <a:latin typeface="+mn-lt"/>
                <a:ea typeface="Calibri" panose="020F0502020204030204" pitchFamily="34" charset="0"/>
                <a:cs typeface="Times New Roman" panose="02020603050405020304" pitchFamily="18" charset="0"/>
              </a:rPr>
              <a:t>page fault.</a:t>
            </a:r>
            <a:endParaRPr lang="en-IN" sz="2000" dirty="0">
              <a:effectLst/>
              <a:latin typeface="+mn-lt"/>
              <a:ea typeface="Calibri" panose="020F0502020204030204" pitchFamily="34" charset="0"/>
              <a:cs typeface="Times New Roman" panose="02020603050405020304" pitchFamily="18" charset="0"/>
            </a:endParaRPr>
          </a:p>
          <a:p>
            <a:pPr marL="0" indent="0" algn="just">
              <a:lnSpc>
                <a:spcPct val="150000"/>
              </a:lnSpc>
              <a:spcAft>
                <a:spcPts val="800"/>
              </a:spcAft>
              <a:buNone/>
            </a:pPr>
            <a:r>
              <a:rPr lang="en-US" sz="2000" dirty="0">
                <a:effectLst/>
                <a:latin typeface="+mn-lt"/>
                <a:ea typeface="Calibri" panose="020F0502020204030204" pitchFamily="34" charset="0"/>
                <a:cs typeface="Times New Roman" panose="02020603050405020304" pitchFamily="18" charset="0"/>
              </a:rPr>
              <a:t>4. Check that the page reference was legal and determine the location of the page on the disk.</a:t>
            </a:r>
            <a:endParaRPr lang="en-IN" sz="2000" dirty="0">
              <a:effectLst/>
              <a:latin typeface="+mn-lt"/>
              <a:ea typeface="Calibri" panose="020F0502020204030204" pitchFamily="34" charset="0"/>
              <a:cs typeface="Times New Roman" panose="02020603050405020304" pitchFamily="18" charset="0"/>
            </a:endParaRPr>
          </a:p>
          <a:p>
            <a:pPr marL="0" indent="0" algn="just">
              <a:lnSpc>
                <a:spcPct val="150000"/>
              </a:lnSpc>
              <a:spcAft>
                <a:spcPts val="800"/>
              </a:spcAft>
              <a:buNone/>
            </a:pPr>
            <a:r>
              <a:rPr lang="en-US" sz="2000" dirty="0">
                <a:effectLst/>
                <a:latin typeface="+mn-lt"/>
                <a:ea typeface="Calibri" panose="020F0502020204030204" pitchFamily="34" charset="0"/>
                <a:cs typeface="Times New Roman" panose="02020603050405020304" pitchFamily="18" charset="0"/>
              </a:rPr>
              <a:t>5. Issue a read from the disk to a free frame:</a:t>
            </a:r>
            <a:endParaRPr lang="en-IN" sz="2000" dirty="0">
              <a:effectLst/>
              <a:latin typeface="+mn-lt"/>
              <a:ea typeface="Calibri" panose="020F0502020204030204" pitchFamily="34" charset="0"/>
              <a:cs typeface="Times New Roman" panose="02020603050405020304" pitchFamily="18" charset="0"/>
            </a:endParaRPr>
          </a:p>
          <a:p>
            <a:pPr indent="0" algn="just">
              <a:lnSpc>
                <a:spcPct val="150000"/>
              </a:lnSpc>
              <a:spcAft>
                <a:spcPts val="800"/>
              </a:spcAft>
              <a:buNone/>
            </a:pPr>
            <a:r>
              <a:rPr lang="en-US" sz="2000" dirty="0">
                <a:effectLst/>
                <a:latin typeface="+mn-lt"/>
                <a:ea typeface="Calibri" panose="020F0502020204030204" pitchFamily="34" charset="0"/>
                <a:cs typeface="Times New Roman" panose="02020603050405020304" pitchFamily="18" charset="0"/>
              </a:rPr>
              <a:t>a. Wait in a queue for this device until the read request is serviced.</a:t>
            </a:r>
            <a:endParaRPr lang="en-IN" sz="2000" dirty="0">
              <a:effectLst/>
              <a:latin typeface="+mn-lt"/>
              <a:ea typeface="Calibri" panose="020F0502020204030204" pitchFamily="34" charset="0"/>
              <a:cs typeface="Times New Roman" panose="02020603050405020304" pitchFamily="18" charset="0"/>
            </a:endParaRPr>
          </a:p>
          <a:p>
            <a:pPr indent="0" algn="just">
              <a:lnSpc>
                <a:spcPct val="150000"/>
              </a:lnSpc>
              <a:spcAft>
                <a:spcPts val="800"/>
              </a:spcAft>
              <a:buNone/>
            </a:pPr>
            <a:r>
              <a:rPr lang="en-US" sz="2000" dirty="0">
                <a:effectLst/>
                <a:latin typeface="+mn-lt"/>
                <a:ea typeface="Calibri" panose="020F0502020204030204" pitchFamily="34" charset="0"/>
                <a:cs typeface="Times New Roman" panose="02020603050405020304" pitchFamily="18" charset="0"/>
              </a:rPr>
              <a:t>b. Wait for the device seek and / or latency time.</a:t>
            </a:r>
            <a:endParaRPr lang="en-IN" sz="2000" dirty="0">
              <a:effectLst/>
              <a:latin typeface="+mn-lt"/>
              <a:ea typeface="Calibri" panose="020F0502020204030204" pitchFamily="34" charset="0"/>
              <a:cs typeface="Times New Roman" panose="02020603050405020304" pitchFamily="18" charset="0"/>
            </a:endParaRPr>
          </a:p>
          <a:p>
            <a:pPr indent="0" algn="just">
              <a:lnSpc>
                <a:spcPct val="150000"/>
              </a:lnSpc>
              <a:spcAft>
                <a:spcPts val="800"/>
              </a:spcAft>
              <a:buNone/>
            </a:pPr>
            <a:r>
              <a:rPr lang="en-US" sz="2000" dirty="0">
                <a:effectLst/>
                <a:latin typeface="+mn-lt"/>
                <a:ea typeface="Calibri" panose="020F0502020204030204" pitchFamily="34" charset="0"/>
                <a:cs typeface="Times New Roman" panose="02020603050405020304" pitchFamily="18" charset="0"/>
              </a:rPr>
              <a:t>c. Begin the transfer of the page to a free frame.</a:t>
            </a:r>
            <a:endParaRPr lang="en-IN" sz="2000" dirty="0">
              <a:effectLst/>
              <a:latin typeface="+mn-lt"/>
              <a:ea typeface="Calibri" panose="020F0502020204030204" pitchFamily="34" charset="0"/>
              <a:cs typeface="Times New Roman" panose="02020603050405020304" pitchFamily="18" charset="0"/>
            </a:endParaRPr>
          </a:p>
          <a:p>
            <a:pPr marL="0" indent="0">
              <a:lnSpc>
                <a:spcPct val="150000"/>
              </a:lnSpc>
              <a:buNone/>
            </a:pPr>
            <a:endParaRPr lang="en-IN" sz="2400" dirty="0">
              <a:latin typeface="+mn-lt"/>
            </a:endParaRPr>
          </a:p>
          <a:p>
            <a:pPr marL="0" indent="0">
              <a:lnSpc>
                <a:spcPct val="150000"/>
              </a:lnSpc>
              <a:buNone/>
            </a:pPr>
            <a:endParaRPr lang="en-IN" sz="2400" dirty="0">
              <a:latin typeface="+mn-lt"/>
            </a:endParaRPr>
          </a:p>
          <a:p>
            <a:pPr marL="0" indent="0">
              <a:lnSpc>
                <a:spcPct val="150000"/>
              </a:lnSpc>
              <a:buNone/>
            </a:pPr>
            <a:endParaRPr lang="en-IN" sz="2400" dirty="0">
              <a:latin typeface="+mn-lt"/>
            </a:endParaRPr>
          </a:p>
          <a:p>
            <a:endParaRPr lang="en-IN" sz="2400" dirty="0">
              <a:latin typeface="+mn-lt"/>
            </a:endParaRPr>
          </a:p>
        </p:txBody>
      </p:sp>
      <p:sp>
        <p:nvSpPr>
          <p:cNvPr id="2" name="Google Shape;98;g2eff20282af_0_123">
            <a:extLst>
              <a:ext uri="{FF2B5EF4-FFF2-40B4-BE49-F238E27FC236}">
                <a16:creationId xmlns:a16="http://schemas.microsoft.com/office/drawing/2014/main" id="{6F68828B-6A49-3E33-6032-C5680A837364}"/>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40991357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EC6DBB-D616-CDA4-7D83-F226A0E3088C}"/>
              </a:ext>
            </a:extLst>
          </p:cNvPr>
          <p:cNvSpPr>
            <a:spLocks noGrp="1"/>
          </p:cNvSpPr>
          <p:nvPr>
            <p:ph idx="1"/>
          </p:nvPr>
        </p:nvSpPr>
        <p:spPr>
          <a:xfrm>
            <a:off x="2544896" y="121186"/>
            <a:ext cx="9518574" cy="6621137"/>
          </a:xfrm>
        </p:spPr>
        <p:txBody>
          <a:bodyPr>
            <a:normAutofit/>
          </a:bodyPr>
          <a:lstStyle/>
          <a:p>
            <a:pPr marL="0" indent="0" algn="just">
              <a:lnSpc>
                <a:spcPct val="160000"/>
              </a:lnSpc>
              <a:spcAft>
                <a:spcPts val="800"/>
              </a:spcAft>
              <a:buNone/>
            </a:pPr>
            <a:r>
              <a:rPr lang="en-US" sz="2200" dirty="0">
                <a:effectLst/>
                <a:latin typeface="+mn-lt"/>
                <a:ea typeface="Calibri" panose="020F0502020204030204" pitchFamily="34" charset="0"/>
                <a:cs typeface="Times New Roman" panose="02020603050405020304" pitchFamily="18" charset="0"/>
              </a:rPr>
              <a:t>6. While waiting, allocate the CPU to some other user (CPU scheduling, optional).</a:t>
            </a:r>
            <a:endParaRPr lang="en-IN" sz="2200" dirty="0">
              <a:effectLst/>
              <a:latin typeface="+mn-lt"/>
              <a:ea typeface="Calibri" panose="020F0502020204030204" pitchFamily="34" charset="0"/>
              <a:cs typeface="Times New Roman" panose="02020603050405020304" pitchFamily="18" charset="0"/>
            </a:endParaRPr>
          </a:p>
          <a:p>
            <a:pPr marL="0" indent="0" algn="just">
              <a:lnSpc>
                <a:spcPct val="160000"/>
              </a:lnSpc>
              <a:spcAft>
                <a:spcPts val="800"/>
              </a:spcAft>
              <a:buNone/>
            </a:pPr>
            <a:r>
              <a:rPr lang="en-US" sz="2200" dirty="0">
                <a:effectLst/>
                <a:latin typeface="+mn-lt"/>
                <a:ea typeface="Calibri" panose="020F0502020204030204" pitchFamily="34" charset="0"/>
                <a:cs typeface="Times New Roman" panose="02020603050405020304" pitchFamily="18" charset="0"/>
              </a:rPr>
              <a:t>7. Receive an interrupt from the disk [I/0 subsystem (I/O completed).</a:t>
            </a:r>
            <a:endParaRPr lang="en-IN" sz="2200" dirty="0">
              <a:effectLst/>
              <a:latin typeface="+mn-lt"/>
              <a:ea typeface="Calibri" panose="020F0502020204030204" pitchFamily="34" charset="0"/>
              <a:cs typeface="Times New Roman" panose="02020603050405020304" pitchFamily="18" charset="0"/>
            </a:endParaRPr>
          </a:p>
          <a:p>
            <a:pPr marL="0" indent="0" algn="just">
              <a:lnSpc>
                <a:spcPct val="160000"/>
              </a:lnSpc>
              <a:spcAft>
                <a:spcPts val="800"/>
              </a:spcAft>
              <a:buNone/>
            </a:pPr>
            <a:r>
              <a:rPr lang="en-US" sz="2200" dirty="0">
                <a:effectLst/>
                <a:latin typeface="+mn-lt"/>
                <a:ea typeface="Calibri" panose="020F0502020204030204" pitchFamily="34" charset="0"/>
                <a:cs typeface="Times New Roman" panose="02020603050405020304" pitchFamily="18" charset="0"/>
              </a:rPr>
              <a:t>8. Save the registers and process state for the other user (if step 6 is executed).</a:t>
            </a:r>
            <a:endParaRPr lang="en-IN" sz="2200" dirty="0">
              <a:effectLst/>
              <a:latin typeface="+mn-lt"/>
              <a:ea typeface="Calibri" panose="020F0502020204030204" pitchFamily="34" charset="0"/>
              <a:cs typeface="Times New Roman" panose="02020603050405020304" pitchFamily="18" charset="0"/>
            </a:endParaRPr>
          </a:p>
          <a:p>
            <a:pPr marL="0" indent="0" algn="just">
              <a:lnSpc>
                <a:spcPct val="160000"/>
              </a:lnSpc>
              <a:spcAft>
                <a:spcPts val="800"/>
              </a:spcAft>
              <a:buNone/>
            </a:pPr>
            <a:r>
              <a:rPr lang="en-US" sz="2200" dirty="0">
                <a:effectLst/>
                <a:latin typeface="+mn-lt"/>
                <a:ea typeface="Calibri" panose="020F0502020204030204" pitchFamily="34" charset="0"/>
                <a:cs typeface="Times New Roman" panose="02020603050405020304" pitchFamily="18" charset="0"/>
              </a:rPr>
              <a:t>9. Determine that the interrupt was from the disk.</a:t>
            </a:r>
            <a:endParaRPr lang="en-IN" sz="2200" dirty="0">
              <a:effectLst/>
              <a:latin typeface="+mn-lt"/>
              <a:ea typeface="Calibri" panose="020F0502020204030204" pitchFamily="34" charset="0"/>
              <a:cs typeface="Times New Roman" panose="02020603050405020304" pitchFamily="18" charset="0"/>
            </a:endParaRPr>
          </a:p>
          <a:p>
            <a:pPr marL="0" indent="0" algn="just">
              <a:lnSpc>
                <a:spcPct val="160000"/>
              </a:lnSpc>
              <a:spcAft>
                <a:spcPts val="800"/>
              </a:spcAft>
              <a:buNone/>
            </a:pPr>
            <a:r>
              <a:rPr lang="en-US" sz="2200" dirty="0">
                <a:effectLst/>
                <a:latin typeface="+mn-lt"/>
                <a:ea typeface="Calibri" panose="020F0502020204030204" pitchFamily="34" charset="0"/>
                <a:cs typeface="Times New Roman" panose="02020603050405020304" pitchFamily="18" charset="0"/>
              </a:rPr>
              <a:t>10. Correct the page table and other tables to show that the desired page is now in memory.</a:t>
            </a:r>
            <a:endParaRPr lang="en-IN" sz="2200" dirty="0">
              <a:effectLst/>
              <a:latin typeface="+mn-lt"/>
              <a:ea typeface="Calibri" panose="020F0502020204030204" pitchFamily="34" charset="0"/>
              <a:cs typeface="Times New Roman" panose="02020603050405020304" pitchFamily="18" charset="0"/>
            </a:endParaRPr>
          </a:p>
          <a:p>
            <a:pPr marL="0" indent="0" algn="just">
              <a:lnSpc>
                <a:spcPct val="160000"/>
              </a:lnSpc>
              <a:spcAft>
                <a:spcPts val="800"/>
              </a:spcAft>
              <a:buNone/>
            </a:pPr>
            <a:r>
              <a:rPr lang="en-US" sz="2200" dirty="0">
                <a:effectLst/>
                <a:latin typeface="+mn-lt"/>
                <a:ea typeface="Calibri" panose="020F0502020204030204" pitchFamily="34" charset="0"/>
                <a:cs typeface="Times New Roman" panose="02020603050405020304" pitchFamily="18" charset="0"/>
              </a:rPr>
              <a:t>11. Wait for the CPU to be allocated to this process again.</a:t>
            </a:r>
            <a:endParaRPr lang="en-IN" sz="2200" dirty="0">
              <a:effectLst/>
              <a:latin typeface="+mn-lt"/>
              <a:ea typeface="Calibri" panose="020F0502020204030204" pitchFamily="34" charset="0"/>
              <a:cs typeface="Times New Roman" panose="02020603050405020304" pitchFamily="18" charset="0"/>
            </a:endParaRPr>
          </a:p>
          <a:p>
            <a:pPr marL="0" indent="0" algn="just">
              <a:lnSpc>
                <a:spcPct val="160000"/>
              </a:lnSpc>
              <a:spcAft>
                <a:spcPts val="800"/>
              </a:spcAft>
              <a:buNone/>
            </a:pPr>
            <a:r>
              <a:rPr lang="en-US" sz="2200" dirty="0">
                <a:effectLst/>
                <a:latin typeface="+mn-lt"/>
                <a:ea typeface="Calibri" panose="020F0502020204030204" pitchFamily="34" charset="0"/>
                <a:cs typeface="Times New Roman" panose="02020603050405020304" pitchFamily="18" charset="0"/>
              </a:rPr>
              <a:t>12. Restore the user registers, process state, and new page table, and then resume the interrupted instruction.</a:t>
            </a:r>
            <a:endParaRPr lang="en-IN" sz="2200" dirty="0">
              <a:effectLst/>
              <a:latin typeface="+mn-lt"/>
              <a:ea typeface="Calibri" panose="020F0502020204030204" pitchFamily="34" charset="0"/>
              <a:cs typeface="Times New Roman" panose="02020603050405020304" pitchFamily="18" charset="0"/>
            </a:endParaRPr>
          </a:p>
          <a:p>
            <a:pPr>
              <a:lnSpc>
                <a:spcPct val="150000"/>
              </a:lnSpc>
            </a:pPr>
            <a:endParaRPr lang="en-IN" sz="2400" dirty="0">
              <a:latin typeface="+mn-lt"/>
            </a:endParaRPr>
          </a:p>
        </p:txBody>
      </p:sp>
      <p:sp>
        <p:nvSpPr>
          <p:cNvPr id="2" name="Google Shape;98;g2eff20282af_0_123">
            <a:extLst>
              <a:ext uri="{FF2B5EF4-FFF2-40B4-BE49-F238E27FC236}">
                <a16:creationId xmlns:a16="http://schemas.microsoft.com/office/drawing/2014/main" id="{01A27F1D-57ED-48C8-2669-4CBA81B9F253}"/>
              </a:ext>
            </a:extLst>
          </p:cNvPr>
          <p:cNvSpPr txBox="1"/>
          <p:nvPr/>
        </p:nvSpPr>
        <p:spPr>
          <a:xfrm>
            <a:off x="524064" y="3891899"/>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97189951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A6BD3D-503B-CC82-A3CA-F3F719AF9CE8}"/>
              </a:ext>
            </a:extLst>
          </p:cNvPr>
          <p:cNvSpPr>
            <a:spLocks noGrp="1"/>
          </p:cNvSpPr>
          <p:nvPr>
            <p:ph idx="1"/>
          </p:nvPr>
        </p:nvSpPr>
        <p:spPr>
          <a:xfrm>
            <a:off x="2577947" y="143219"/>
            <a:ext cx="9474506" cy="6599104"/>
          </a:xfrm>
        </p:spPr>
        <p:txBody>
          <a:bodyPr>
            <a:normAutofit/>
          </a:bodyPr>
          <a:lstStyle/>
          <a:p>
            <a:pPr marL="0" indent="0" algn="just">
              <a:lnSpc>
                <a:spcPct val="150000"/>
              </a:lnSpc>
              <a:buNone/>
            </a:pPr>
            <a:r>
              <a:rPr lang="en-IN" sz="2400" dirty="0">
                <a:latin typeface="+mn-lt"/>
              </a:rPr>
              <a:t>Not all the steps shown in the previous slide are necessary in every case.</a:t>
            </a:r>
          </a:p>
          <a:p>
            <a:pPr marL="0" indent="0" algn="just">
              <a:lnSpc>
                <a:spcPct val="150000"/>
              </a:lnSpc>
              <a:buNone/>
            </a:pPr>
            <a:r>
              <a:rPr lang="en-IN" sz="2400" dirty="0">
                <a:latin typeface="+mn-lt"/>
              </a:rPr>
              <a:t>But in all cases we will face three major components of the page fault service time:</a:t>
            </a:r>
          </a:p>
          <a:p>
            <a:pPr marL="457200" indent="-457200" algn="just">
              <a:lnSpc>
                <a:spcPct val="150000"/>
              </a:lnSpc>
              <a:buAutoNum type="arabicPeriod"/>
            </a:pPr>
            <a:r>
              <a:rPr lang="en-IN" sz="2400" dirty="0">
                <a:latin typeface="+mn-lt"/>
              </a:rPr>
              <a:t>Service the page – fault interrupt.</a:t>
            </a:r>
          </a:p>
          <a:p>
            <a:pPr marL="457200" indent="-457200" algn="just">
              <a:lnSpc>
                <a:spcPct val="150000"/>
              </a:lnSpc>
              <a:buAutoNum type="arabicPeriod"/>
            </a:pPr>
            <a:r>
              <a:rPr lang="en-IN" sz="2400" dirty="0">
                <a:latin typeface="+mn-lt"/>
              </a:rPr>
              <a:t>Read in the page.</a:t>
            </a:r>
          </a:p>
          <a:p>
            <a:pPr marL="457200" indent="-457200" algn="just">
              <a:lnSpc>
                <a:spcPct val="150000"/>
              </a:lnSpc>
              <a:buAutoNum type="arabicPeriod"/>
            </a:pPr>
            <a:r>
              <a:rPr lang="en-IN" sz="2400" dirty="0">
                <a:latin typeface="+mn-lt"/>
              </a:rPr>
              <a:t>Restart the process</a:t>
            </a:r>
          </a:p>
          <a:p>
            <a:pPr marL="0" indent="0" algn="just">
              <a:lnSpc>
                <a:spcPct val="150000"/>
              </a:lnSpc>
              <a:buNone/>
            </a:pPr>
            <a:r>
              <a:rPr lang="en-IN" sz="2400" dirty="0">
                <a:latin typeface="+mn-lt"/>
              </a:rPr>
              <a:t>1 and 3 may take 1 to 100 microseconds each</a:t>
            </a:r>
          </a:p>
          <a:p>
            <a:pPr marL="0" indent="0" algn="just">
              <a:lnSpc>
                <a:spcPct val="150000"/>
              </a:lnSpc>
              <a:buNone/>
            </a:pPr>
            <a:r>
              <a:rPr lang="en-IN" sz="2400" dirty="0">
                <a:latin typeface="+mn-lt"/>
              </a:rPr>
              <a:t>2 can take close to 8 milliseconds</a:t>
            </a:r>
          </a:p>
          <a:p>
            <a:pPr marL="0" indent="0" algn="just">
              <a:lnSpc>
                <a:spcPct val="150000"/>
              </a:lnSpc>
              <a:buNone/>
            </a:pPr>
            <a:r>
              <a:rPr lang="en-IN" sz="2400" dirty="0">
                <a:latin typeface="+mn-lt"/>
              </a:rPr>
              <a:t>We can consider an average page fault handling time of 8 </a:t>
            </a:r>
            <a:r>
              <a:rPr lang="en-IN" sz="2400" dirty="0" err="1">
                <a:latin typeface="+mn-lt"/>
              </a:rPr>
              <a:t>ms</a:t>
            </a:r>
            <a:r>
              <a:rPr lang="en-IN" sz="2400" dirty="0">
                <a:latin typeface="+mn-lt"/>
              </a:rPr>
              <a:t> and a memory access time of 200ns.</a:t>
            </a:r>
          </a:p>
          <a:p>
            <a:pPr marL="0" indent="0" algn="just">
              <a:lnSpc>
                <a:spcPct val="150000"/>
              </a:lnSpc>
              <a:buNone/>
            </a:pPr>
            <a:endParaRPr lang="en-IN" sz="2400" dirty="0">
              <a:latin typeface="+mn-lt"/>
            </a:endParaRPr>
          </a:p>
          <a:p>
            <a:pPr marL="0" indent="0" algn="just">
              <a:lnSpc>
                <a:spcPct val="150000"/>
              </a:lnSpc>
              <a:buNone/>
            </a:pPr>
            <a:endParaRPr lang="en-IN" sz="2000" dirty="0">
              <a:latin typeface="+mn-lt"/>
            </a:endParaRPr>
          </a:p>
        </p:txBody>
      </p:sp>
      <p:sp>
        <p:nvSpPr>
          <p:cNvPr id="2" name="Google Shape;98;g2eff20282af_0_123">
            <a:extLst>
              <a:ext uri="{FF2B5EF4-FFF2-40B4-BE49-F238E27FC236}">
                <a16:creationId xmlns:a16="http://schemas.microsoft.com/office/drawing/2014/main" id="{8CBB8E5A-8465-F293-4392-ED22813AFDC9}"/>
              </a:ext>
            </a:extLst>
          </p:cNvPr>
          <p:cNvSpPr txBox="1"/>
          <p:nvPr/>
        </p:nvSpPr>
        <p:spPr>
          <a:xfrm>
            <a:off x="524064" y="3891899"/>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93625229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29FEE4-5C80-F5E5-385F-E500827E4640}"/>
              </a:ext>
            </a:extLst>
          </p:cNvPr>
          <p:cNvSpPr>
            <a:spLocks noGrp="1"/>
          </p:cNvSpPr>
          <p:nvPr>
            <p:ph idx="1"/>
          </p:nvPr>
        </p:nvSpPr>
        <p:spPr>
          <a:xfrm>
            <a:off x="2544896" y="220336"/>
            <a:ext cx="9474506" cy="6488935"/>
          </a:xfrm>
        </p:spPr>
        <p:txBody>
          <a:bodyPr>
            <a:normAutofit/>
          </a:bodyPr>
          <a:lstStyle/>
          <a:p>
            <a:pPr marL="0" indent="0" algn="just">
              <a:lnSpc>
                <a:spcPct val="170000"/>
              </a:lnSpc>
              <a:spcAft>
                <a:spcPts val="15"/>
              </a:spcAft>
              <a:buNone/>
            </a:pPr>
            <a:r>
              <a:rPr lang="en-US" sz="2000" b="1" dirty="0">
                <a:effectLst/>
                <a:latin typeface="+mn-lt"/>
                <a:ea typeface="Calibri" panose="020F0502020204030204" pitchFamily="34" charset="0"/>
                <a:cs typeface="Times New Roman" panose="02020603050405020304" pitchFamily="18" charset="0"/>
              </a:rPr>
              <a:t>Effective access time</a:t>
            </a:r>
            <a:r>
              <a:rPr lang="en-US" sz="2000" dirty="0">
                <a:effectLst/>
                <a:latin typeface="+mn-lt"/>
                <a:ea typeface="Calibri" panose="020F0502020204030204" pitchFamily="34" charset="0"/>
                <a:cs typeface="Times New Roman" panose="02020603050405020304" pitchFamily="18" charset="0"/>
              </a:rPr>
              <a:t> = (1 - p) x ma + p x page fault time </a:t>
            </a:r>
          </a:p>
          <a:p>
            <a:pPr marL="0" indent="0" algn="just">
              <a:lnSpc>
                <a:spcPct val="170000"/>
              </a:lnSpc>
              <a:spcAft>
                <a:spcPts val="15"/>
              </a:spcAft>
              <a:buNone/>
            </a:pPr>
            <a:r>
              <a:rPr lang="en-US" sz="2000" dirty="0">
                <a:latin typeface="+mn-lt"/>
                <a:ea typeface="Calibri" panose="020F0502020204030204" pitchFamily="34" charset="0"/>
                <a:cs typeface="Times New Roman" panose="02020603050405020304" pitchFamily="18" charset="0"/>
              </a:rPr>
              <a:t>= (1-p) x ma + p (8ms)</a:t>
            </a:r>
          </a:p>
          <a:p>
            <a:pPr marL="0" indent="0" algn="just">
              <a:lnSpc>
                <a:spcPct val="170000"/>
              </a:lnSpc>
              <a:spcAft>
                <a:spcPts val="15"/>
              </a:spcAft>
              <a:buNone/>
            </a:pPr>
            <a:r>
              <a:rPr lang="en-US" sz="2000" dirty="0">
                <a:effectLst/>
                <a:latin typeface="+mn-lt"/>
                <a:ea typeface="Calibri" panose="020F0502020204030204" pitchFamily="34" charset="0"/>
                <a:cs typeface="Times New Roman" panose="02020603050405020304" pitchFamily="18" charset="0"/>
              </a:rPr>
              <a:t>= (1-p) x (200) + p x 8000000</a:t>
            </a:r>
          </a:p>
          <a:p>
            <a:pPr marL="0" indent="0" algn="just">
              <a:lnSpc>
                <a:spcPct val="170000"/>
              </a:lnSpc>
              <a:spcAft>
                <a:spcPts val="15"/>
              </a:spcAft>
              <a:buNone/>
            </a:pPr>
            <a:r>
              <a:rPr lang="en-US" sz="2000" dirty="0">
                <a:latin typeface="+mn-lt"/>
                <a:ea typeface="Calibri" panose="020F0502020204030204" pitchFamily="34" charset="0"/>
                <a:cs typeface="Times New Roman" panose="02020603050405020304" pitchFamily="18" charset="0"/>
              </a:rPr>
              <a:t>= 200-200p + 8000000p</a:t>
            </a:r>
          </a:p>
          <a:p>
            <a:pPr marL="0" indent="0" algn="just">
              <a:lnSpc>
                <a:spcPct val="170000"/>
              </a:lnSpc>
              <a:spcAft>
                <a:spcPts val="15"/>
              </a:spcAft>
              <a:buNone/>
            </a:pPr>
            <a:r>
              <a:rPr lang="en-US" sz="2000" dirty="0">
                <a:effectLst/>
                <a:latin typeface="+mn-lt"/>
                <a:ea typeface="Calibri" panose="020F0502020204030204" pitchFamily="34" charset="0"/>
                <a:cs typeface="Times New Roman" panose="02020603050405020304" pitchFamily="18" charset="0"/>
              </a:rPr>
              <a:t>= 200 +7999800p</a:t>
            </a:r>
          </a:p>
          <a:p>
            <a:pPr marL="0" indent="0" algn="just">
              <a:lnSpc>
                <a:spcPct val="170000"/>
              </a:lnSpc>
              <a:spcAft>
                <a:spcPts val="15"/>
              </a:spcAft>
              <a:buNone/>
            </a:pPr>
            <a:r>
              <a:rPr lang="en-US" sz="2000" dirty="0">
                <a:effectLst/>
                <a:latin typeface="+mn-lt"/>
                <a:ea typeface="Calibri" panose="020F0502020204030204" pitchFamily="34" charset="0"/>
                <a:cs typeface="Times New Roman" panose="02020603050405020304" pitchFamily="18" charset="0"/>
              </a:rPr>
              <a:t>The effective access time is directly proportional to </a:t>
            </a:r>
            <a:r>
              <a:rPr lang="en-US" sz="2000" dirty="0">
                <a:latin typeface="+mn-lt"/>
                <a:ea typeface="Calibri" panose="020F0502020204030204" pitchFamily="34" charset="0"/>
                <a:cs typeface="Times New Roman" panose="02020603050405020304" pitchFamily="18" charset="0"/>
              </a:rPr>
              <a:t>the page fault rate.</a:t>
            </a:r>
          </a:p>
          <a:p>
            <a:pPr marL="0" indent="0" algn="just">
              <a:lnSpc>
                <a:spcPct val="170000"/>
              </a:lnSpc>
              <a:spcAft>
                <a:spcPts val="15"/>
              </a:spcAft>
              <a:buNone/>
            </a:pPr>
            <a:r>
              <a:rPr lang="en-US" sz="2000" dirty="0">
                <a:effectLst/>
                <a:latin typeface="+mn-lt"/>
                <a:ea typeface="Calibri" panose="020F0502020204030204" pitchFamily="34" charset="0"/>
                <a:cs typeface="Times New Roman" panose="02020603050405020304" pitchFamily="18" charset="0"/>
              </a:rPr>
              <a:t>If one access out of 1000 causes a page fault</a:t>
            </a:r>
            <a:r>
              <a:rPr lang="en-US" sz="2000" dirty="0">
                <a:latin typeface="+mn-lt"/>
                <a:ea typeface="Calibri" panose="020F0502020204030204" pitchFamily="34" charset="0"/>
                <a:cs typeface="Times New Roman" panose="02020603050405020304" pitchFamily="18" charset="0"/>
              </a:rPr>
              <a:t>, then,</a:t>
            </a:r>
          </a:p>
          <a:p>
            <a:pPr marL="0" indent="0" algn="just">
              <a:lnSpc>
                <a:spcPct val="170000"/>
              </a:lnSpc>
              <a:spcAft>
                <a:spcPts val="15"/>
              </a:spcAft>
              <a:buNone/>
            </a:pPr>
            <a:r>
              <a:rPr lang="en-US" sz="2000" dirty="0">
                <a:latin typeface="+mn-lt"/>
                <a:ea typeface="Calibri" panose="020F0502020204030204" pitchFamily="34" charset="0"/>
                <a:cs typeface="Times New Roman" panose="02020603050405020304" pitchFamily="18" charset="0"/>
              </a:rPr>
              <a:t>Effective access time = 200 + (7999800 x 1/1000) = 8199.8 = 8.2microseconds</a:t>
            </a:r>
          </a:p>
          <a:p>
            <a:pPr marL="0" indent="0" algn="just">
              <a:lnSpc>
                <a:spcPct val="170000"/>
              </a:lnSpc>
              <a:spcAft>
                <a:spcPts val="15"/>
              </a:spcAft>
              <a:buNone/>
            </a:pPr>
            <a:endParaRPr lang="en-US" sz="2000" dirty="0">
              <a:latin typeface="+mn-lt"/>
              <a:ea typeface="Calibri" panose="020F0502020204030204" pitchFamily="34" charset="0"/>
              <a:cs typeface="Times New Roman" panose="02020603050405020304" pitchFamily="18" charset="0"/>
            </a:endParaRPr>
          </a:p>
          <a:p>
            <a:pPr marL="0" indent="0" algn="just">
              <a:lnSpc>
                <a:spcPct val="170000"/>
              </a:lnSpc>
              <a:spcAft>
                <a:spcPts val="15"/>
              </a:spcAft>
              <a:buNone/>
            </a:pPr>
            <a:endParaRPr lang="en-IN" sz="2000" dirty="0">
              <a:effectLst/>
              <a:latin typeface="+mn-lt"/>
              <a:ea typeface="Calibri" panose="020F0502020204030204" pitchFamily="34" charset="0"/>
              <a:cs typeface="Times New Roman" panose="02020603050405020304" pitchFamily="18" charset="0"/>
            </a:endParaRPr>
          </a:p>
          <a:p>
            <a:pPr marL="0" indent="0" algn="just">
              <a:lnSpc>
                <a:spcPct val="170000"/>
              </a:lnSpc>
              <a:spcAft>
                <a:spcPts val="15"/>
              </a:spcAft>
              <a:buNone/>
            </a:pPr>
            <a:endParaRPr lang="en-IN" sz="2000" dirty="0">
              <a:effectLst/>
              <a:latin typeface="+mn-lt"/>
              <a:ea typeface="Calibri" panose="020F0502020204030204" pitchFamily="34" charset="0"/>
              <a:cs typeface="Times New Roman" panose="02020603050405020304" pitchFamily="18" charset="0"/>
            </a:endParaRPr>
          </a:p>
          <a:p>
            <a:pPr marL="0" indent="0" algn="just">
              <a:lnSpc>
                <a:spcPct val="170000"/>
              </a:lnSpc>
              <a:buNone/>
            </a:pPr>
            <a:endParaRPr lang="en-IN" sz="3100" dirty="0">
              <a:latin typeface="+mn-lt"/>
            </a:endParaRPr>
          </a:p>
          <a:p>
            <a:endParaRPr lang="en-IN" dirty="0"/>
          </a:p>
        </p:txBody>
      </p:sp>
      <p:sp>
        <p:nvSpPr>
          <p:cNvPr id="2" name="Google Shape;98;g2eff20282af_0_123">
            <a:extLst>
              <a:ext uri="{FF2B5EF4-FFF2-40B4-BE49-F238E27FC236}">
                <a16:creationId xmlns:a16="http://schemas.microsoft.com/office/drawing/2014/main" id="{DE624F53-7CDA-299D-C6E7-A5ED1A1C7A1A}"/>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69380287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D89B9A-1526-611D-30F6-6B6AD788C93B}"/>
              </a:ext>
            </a:extLst>
          </p:cNvPr>
          <p:cNvSpPr>
            <a:spLocks noGrp="1"/>
          </p:cNvSpPr>
          <p:nvPr>
            <p:ph idx="1"/>
          </p:nvPr>
        </p:nvSpPr>
        <p:spPr>
          <a:xfrm>
            <a:off x="2531256" y="-1"/>
            <a:ext cx="9573658" cy="6760029"/>
          </a:xfrm>
        </p:spPr>
        <p:txBody>
          <a:bodyPr>
            <a:normAutofit/>
          </a:bodyPr>
          <a:lstStyle/>
          <a:p>
            <a:pPr marL="0" indent="0" algn="ctr">
              <a:lnSpc>
                <a:spcPct val="150000"/>
              </a:lnSpc>
              <a:spcAft>
                <a:spcPts val="800"/>
              </a:spcAft>
              <a:buNone/>
            </a:pPr>
            <a:r>
              <a:rPr lang="en-US" sz="2400" b="1" dirty="0">
                <a:solidFill>
                  <a:srgbClr val="FF0000"/>
                </a:solidFill>
                <a:effectLst/>
                <a:latin typeface="+mn-lt"/>
                <a:ea typeface="Cambria" panose="02040503050406030204" pitchFamily="18" charset="0"/>
                <a:cs typeface="Times New Roman" panose="02020603050405020304" pitchFamily="18" charset="0"/>
              </a:rPr>
              <a:t>Copy-on-write</a:t>
            </a:r>
            <a:endParaRPr lang="en-IN" sz="2400" b="1" dirty="0">
              <a:solidFill>
                <a:srgbClr val="FF0000"/>
              </a:solidFill>
              <a:effectLst/>
              <a:latin typeface="+mn-lt"/>
              <a:ea typeface="Calibri" panose="020F0502020204030204" pitchFamily="34" charset="0"/>
              <a:cs typeface="Times New Roman" panose="02020603050405020304" pitchFamily="18" charset="0"/>
            </a:endParaRPr>
          </a:p>
          <a:p>
            <a:pPr marL="0" indent="0" algn="just">
              <a:lnSpc>
                <a:spcPct val="150000"/>
              </a:lnSpc>
              <a:spcAft>
                <a:spcPts val="800"/>
              </a:spcAft>
              <a:buNone/>
            </a:pPr>
            <a:r>
              <a:rPr lang="en-US" sz="2400" dirty="0">
                <a:effectLst/>
                <a:latin typeface="+mn-lt"/>
                <a:ea typeface="Cambria" panose="02040503050406030204" pitchFamily="18" charset="0"/>
                <a:cs typeface="Times New Roman" panose="02020603050405020304" pitchFamily="18" charset="0"/>
              </a:rPr>
              <a:t>Copy on write(</a:t>
            </a:r>
            <a:r>
              <a:rPr lang="en-US" sz="2400" dirty="0" err="1">
                <a:effectLst/>
                <a:latin typeface="+mn-lt"/>
                <a:ea typeface="Cambria" panose="02040503050406030204" pitchFamily="18" charset="0"/>
                <a:cs typeface="Times New Roman" panose="02020603050405020304" pitchFamily="18" charset="0"/>
              </a:rPr>
              <a:t>CoW</a:t>
            </a:r>
            <a:r>
              <a:rPr lang="en-US" sz="2400" dirty="0">
                <a:effectLst/>
                <a:latin typeface="+mn-lt"/>
                <a:ea typeface="Cambria" panose="02040503050406030204" pitchFamily="18" charset="0"/>
                <a:cs typeface="Times New Roman" panose="02020603050405020304" pitchFamily="18" charset="0"/>
              </a:rPr>
              <a:t>) is a technique that is used for sharing virtual memory or pages. It is mostly used in conjunction with the fork() system </a:t>
            </a:r>
            <a:r>
              <a:rPr lang="en-US" sz="2400" dirty="0">
                <a:latin typeface="+mn-lt"/>
                <a:ea typeface="Cambria" panose="02040503050406030204" pitchFamily="18" charset="0"/>
                <a:cs typeface="Times New Roman" panose="02020603050405020304" pitchFamily="18" charset="0"/>
              </a:rPr>
              <a:t>call that is used for creating child </a:t>
            </a:r>
            <a:r>
              <a:rPr lang="en-US" sz="2400" dirty="0">
                <a:effectLst/>
                <a:latin typeface="+mn-lt"/>
                <a:ea typeface="Cambria" panose="02040503050406030204" pitchFamily="18" charset="0"/>
                <a:cs typeface="Times New Roman" panose="02020603050405020304" pitchFamily="18" charset="0"/>
              </a:rPr>
              <a:t>Process.</a:t>
            </a:r>
          </a:p>
          <a:p>
            <a:pPr marL="0" indent="0" algn="just">
              <a:lnSpc>
                <a:spcPct val="150000"/>
              </a:lnSpc>
              <a:spcAft>
                <a:spcPts val="800"/>
              </a:spcAft>
              <a:buNone/>
            </a:pPr>
            <a:r>
              <a:rPr lang="en-US" sz="2400" dirty="0">
                <a:effectLst/>
                <a:latin typeface="+mn-lt"/>
                <a:ea typeface="Cambria" panose="02040503050406030204" pitchFamily="18" charset="0"/>
                <a:cs typeface="Times New Roman" panose="02020603050405020304" pitchFamily="18" charset="0"/>
              </a:rPr>
              <a:t> fork() system call creates a child process as a duplicate of its parent.</a:t>
            </a:r>
          </a:p>
          <a:p>
            <a:pPr marL="0" indent="0" algn="ctr">
              <a:lnSpc>
                <a:spcPct val="150000"/>
              </a:lnSpc>
              <a:spcAft>
                <a:spcPts val="800"/>
              </a:spcAft>
              <a:buNone/>
            </a:pPr>
            <a:r>
              <a:rPr lang="en-US" sz="2400" b="1" dirty="0">
                <a:latin typeface="+mn-lt"/>
                <a:ea typeface="Cambria" panose="02040503050406030204" pitchFamily="18" charset="0"/>
                <a:cs typeface="Times New Roman" panose="02020603050405020304" pitchFamily="18" charset="0"/>
              </a:rPr>
              <a:t>I</a:t>
            </a:r>
            <a:r>
              <a:rPr lang="en-IN" sz="2400" b="1" dirty="0" err="1">
                <a:latin typeface="+mn-lt"/>
              </a:rPr>
              <a:t>nstead</a:t>
            </a:r>
            <a:r>
              <a:rPr lang="en-IN" sz="2400" b="1" dirty="0">
                <a:latin typeface="+mn-lt"/>
              </a:rPr>
              <a:t> of doing this we can optimize this method by making the parent and child processes to store the common pages and only create a copy when one of the processes (either child or parent) wants to write (modify) a page.</a:t>
            </a:r>
          </a:p>
          <a:p>
            <a:pPr marL="0" indent="0" algn="just">
              <a:lnSpc>
                <a:spcPct val="150000"/>
              </a:lnSpc>
              <a:spcAft>
                <a:spcPts val="800"/>
              </a:spcAft>
              <a:buNone/>
            </a:pPr>
            <a:r>
              <a:rPr lang="en-IN" sz="2400" b="1" dirty="0">
                <a:latin typeface="+mn-lt"/>
              </a:rPr>
              <a:t>This technique is called Copy on write.</a:t>
            </a:r>
          </a:p>
        </p:txBody>
      </p:sp>
      <p:sp>
        <p:nvSpPr>
          <p:cNvPr id="2" name="Google Shape;98;g2eff20282af_0_123">
            <a:extLst>
              <a:ext uri="{FF2B5EF4-FFF2-40B4-BE49-F238E27FC236}">
                <a16:creationId xmlns:a16="http://schemas.microsoft.com/office/drawing/2014/main" id="{5C9E3714-7FC7-E9C1-6F86-EF7D7D75B34B}"/>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86186165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FBAF12B-FC05-C1E4-CAF8-1A6B529652CD}"/>
              </a:ext>
            </a:extLst>
          </p:cNvPr>
          <p:cNvSpPr txBox="1"/>
          <p:nvPr/>
        </p:nvSpPr>
        <p:spPr>
          <a:xfrm>
            <a:off x="4087586" y="6105265"/>
            <a:ext cx="6106884" cy="503984"/>
          </a:xfrm>
          <a:prstGeom prst="rect">
            <a:avLst/>
          </a:prstGeom>
          <a:noFill/>
        </p:spPr>
        <p:txBody>
          <a:bodyPr wrap="square">
            <a:spAutoFit/>
          </a:bodyPr>
          <a:lstStyle/>
          <a:p>
            <a:pPr algn="ctr">
              <a:lnSpc>
                <a:spcPct val="149000"/>
              </a:lnSpc>
              <a:spcAft>
                <a:spcPts val="800"/>
              </a:spcAft>
            </a:pPr>
            <a:r>
              <a:rPr lang="en-US" sz="2000" dirty="0">
                <a:effectLst/>
                <a:ea typeface="Calibri" panose="020F0502020204030204" pitchFamily="34" charset="0"/>
                <a:cs typeface="Times New Roman" panose="02020603050405020304" pitchFamily="18" charset="0"/>
              </a:rPr>
              <a:t>Before process 1 modifies page C.</a:t>
            </a:r>
            <a:endParaRPr lang="en-IN" sz="2000" dirty="0">
              <a:effectLst/>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4B2BDD96-C5F2-3648-35AC-3905D15F6E4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56560" y="457200"/>
            <a:ext cx="8605520" cy="5506720"/>
          </a:xfrm>
          <a:prstGeom prst="rect">
            <a:avLst/>
          </a:prstGeom>
          <a:noFill/>
          <a:ln>
            <a:noFill/>
          </a:ln>
        </p:spPr>
      </p:pic>
      <p:sp>
        <p:nvSpPr>
          <p:cNvPr id="3" name="Google Shape;98;g2eff20282af_0_123">
            <a:extLst>
              <a:ext uri="{FF2B5EF4-FFF2-40B4-BE49-F238E27FC236}">
                <a16:creationId xmlns:a16="http://schemas.microsoft.com/office/drawing/2014/main" id="{A55CF886-E9CD-E5A1-41BD-2018C53CFE74}"/>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92556205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BF272DC-B59A-2EAC-9773-8CBCA36DE505}"/>
              </a:ext>
            </a:extLst>
          </p:cNvPr>
          <p:cNvSpPr txBox="1"/>
          <p:nvPr/>
        </p:nvSpPr>
        <p:spPr>
          <a:xfrm>
            <a:off x="4354637" y="6077600"/>
            <a:ext cx="6106884" cy="503984"/>
          </a:xfrm>
          <a:prstGeom prst="rect">
            <a:avLst/>
          </a:prstGeom>
          <a:noFill/>
        </p:spPr>
        <p:txBody>
          <a:bodyPr wrap="square">
            <a:spAutoFit/>
          </a:bodyPr>
          <a:lstStyle/>
          <a:p>
            <a:pPr algn="ctr">
              <a:lnSpc>
                <a:spcPct val="149000"/>
              </a:lnSpc>
              <a:spcAft>
                <a:spcPts val="800"/>
              </a:spcAft>
            </a:pPr>
            <a:r>
              <a:rPr lang="en-US" sz="2000" dirty="0">
                <a:effectLst/>
                <a:ea typeface="Calibri" panose="020F0502020204030204" pitchFamily="34" charset="0"/>
                <a:cs typeface="Times New Roman" panose="02020603050405020304" pitchFamily="18" charset="0"/>
              </a:rPr>
              <a:t>After process 1 modifies page C.</a:t>
            </a:r>
            <a:endParaRPr lang="en-IN" sz="2000" dirty="0">
              <a:effectLst/>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85652CC7-BBCD-E38E-681F-E66E59DA700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65120" y="276416"/>
            <a:ext cx="8869680" cy="5657024"/>
          </a:xfrm>
          <a:prstGeom prst="rect">
            <a:avLst/>
          </a:prstGeom>
          <a:noFill/>
          <a:ln>
            <a:noFill/>
          </a:ln>
        </p:spPr>
      </p:pic>
      <p:sp>
        <p:nvSpPr>
          <p:cNvPr id="3" name="Google Shape;98;g2eff20282af_0_123">
            <a:extLst>
              <a:ext uri="{FF2B5EF4-FFF2-40B4-BE49-F238E27FC236}">
                <a16:creationId xmlns:a16="http://schemas.microsoft.com/office/drawing/2014/main" id="{F0BD833C-1E93-FA25-50C7-6B7E5F2974AB}"/>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23857711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A1281E-E029-56D7-FB43-E4AE22B45277}"/>
              </a:ext>
            </a:extLst>
          </p:cNvPr>
          <p:cNvSpPr>
            <a:spLocks noGrp="1"/>
          </p:cNvSpPr>
          <p:nvPr>
            <p:ph idx="1"/>
          </p:nvPr>
        </p:nvSpPr>
        <p:spPr>
          <a:xfrm>
            <a:off x="2533880" y="143218"/>
            <a:ext cx="9485522" cy="6610121"/>
          </a:xfrm>
        </p:spPr>
        <p:txBody>
          <a:bodyPr>
            <a:normAutofit/>
          </a:bodyPr>
          <a:lstStyle/>
          <a:p>
            <a:pPr marL="0" indent="0" algn="ctr">
              <a:lnSpc>
                <a:spcPct val="150000"/>
              </a:lnSpc>
              <a:buNone/>
            </a:pPr>
            <a:endParaRPr lang="en-IN" sz="2400" b="1" dirty="0">
              <a:latin typeface="+mn-lt"/>
            </a:endParaRPr>
          </a:p>
          <a:p>
            <a:pPr marL="0" indent="0" algn="ctr">
              <a:lnSpc>
                <a:spcPct val="150000"/>
              </a:lnSpc>
              <a:buNone/>
            </a:pPr>
            <a:r>
              <a:rPr lang="en-IN" sz="2400" b="1" dirty="0">
                <a:latin typeface="+mn-lt"/>
              </a:rPr>
              <a:t>Only pages that can be modified need be marked as copy on write</a:t>
            </a:r>
          </a:p>
          <a:p>
            <a:pPr marL="0" indent="0" algn="ctr">
              <a:lnSpc>
                <a:spcPct val="150000"/>
              </a:lnSpc>
              <a:buNone/>
            </a:pPr>
            <a:endParaRPr lang="en-IN" sz="2400" b="1" dirty="0">
              <a:latin typeface="+mn-lt"/>
            </a:endParaRPr>
          </a:p>
          <a:p>
            <a:pPr marL="0" indent="0" algn="ctr">
              <a:lnSpc>
                <a:spcPct val="150000"/>
              </a:lnSpc>
              <a:buNone/>
            </a:pPr>
            <a:endParaRPr lang="en-IN" sz="2400" b="1" dirty="0">
              <a:latin typeface="+mn-lt"/>
            </a:endParaRPr>
          </a:p>
          <a:p>
            <a:pPr marL="0" indent="0" algn="ctr">
              <a:lnSpc>
                <a:spcPct val="150000"/>
              </a:lnSpc>
              <a:buNone/>
            </a:pPr>
            <a:r>
              <a:rPr lang="en-IN" sz="2400" b="1" dirty="0">
                <a:latin typeface="+mn-lt"/>
              </a:rPr>
              <a:t>Pages that cannot be modified (pages containing executable code) can be shared by the parent and child.</a:t>
            </a:r>
          </a:p>
        </p:txBody>
      </p:sp>
      <p:sp>
        <p:nvSpPr>
          <p:cNvPr id="2" name="Google Shape;98;g2eff20282af_0_123">
            <a:extLst>
              <a:ext uri="{FF2B5EF4-FFF2-40B4-BE49-F238E27FC236}">
                <a16:creationId xmlns:a16="http://schemas.microsoft.com/office/drawing/2014/main" id="{81295307-C086-7A12-BD9E-3E93D3AA6060}"/>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50075981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F13589-4A2B-DE9B-B15C-8E84AAAC06FC}"/>
              </a:ext>
            </a:extLst>
          </p:cNvPr>
          <p:cNvSpPr>
            <a:spLocks noGrp="1"/>
          </p:cNvSpPr>
          <p:nvPr>
            <p:ph idx="1"/>
          </p:nvPr>
        </p:nvSpPr>
        <p:spPr>
          <a:xfrm>
            <a:off x="2599981" y="143218"/>
            <a:ext cx="9592019" cy="6714781"/>
          </a:xfrm>
        </p:spPr>
        <p:txBody>
          <a:bodyPr>
            <a:normAutofit/>
          </a:bodyPr>
          <a:lstStyle/>
          <a:p>
            <a:pPr marL="0" indent="0" algn="ctr">
              <a:lnSpc>
                <a:spcPct val="150000"/>
              </a:lnSpc>
              <a:buNone/>
            </a:pPr>
            <a:r>
              <a:rPr lang="en-IN" sz="2400" b="1" dirty="0">
                <a:solidFill>
                  <a:srgbClr val="FF0000"/>
                </a:solidFill>
                <a:latin typeface="+mn-lt"/>
              </a:rPr>
              <a:t>Page Replacement</a:t>
            </a:r>
          </a:p>
          <a:p>
            <a:pPr marL="0" indent="0" algn="just">
              <a:lnSpc>
                <a:spcPct val="150000"/>
              </a:lnSpc>
              <a:buNone/>
            </a:pPr>
            <a:r>
              <a:rPr lang="en-IN" sz="2400" dirty="0">
                <a:latin typeface="+mn-lt"/>
              </a:rPr>
              <a:t>Page replacement is the technique of swapping out pages from physical memory when there are no more free frames available, in order to make room for other pages which has to be loaded to the physical memory. </a:t>
            </a:r>
          </a:p>
          <a:p>
            <a:pPr marL="0" indent="0" algn="just">
              <a:lnSpc>
                <a:spcPct val="150000"/>
              </a:lnSpc>
              <a:buNone/>
            </a:pPr>
            <a:r>
              <a:rPr lang="en-IN" sz="2400" dirty="0">
                <a:latin typeface="+mn-lt"/>
              </a:rPr>
              <a:t>If a process wants to use/access a page which is not present in physical memory, it will cause a page fault.</a:t>
            </a:r>
          </a:p>
          <a:p>
            <a:pPr marL="0" indent="0" algn="just">
              <a:lnSpc>
                <a:spcPct val="150000"/>
              </a:lnSpc>
              <a:buNone/>
            </a:pPr>
            <a:r>
              <a:rPr lang="en-IN" sz="2400" dirty="0">
                <a:latin typeface="+mn-lt"/>
              </a:rPr>
              <a:t>So, that page has to be now loaded into memory.</a:t>
            </a:r>
          </a:p>
          <a:p>
            <a:pPr marL="0" indent="0" algn="just">
              <a:lnSpc>
                <a:spcPct val="150000"/>
              </a:lnSpc>
              <a:buNone/>
            </a:pPr>
            <a:r>
              <a:rPr lang="en-IN" sz="2400" dirty="0">
                <a:latin typeface="+mn-lt"/>
              </a:rPr>
              <a:t>.</a:t>
            </a:r>
          </a:p>
        </p:txBody>
      </p:sp>
      <p:sp>
        <p:nvSpPr>
          <p:cNvPr id="2" name="Google Shape;98;g2eff20282af_0_123">
            <a:extLst>
              <a:ext uri="{FF2B5EF4-FFF2-40B4-BE49-F238E27FC236}">
                <a16:creationId xmlns:a16="http://schemas.microsoft.com/office/drawing/2014/main" id="{98D647D5-1063-A9C6-46BD-CA6E8AFAD151}"/>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5663716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FB53879-1FE0-458D-C743-C8BB161092EC}"/>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956560" y="180460"/>
            <a:ext cx="8696960" cy="5482146"/>
          </a:xfrm>
          <a:prstGeom prst="rect">
            <a:avLst/>
          </a:prstGeom>
          <a:noFill/>
          <a:ln>
            <a:noFill/>
          </a:ln>
        </p:spPr>
      </p:pic>
      <p:sp>
        <p:nvSpPr>
          <p:cNvPr id="6" name="TextBox 5">
            <a:extLst>
              <a:ext uri="{FF2B5EF4-FFF2-40B4-BE49-F238E27FC236}">
                <a16:creationId xmlns:a16="http://schemas.microsoft.com/office/drawing/2014/main" id="{C367531C-99F5-2C2D-59FA-E8FEE935410D}"/>
              </a:ext>
            </a:extLst>
          </p:cNvPr>
          <p:cNvSpPr txBox="1"/>
          <p:nvPr/>
        </p:nvSpPr>
        <p:spPr>
          <a:xfrm>
            <a:off x="5765800" y="6115169"/>
            <a:ext cx="6106160" cy="400110"/>
          </a:xfrm>
          <a:prstGeom prst="rect">
            <a:avLst/>
          </a:prstGeom>
          <a:noFill/>
        </p:spPr>
        <p:txBody>
          <a:bodyPr wrap="square">
            <a:spAutoFit/>
          </a:bodyPr>
          <a:lstStyle/>
          <a:p>
            <a:r>
              <a:rPr lang="en-US" sz="2000" dirty="0">
                <a:effectLst/>
                <a:ea typeface="Calibri" panose="020F0502020204030204" pitchFamily="34" charset="0"/>
              </a:rPr>
              <a:t>Need for page replacement</a:t>
            </a:r>
            <a:endParaRPr lang="en-IN" sz="2000" dirty="0"/>
          </a:p>
        </p:txBody>
      </p:sp>
      <p:sp>
        <p:nvSpPr>
          <p:cNvPr id="2" name="Google Shape;98;g2eff20282af_0_123">
            <a:extLst>
              <a:ext uri="{FF2B5EF4-FFF2-40B4-BE49-F238E27FC236}">
                <a16:creationId xmlns:a16="http://schemas.microsoft.com/office/drawing/2014/main" id="{33E2DD7F-59F5-B385-C9FD-BBD7BFE508F7}"/>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36125171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39AAAE-2097-5C79-D3B4-AA9E0272BAFF}"/>
              </a:ext>
            </a:extLst>
          </p:cNvPr>
          <p:cNvSpPr>
            <a:spLocks noGrp="1"/>
          </p:cNvSpPr>
          <p:nvPr>
            <p:ph idx="1"/>
          </p:nvPr>
        </p:nvSpPr>
        <p:spPr>
          <a:xfrm>
            <a:off x="2547257" y="119742"/>
            <a:ext cx="9503229" cy="6520543"/>
          </a:xfrm>
        </p:spPr>
        <p:txBody>
          <a:bodyPr>
            <a:normAutofit/>
          </a:bodyPr>
          <a:lstStyle/>
          <a:p>
            <a:pPr marL="0" indent="0" algn="just">
              <a:lnSpc>
                <a:spcPct val="150000"/>
              </a:lnSpc>
              <a:buNone/>
            </a:pPr>
            <a:r>
              <a:rPr lang="en-IN" sz="2400" dirty="0">
                <a:solidFill>
                  <a:srgbClr val="0000FF"/>
                </a:solidFill>
                <a:latin typeface="+mn-lt"/>
              </a:rPr>
              <a:t>But if there are no free frames available to load that page, what should we do that?</a:t>
            </a:r>
          </a:p>
          <a:p>
            <a:pPr marL="0" indent="0" algn="just">
              <a:lnSpc>
                <a:spcPct val="150000"/>
              </a:lnSpc>
              <a:buNone/>
            </a:pPr>
            <a:r>
              <a:rPr lang="en-IN" sz="2400" dirty="0">
                <a:latin typeface="+mn-lt"/>
              </a:rPr>
              <a:t>1. We look for an occupied frame that is not being used currently.</a:t>
            </a:r>
          </a:p>
          <a:p>
            <a:pPr marL="0" indent="0" algn="just">
              <a:lnSpc>
                <a:spcPct val="150000"/>
              </a:lnSpc>
              <a:buNone/>
            </a:pPr>
            <a:r>
              <a:rPr lang="en-IN" sz="2400" dirty="0">
                <a:latin typeface="+mn-lt"/>
              </a:rPr>
              <a:t>2. We free that frame by writing its contents to the swap space.</a:t>
            </a:r>
          </a:p>
          <a:p>
            <a:pPr marL="0" indent="0" algn="just">
              <a:lnSpc>
                <a:spcPct val="150000"/>
              </a:lnSpc>
              <a:buNone/>
            </a:pPr>
            <a:r>
              <a:rPr lang="en-IN" sz="2400" dirty="0">
                <a:latin typeface="+mn-lt"/>
              </a:rPr>
              <a:t>3. We update the page tables  to indicate that the page is now no more in memory.</a:t>
            </a:r>
          </a:p>
          <a:p>
            <a:pPr marL="0" indent="0" algn="just">
              <a:lnSpc>
                <a:spcPct val="150000"/>
              </a:lnSpc>
              <a:buNone/>
            </a:pPr>
            <a:r>
              <a:rPr lang="en-IN" sz="2400" dirty="0">
                <a:latin typeface="+mn-lt"/>
              </a:rPr>
              <a:t>4. We load the page of the process that caused the page fault to occur into the freed frame</a:t>
            </a:r>
            <a:endParaRPr lang="en-IN" sz="2400" dirty="0"/>
          </a:p>
        </p:txBody>
      </p:sp>
      <p:sp>
        <p:nvSpPr>
          <p:cNvPr id="2" name="Google Shape;98;g2eff20282af_0_123">
            <a:extLst>
              <a:ext uri="{FF2B5EF4-FFF2-40B4-BE49-F238E27FC236}">
                <a16:creationId xmlns:a16="http://schemas.microsoft.com/office/drawing/2014/main" id="{317036D3-2150-B064-A2CA-9DB15EC778F9}"/>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25254778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D89B9A-1526-611D-30F6-6B6AD788C93B}"/>
              </a:ext>
            </a:extLst>
          </p:cNvPr>
          <p:cNvSpPr>
            <a:spLocks noGrp="1"/>
          </p:cNvSpPr>
          <p:nvPr>
            <p:ph idx="1"/>
          </p:nvPr>
        </p:nvSpPr>
        <p:spPr>
          <a:xfrm>
            <a:off x="2500829" y="88135"/>
            <a:ext cx="9573658" cy="6654188"/>
          </a:xfrm>
        </p:spPr>
        <p:txBody>
          <a:bodyPr>
            <a:normAutofit fontScale="92500"/>
          </a:bodyPr>
          <a:lstStyle/>
          <a:p>
            <a:pPr marL="0" indent="0" algn="just">
              <a:lnSpc>
                <a:spcPct val="150000"/>
              </a:lnSpc>
              <a:buNone/>
            </a:pPr>
            <a:r>
              <a:rPr lang="en-IN" sz="2400" dirty="0">
                <a:solidFill>
                  <a:srgbClr val="0000FF"/>
                </a:solidFill>
                <a:latin typeface="+mn-lt"/>
              </a:rPr>
              <a:t>Steps:</a:t>
            </a:r>
          </a:p>
          <a:p>
            <a:pPr marL="457200" indent="-457200" algn="just">
              <a:lnSpc>
                <a:spcPct val="150000"/>
              </a:lnSpc>
              <a:spcAft>
                <a:spcPts val="800"/>
              </a:spcAft>
              <a:buAutoNum type="arabicPeriod"/>
            </a:pPr>
            <a:r>
              <a:rPr lang="en-US" sz="2400" dirty="0">
                <a:effectLst/>
                <a:latin typeface="+mn-lt"/>
                <a:ea typeface="Calibri" panose="020F0502020204030204" pitchFamily="34" charset="0"/>
                <a:cs typeface="Times New Roman" panose="02020603050405020304" pitchFamily="18" charset="0"/>
              </a:rPr>
              <a:t>Find the location of the page to be loaded  on the disk.</a:t>
            </a:r>
          </a:p>
          <a:p>
            <a:pPr marL="457200" indent="-457200" algn="just">
              <a:lnSpc>
                <a:spcPct val="150000"/>
              </a:lnSpc>
              <a:spcAft>
                <a:spcPts val="800"/>
              </a:spcAft>
              <a:buAutoNum type="arabicPeriod"/>
            </a:pPr>
            <a:r>
              <a:rPr lang="en-US" sz="2400" dirty="0">
                <a:latin typeface="+mn-lt"/>
                <a:ea typeface="Calibri" panose="020F0502020204030204" pitchFamily="34" charset="0"/>
                <a:cs typeface="Times New Roman" panose="02020603050405020304" pitchFamily="18" charset="0"/>
              </a:rPr>
              <a:t>If there is a free frame, use that frame and load the page into that frame.</a:t>
            </a:r>
          </a:p>
          <a:p>
            <a:pPr marL="457200" indent="-457200" algn="just">
              <a:lnSpc>
                <a:spcPct val="150000"/>
              </a:lnSpc>
              <a:spcAft>
                <a:spcPts val="800"/>
              </a:spcAft>
              <a:buAutoNum type="arabicPeriod"/>
            </a:pPr>
            <a:r>
              <a:rPr lang="en-US" sz="2400" dirty="0">
                <a:effectLst/>
                <a:latin typeface="+mn-lt"/>
                <a:ea typeface="Calibri" panose="020F0502020204030204" pitchFamily="34" charset="0"/>
                <a:cs typeface="Times New Roman" panose="02020603050405020304" pitchFamily="18" charset="0"/>
              </a:rPr>
              <a:t>If there ar</a:t>
            </a:r>
            <a:r>
              <a:rPr lang="en-US" sz="2400" dirty="0">
                <a:latin typeface="+mn-lt"/>
                <a:ea typeface="Calibri" panose="020F0502020204030204" pitchFamily="34" charset="0"/>
                <a:cs typeface="Times New Roman" panose="02020603050405020304" pitchFamily="18" charset="0"/>
              </a:rPr>
              <a:t>e no free frames, use a </a:t>
            </a:r>
            <a:r>
              <a:rPr lang="en-US" sz="2400" b="1" dirty="0">
                <a:latin typeface="+mn-lt"/>
                <a:ea typeface="Calibri" panose="020F0502020204030204" pitchFamily="34" charset="0"/>
                <a:cs typeface="Times New Roman" panose="02020603050405020304" pitchFamily="18" charset="0"/>
              </a:rPr>
              <a:t>page replacement algorithm </a:t>
            </a:r>
            <a:r>
              <a:rPr lang="en-US" sz="2400" dirty="0">
                <a:latin typeface="+mn-lt"/>
                <a:ea typeface="Calibri" panose="020F0502020204030204" pitchFamily="34" charset="0"/>
                <a:cs typeface="Times New Roman" panose="02020603050405020304" pitchFamily="18" charset="0"/>
              </a:rPr>
              <a:t>to select a </a:t>
            </a:r>
            <a:r>
              <a:rPr lang="en-US" sz="2400" b="1" dirty="0">
                <a:latin typeface="+mn-lt"/>
                <a:ea typeface="Calibri" panose="020F0502020204030204" pitchFamily="34" charset="0"/>
                <a:cs typeface="Times New Roman" panose="02020603050405020304" pitchFamily="18" charset="0"/>
              </a:rPr>
              <a:t>victim frame.</a:t>
            </a:r>
          </a:p>
          <a:p>
            <a:pPr marL="457200" indent="-457200" algn="just">
              <a:lnSpc>
                <a:spcPct val="150000"/>
              </a:lnSpc>
              <a:spcAft>
                <a:spcPts val="800"/>
              </a:spcAft>
              <a:buAutoNum type="arabicPeriod"/>
            </a:pPr>
            <a:r>
              <a:rPr lang="en-US" sz="2400" dirty="0">
                <a:effectLst/>
                <a:latin typeface="+mn-lt"/>
                <a:ea typeface="Calibri" panose="020F0502020204030204" pitchFamily="34" charset="0"/>
                <a:cs typeface="Times New Roman" panose="02020603050405020304" pitchFamily="18" charset="0"/>
              </a:rPr>
              <a:t>Write the victim frame to the disk and  change the page and frame tables accordingly.</a:t>
            </a:r>
            <a:endParaRPr lang="en-IN" sz="2400" dirty="0">
              <a:latin typeface="+mn-lt"/>
              <a:ea typeface="Calibri" panose="020F0502020204030204" pitchFamily="34" charset="0"/>
              <a:cs typeface="Times New Roman" panose="02020603050405020304" pitchFamily="18" charset="0"/>
            </a:endParaRPr>
          </a:p>
          <a:p>
            <a:pPr marL="457200" indent="-457200" algn="just">
              <a:lnSpc>
                <a:spcPct val="150000"/>
              </a:lnSpc>
              <a:spcAft>
                <a:spcPts val="800"/>
              </a:spcAft>
              <a:buAutoNum type="arabicPeriod"/>
            </a:pPr>
            <a:r>
              <a:rPr lang="en-US" sz="2400" dirty="0">
                <a:effectLst/>
                <a:latin typeface="+mn-lt"/>
                <a:ea typeface="Calibri" panose="020F0502020204030204" pitchFamily="34" charset="0"/>
                <a:cs typeface="Times New Roman" panose="02020603050405020304" pitchFamily="18" charset="0"/>
              </a:rPr>
              <a:t>Read the desired page into the newly freed frame and  change the page and frame tables.</a:t>
            </a:r>
            <a:endParaRPr lang="en-IN" sz="2400" dirty="0">
              <a:latin typeface="+mn-lt"/>
              <a:ea typeface="Calibri" panose="020F0502020204030204" pitchFamily="34" charset="0"/>
              <a:cs typeface="Times New Roman" panose="02020603050405020304" pitchFamily="18" charset="0"/>
            </a:endParaRPr>
          </a:p>
          <a:p>
            <a:pPr marL="457200" indent="-457200" algn="just">
              <a:lnSpc>
                <a:spcPct val="150000"/>
              </a:lnSpc>
              <a:spcAft>
                <a:spcPts val="800"/>
              </a:spcAft>
              <a:buAutoNum type="arabicPeriod"/>
            </a:pPr>
            <a:r>
              <a:rPr lang="en-US" sz="2400" dirty="0">
                <a:effectLst/>
                <a:latin typeface="+mn-lt"/>
                <a:ea typeface="Calibri" panose="020F0502020204030204" pitchFamily="34" charset="0"/>
                <a:cs typeface="Times New Roman" panose="02020603050405020304" pitchFamily="18" charset="0"/>
              </a:rPr>
              <a:t>Restart the user process.</a:t>
            </a:r>
            <a:endParaRPr lang="en-IN" sz="2400" dirty="0">
              <a:effectLst/>
              <a:latin typeface="+mn-lt"/>
              <a:ea typeface="Calibri" panose="020F0502020204030204" pitchFamily="34" charset="0"/>
              <a:cs typeface="Times New Roman" panose="02020603050405020304" pitchFamily="18" charset="0"/>
            </a:endParaRPr>
          </a:p>
          <a:p>
            <a:pPr marL="0" indent="0">
              <a:buNone/>
            </a:pPr>
            <a:endParaRPr lang="en-IN" sz="2400" dirty="0">
              <a:latin typeface="+mn-lt"/>
            </a:endParaRPr>
          </a:p>
        </p:txBody>
      </p:sp>
      <p:sp>
        <p:nvSpPr>
          <p:cNvPr id="2" name="Google Shape;98;g2eff20282af_0_123">
            <a:extLst>
              <a:ext uri="{FF2B5EF4-FFF2-40B4-BE49-F238E27FC236}">
                <a16:creationId xmlns:a16="http://schemas.microsoft.com/office/drawing/2014/main" id="{89AAC17A-E3B5-2F31-920A-88588669A418}"/>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50183170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B4877D6-8CF2-55DB-D0C9-6A4520530828}"/>
              </a:ext>
            </a:extLst>
          </p:cNvPr>
          <p:cNvSpPr txBox="1"/>
          <p:nvPr/>
        </p:nvSpPr>
        <p:spPr>
          <a:xfrm>
            <a:off x="5736773" y="6123604"/>
            <a:ext cx="6106884" cy="400110"/>
          </a:xfrm>
          <a:prstGeom prst="rect">
            <a:avLst/>
          </a:prstGeom>
          <a:noFill/>
        </p:spPr>
        <p:txBody>
          <a:bodyPr wrap="square">
            <a:spAutoFit/>
          </a:bodyPr>
          <a:lstStyle/>
          <a:p>
            <a:r>
              <a:rPr lang="en-US" sz="2000" dirty="0">
                <a:effectLst/>
                <a:ea typeface="Calibri" panose="020F0502020204030204" pitchFamily="34" charset="0"/>
              </a:rPr>
              <a:t>Page Replacement</a:t>
            </a:r>
            <a:endParaRPr lang="en-IN" sz="2000" dirty="0"/>
          </a:p>
        </p:txBody>
      </p:sp>
      <p:pic>
        <p:nvPicPr>
          <p:cNvPr id="2" name="Picture 1">
            <a:extLst>
              <a:ext uri="{FF2B5EF4-FFF2-40B4-BE49-F238E27FC236}">
                <a16:creationId xmlns:a16="http://schemas.microsoft.com/office/drawing/2014/main" id="{6BFCBCCB-C7C7-84C1-C0ED-8A529ABFEE9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65120" y="334286"/>
            <a:ext cx="8978537" cy="5294353"/>
          </a:xfrm>
          <a:prstGeom prst="rect">
            <a:avLst/>
          </a:prstGeom>
          <a:noFill/>
          <a:ln>
            <a:noFill/>
          </a:ln>
        </p:spPr>
      </p:pic>
      <p:sp>
        <p:nvSpPr>
          <p:cNvPr id="3" name="Google Shape;98;g2eff20282af_0_123">
            <a:extLst>
              <a:ext uri="{FF2B5EF4-FFF2-40B4-BE49-F238E27FC236}">
                <a16:creationId xmlns:a16="http://schemas.microsoft.com/office/drawing/2014/main" id="{70D287DB-DA23-BD5B-37A5-7F5E79CF8CA7}"/>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05161231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DDCBEC-C71D-82C6-2261-CDFCF642DE17}"/>
              </a:ext>
            </a:extLst>
          </p:cNvPr>
          <p:cNvSpPr>
            <a:spLocks noGrp="1"/>
          </p:cNvSpPr>
          <p:nvPr>
            <p:ph idx="1"/>
          </p:nvPr>
        </p:nvSpPr>
        <p:spPr>
          <a:xfrm>
            <a:off x="2511846" y="176270"/>
            <a:ext cx="9496540" cy="6533002"/>
          </a:xfrm>
        </p:spPr>
        <p:txBody>
          <a:bodyPr>
            <a:normAutofit/>
          </a:bodyPr>
          <a:lstStyle/>
          <a:p>
            <a:pPr marL="0" indent="0" algn="just">
              <a:lnSpc>
                <a:spcPct val="160000"/>
              </a:lnSpc>
              <a:buNone/>
            </a:pPr>
            <a:r>
              <a:rPr lang="en-US" sz="2400" dirty="0">
                <a:solidFill>
                  <a:srgbClr val="0000FF"/>
                </a:solidFill>
                <a:effectLst/>
                <a:latin typeface="+mn-lt"/>
                <a:ea typeface="Cambria" panose="02040503050406030204" pitchFamily="18" charset="0"/>
                <a:cs typeface="Times New Roman" panose="02020603050405020304" pitchFamily="18" charset="0"/>
              </a:rPr>
              <a:t>Page fault service time when no frames are free</a:t>
            </a:r>
          </a:p>
          <a:p>
            <a:pPr marL="0" indent="0" algn="just">
              <a:lnSpc>
                <a:spcPct val="160000"/>
              </a:lnSpc>
              <a:buNone/>
            </a:pPr>
            <a:r>
              <a:rPr lang="en-US" sz="2400" dirty="0">
                <a:effectLst/>
                <a:latin typeface="+mn-lt"/>
                <a:ea typeface="Cambria" panose="02040503050406030204" pitchFamily="18" charset="0"/>
                <a:cs typeface="Times New Roman" panose="02020603050405020304" pitchFamily="18" charset="0"/>
              </a:rPr>
              <a:t>If no frames are free, </a:t>
            </a:r>
            <a:r>
              <a:rPr lang="en-US" sz="2400" b="1" dirty="0">
                <a:effectLst/>
                <a:latin typeface="+mn-lt"/>
                <a:ea typeface="Cambria" panose="02040503050406030204" pitchFamily="18" charset="0"/>
                <a:cs typeface="Times New Roman" panose="02020603050405020304" pitchFamily="18" charset="0"/>
              </a:rPr>
              <a:t>two page transfers</a:t>
            </a:r>
            <a:r>
              <a:rPr lang="en-US" sz="2400" dirty="0">
                <a:effectLst/>
                <a:latin typeface="+mn-lt"/>
                <a:ea typeface="Cambria" panose="02040503050406030204" pitchFamily="18" charset="0"/>
                <a:cs typeface="Times New Roman" panose="02020603050405020304" pitchFamily="18" charset="0"/>
              </a:rPr>
              <a:t> (one out and one in) are required. </a:t>
            </a:r>
          </a:p>
          <a:p>
            <a:pPr marL="0" indent="0" algn="just">
              <a:lnSpc>
                <a:spcPct val="160000"/>
              </a:lnSpc>
              <a:buNone/>
            </a:pPr>
            <a:r>
              <a:rPr lang="en-US" sz="2400" dirty="0">
                <a:effectLst/>
                <a:latin typeface="+mn-lt"/>
                <a:ea typeface="Cambria" panose="02040503050406030204" pitchFamily="18" charset="0"/>
                <a:cs typeface="Times New Roman" panose="02020603050405020304" pitchFamily="18" charset="0"/>
              </a:rPr>
              <a:t>This </a:t>
            </a:r>
            <a:r>
              <a:rPr lang="en-US" sz="2400" b="1" dirty="0">
                <a:effectLst/>
                <a:latin typeface="+mn-lt"/>
                <a:ea typeface="Cambria" panose="02040503050406030204" pitchFamily="18" charset="0"/>
                <a:cs typeface="Times New Roman" panose="02020603050405020304" pitchFamily="18" charset="0"/>
              </a:rPr>
              <a:t>doubles the page-fault service time</a:t>
            </a:r>
            <a:r>
              <a:rPr lang="en-US" sz="2400" dirty="0">
                <a:effectLst/>
                <a:latin typeface="+mn-lt"/>
                <a:ea typeface="Cambria" panose="02040503050406030204" pitchFamily="18" charset="0"/>
                <a:cs typeface="Times New Roman" panose="02020603050405020304" pitchFamily="18" charset="0"/>
              </a:rPr>
              <a:t> and increases the effective access time accordingly.</a:t>
            </a:r>
            <a:endParaRPr lang="en-US" sz="2400" dirty="0">
              <a:latin typeface="+mn-lt"/>
              <a:ea typeface="Cambria" panose="02040503050406030204" pitchFamily="18" charset="0"/>
              <a:cs typeface="Times New Roman" panose="02020603050405020304" pitchFamily="18" charset="0"/>
            </a:endParaRPr>
          </a:p>
          <a:p>
            <a:pPr marL="0" indent="0" algn="just">
              <a:lnSpc>
                <a:spcPct val="160000"/>
              </a:lnSpc>
              <a:buNone/>
            </a:pPr>
            <a:r>
              <a:rPr lang="en-US" sz="2400" dirty="0">
                <a:effectLst/>
                <a:latin typeface="+mn-lt"/>
                <a:ea typeface="Cambria" panose="02040503050406030204" pitchFamily="18" charset="0"/>
                <a:cs typeface="Times New Roman" panose="02020603050405020304" pitchFamily="18" charset="0"/>
              </a:rPr>
              <a:t>How can we reduce this?</a:t>
            </a:r>
          </a:p>
          <a:p>
            <a:pPr marL="0" indent="0" algn="just">
              <a:lnSpc>
                <a:spcPct val="160000"/>
              </a:lnSpc>
              <a:buNone/>
            </a:pPr>
            <a:r>
              <a:rPr lang="en-US" sz="2400" dirty="0">
                <a:effectLst/>
                <a:latin typeface="+mn-lt"/>
                <a:ea typeface="Cambria" panose="02040503050406030204" pitchFamily="18" charset="0"/>
                <a:cs typeface="Times New Roman" panose="02020603050405020304" pitchFamily="18" charset="0"/>
              </a:rPr>
              <a:t>We can make use of the  </a:t>
            </a:r>
            <a:r>
              <a:rPr lang="en-US" sz="2400" b="1" dirty="0">
                <a:effectLst/>
                <a:latin typeface="+mn-lt"/>
                <a:ea typeface="Cambria" panose="02040503050406030204" pitchFamily="18" charset="0"/>
                <a:cs typeface="Times New Roman" panose="02020603050405020304" pitchFamily="18" charset="0"/>
              </a:rPr>
              <a:t>Modify bit</a:t>
            </a:r>
            <a:r>
              <a:rPr lang="en-US" sz="2400" dirty="0">
                <a:effectLst/>
                <a:latin typeface="+mn-lt"/>
                <a:ea typeface="Cambria" panose="02040503050406030204" pitchFamily="18" charset="0"/>
                <a:cs typeface="Times New Roman" panose="02020603050405020304" pitchFamily="18" charset="0"/>
              </a:rPr>
              <a:t> or </a:t>
            </a:r>
            <a:r>
              <a:rPr lang="en-US" sz="2400" b="1" dirty="0">
                <a:effectLst/>
                <a:latin typeface="+mn-lt"/>
                <a:ea typeface="Cambria" panose="02040503050406030204" pitchFamily="18" charset="0"/>
                <a:cs typeface="Times New Roman" panose="02020603050405020304" pitchFamily="18" charset="0"/>
              </a:rPr>
              <a:t>Dirty bit.</a:t>
            </a:r>
            <a:r>
              <a:rPr lang="en-US" sz="2400" dirty="0">
                <a:effectLst/>
                <a:latin typeface="+mn-lt"/>
                <a:ea typeface="Cambria" panose="02040503050406030204" pitchFamily="18" charset="0"/>
                <a:cs typeface="Times New Roman" panose="02020603050405020304" pitchFamily="18" charset="0"/>
              </a:rPr>
              <a:t> </a:t>
            </a:r>
          </a:p>
          <a:p>
            <a:pPr marL="0" indent="0" algn="just">
              <a:lnSpc>
                <a:spcPct val="160000"/>
              </a:lnSpc>
              <a:buNone/>
            </a:pPr>
            <a:r>
              <a:rPr lang="en-US" sz="2400" dirty="0">
                <a:effectLst/>
                <a:latin typeface="+mn-lt"/>
                <a:ea typeface="Cambria" panose="02040503050406030204" pitchFamily="18" charset="0"/>
                <a:cs typeface="Times New Roman" panose="02020603050405020304" pitchFamily="18" charset="0"/>
              </a:rPr>
              <a:t>The modify bit is set when a page has been modified.</a:t>
            </a:r>
          </a:p>
          <a:p>
            <a:pPr marL="0" indent="0">
              <a:buNone/>
            </a:pPr>
            <a:endParaRPr lang="en-IN" sz="2400" dirty="0">
              <a:latin typeface="+mn-lt"/>
            </a:endParaRPr>
          </a:p>
        </p:txBody>
      </p:sp>
      <p:sp>
        <p:nvSpPr>
          <p:cNvPr id="2" name="Google Shape;98;g2eff20282af_0_123">
            <a:extLst>
              <a:ext uri="{FF2B5EF4-FFF2-40B4-BE49-F238E27FC236}">
                <a16:creationId xmlns:a16="http://schemas.microsoft.com/office/drawing/2014/main" id="{D1AD7586-3908-B713-C846-071017A69FDE}"/>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50181961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538B753-D4D9-35FD-13BF-49E1D6C2EF84}"/>
              </a:ext>
            </a:extLst>
          </p:cNvPr>
          <p:cNvSpPr>
            <a:spLocks noGrp="1"/>
          </p:cNvSpPr>
          <p:nvPr>
            <p:ph idx="1"/>
          </p:nvPr>
        </p:nvSpPr>
        <p:spPr>
          <a:xfrm>
            <a:off x="2569029" y="97971"/>
            <a:ext cx="9481457" cy="6640286"/>
          </a:xfrm>
        </p:spPr>
        <p:txBody>
          <a:bodyPr>
            <a:normAutofit/>
          </a:bodyPr>
          <a:lstStyle/>
          <a:p>
            <a:pPr marL="0" indent="0" algn="just">
              <a:lnSpc>
                <a:spcPct val="150000"/>
              </a:lnSpc>
              <a:buNone/>
            </a:pPr>
            <a:r>
              <a:rPr lang="en-US" sz="2400" dirty="0">
                <a:latin typeface="+mn-lt"/>
                <a:ea typeface="Cambria" panose="02040503050406030204" pitchFamily="18" charset="0"/>
                <a:cs typeface="Times New Roman" panose="02020603050405020304" pitchFamily="18" charset="0"/>
              </a:rPr>
              <a:t>So, when page replacement has to be done on a page which is present in memory.</a:t>
            </a:r>
            <a:endParaRPr lang="en-US" sz="2400" dirty="0">
              <a:effectLst/>
              <a:latin typeface="+mn-lt"/>
              <a:ea typeface="Cambria" panose="02040503050406030204" pitchFamily="18" charset="0"/>
              <a:cs typeface="Times New Roman" panose="02020603050405020304" pitchFamily="18" charset="0"/>
            </a:endParaRPr>
          </a:p>
          <a:p>
            <a:pPr marL="0" indent="0" algn="just">
              <a:lnSpc>
                <a:spcPct val="150000"/>
              </a:lnSpc>
              <a:buNone/>
            </a:pPr>
            <a:r>
              <a:rPr lang="en-IN" sz="2400" b="1" dirty="0">
                <a:effectLst/>
                <a:latin typeface="+mn-lt"/>
                <a:ea typeface="Calibri" panose="020F0502020204030204" pitchFamily="34" charset="0"/>
                <a:cs typeface="Times New Roman" panose="02020603050405020304" pitchFamily="18" charset="0"/>
              </a:rPr>
              <a:t>If modify bit is set – That means the page has been modified and we need to write that to the disk.</a:t>
            </a:r>
          </a:p>
          <a:p>
            <a:pPr marL="0" indent="0" algn="just">
              <a:lnSpc>
                <a:spcPct val="150000"/>
              </a:lnSpc>
              <a:buNone/>
            </a:pPr>
            <a:r>
              <a:rPr lang="en-IN" sz="2400" b="1" dirty="0">
                <a:latin typeface="+mn-lt"/>
                <a:ea typeface="Calibri" panose="020F0502020204030204" pitchFamily="34" charset="0"/>
                <a:cs typeface="Times New Roman" panose="02020603050405020304" pitchFamily="18" charset="0"/>
              </a:rPr>
              <a:t>If the modify bit is not set – That means the page has not been modified and is the same as the copy which is already present in the disk.</a:t>
            </a:r>
          </a:p>
          <a:p>
            <a:pPr marL="0" indent="0" algn="just">
              <a:lnSpc>
                <a:spcPct val="150000"/>
              </a:lnSpc>
              <a:buNone/>
            </a:pPr>
            <a:r>
              <a:rPr lang="en-IN" sz="2400" dirty="0">
                <a:effectLst/>
                <a:latin typeface="+mn-lt"/>
                <a:ea typeface="Calibri" panose="020F0502020204030204" pitchFamily="34" charset="0"/>
                <a:cs typeface="Times New Roman" panose="02020603050405020304" pitchFamily="18" charset="0"/>
              </a:rPr>
              <a:t>In this case, we don’t have to overwrite this page on the disk, thus reducing the overhead and the effective access time accordingly. </a:t>
            </a:r>
          </a:p>
          <a:p>
            <a:pPr marL="0" indent="0">
              <a:buNone/>
            </a:pPr>
            <a:endParaRPr lang="en-IN" dirty="0"/>
          </a:p>
        </p:txBody>
      </p:sp>
      <p:sp>
        <p:nvSpPr>
          <p:cNvPr id="2" name="Google Shape;98;g2eff20282af_0_123">
            <a:extLst>
              <a:ext uri="{FF2B5EF4-FFF2-40B4-BE49-F238E27FC236}">
                <a16:creationId xmlns:a16="http://schemas.microsoft.com/office/drawing/2014/main" id="{51B6B60B-F985-4315-C674-8219DB49EB20}"/>
              </a:ext>
            </a:extLst>
          </p:cNvPr>
          <p:cNvSpPr txBox="1"/>
          <p:nvPr/>
        </p:nvSpPr>
        <p:spPr>
          <a:xfrm>
            <a:off x="524064" y="3900777"/>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43313897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003FB9-679A-4BA0-9A26-2C1A6462A92F}"/>
              </a:ext>
            </a:extLst>
          </p:cNvPr>
          <p:cNvSpPr>
            <a:spLocks noGrp="1"/>
          </p:cNvSpPr>
          <p:nvPr>
            <p:ph idx="1"/>
          </p:nvPr>
        </p:nvSpPr>
        <p:spPr>
          <a:xfrm>
            <a:off x="2588964" y="143218"/>
            <a:ext cx="9474506" cy="6714781"/>
          </a:xfrm>
        </p:spPr>
        <p:txBody>
          <a:bodyPr>
            <a:normAutofit fontScale="92500"/>
          </a:bodyPr>
          <a:lstStyle/>
          <a:p>
            <a:pPr marL="0" indent="0" algn="ctr">
              <a:lnSpc>
                <a:spcPct val="150000"/>
              </a:lnSpc>
              <a:buNone/>
            </a:pPr>
            <a:r>
              <a:rPr lang="en-US" sz="2400" b="1" dirty="0">
                <a:solidFill>
                  <a:srgbClr val="FF0000"/>
                </a:solidFill>
                <a:effectLst/>
                <a:latin typeface="+mn-lt"/>
                <a:ea typeface="Cambria" panose="02040503050406030204" pitchFamily="18" charset="0"/>
                <a:cs typeface="Times New Roman" panose="02020603050405020304" pitchFamily="18" charset="0"/>
              </a:rPr>
              <a:t>FIFO page replacement</a:t>
            </a:r>
            <a:r>
              <a:rPr lang="en-US" sz="2400" b="1" dirty="0">
                <a:effectLst/>
                <a:latin typeface="+mn-lt"/>
                <a:ea typeface="Cambria" panose="02040503050406030204" pitchFamily="18" charset="0"/>
                <a:cs typeface="Times New Roman" panose="02020603050405020304" pitchFamily="18" charset="0"/>
              </a:rPr>
              <a:t> </a:t>
            </a:r>
            <a:endParaRPr lang="en-IN" sz="2400" b="1" dirty="0">
              <a:effectLst/>
              <a:latin typeface="+mn-lt"/>
              <a:ea typeface="Calibri" panose="020F0502020204030204" pitchFamily="34" charset="0"/>
              <a:cs typeface="Times New Roman" panose="02020603050405020304" pitchFamily="18" charset="0"/>
            </a:endParaRPr>
          </a:p>
          <a:p>
            <a:pPr marL="0" indent="0" algn="just">
              <a:lnSpc>
                <a:spcPct val="150000"/>
              </a:lnSpc>
              <a:buNone/>
            </a:pPr>
            <a:r>
              <a:rPr lang="en-IN" sz="2400" dirty="0">
                <a:latin typeface="+mn-lt"/>
              </a:rPr>
              <a:t>The first-in, first-out (FIFO) algorithm is the simplest page replacement algorithm.</a:t>
            </a:r>
          </a:p>
          <a:p>
            <a:pPr marL="0" indent="0" algn="just">
              <a:lnSpc>
                <a:spcPct val="150000"/>
              </a:lnSpc>
              <a:buNone/>
            </a:pPr>
            <a:r>
              <a:rPr lang="en-IN" sz="2400" dirty="0">
                <a:latin typeface="+mn-lt"/>
              </a:rPr>
              <a:t>When page replacement has to be done, the oldest page in memory is chosen  to be swapped out.</a:t>
            </a:r>
          </a:p>
          <a:p>
            <a:pPr marL="0" indent="0" algn="just">
              <a:lnSpc>
                <a:spcPct val="150000"/>
              </a:lnSpc>
              <a:buNone/>
            </a:pPr>
            <a:r>
              <a:rPr lang="en-IN" sz="2400" dirty="0">
                <a:latin typeface="+mn-lt"/>
              </a:rPr>
              <a:t>How to maintain a record of the time that pages were brought into memory in order to figure out which is the oldest one?</a:t>
            </a:r>
          </a:p>
          <a:p>
            <a:pPr marL="0" indent="0" algn="just">
              <a:lnSpc>
                <a:spcPct val="150000"/>
              </a:lnSpc>
              <a:buNone/>
            </a:pPr>
            <a:r>
              <a:rPr lang="en-IN" sz="2400" dirty="0">
                <a:latin typeface="+mn-lt"/>
              </a:rPr>
              <a:t>We don’t have to strictly record the time.</a:t>
            </a:r>
          </a:p>
          <a:p>
            <a:pPr marL="0" indent="0" algn="just">
              <a:lnSpc>
                <a:spcPct val="150000"/>
              </a:lnSpc>
              <a:buNone/>
            </a:pPr>
            <a:r>
              <a:rPr lang="en-IN" sz="2400" dirty="0">
                <a:latin typeface="+mn-lt"/>
              </a:rPr>
              <a:t>Instead we can use a FIFO queue that can hold all the pages that are in memory.</a:t>
            </a:r>
          </a:p>
          <a:p>
            <a:pPr marL="0" indent="0" algn="just">
              <a:lnSpc>
                <a:spcPct val="150000"/>
              </a:lnSpc>
              <a:buNone/>
            </a:pPr>
            <a:r>
              <a:rPr lang="en-IN" sz="2400" dirty="0">
                <a:latin typeface="+mn-lt"/>
              </a:rPr>
              <a:t>When replacement has to be done, we choose the page at the head of the queue to be swapped out of memory. </a:t>
            </a:r>
          </a:p>
          <a:p>
            <a:pPr marL="0" indent="0" algn="just">
              <a:lnSpc>
                <a:spcPct val="150000"/>
              </a:lnSpc>
              <a:buNone/>
            </a:pPr>
            <a:r>
              <a:rPr lang="en-IN" sz="2400" dirty="0">
                <a:latin typeface="+mn-lt"/>
              </a:rPr>
              <a:t>When a new page is loaded into memory, we add it to the tail of the queue.</a:t>
            </a:r>
          </a:p>
          <a:p>
            <a:pPr marL="0" indent="0" algn="just">
              <a:lnSpc>
                <a:spcPct val="150000"/>
              </a:lnSpc>
              <a:buNone/>
            </a:pPr>
            <a:endParaRPr lang="en-IN" sz="2000" dirty="0">
              <a:latin typeface="+mn-lt"/>
            </a:endParaRPr>
          </a:p>
        </p:txBody>
      </p:sp>
      <p:sp>
        <p:nvSpPr>
          <p:cNvPr id="2" name="Google Shape;98;g2eff20282af_0_123">
            <a:extLst>
              <a:ext uri="{FF2B5EF4-FFF2-40B4-BE49-F238E27FC236}">
                <a16:creationId xmlns:a16="http://schemas.microsoft.com/office/drawing/2014/main" id="{FF09B54F-63F1-280A-15A7-DF03D09AA578}"/>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67787504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003FB9-679A-4BA0-9A26-2C1A6462A92F}"/>
              </a:ext>
            </a:extLst>
          </p:cNvPr>
          <p:cNvSpPr>
            <a:spLocks noGrp="1"/>
          </p:cNvSpPr>
          <p:nvPr>
            <p:ph idx="1"/>
          </p:nvPr>
        </p:nvSpPr>
        <p:spPr>
          <a:xfrm>
            <a:off x="2588964" y="533400"/>
            <a:ext cx="9156722" cy="6248400"/>
          </a:xfrm>
        </p:spPr>
        <p:txBody>
          <a:bodyPr>
            <a:normAutofit/>
          </a:bodyPr>
          <a:lstStyle/>
          <a:p>
            <a:pPr marL="0" indent="0" algn="just">
              <a:lnSpc>
                <a:spcPct val="150000"/>
              </a:lnSpc>
              <a:buNone/>
            </a:pPr>
            <a:r>
              <a:rPr lang="en-US" sz="2400" dirty="0">
                <a:latin typeface="+mn-lt"/>
              </a:rPr>
              <a:t>Consider the reference string</a:t>
            </a:r>
          </a:p>
          <a:p>
            <a:pPr marL="0" indent="0" algn="just">
              <a:lnSpc>
                <a:spcPct val="150000"/>
              </a:lnSpc>
              <a:buNone/>
            </a:pPr>
            <a:r>
              <a:rPr lang="en-US" sz="2400" b="1" dirty="0">
                <a:latin typeface="+mn-lt"/>
              </a:rPr>
              <a:t>7,0,1,2,0,3,0,4,2,3,0,3,2,1,2,0,1,7,0,1 </a:t>
            </a:r>
            <a:r>
              <a:rPr lang="en-US" sz="2400" dirty="0">
                <a:latin typeface="+mn-lt"/>
              </a:rPr>
              <a:t>where each value represents a page.</a:t>
            </a:r>
          </a:p>
          <a:p>
            <a:pPr marL="0" indent="0" algn="just">
              <a:lnSpc>
                <a:spcPct val="150000"/>
              </a:lnSpc>
              <a:buNone/>
            </a:pPr>
            <a:r>
              <a:rPr lang="en-US" sz="2400" dirty="0">
                <a:latin typeface="+mn-lt"/>
              </a:rPr>
              <a:t>Let us say we have 3 frames in memory</a:t>
            </a:r>
          </a:p>
          <a:p>
            <a:pPr marL="0" indent="0" algn="just">
              <a:lnSpc>
                <a:spcPct val="150000"/>
              </a:lnSpc>
              <a:buNone/>
            </a:pPr>
            <a:endParaRPr lang="en-US" sz="2400" dirty="0">
              <a:latin typeface="+mn-lt"/>
            </a:endParaRPr>
          </a:p>
          <a:p>
            <a:pPr marL="0" indent="0" algn="just">
              <a:lnSpc>
                <a:spcPct val="150000"/>
              </a:lnSpc>
              <a:buNone/>
            </a:pPr>
            <a:endParaRPr lang="en-US" sz="2400" dirty="0">
              <a:latin typeface="+mn-lt"/>
            </a:endParaRPr>
          </a:p>
          <a:p>
            <a:pPr marL="0" indent="0" algn="just">
              <a:lnSpc>
                <a:spcPct val="150000"/>
              </a:lnSpc>
              <a:buNone/>
            </a:pPr>
            <a:r>
              <a:rPr lang="en-US" sz="2400" dirty="0">
                <a:latin typeface="+mn-lt"/>
              </a:rPr>
              <a:t>Also, let us consider a queue that can hold all the pages that are loaded in memory</a:t>
            </a:r>
          </a:p>
          <a:p>
            <a:pPr marL="0" indent="0" algn="just">
              <a:lnSpc>
                <a:spcPct val="150000"/>
              </a:lnSpc>
              <a:buNone/>
            </a:pPr>
            <a:endParaRPr lang="en-IN" sz="2400" dirty="0">
              <a:latin typeface="+mn-lt"/>
            </a:endParaRPr>
          </a:p>
        </p:txBody>
      </p:sp>
      <p:graphicFrame>
        <p:nvGraphicFramePr>
          <p:cNvPr id="2" name="Table 3">
            <a:extLst>
              <a:ext uri="{FF2B5EF4-FFF2-40B4-BE49-F238E27FC236}">
                <a16:creationId xmlns:a16="http://schemas.microsoft.com/office/drawing/2014/main" id="{557D619C-5A00-D305-36F1-1BA7511438BF}"/>
              </a:ext>
            </a:extLst>
          </p:cNvPr>
          <p:cNvGraphicFramePr>
            <a:graphicFrameLocks noGrp="1"/>
          </p:cNvGraphicFramePr>
          <p:nvPr>
            <p:extLst>
              <p:ext uri="{D42A27DB-BD31-4B8C-83A1-F6EECF244321}">
                <p14:modId xmlns:p14="http://schemas.microsoft.com/office/powerpoint/2010/main" val="2454163199"/>
              </p:ext>
            </p:extLst>
          </p:nvPr>
        </p:nvGraphicFramePr>
        <p:xfrm>
          <a:off x="5900954" y="3212494"/>
          <a:ext cx="543389" cy="1186786"/>
        </p:xfrm>
        <a:graphic>
          <a:graphicData uri="http://schemas.openxmlformats.org/drawingml/2006/table">
            <a:tbl>
              <a:tblPr firstRow="1" bandRow="1">
                <a:tableStyleId>{5940675A-B579-460E-94D1-54222C63F5DA}</a:tableStyleId>
              </a:tblPr>
              <a:tblGrid>
                <a:gridCol w="543389">
                  <a:extLst>
                    <a:ext uri="{9D8B030D-6E8A-4147-A177-3AD203B41FA5}">
                      <a16:colId xmlns:a16="http://schemas.microsoft.com/office/drawing/2014/main" val="4110599615"/>
                    </a:ext>
                  </a:extLst>
                </a:gridCol>
              </a:tblGrid>
              <a:tr h="445106">
                <a:tc>
                  <a:txBody>
                    <a:bodyPr/>
                    <a:lstStyle/>
                    <a:p>
                      <a:endParaRPr lang="en-IN"/>
                    </a:p>
                  </a:txBody>
                  <a:tcPr/>
                </a:tc>
                <a:extLst>
                  <a:ext uri="{0D108BD9-81ED-4DB2-BD59-A6C34878D82A}">
                    <a16:rowId xmlns:a16="http://schemas.microsoft.com/office/drawing/2014/main" val="708494736"/>
                  </a:ext>
                </a:extLst>
              </a:tr>
              <a:tr h="370840">
                <a:tc>
                  <a:txBody>
                    <a:bodyPr/>
                    <a:lstStyle/>
                    <a:p>
                      <a:endParaRPr lang="en-IN" dirty="0"/>
                    </a:p>
                  </a:txBody>
                  <a:tcPr/>
                </a:tc>
                <a:extLst>
                  <a:ext uri="{0D108BD9-81ED-4DB2-BD59-A6C34878D82A}">
                    <a16:rowId xmlns:a16="http://schemas.microsoft.com/office/drawing/2014/main" val="1061908333"/>
                  </a:ext>
                </a:extLst>
              </a:tr>
              <a:tr h="370840">
                <a:tc>
                  <a:txBody>
                    <a:bodyPr/>
                    <a:lstStyle/>
                    <a:p>
                      <a:endParaRPr lang="en-IN" dirty="0"/>
                    </a:p>
                  </a:txBody>
                  <a:tcPr/>
                </a:tc>
                <a:extLst>
                  <a:ext uri="{0D108BD9-81ED-4DB2-BD59-A6C34878D82A}">
                    <a16:rowId xmlns:a16="http://schemas.microsoft.com/office/drawing/2014/main" val="354548803"/>
                  </a:ext>
                </a:extLst>
              </a:tr>
            </a:tbl>
          </a:graphicData>
        </a:graphic>
      </p:graphicFrame>
      <p:graphicFrame>
        <p:nvGraphicFramePr>
          <p:cNvPr id="4" name="Table 4">
            <a:extLst>
              <a:ext uri="{FF2B5EF4-FFF2-40B4-BE49-F238E27FC236}">
                <a16:creationId xmlns:a16="http://schemas.microsoft.com/office/drawing/2014/main" id="{CA1F62B6-5A51-44FA-FC01-C9688BE6A611}"/>
              </a:ext>
            </a:extLst>
          </p:cNvPr>
          <p:cNvGraphicFramePr>
            <a:graphicFrameLocks noGrp="1"/>
          </p:cNvGraphicFramePr>
          <p:nvPr>
            <p:extLst>
              <p:ext uri="{D42A27DB-BD31-4B8C-83A1-F6EECF244321}">
                <p14:modId xmlns:p14="http://schemas.microsoft.com/office/powerpoint/2010/main" val="796262950"/>
              </p:ext>
            </p:extLst>
          </p:nvPr>
        </p:nvGraphicFramePr>
        <p:xfrm>
          <a:off x="7167325" y="6141720"/>
          <a:ext cx="3217647" cy="365760"/>
        </p:xfrm>
        <a:graphic>
          <a:graphicData uri="http://schemas.openxmlformats.org/drawingml/2006/table">
            <a:tbl>
              <a:tblPr firstRow="1" bandRow="1">
                <a:tableStyleId>{5940675A-B579-460E-94D1-54222C63F5DA}</a:tableStyleId>
              </a:tblPr>
              <a:tblGrid>
                <a:gridCol w="1072549">
                  <a:extLst>
                    <a:ext uri="{9D8B030D-6E8A-4147-A177-3AD203B41FA5}">
                      <a16:colId xmlns:a16="http://schemas.microsoft.com/office/drawing/2014/main" val="430157524"/>
                    </a:ext>
                  </a:extLst>
                </a:gridCol>
                <a:gridCol w="1072549">
                  <a:extLst>
                    <a:ext uri="{9D8B030D-6E8A-4147-A177-3AD203B41FA5}">
                      <a16:colId xmlns:a16="http://schemas.microsoft.com/office/drawing/2014/main" val="966615966"/>
                    </a:ext>
                  </a:extLst>
                </a:gridCol>
                <a:gridCol w="1072549">
                  <a:extLst>
                    <a:ext uri="{9D8B030D-6E8A-4147-A177-3AD203B41FA5}">
                      <a16:colId xmlns:a16="http://schemas.microsoft.com/office/drawing/2014/main" val="2108335111"/>
                    </a:ext>
                  </a:extLst>
                </a:gridCol>
              </a:tblGrid>
              <a:tr h="229326">
                <a:tc>
                  <a:txBody>
                    <a:bodyPr/>
                    <a:lstStyle/>
                    <a:p>
                      <a:pPr algn="ctr"/>
                      <a:r>
                        <a:rPr lang="en-US" b="1" dirty="0"/>
                        <a:t>P3</a:t>
                      </a:r>
                      <a:endParaRPr lang="en-IN" b="1" dirty="0"/>
                    </a:p>
                  </a:txBody>
                  <a:tcPr/>
                </a:tc>
                <a:tc>
                  <a:txBody>
                    <a:bodyPr/>
                    <a:lstStyle/>
                    <a:p>
                      <a:pPr algn="ctr"/>
                      <a:r>
                        <a:rPr lang="en-US" b="1" dirty="0"/>
                        <a:t>P2</a:t>
                      </a:r>
                      <a:endParaRPr lang="en-IN" b="1" dirty="0"/>
                    </a:p>
                  </a:txBody>
                  <a:tcPr/>
                </a:tc>
                <a:tc>
                  <a:txBody>
                    <a:bodyPr/>
                    <a:lstStyle/>
                    <a:p>
                      <a:pPr algn="ctr"/>
                      <a:r>
                        <a:rPr lang="en-US" b="1" dirty="0"/>
                        <a:t>P1</a:t>
                      </a:r>
                      <a:endParaRPr lang="en-IN" b="1" dirty="0"/>
                    </a:p>
                  </a:txBody>
                  <a:tcPr/>
                </a:tc>
                <a:extLst>
                  <a:ext uri="{0D108BD9-81ED-4DB2-BD59-A6C34878D82A}">
                    <a16:rowId xmlns:a16="http://schemas.microsoft.com/office/drawing/2014/main" val="1628949451"/>
                  </a:ext>
                </a:extLst>
              </a:tr>
            </a:tbl>
          </a:graphicData>
        </a:graphic>
      </p:graphicFrame>
      <p:cxnSp>
        <p:nvCxnSpPr>
          <p:cNvPr id="6" name="Straight Arrow Connector 5">
            <a:extLst>
              <a:ext uri="{FF2B5EF4-FFF2-40B4-BE49-F238E27FC236}">
                <a16:creationId xmlns:a16="http://schemas.microsoft.com/office/drawing/2014/main" id="{FA692459-2863-34ED-AEDD-8B173EAC5E14}"/>
              </a:ext>
            </a:extLst>
          </p:cNvPr>
          <p:cNvCxnSpPr/>
          <p:nvPr/>
        </p:nvCxnSpPr>
        <p:spPr>
          <a:xfrm>
            <a:off x="6514182" y="6324600"/>
            <a:ext cx="65314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7561FF2E-40B2-3A8D-257E-FBDA2B880B02}"/>
              </a:ext>
            </a:extLst>
          </p:cNvPr>
          <p:cNvCxnSpPr>
            <a:cxnSpLocks/>
          </p:cNvCxnSpPr>
          <p:nvPr/>
        </p:nvCxnSpPr>
        <p:spPr>
          <a:xfrm>
            <a:off x="9964954" y="5680949"/>
            <a:ext cx="0" cy="4571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957BA82F-9FCC-0826-9919-7D9A7961C319}"/>
              </a:ext>
            </a:extLst>
          </p:cNvPr>
          <p:cNvSpPr txBox="1"/>
          <p:nvPr/>
        </p:nvSpPr>
        <p:spPr>
          <a:xfrm>
            <a:off x="5901852" y="6138148"/>
            <a:ext cx="542492" cy="369332"/>
          </a:xfrm>
          <a:prstGeom prst="rect">
            <a:avLst/>
          </a:prstGeom>
          <a:noFill/>
        </p:spPr>
        <p:txBody>
          <a:bodyPr wrap="square" rtlCol="0">
            <a:spAutoFit/>
          </a:bodyPr>
          <a:lstStyle/>
          <a:p>
            <a:r>
              <a:rPr lang="en-US" b="1" dirty="0">
                <a:solidFill>
                  <a:srgbClr val="FF0000"/>
                </a:solidFill>
              </a:rPr>
              <a:t>Tail</a:t>
            </a:r>
            <a:endParaRPr lang="en-IN" b="1" dirty="0">
              <a:solidFill>
                <a:srgbClr val="FF0000"/>
              </a:solidFill>
            </a:endParaRPr>
          </a:p>
        </p:txBody>
      </p:sp>
      <p:sp>
        <p:nvSpPr>
          <p:cNvPr id="10" name="TextBox 9">
            <a:extLst>
              <a:ext uri="{FF2B5EF4-FFF2-40B4-BE49-F238E27FC236}">
                <a16:creationId xmlns:a16="http://schemas.microsoft.com/office/drawing/2014/main" id="{90FA7341-3328-566B-60BC-E0F39948D624}"/>
              </a:ext>
            </a:extLst>
          </p:cNvPr>
          <p:cNvSpPr txBox="1"/>
          <p:nvPr/>
        </p:nvSpPr>
        <p:spPr>
          <a:xfrm>
            <a:off x="9617508" y="5359123"/>
            <a:ext cx="767464" cy="369332"/>
          </a:xfrm>
          <a:prstGeom prst="rect">
            <a:avLst/>
          </a:prstGeom>
          <a:noFill/>
        </p:spPr>
        <p:txBody>
          <a:bodyPr wrap="square" rtlCol="0">
            <a:spAutoFit/>
          </a:bodyPr>
          <a:lstStyle/>
          <a:p>
            <a:r>
              <a:rPr lang="en-US" b="1" dirty="0">
                <a:solidFill>
                  <a:srgbClr val="FF0000"/>
                </a:solidFill>
              </a:rPr>
              <a:t>Head</a:t>
            </a:r>
            <a:endParaRPr lang="en-IN" b="1" dirty="0">
              <a:solidFill>
                <a:srgbClr val="FF0000"/>
              </a:solidFill>
            </a:endParaRPr>
          </a:p>
        </p:txBody>
      </p:sp>
      <p:sp>
        <p:nvSpPr>
          <p:cNvPr id="5" name="Google Shape;98;g2eff20282af_0_123">
            <a:extLst>
              <a:ext uri="{FF2B5EF4-FFF2-40B4-BE49-F238E27FC236}">
                <a16:creationId xmlns:a16="http://schemas.microsoft.com/office/drawing/2014/main" id="{25C3EB53-4F43-D245-3DF4-AB0780E8FF5C}"/>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4756768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003FB9-679A-4BA0-9A26-2C1A6462A92F}"/>
              </a:ext>
            </a:extLst>
          </p:cNvPr>
          <p:cNvSpPr>
            <a:spLocks noGrp="1"/>
          </p:cNvSpPr>
          <p:nvPr>
            <p:ph idx="1"/>
          </p:nvPr>
        </p:nvSpPr>
        <p:spPr>
          <a:xfrm>
            <a:off x="2601686" y="143220"/>
            <a:ext cx="9470571" cy="6584152"/>
          </a:xfrm>
        </p:spPr>
        <p:txBody>
          <a:bodyPr>
            <a:normAutofit/>
          </a:bodyPr>
          <a:lstStyle/>
          <a:p>
            <a:pPr marL="0" indent="0" algn="just">
              <a:lnSpc>
                <a:spcPct val="150000"/>
              </a:lnSpc>
              <a:buNone/>
            </a:pPr>
            <a:endParaRPr lang="en-IN" sz="2400" dirty="0">
              <a:latin typeface="+mn-lt"/>
            </a:endParaRPr>
          </a:p>
          <a:p>
            <a:pPr marL="0" indent="0">
              <a:buNone/>
            </a:pPr>
            <a:endParaRPr lang="en-IN" sz="2400" dirty="0">
              <a:latin typeface="+mn-lt"/>
            </a:endParaRPr>
          </a:p>
        </p:txBody>
      </p:sp>
      <p:sp>
        <p:nvSpPr>
          <p:cNvPr id="7" name="TextBox 6">
            <a:extLst>
              <a:ext uri="{FF2B5EF4-FFF2-40B4-BE49-F238E27FC236}">
                <a16:creationId xmlns:a16="http://schemas.microsoft.com/office/drawing/2014/main" id="{45A5C15D-5F51-4A8C-ABA2-09B61D6468D0}"/>
              </a:ext>
            </a:extLst>
          </p:cNvPr>
          <p:cNvSpPr txBox="1"/>
          <p:nvPr/>
        </p:nvSpPr>
        <p:spPr>
          <a:xfrm>
            <a:off x="5459187" y="6353827"/>
            <a:ext cx="6106884" cy="400110"/>
          </a:xfrm>
          <a:prstGeom prst="rect">
            <a:avLst/>
          </a:prstGeom>
          <a:noFill/>
        </p:spPr>
        <p:txBody>
          <a:bodyPr wrap="square">
            <a:spAutoFit/>
          </a:bodyPr>
          <a:lstStyle/>
          <a:p>
            <a:r>
              <a:rPr lang="en-US" sz="2000" dirty="0">
                <a:effectLst/>
                <a:ea typeface="Cambria" panose="02040503050406030204" pitchFamily="18" charset="0"/>
              </a:rPr>
              <a:t>FIFO page-replacement algorithm</a:t>
            </a:r>
            <a:endParaRPr lang="en-IN" sz="2000" dirty="0"/>
          </a:p>
        </p:txBody>
      </p:sp>
      <p:pic>
        <p:nvPicPr>
          <p:cNvPr id="2" name="Picture 1">
            <a:extLst>
              <a:ext uri="{FF2B5EF4-FFF2-40B4-BE49-F238E27FC236}">
                <a16:creationId xmlns:a16="http://schemas.microsoft.com/office/drawing/2014/main" id="{9EE5C760-8FB2-2AB5-2018-1C55728F469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65120" y="599440"/>
            <a:ext cx="8859520" cy="5171440"/>
          </a:xfrm>
          <a:prstGeom prst="rect">
            <a:avLst/>
          </a:prstGeom>
          <a:noFill/>
          <a:ln>
            <a:noFill/>
          </a:ln>
        </p:spPr>
      </p:pic>
      <p:sp>
        <p:nvSpPr>
          <p:cNvPr id="4" name="Google Shape;98;g2eff20282af_0_123">
            <a:extLst>
              <a:ext uri="{FF2B5EF4-FFF2-40B4-BE49-F238E27FC236}">
                <a16:creationId xmlns:a16="http://schemas.microsoft.com/office/drawing/2014/main" id="{A1154A95-77CC-A0E6-B8F4-90C10468AA45}"/>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58842071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003FB9-679A-4BA0-9A26-2C1A6462A92F}"/>
              </a:ext>
            </a:extLst>
          </p:cNvPr>
          <p:cNvSpPr>
            <a:spLocks noGrp="1"/>
          </p:cNvSpPr>
          <p:nvPr>
            <p:ph idx="1"/>
          </p:nvPr>
        </p:nvSpPr>
        <p:spPr>
          <a:xfrm>
            <a:off x="2588964" y="143218"/>
            <a:ext cx="9058750" cy="6400801"/>
          </a:xfrm>
        </p:spPr>
        <p:txBody>
          <a:bodyPr>
            <a:normAutofit/>
          </a:bodyPr>
          <a:lstStyle/>
          <a:p>
            <a:pPr marL="0" indent="0" algn="ctr">
              <a:buNone/>
            </a:pPr>
            <a:r>
              <a:rPr lang="en-US" sz="3600" b="1" dirty="0" err="1">
                <a:solidFill>
                  <a:srgbClr val="FF0000"/>
                </a:solidFill>
                <a:latin typeface="+mn-lt"/>
              </a:rPr>
              <a:t>Belady’s</a:t>
            </a:r>
            <a:r>
              <a:rPr lang="en-IN" sz="3600" b="1" dirty="0">
                <a:solidFill>
                  <a:srgbClr val="FF0000"/>
                </a:solidFill>
                <a:latin typeface="+mn-lt"/>
              </a:rPr>
              <a:t> Anomaly</a:t>
            </a:r>
          </a:p>
          <a:p>
            <a:pPr marL="0" indent="0" algn="just">
              <a:lnSpc>
                <a:spcPct val="150000"/>
              </a:lnSpc>
              <a:buNone/>
            </a:pPr>
            <a:r>
              <a:rPr lang="en-IN" sz="3600" b="1" dirty="0">
                <a:solidFill>
                  <a:srgbClr val="FF0000"/>
                </a:solidFill>
                <a:latin typeface="+mn-lt"/>
              </a:rPr>
              <a:t> </a:t>
            </a:r>
            <a:r>
              <a:rPr lang="en-IN" sz="2400" dirty="0">
                <a:latin typeface="+mn-lt"/>
              </a:rPr>
              <a:t>General Expectation about relation between number of frames in memory and number of page faults.</a:t>
            </a:r>
          </a:p>
          <a:p>
            <a:pPr marL="0" indent="0" algn="just">
              <a:lnSpc>
                <a:spcPct val="150000"/>
              </a:lnSpc>
              <a:buNone/>
            </a:pPr>
            <a:r>
              <a:rPr lang="en-IN" sz="2400" b="1" dirty="0">
                <a:solidFill>
                  <a:srgbClr val="0000FF"/>
                </a:solidFill>
                <a:latin typeface="+mn-lt"/>
              </a:rPr>
              <a:t>             With more number of page frames there will be lesser page faults</a:t>
            </a:r>
          </a:p>
          <a:p>
            <a:pPr algn="just">
              <a:lnSpc>
                <a:spcPct val="150000"/>
              </a:lnSpc>
            </a:pPr>
            <a:r>
              <a:rPr lang="en-IN" sz="2400" dirty="0">
                <a:solidFill>
                  <a:srgbClr val="0000FF"/>
                </a:solidFill>
                <a:latin typeface="+mn-lt"/>
              </a:rPr>
              <a:t> </a:t>
            </a:r>
            <a:r>
              <a:rPr lang="en-IN" sz="2400" dirty="0">
                <a:latin typeface="+mn-lt"/>
              </a:rPr>
              <a:t>As the number of frames increases, the number page faults drops to the minimal level.</a:t>
            </a:r>
          </a:p>
          <a:p>
            <a:pPr algn="just">
              <a:lnSpc>
                <a:spcPct val="150000"/>
              </a:lnSpc>
            </a:pPr>
            <a:r>
              <a:rPr lang="en-IN" sz="2400" dirty="0">
                <a:latin typeface="+mn-lt"/>
              </a:rPr>
              <a:t>Adding physical memory increases the number frames</a:t>
            </a:r>
            <a:endParaRPr lang="en-IN" sz="3200" dirty="0">
              <a:latin typeface="+mn-lt"/>
            </a:endParaRPr>
          </a:p>
        </p:txBody>
      </p:sp>
      <p:sp>
        <p:nvSpPr>
          <p:cNvPr id="2" name="Google Shape;98;g2eff20282af_0_123">
            <a:extLst>
              <a:ext uri="{FF2B5EF4-FFF2-40B4-BE49-F238E27FC236}">
                <a16:creationId xmlns:a16="http://schemas.microsoft.com/office/drawing/2014/main" id="{F7051EF7-C46C-BCBF-8D02-EC85545D0544}"/>
              </a:ext>
            </a:extLst>
          </p:cNvPr>
          <p:cNvSpPr txBox="1"/>
          <p:nvPr/>
        </p:nvSpPr>
        <p:spPr>
          <a:xfrm>
            <a:off x="524064" y="3891899"/>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13919090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003FB9-679A-4BA0-9A26-2C1A6462A92F}"/>
              </a:ext>
            </a:extLst>
          </p:cNvPr>
          <p:cNvSpPr>
            <a:spLocks noGrp="1"/>
          </p:cNvSpPr>
          <p:nvPr>
            <p:ph idx="1"/>
          </p:nvPr>
        </p:nvSpPr>
        <p:spPr>
          <a:xfrm>
            <a:off x="2588964" y="143218"/>
            <a:ext cx="9058750" cy="6400801"/>
          </a:xfrm>
        </p:spPr>
        <p:txBody>
          <a:bodyPr>
            <a:normAutofit/>
          </a:bodyPr>
          <a:lstStyle/>
          <a:p>
            <a:pPr marL="0" indent="0" algn="ctr">
              <a:buNone/>
            </a:pPr>
            <a:r>
              <a:rPr lang="en-US" sz="3600" b="1" dirty="0" err="1">
                <a:solidFill>
                  <a:srgbClr val="FF0000"/>
                </a:solidFill>
                <a:latin typeface="+mn-lt"/>
              </a:rPr>
              <a:t>Belady’s</a:t>
            </a:r>
            <a:r>
              <a:rPr lang="en-IN" sz="3600" b="1" dirty="0">
                <a:solidFill>
                  <a:srgbClr val="FF0000"/>
                </a:solidFill>
                <a:latin typeface="+mn-lt"/>
              </a:rPr>
              <a:t> Anomaly</a:t>
            </a:r>
          </a:p>
          <a:p>
            <a:pPr marL="0" indent="0" algn="ctr">
              <a:lnSpc>
                <a:spcPct val="150000"/>
              </a:lnSpc>
              <a:buNone/>
            </a:pPr>
            <a:r>
              <a:rPr lang="en-IN" sz="3600" b="1" dirty="0">
                <a:solidFill>
                  <a:srgbClr val="FF0000"/>
                </a:solidFill>
                <a:latin typeface="+mn-lt"/>
              </a:rPr>
              <a:t> </a:t>
            </a:r>
            <a:r>
              <a:rPr lang="en-IN" sz="2400" b="1" dirty="0">
                <a:latin typeface="+mn-lt"/>
              </a:rPr>
              <a:t>With more number of page frames there will be lesser page faults</a:t>
            </a:r>
            <a:r>
              <a:rPr lang="en-IN" sz="2400" dirty="0">
                <a:latin typeface="+mn-lt"/>
              </a:rPr>
              <a:t>.</a:t>
            </a:r>
          </a:p>
          <a:p>
            <a:pPr>
              <a:lnSpc>
                <a:spcPct val="150000"/>
              </a:lnSpc>
            </a:pPr>
            <a:r>
              <a:rPr lang="en-IN" sz="2400" dirty="0">
                <a:latin typeface="+mn-lt"/>
              </a:rPr>
              <a:t>As the number of frames increases, the number of faults drops to some minimal level.</a:t>
            </a:r>
          </a:p>
          <a:p>
            <a:pPr>
              <a:lnSpc>
                <a:spcPct val="150000"/>
              </a:lnSpc>
            </a:pPr>
            <a:r>
              <a:rPr lang="en-IN" sz="2400" dirty="0">
                <a:latin typeface="+mn-lt"/>
              </a:rPr>
              <a:t>Adding physical memory increases the number of  frames.</a:t>
            </a:r>
          </a:p>
          <a:p>
            <a:pPr>
              <a:lnSpc>
                <a:spcPct val="150000"/>
              </a:lnSpc>
            </a:pPr>
            <a:endParaRPr lang="en-IN" sz="3200" dirty="0">
              <a:latin typeface="+mn-lt"/>
            </a:endParaRP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7597135C-E432-FC9A-6AB4-279F62272DEA}"/>
                  </a:ext>
                </a:extLst>
              </p14:cNvPr>
              <p14:cNvContentPartPr/>
              <p14:nvPr/>
            </p14:nvContentPartPr>
            <p14:xfrm>
              <a:off x="4473583" y="2741006"/>
              <a:ext cx="360" cy="2160"/>
            </p14:xfrm>
          </p:contentPart>
        </mc:Choice>
        <mc:Fallback xmlns="">
          <p:pic>
            <p:nvPicPr>
              <p:cNvPr id="5" name="Ink 4">
                <a:extLst>
                  <a:ext uri="{FF2B5EF4-FFF2-40B4-BE49-F238E27FC236}">
                    <a16:creationId xmlns:a16="http://schemas.microsoft.com/office/drawing/2014/main" id="{7597135C-E432-FC9A-6AB4-279F62272DEA}"/>
                  </a:ext>
                </a:extLst>
              </p:cNvPr>
              <p:cNvPicPr/>
              <p:nvPr/>
            </p:nvPicPr>
            <p:blipFill>
              <a:blip r:embed="rId3"/>
              <a:stretch>
                <a:fillRect/>
              </a:stretch>
            </p:blipFill>
            <p:spPr>
              <a:xfrm>
                <a:off x="4464943" y="2732366"/>
                <a:ext cx="18000" cy="19800"/>
              </a:xfrm>
              <a:prstGeom prst="rect">
                <a:avLst/>
              </a:prstGeom>
            </p:spPr>
          </p:pic>
        </mc:Fallback>
      </mc:AlternateContent>
      <p:grpSp>
        <p:nvGrpSpPr>
          <p:cNvPr id="8" name="Group 7">
            <a:extLst>
              <a:ext uri="{FF2B5EF4-FFF2-40B4-BE49-F238E27FC236}">
                <a16:creationId xmlns:a16="http://schemas.microsoft.com/office/drawing/2014/main" id="{A5DAAF32-DC7D-E426-A3A6-09ABF077CA26}"/>
              </a:ext>
            </a:extLst>
          </p:cNvPr>
          <p:cNvGrpSpPr/>
          <p:nvPr/>
        </p:nvGrpSpPr>
        <p:grpSpPr>
          <a:xfrm>
            <a:off x="2307463" y="3113246"/>
            <a:ext cx="360" cy="360"/>
            <a:chOff x="2307463" y="3113246"/>
            <a:chExt cx="360" cy="360"/>
          </a:xfrm>
        </p:grpSpPr>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758B8B1E-511F-B0FF-4BFB-08B693229E74}"/>
                    </a:ext>
                  </a:extLst>
                </p14:cNvPr>
                <p14:cNvContentPartPr/>
                <p14:nvPr/>
              </p14:nvContentPartPr>
              <p14:xfrm>
                <a:off x="2307463" y="3113246"/>
                <a:ext cx="360" cy="360"/>
              </p14:xfrm>
            </p:contentPart>
          </mc:Choice>
          <mc:Fallback xmlns="">
            <p:pic>
              <p:nvPicPr>
                <p:cNvPr id="6" name="Ink 5">
                  <a:extLst>
                    <a:ext uri="{FF2B5EF4-FFF2-40B4-BE49-F238E27FC236}">
                      <a16:creationId xmlns:a16="http://schemas.microsoft.com/office/drawing/2014/main" id="{758B8B1E-511F-B0FF-4BFB-08B693229E74}"/>
                    </a:ext>
                  </a:extLst>
                </p:cNvPr>
                <p:cNvPicPr/>
                <p:nvPr/>
              </p:nvPicPr>
              <p:blipFill>
                <a:blip r:embed="rId3"/>
                <a:stretch>
                  <a:fillRect/>
                </a:stretch>
              </p:blipFill>
              <p:spPr>
                <a:xfrm>
                  <a:off x="2298463" y="310460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138F4109-201A-10C6-4A92-9C2202891E53}"/>
                    </a:ext>
                  </a:extLst>
                </p14:cNvPr>
                <p14:cNvContentPartPr/>
                <p14:nvPr/>
              </p14:nvContentPartPr>
              <p14:xfrm>
                <a:off x="2307463" y="3113246"/>
                <a:ext cx="360" cy="360"/>
              </p14:xfrm>
            </p:contentPart>
          </mc:Choice>
          <mc:Fallback xmlns="">
            <p:pic>
              <p:nvPicPr>
                <p:cNvPr id="7" name="Ink 6">
                  <a:extLst>
                    <a:ext uri="{FF2B5EF4-FFF2-40B4-BE49-F238E27FC236}">
                      <a16:creationId xmlns:a16="http://schemas.microsoft.com/office/drawing/2014/main" id="{138F4109-201A-10C6-4A92-9C2202891E53}"/>
                    </a:ext>
                  </a:extLst>
                </p:cNvPr>
                <p:cNvPicPr/>
                <p:nvPr/>
              </p:nvPicPr>
              <p:blipFill>
                <a:blip r:embed="rId3"/>
                <a:stretch>
                  <a:fillRect/>
                </a:stretch>
              </p:blipFill>
              <p:spPr>
                <a:xfrm>
                  <a:off x="2298463" y="3104606"/>
                  <a:ext cx="18000" cy="18000"/>
                </a:xfrm>
                <a:prstGeom prst="rect">
                  <a:avLst/>
                </a:prstGeom>
              </p:spPr>
            </p:pic>
          </mc:Fallback>
        </mc:AlternateContent>
      </p:grpSp>
      <p:grpSp>
        <p:nvGrpSpPr>
          <p:cNvPr id="11" name="Group 10">
            <a:extLst>
              <a:ext uri="{FF2B5EF4-FFF2-40B4-BE49-F238E27FC236}">
                <a16:creationId xmlns:a16="http://schemas.microsoft.com/office/drawing/2014/main" id="{267FEC4D-C030-7E67-079D-C6B4EA787292}"/>
              </a:ext>
            </a:extLst>
          </p:cNvPr>
          <p:cNvGrpSpPr/>
          <p:nvPr/>
        </p:nvGrpSpPr>
        <p:grpSpPr>
          <a:xfrm>
            <a:off x="2438143" y="1720046"/>
            <a:ext cx="11520" cy="10800"/>
            <a:chOff x="2438143" y="1720046"/>
            <a:chExt cx="11520" cy="10800"/>
          </a:xfrm>
        </p:grpSpPr>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ABD1FD4D-330E-9245-0BC0-A1D0C2C20181}"/>
                    </a:ext>
                  </a:extLst>
                </p14:cNvPr>
                <p14:cNvContentPartPr/>
                <p14:nvPr/>
              </p14:nvContentPartPr>
              <p14:xfrm>
                <a:off x="2438143" y="1728686"/>
                <a:ext cx="2160" cy="2160"/>
              </p14:xfrm>
            </p:contentPart>
          </mc:Choice>
          <mc:Fallback xmlns="">
            <p:pic>
              <p:nvPicPr>
                <p:cNvPr id="9" name="Ink 8">
                  <a:extLst>
                    <a:ext uri="{FF2B5EF4-FFF2-40B4-BE49-F238E27FC236}">
                      <a16:creationId xmlns:a16="http://schemas.microsoft.com/office/drawing/2014/main" id="{ABD1FD4D-330E-9245-0BC0-A1D0C2C20181}"/>
                    </a:ext>
                  </a:extLst>
                </p:cNvPr>
                <p:cNvPicPr/>
                <p:nvPr/>
              </p:nvPicPr>
              <p:blipFill>
                <a:blip r:embed="rId3"/>
                <a:stretch>
                  <a:fillRect/>
                </a:stretch>
              </p:blipFill>
              <p:spPr>
                <a:xfrm>
                  <a:off x="2429503" y="1719686"/>
                  <a:ext cx="1980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3C14341A-00C3-2F98-C8AB-947D028D6CD0}"/>
                    </a:ext>
                  </a:extLst>
                </p14:cNvPr>
                <p14:cNvContentPartPr/>
                <p14:nvPr/>
              </p14:nvContentPartPr>
              <p14:xfrm>
                <a:off x="2449303" y="1720046"/>
                <a:ext cx="360" cy="360"/>
              </p14:xfrm>
            </p:contentPart>
          </mc:Choice>
          <mc:Fallback xmlns="">
            <p:pic>
              <p:nvPicPr>
                <p:cNvPr id="10" name="Ink 9">
                  <a:extLst>
                    <a:ext uri="{FF2B5EF4-FFF2-40B4-BE49-F238E27FC236}">
                      <a16:creationId xmlns:a16="http://schemas.microsoft.com/office/drawing/2014/main" id="{3C14341A-00C3-2F98-C8AB-947D028D6CD0}"/>
                    </a:ext>
                  </a:extLst>
                </p:cNvPr>
                <p:cNvPicPr/>
                <p:nvPr/>
              </p:nvPicPr>
              <p:blipFill>
                <a:blip r:embed="rId3"/>
                <a:stretch>
                  <a:fillRect/>
                </a:stretch>
              </p:blipFill>
              <p:spPr>
                <a:xfrm>
                  <a:off x="2440663" y="1711046"/>
                  <a:ext cx="1800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C3CA2413-1C0C-0AD5-9265-8F955DE7E867}"/>
                  </a:ext>
                </a:extLst>
              </p14:cNvPr>
              <p14:cNvContentPartPr/>
              <p14:nvPr/>
            </p14:nvContentPartPr>
            <p14:xfrm>
              <a:off x="4615423" y="3929726"/>
              <a:ext cx="2160" cy="360"/>
            </p14:xfrm>
          </p:contentPart>
        </mc:Choice>
        <mc:Fallback xmlns="">
          <p:pic>
            <p:nvPicPr>
              <p:cNvPr id="12" name="Ink 11">
                <a:extLst>
                  <a:ext uri="{FF2B5EF4-FFF2-40B4-BE49-F238E27FC236}">
                    <a16:creationId xmlns:a16="http://schemas.microsoft.com/office/drawing/2014/main" id="{C3CA2413-1C0C-0AD5-9265-8F955DE7E867}"/>
                  </a:ext>
                </a:extLst>
              </p:cNvPr>
              <p:cNvPicPr/>
              <p:nvPr/>
            </p:nvPicPr>
            <p:blipFill>
              <a:blip r:embed="rId3"/>
              <a:stretch>
                <a:fillRect/>
              </a:stretch>
            </p:blipFill>
            <p:spPr>
              <a:xfrm>
                <a:off x="4606783" y="3921086"/>
                <a:ext cx="198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4D74FF49-36A6-016C-9C6A-C381B58B1619}"/>
                  </a:ext>
                </a:extLst>
              </p14:cNvPr>
              <p14:cNvContentPartPr/>
              <p14:nvPr/>
            </p14:nvContentPartPr>
            <p14:xfrm>
              <a:off x="7783423" y="4321766"/>
              <a:ext cx="6840" cy="11160"/>
            </p14:xfrm>
          </p:contentPart>
        </mc:Choice>
        <mc:Fallback xmlns="">
          <p:pic>
            <p:nvPicPr>
              <p:cNvPr id="13" name="Ink 12">
                <a:extLst>
                  <a:ext uri="{FF2B5EF4-FFF2-40B4-BE49-F238E27FC236}">
                    <a16:creationId xmlns:a16="http://schemas.microsoft.com/office/drawing/2014/main" id="{4D74FF49-36A6-016C-9C6A-C381B58B1619}"/>
                  </a:ext>
                </a:extLst>
              </p:cNvPr>
              <p:cNvPicPr/>
              <p:nvPr/>
            </p:nvPicPr>
            <p:blipFill>
              <a:blip r:embed="rId10"/>
              <a:stretch>
                <a:fillRect/>
              </a:stretch>
            </p:blipFill>
            <p:spPr>
              <a:xfrm>
                <a:off x="7774423" y="4312766"/>
                <a:ext cx="2448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4" name="Ink 13">
                <a:extLst>
                  <a:ext uri="{FF2B5EF4-FFF2-40B4-BE49-F238E27FC236}">
                    <a16:creationId xmlns:a16="http://schemas.microsoft.com/office/drawing/2014/main" id="{A12D2E24-A33F-7127-06C3-6F7512CC64E8}"/>
                  </a:ext>
                </a:extLst>
              </p14:cNvPr>
              <p14:cNvContentPartPr/>
              <p14:nvPr/>
            </p14:nvContentPartPr>
            <p14:xfrm>
              <a:off x="7793863" y="4376126"/>
              <a:ext cx="360" cy="360"/>
            </p14:xfrm>
          </p:contentPart>
        </mc:Choice>
        <mc:Fallback xmlns="">
          <p:pic>
            <p:nvPicPr>
              <p:cNvPr id="14" name="Ink 13">
                <a:extLst>
                  <a:ext uri="{FF2B5EF4-FFF2-40B4-BE49-F238E27FC236}">
                    <a16:creationId xmlns:a16="http://schemas.microsoft.com/office/drawing/2014/main" id="{A12D2E24-A33F-7127-06C3-6F7512CC64E8}"/>
                  </a:ext>
                </a:extLst>
              </p:cNvPr>
              <p:cNvPicPr/>
              <p:nvPr/>
            </p:nvPicPr>
            <p:blipFill>
              <a:blip r:embed="rId3"/>
              <a:stretch>
                <a:fillRect/>
              </a:stretch>
            </p:blipFill>
            <p:spPr>
              <a:xfrm>
                <a:off x="7785223" y="436712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9" name="Ink 28">
                <a:extLst>
                  <a:ext uri="{FF2B5EF4-FFF2-40B4-BE49-F238E27FC236}">
                    <a16:creationId xmlns:a16="http://schemas.microsoft.com/office/drawing/2014/main" id="{B2CC8944-4211-D11F-E0C8-8A0B3BB85433}"/>
                  </a:ext>
                </a:extLst>
              </p14:cNvPr>
              <p14:cNvContentPartPr/>
              <p14:nvPr/>
            </p14:nvContentPartPr>
            <p14:xfrm>
              <a:off x="2960863" y="1175366"/>
              <a:ext cx="360" cy="360"/>
            </p14:xfrm>
          </p:contentPart>
        </mc:Choice>
        <mc:Fallback xmlns="">
          <p:pic>
            <p:nvPicPr>
              <p:cNvPr id="29" name="Ink 28">
                <a:extLst>
                  <a:ext uri="{FF2B5EF4-FFF2-40B4-BE49-F238E27FC236}">
                    <a16:creationId xmlns:a16="http://schemas.microsoft.com/office/drawing/2014/main" id="{B2CC8944-4211-D11F-E0C8-8A0B3BB85433}"/>
                  </a:ext>
                </a:extLst>
              </p:cNvPr>
              <p:cNvPicPr/>
              <p:nvPr/>
            </p:nvPicPr>
            <p:blipFill>
              <a:blip r:embed="rId3"/>
              <a:stretch>
                <a:fillRect/>
              </a:stretch>
            </p:blipFill>
            <p:spPr>
              <a:xfrm>
                <a:off x="2952223" y="1166726"/>
                <a:ext cx="18000" cy="18000"/>
              </a:xfrm>
              <a:prstGeom prst="rect">
                <a:avLst/>
              </a:prstGeom>
            </p:spPr>
          </p:pic>
        </mc:Fallback>
      </mc:AlternateContent>
      <p:pic>
        <p:nvPicPr>
          <p:cNvPr id="4" name="Picture 3">
            <a:extLst>
              <a:ext uri="{FF2B5EF4-FFF2-40B4-BE49-F238E27FC236}">
                <a16:creationId xmlns:a16="http://schemas.microsoft.com/office/drawing/2014/main" id="{AC9CE529-FFBD-6B75-E832-428EAE708ADF}"/>
              </a:ext>
            </a:extLst>
          </p:cNvPr>
          <p:cNvPicPr>
            <a:picLocks noChangeAspect="1"/>
          </p:cNvPicPr>
          <p:nvPr/>
        </p:nvPicPr>
        <p:blipFill>
          <a:blip r:embed="rId13"/>
          <a:stretch>
            <a:fillRect/>
          </a:stretch>
        </p:blipFill>
        <p:spPr>
          <a:xfrm>
            <a:off x="2960863" y="3734639"/>
            <a:ext cx="7772090" cy="2977982"/>
          </a:xfrm>
          <a:prstGeom prst="rect">
            <a:avLst/>
          </a:prstGeom>
        </p:spPr>
      </p:pic>
      <p:sp>
        <p:nvSpPr>
          <p:cNvPr id="2" name="Google Shape;98;g2eff20282af_0_123">
            <a:extLst>
              <a:ext uri="{FF2B5EF4-FFF2-40B4-BE49-F238E27FC236}">
                <a16:creationId xmlns:a16="http://schemas.microsoft.com/office/drawing/2014/main" id="{820C2DF3-4B5A-31C2-D678-E2EC33EE59C0}"/>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9551506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003FB9-679A-4BA0-9A26-2C1A6462A92F}"/>
              </a:ext>
            </a:extLst>
          </p:cNvPr>
          <p:cNvSpPr>
            <a:spLocks noGrp="1"/>
          </p:cNvSpPr>
          <p:nvPr>
            <p:ph idx="1"/>
          </p:nvPr>
        </p:nvSpPr>
        <p:spPr>
          <a:xfrm>
            <a:off x="2588964" y="544286"/>
            <a:ext cx="9026093" cy="5999733"/>
          </a:xfrm>
        </p:spPr>
        <p:txBody>
          <a:bodyPr>
            <a:normAutofit/>
          </a:bodyPr>
          <a:lstStyle/>
          <a:p>
            <a:pPr marL="0" indent="0">
              <a:lnSpc>
                <a:spcPct val="100000"/>
              </a:lnSpc>
              <a:buNone/>
            </a:pPr>
            <a:r>
              <a:rPr lang="en-IN" sz="2400" dirty="0">
                <a:latin typeface="+mn-lt"/>
              </a:rPr>
              <a:t>Consider the reference string</a:t>
            </a:r>
          </a:p>
          <a:p>
            <a:pPr marL="0" indent="0" algn="ctr">
              <a:lnSpc>
                <a:spcPct val="100000"/>
              </a:lnSpc>
              <a:buNone/>
            </a:pPr>
            <a:r>
              <a:rPr lang="en-IN" sz="2400" b="1" dirty="0">
                <a:solidFill>
                  <a:srgbClr val="C00000"/>
                </a:solidFill>
                <a:latin typeface="+mn-lt"/>
              </a:rPr>
              <a:t>1,2,3,4,1,2,5,1,2,3,4,5</a:t>
            </a:r>
          </a:p>
          <a:p>
            <a:pPr marL="0" indent="0">
              <a:lnSpc>
                <a:spcPct val="100000"/>
              </a:lnSpc>
              <a:buNone/>
            </a:pPr>
            <a:r>
              <a:rPr lang="en-IN" sz="2400" dirty="0">
                <a:latin typeface="+mn-lt"/>
              </a:rPr>
              <a:t>Where each value represents a page</a:t>
            </a:r>
          </a:p>
          <a:p>
            <a:pPr marL="0" indent="0">
              <a:lnSpc>
                <a:spcPct val="100000"/>
              </a:lnSpc>
              <a:buNone/>
            </a:pPr>
            <a:endParaRPr lang="en-IN" sz="2400" dirty="0">
              <a:latin typeface="+mn-lt"/>
            </a:endParaRPr>
          </a:p>
          <a:p>
            <a:pPr marL="0" indent="0">
              <a:lnSpc>
                <a:spcPct val="100000"/>
              </a:lnSpc>
              <a:buNone/>
            </a:pPr>
            <a:r>
              <a:rPr lang="en-IN" sz="2400" dirty="0">
                <a:latin typeface="+mn-lt"/>
              </a:rPr>
              <a:t>Lets us say we have 3 frames in memory</a:t>
            </a:r>
          </a:p>
          <a:p>
            <a:pPr marL="0" indent="0">
              <a:lnSpc>
                <a:spcPct val="100000"/>
              </a:lnSpc>
              <a:buNone/>
            </a:pPr>
            <a:endParaRPr lang="en-IN" sz="2400" dirty="0">
              <a:latin typeface="+mn-lt"/>
            </a:endParaRPr>
          </a:p>
          <a:p>
            <a:pPr marL="0" indent="0">
              <a:lnSpc>
                <a:spcPct val="100000"/>
              </a:lnSpc>
              <a:buNone/>
            </a:pPr>
            <a:endParaRPr lang="en-IN" sz="2400" dirty="0">
              <a:latin typeface="+mn-lt"/>
            </a:endParaRPr>
          </a:p>
          <a:p>
            <a:pPr marL="0" indent="0">
              <a:lnSpc>
                <a:spcPct val="100000"/>
              </a:lnSpc>
              <a:buNone/>
            </a:pPr>
            <a:endParaRPr lang="en-IN" sz="2400" dirty="0">
              <a:latin typeface="+mn-lt"/>
            </a:endParaRPr>
          </a:p>
          <a:p>
            <a:pPr marL="0" indent="0">
              <a:lnSpc>
                <a:spcPct val="100000"/>
              </a:lnSpc>
              <a:buNone/>
            </a:pPr>
            <a:endParaRPr lang="en-IN" sz="2400" dirty="0">
              <a:latin typeface="+mn-lt"/>
            </a:endParaRPr>
          </a:p>
          <a:p>
            <a:pPr marL="0" indent="0">
              <a:lnSpc>
                <a:spcPct val="150000"/>
              </a:lnSpc>
              <a:buNone/>
            </a:pPr>
            <a:r>
              <a:rPr lang="en-IN" sz="2400" dirty="0">
                <a:latin typeface="+mn-lt"/>
              </a:rPr>
              <a:t>Let us use the FIFO page replacement and find the number of page faults that would occur in this case.</a:t>
            </a:r>
          </a:p>
          <a:p>
            <a:pPr marL="0" indent="0">
              <a:buNone/>
            </a:pPr>
            <a:endParaRPr lang="en-IN" sz="2400" dirty="0">
              <a:latin typeface="+mn-lt"/>
            </a:endParaRPr>
          </a:p>
          <a:p>
            <a:pPr marL="0" indent="0">
              <a:buNone/>
            </a:pPr>
            <a:endParaRPr lang="en-IN" sz="2400" b="1" dirty="0">
              <a:solidFill>
                <a:srgbClr val="C00000"/>
              </a:solidFill>
              <a:latin typeface="+mn-lt"/>
            </a:endParaRPr>
          </a:p>
        </p:txBody>
      </p:sp>
      <p:graphicFrame>
        <p:nvGraphicFramePr>
          <p:cNvPr id="2" name="Table 3">
            <a:extLst>
              <a:ext uri="{FF2B5EF4-FFF2-40B4-BE49-F238E27FC236}">
                <a16:creationId xmlns:a16="http://schemas.microsoft.com/office/drawing/2014/main" id="{08512B4B-020E-A409-6C48-2C0D5852B400}"/>
              </a:ext>
            </a:extLst>
          </p:cNvPr>
          <p:cNvGraphicFramePr>
            <a:graphicFrameLocks noGrp="1"/>
          </p:cNvGraphicFramePr>
          <p:nvPr>
            <p:extLst>
              <p:ext uri="{D42A27DB-BD31-4B8C-83A1-F6EECF244321}">
                <p14:modId xmlns:p14="http://schemas.microsoft.com/office/powerpoint/2010/main" val="2178368323"/>
              </p:ext>
            </p:extLst>
          </p:nvPr>
        </p:nvGraphicFramePr>
        <p:xfrm>
          <a:off x="5428344" y="3429000"/>
          <a:ext cx="556964" cy="1112520"/>
        </p:xfrm>
        <a:graphic>
          <a:graphicData uri="http://schemas.openxmlformats.org/drawingml/2006/table">
            <a:tbl>
              <a:tblPr firstRow="1" bandRow="1">
                <a:tableStyleId>{5940675A-B579-460E-94D1-54222C63F5DA}</a:tableStyleId>
              </a:tblPr>
              <a:tblGrid>
                <a:gridCol w="556964">
                  <a:extLst>
                    <a:ext uri="{9D8B030D-6E8A-4147-A177-3AD203B41FA5}">
                      <a16:colId xmlns:a16="http://schemas.microsoft.com/office/drawing/2014/main" val="3871611496"/>
                    </a:ext>
                  </a:extLst>
                </a:gridCol>
              </a:tblGrid>
              <a:tr h="370840">
                <a:tc>
                  <a:txBody>
                    <a:bodyPr/>
                    <a:lstStyle/>
                    <a:p>
                      <a:endParaRPr lang="en-IN"/>
                    </a:p>
                  </a:txBody>
                  <a:tcPr/>
                </a:tc>
                <a:extLst>
                  <a:ext uri="{0D108BD9-81ED-4DB2-BD59-A6C34878D82A}">
                    <a16:rowId xmlns:a16="http://schemas.microsoft.com/office/drawing/2014/main" val="998241085"/>
                  </a:ext>
                </a:extLst>
              </a:tr>
              <a:tr h="370840">
                <a:tc>
                  <a:txBody>
                    <a:bodyPr/>
                    <a:lstStyle/>
                    <a:p>
                      <a:endParaRPr lang="en-IN" dirty="0"/>
                    </a:p>
                  </a:txBody>
                  <a:tcPr/>
                </a:tc>
                <a:extLst>
                  <a:ext uri="{0D108BD9-81ED-4DB2-BD59-A6C34878D82A}">
                    <a16:rowId xmlns:a16="http://schemas.microsoft.com/office/drawing/2014/main" val="2953948409"/>
                  </a:ext>
                </a:extLst>
              </a:tr>
              <a:tr h="370840">
                <a:tc>
                  <a:txBody>
                    <a:bodyPr/>
                    <a:lstStyle/>
                    <a:p>
                      <a:endParaRPr lang="en-IN" dirty="0"/>
                    </a:p>
                  </a:txBody>
                  <a:tcPr/>
                </a:tc>
                <a:extLst>
                  <a:ext uri="{0D108BD9-81ED-4DB2-BD59-A6C34878D82A}">
                    <a16:rowId xmlns:a16="http://schemas.microsoft.com/office/drawing/2014/main" val="2487396617"/>
                  </a:ext>
                </a:extLst>
              </a:tr>
            </a:tbl>
          </a:graphicData>
        </a:graphic>
      </p:graphicFrame>
      <p:sp>
        <p:nvSpPr>
          <p:cNvPr id="4" name="Google Shape;98;g2eff20282af_0_123">
            <a:extLst>
              <a:ext uri="{FF2B5EF4-FFF2-40B4-BE49-F238E27FC236}">
                <a16:creationId xmlns:a16="http://schemas.microsoft.com/office/drawing/2014/main" id="{30E93F22-49DE-CA81-FE3B-1F9CA1FA5AB8}"/>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94314452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003FB9-679A-4BA0-9A26-2C1A6462A92F}"/>
              </a:ext>
            </a:extLst>
          </p:cNvPr>
          <p:cNvSpPr>
            <a:spLocks noGrp="1"/>
          </p:cNvSpPr>
          <p:nvPr>
            <p:ph idx="1"/>
          </p:nvPr>
        </p:nvSpPr>
        <p:spPr>
          <a:xfrm>
            <a:off x="2588964" y="544286"/>
            <a:ext cx="9472407" cy="5999733"/>
          </a:xfrm>
        </p:spPr>
        <p:txBody>
          <a:bodyPr>
            <a:normAutofit/>
          </a:bodyPr>
          <a:lstStyle/>
          <a:p>
            <a:pPr marL="0" indent="0">
              <a:buNone/>
            </a:pPr>
            <a:endParaRPr lang="en-IN" sz="2400" dirty="0">
              <a:latin typeface="+mn-lt"/>
            </a:endParaRPr>
          </a:p>
          <a:p>
            <a:pPr marL="0" indent="0">
              <a:buNone/>
            </a:pPr>
            <a:endParaRPr lang="en-IN" sz="2400" b="1" dirty="0">
              <a:solidFill>
                <a:srgbClr val="C00000"/>
              </a:solidFill>
              <a:latin typeface="+mn-lt"/>
            </a:endParaRPr>
          </a:p>
        </p:txBody>
      </p:sp>
      <p:graphicFrame>
        <p:nvGraphicFramePr>
          <p:cNvPr id="2" name="Table 3">
            <a:extLst>
              <a:ext uri="{FF2B5EF4-FFF2-40B4-BE49-F238E27FC236}">
                <a16:creationId xmlns:a16="http://schemas.microsoft.com/office/drawing/2014/main" id="{08512B4B-020E-A409-6C48-2C0D5852B400}"/>
              </a:ext>
            </a:extLst>
          </p:cNvPr>
          <p:cNvGraphicFramePr>
            <a:graphicFrameLocks noGrp="1"/>
          </p:cNvGraphicFramePr>
          <p:nvPr>
            <p:extLst>
              <p:ext uri="{D42A27DB-BD31-4B8C-83A1-F6EECF244321}">
                <p14:modId xmlns:p14="http://schemas.microsoft.com/office/powerpoint/2010/main" val="2179749824"/>
              </p:ext>
            </p:extLst>
          </p:nvPr>
        </p:nvGraphicFramePr>
        <p:xfrm>
          <a:off x="2881087" y="1110342"/>
          <a:ext cx="556964" cy="1404258"/>
        </p:xfrm>
        <a:graphic>
          <a:graphicData uri="http://schemas.openxmlformats.org/drawingml/2006/table">
            <a:tbl>
              <a:tblPr firstRow="1" bandRow="1">
                <a:tableStyleId>{5940675A-B579-460E-94D1-54222C63F5DA}</a:tableStyleId>
              </a:tblPr>
              <a:tblGrid>
                <a:gridCol w="556964">
                  <a:extLst>
                    <a:ext uri="{9D8B030D-6E8A-4147-A177-3AD203B41FA5}">
                      <a16:colId xmlns:a16="http://schemas.microsoft.com/office/drawing/2014/main" val="3871611496"/>
                    </a:ext>
                  </a:extLst>
                </a:gridCol>
              </a:tblGrid>
              <a:tr h="468086">
                <a:tc>
                  <a:txBody>
                    <a:bodyPr/>
                    <a:lstStyle/>
                    <a:p>
                      <a:pPr algn="ctr"/>
                      <a:r>
                        <a:rPr lang="en-IN" b="1" dirty="0"/>
                        <a:t>1</a:t>
                      </a:r>
                    </a:p>
                  </a:txBody>
                  <a:tcPr/>
                </a:tc>
                <a:extLst>
                  <a:ext uri="{0D108BD9-81ED-4DB2-BD59-A6C34878D82A}">
                    <a16:rowId xmlns:a16="http://schemas.microsoft.com/office/drawing/2014/main" val="998241085"/>
                  </a:ext>
                </a:extLst>
              </a:tr>
              <a:tr h="468086">
                <a:tc>
                  <a:txBody>
                    <a:bodyPr/>
                    <a:lstStyle/>
                    <a:p>
                      <a:pPr algn="ctr"/>
                      <a:endParaRPr lang="en-IN" b="1" dirty="0"/>
                    </a:p>
                  </a:txBody>
                  <a:tcPr/>
                </a:tc>
                <a:extLst>
                  <a:ext uri="{0D108BD9-81ED-4DB2-BD59-A6C34878D82A}">
                    <a16:rowId xmlns:a16="http://schemas.microsoft.com/office/drawing/2014/main" val="2953948409"/>
                  </a:ext>
                </a:extLst>
              </a:tr>
              <a:tr h="468086">
                <a:tc>
                  <a:txBody>
                    <a:bodyPr/>
                    <a:lstStyle/>
                    <a:p>
                      <a:pPr algn="ctr"/>
                      <a:endParaRPr lang="en-IN" b="1" dirty="0"/>
                    </a:p>
                  </a:txBody>
                  <a:tcPr/>
                </a:tc>
                <a:extLst>
                  <a:ext uri="{0D108BD9-81ED-4DB2-BD59-A6C34878D82A}">
                    <a16:rowId xmlns:a16="http://schemas.microsoft.com/office/drawing/2014/main" val="2487396617"/>
                  </a:ext>
                </a:extLst>
              </a:tr>
            </a:tbl>
          </a:graphicData>
        </a:graphic>
      </p:graphicFrame>
      <p:sp>
        <p:nvSpPr>
          <p:cNvPr id="4" name="TextBox 3">
            <a:extLst>
              <a:ext uri="{FF2B5EF4-FFF2-40B4-BE49-F238E27FC236}">
                <a16:creationId xmlns:a16="http://schemas.microsoft.com/office/drawing/2014/main" id="{0C6BCE7D-62B5-A76D-C2CB-FDEECB115086}"/>
              </a:ext>
            </a:extLst>
          </p:cNvPr>
          <p:cNvSpPr txBox="1"/>
          <p:nvPr/>
        </p:nvSpPr>
        <p:spPr>
          <a:xfrm>
            <a:off x="2891076" y="642257"/>
            <a:ext cx="556964" cy="370114"/>
          </a:xfrm>
          <a:prstGeom prst="rect">
            <a:avLst/>
          </a:prstGeom>
          <a:noFill/>
        </p:spPr>
        <p:txBody>
          <a:bodyPr wrap="square" rtlCol="0">
            <a:spAutoFit/>
          </a:bodyPr>
          <a:lstStyle/>
          <a:p>
            <a:pPr algn="ctr"/>
            <a:r>
              <a:rPr lang="en-IN" b="1" dirty="0">
                <a:solidFill>
                  <a:srgbClr val="FF0000"/>
                </a:solidFill>
              </a:rPr>
              <a:t>1</a:t>
            </a:r>
          </a:p>
        </p:txBody>
      </p:sp>
      <p:graphicFrame>
        <p:nvGraphicFramePr>
          <p:cNvPr id="21" name="Table 3">
            <a:extLst>
              <a:ext uri="{FF2B5EF4-FFF2-40B4-BE49-F238E27FC236}">
                <a16:creationId xmlns:a16="http://schemas.microsoft.com/office/drawing/2014/main" id="{A99C4350-1763-E857-A48B-138AD2BD63B7}"/>
              </a:ext>
            </a:extLst>
          </p:cNvPr>
          <p:cNvGraphicFramePr>
            <a:graphicFrameLocks noGrp="1"/>
          </p:cNvGraphicFramePr>
          <p:nvPr>
            <p:extLst>
              <p:ext uri="{D42A27DB-BD31-4B8C-83A1-F6EECF244321}">
                <p14:modId xmlns:p14="http://schemas.microsoft.com/office/powerpoint/2010/main" val="423332110"/>
              </p:ext>
            </p:extLst>
          </p:nvPr>
        </p:nvGraphicFramePr>
        <p:xfrm>
          <a:off x="4309804" y="1110342"/>
          <a:ext cx="556964" cy="1404258"/>
        </p:xfrm>
        <a:graphic>
          <a:graphicData uri="http://schemas.openxmlformats.org/drawingml/2006/table">
            <a:tbl>
              <a:tblPr firstRow="1" bandRow="1">
                <a:tableStyleId>{5940675A-B579-460E-94D1-54222C63F5DA}</a:tableStyleId>
              </a:tblPr>
              <a:tblGrid>
                <a:gridCol w="556964">
                  <a:extLst>
                    <a:ext uri="{9D8B030D-6E8A-4147-A177-3AD203B41FA5}">
                      <a16:colId xmlns:a16="http://schemas.microsoft.com/office/drawing/2014/main" val="3871611496"/>
                    </a:ext>
                  </a:extLst>
                </a:gridCol>
              </a:tblGrid>
              <a:tr h="468086">
                <a:tc>
                  <a:txBody>
                    <a:bodyPr/>
                    <a:lstStyle/>
                    <a:p>
                      <a:pPr algn="ctr"/>
                      <a:r>
                        <a:rPr lang="en-IN" b="1" dirty="0"/>
                        <a:t>1</a:t>
                      </a:r>
                    </a:p>
                  </a:txBody>
                  <a:tcPr/>
                </a:tc>
                <a:extLst>
                  <a:ext uri="{0D108BD9-81ED-4DB2-BD59-A6C34878D82A}">
                    <a16:rowId xmlns:a16="http://schemas.microsoft.com/office/drawing/2014/main" val="998241085"/>
                  </a:ext>
                </a:extLst>
              </a:tr>
              <a:tr h="468086">
                <a:tc>
                  <a:txBody>
                    <a:bodyPr/>
                    <a:lstStyle/>
                    <a:p>
                      <a:pPr algn="ctr"/>
                      <a:r>
                        <a:rPr lang="en-IN" b="1" dirty="0"/>
                        <a:t>2</a:t>
                      </a:r>
                    </a:p>
                  </a:txBody>
                  <a:tcPr/>
                </a:tc>
                <a:extLst>
                  <a:ext uri="{0D108BD9-81ED-4DB2-BD59-A6C34878D82A}">
                    <a16:rowId xmlns:a16="http://schemas.microsoft.com/office/drawing/2014/main" val="2953948409"/>
                  </a:ext>
                </a:extLst>
              </a:tr>
              <a:tr h="468086">
                <a:tc>
                  <a:txBody>
                    <a:bodyPr/>
                    <a:lstStyle/>
                    <a:p>
                      <a:pPr algn="ctr"/>
                      <a:r>
                        <a:rPr lang="en-IN" b="1" dirty="0"/>
                        <a:t>3</a:t>
                      </a:r>
                    </a:p>
                  </a:txBody>
                  <a:tcPr/>
                </a:tc>
                <a:extLst>
                  <a:ext uri="{0D108BD9-81ED-4DB2-BD59-A6C34878D82A}">
                    <a16:rowId xmlns:a16="http://schemas.microsoft.com/office/drawing/2014/main" val="2487396617"/>
                  </a:ext>
                </a:extLst>
              </a:tr>
            </a:tbl>
          </a:graphicData>
        </a:graphic>
      </p:graphicFrame>
      <p:sp>
        <p:nvSpPr>
          <p:cNvPr id="22" name="TextBox 21">
            <a:extLst>
              <a:ext uri="{FF2B5EF4-FFF2-40B4-BE49-F238E27FC236}">
                <a16:creationId xmlns:a16="http://schemas.microsoft.com/office/drawing/2014/main" id="{4B55254F-98DE-808F-44AB-0D5C56D4F35B}"/>
              </a:ext>
            </a:extLst>
          </p:cNvPr>
          <p:cNvSpPr txBox="1"/>
          <p:nvPr/>
        </p:nvSpPr>
        <p:spPr>
          <a:xfrm>
            <a:off x="3511520" y="674913"/>
            <a:ext cx="556964" cy="370114"/>
          </a:xfrm>
          <a:prstGeom prst="rect">
            <a:avLst/>
          </a:prstGeom>
          <a:noFill/>
        </p:spPr>
        <p:txBody>
          <a:bodyPr wrap="square" rtlCol="0">
            <a:spAutoFit/>
          </a:bodyPr>
          <a:lstStyle/>
          <a:p>
            <a:pPr algn="ctr"/>
            <a:r>
              <a:rPr lang="en-IN" b="1" dirty="0">
                <a:solidFill>
                  <a:srgbClr val="FF0000"/>
                </a:solidFill>
              </a:rPr>
              <a:t>2</a:t>
            </a:r>
          </a:p>
        </p:txBody>
      </p:sp>
      <p:graphicFrame>
        <p:nvGraphicFramePr>
          <p:cNvPr id="23" name="Table 3">
            <a:extLst>
              <a:ext uri="{FF2B5EF4-FFF2-40B4-BE49-F238E27FC236}">
                <a16:creationId xmlns:a16="http://schemas.microsoft.com/office/drawing/2014/main" id="{F07F70F0-2A48-E4A1-F4AB-9A432F12A9C7}"/>
              </a:ext>
            </a:extLst>
          </p:cNvPr>
          <p:cNvGraphicFramePr>
            <a:graphicFrameLocks noGrp="1"/>
          </p:cNvGraphicFramePr>
          <p:nvPr>
            <p:extLst>
              <p:ext uri="{D42A27DB-BD31-4B8C-83A1-F6EECF244321}">
                <p14:modId xmlns:p14="http://schemas.microsoft.com/office/powerpoint/2010/main" val="2451992901"/>
              </p:ext>
            </p:extLst>
          </p:nvPr>
        </p:nvGraphicFramePr>
        <p:xfrm>
          <a:off x="3590451" y="1110342"/>
          <a:ext cx="556964" cy="1404258"/>
        </p:xfrm>
        <a:graphic>
          <a:graphicData uri="http://schemas.openxmlformats.org/drawingml/2006/table">
            <a:tbl>
              <a:tblPr firstRow="1" bandRow="1">
                <a:tableStyleId>{5940675A-B579-460E-94D1-54222C63F5DA}</a:tableStyleId>
              </a:tblPr>
              <a:tblGrid>
                <a:gridCol w="556964">
                  <a:extLst>
                    <a:ext uri="{9D8B030D-6E8A-4147-A177-3AD203B41FA5}">
                      <a16:colId xmlns:a16="http://schemas.microsoft.com/office/drawing/2014/main" val="3871611496"/>
                    </a:ext>
                  </a:extLst>
                </a:gridCol>
              </a:tblGrid>
              <a:tr h="468086">
                <a:tc>
                  <a:txBody>
                    <a:bodyPr/>
                    <a:lstStyle/>
                    <a:p>
                      <a:pPr algn="ctr"/>
                      <a:r>
                        <a:rPr lang="en-IN" b="1" dirty="0"/>
                        <a:t>1</a:t>
                      </a:r>
                    </a:p>
                  </a:txBody>
                  <a:tcPr/>
                </a:tc>
                <a:extLst>
                  <a:ext uri="{0D108BD9-81ED-4DB2-BD59-A6C34878D82A}">
                    <a16:rowId xmlns:a16="http://schemas.microsoft.com/office/drawing/2014/main" val="998241085"/>
                  </a:ext>
                </a:extLst>
              </a:tr>
              <a:tr h="468086">
                <a:tc>
                  <a:txBody>
                    <a:bodyPr/>
                    <a:lstStyle/>
                    <a:p>
                      <a:pPr algn="ctr"/>
                      <a:r>
                        <a:rPr lang="en-IN" b="1" dirty="0"/>
                        <a:t>2</a:t>
                      </a:r>
                    </a:p>
                  </a:txBody>
                  <a:tcPr/>
                </a:tc>
                <a:extLst>
                  <a:ext uri="{0D108BD9-81ED-4DB2-BD59-A6C34878D82A}">
                    <a16:rowId xmlns:a16="http://schemas.microsoft.com/office/drawing/2014/main" val="2953948409"/>
                  </a:ext>
                </a:extLst>
              </a:tr>
              <a:tr h="468086">
                <a:tc>
                  <a:txBody>
                    <a:bodyPr/>
                    <a:lstStyle/>
                    <a:p>
                      <a:pPr algn="ctr"/>
                      <a:endParaRPr lang="en-IN" b="1" dirty="0"/>
                    </a:p>
                  </a:txBody>
                  <a:tcPr/>
                </a:tc>
                <a:extLst>
                  <a:ext uri="{0D108BD9-81ED-4DB2-BD59-A6C34878D82A}">
                    <a16:rowId xmlns:a16="http://schemas.microsoft.com/office/drawing/2014/main" val="2487396617"/>
                  </a:ext>
                </a:extLst>
              </a:tr>
            </a:tbl>
          </a:graphicData>
        </a:graphic>
      </p:graphicFrame>
      <p:sp>
        <p:nvSpPr>
          <p:cNvPr id="24" name="TextBox 23">
            <a:extLst>
              <a:ext uri="{FF2B5EF4-FFF2-40B4-BE49-F238E27FC236}">
                <a16:creationId xmlns:a16="http://schemas.microsoft.com/office/drawing/2014/main" id="{56965CC3-B7A0-7353-5CE3-4A6E48BB2531}"/>
              </a:ext>
            </a:extLst>
          </p:cNvPr>
          <p:cNvSpPr txBox="1"/>
          <p:nvPr/>
        </p:nvSpPr>
        <p:spPr>
          <a:xfrm>
            <a:off x="4267533" y="642257"/>
            <a:ext cx="556964" cy="370114"/>
          </a:xfrm>
          <a:prstGeom prst="rect">
            <a:avLst/>
          </a:prstGeom>
          <a:noFill/>
        </p:spPr>
        <p:txBody>
          <a:bodyPr wrap="square" rtlCol="0">
            <a:spAutoFit/>
          </a:bodyPr>
          <a:lstStyle/>
          <a:p>
            <a:pPr algn="ctr"/>
            <a:r>
              <a:rPr lang="en-IN" b="1" dirty="0">
                <a:solidFill>
                  <a:srgbClr val="FF0000"/>
                </a:solidFill>
              </a:rPr>
              <a:t>3</a:t>
            </a:r>
          </a:p>
        </p:txBody>
      </p:sp>
      <p:graphicFrame>
        <p:nvGraphicFramePr>
          <p:cNvPr id="33" name="Table 3">
            <a:extLst>
              <a:ext uri="{FF2B5EF4-FFF2-40B4-BE49-F238E27FC236}">
                <a16:creationId xmlns:a16="http://schemas.microsoft.com/office/drawing/2014/main" id="{1341C2A8-7DCA-77E8-4F8A-DFF6FDED3029}"/>
              </a:ext>
            </a:extLst>
          </p:cNvPr>
          <p:cNvGraphicFramePr>
            <a:graphicFrameLocks noGrp="1"/>
          </p:cNvGraphicFramePr>
          <p:nvPr>
            <p:extLst>
              <p:ext uri="{D42A27DB-BD31-4B8C-83A1-F6EECF244321}">
                <p14:modId xmlns:p14="http://schemas.microsoft.com/office/powerpoint/2010/main" val="3831129439"/>
              </p:ext>
            </p:extLst>
          </p:nvPr>
        </p:nvGraphicFramePr>
        <p:xfrm>
          <a:off x="8065013" y="1104898"/>
          <a:ext cx="556964" cy="1404258"/>
        </p:xfrm>
        <a:graphic>
          <a:graphicData uri="http://schemas.openxmlformats.org/drawingml/2006/table">
            <a:tbl>
              <a:tblPr firstRow="1" bandRow="1">
                <a:tableStyleId>{5940675A-B579-460E-94D1-54222C63F5DA}</a:tableStyleId>
              </a:tblPr>
              <a:tblGrid>
                <a:gridCol w="556964">
                  <a:extLst>
                    <a:ext uri="{9D8B030D-6E8A-4147-A177-3AD203B41FA5}">
                      <a16:colId xmlns:a16="http://schemas.microsoft.com/office/drawing/2014/main" val="3871611496"/>
                    </a:ext>
                  </a:extLst>
                </a:gridCol>
              </a:tblGrid>
              <a:tr h="468086">
                <a:tc>
                  <a:txBody>
                    <a:bodyPr/>
                    <a:lstStyle/>
                    <a:p>
                      <a:pPr algn="ctr"/>
                      <a:r>
                        <a:rPr lang="en-IN" b="1" dirty="0"/>
                        <a:t>5</a:t>
                      </a:r>
                    </a:p>
                  </a:txBody>
                  <a:tcPr/>
                </a:tc>
                <a:extLst>
                  <a:ext uri="{0D108BD9-81ED-4DB2-BD59-A6C34878D82A}">
                    <a16:rowId xmlns:a16="http://schemas.microsoft.com/office/drawing/2014/main" val="998241085"/>
                  </a:ext>
                </a:extLst>
              </a:tr>
              <a:tr h="468086">
                <a:tc>
                  <a:txBody>
                    <a:bodyPr/>
                    <a:lstStyle/>
                    <a:p>
                      <a:pPr algn="ctr"/>
                      <a:r>
                        <a:rPr lang="en-IN" b="1" dirty="0"/>
                        <a:t>1</a:t>
                      </a:r>
                    </a:p>
                  </a:txBody>
                  <a:tcPr/>
                </a:tc>
                <a:extLst>
                  <a:ext uri="{0D108BD9-81ED-4DB2-BD59-A6C34878D82A}">
                    <a16:rowId xmlns:a16="http://schemas.microsoft.com/office/drawing/2014/main" val="2953948409"/>
                  </a:ext>
                </a:extLst>
              </a:tr>
              <a:tr h="468086">
                <a:tc>
                  <a:txBody>
                    <a:bodyPr/>
                    <a:lstStyle/>
                    <a:p>
                      <a:pPr algn="ctr"/>
                      <a:r>
                        <a:rPr lang="en-IN" b="1" dirty="0"/>
                        <a:t>2</a:t>
                      </a:r>
                    </a:p>
                  </a:txBody>
                  <a:tcPr/>
                </a:tc>
                <a:extLst>
                  <a:ext uri="{0D108BD9-81ED-4DB2-BD59-A6C34878D82A}">
                    <a16:rowId xmlns:a16="http://schemas.microsoft.com/office/drawing/2014/main" val="2487396617"/>
                  </a:ext>
                </a:extLst>
              </a:tr>
            </a:tbl>
          </a:graphicData>
        </a:graphic>
      </p:graphicFrame>
      <p:sp>
        <p:nvSpPr>
          <p:cNvPr id="34" name="TextBox 33">
            <a:extLst>
              <a:ext uri="{FF2B5EF4-FFF2-40B4-BE49-F238E27FC236}">
                <a16:creationId xmlns:a16="http://schemas.microsoft.com/office/drawing/2014/main" id="{089FA13A-F953-39BE-F0D7-4DBDB6D6A2DA}"/>
              </a:ext>
            </a:extLst>
          </p:cNvPr>
          <p:cNvSpPr txBox="1"/>
          <p:nvPr/>
        </p:nvSpPr>
        <p:spPr>
          <a:xfrm>
            <a:off x="5121292" y="642257"/>
            <a:ext cx="556964" cy="370114"/>
          </a:xfrm>
          <a:prstGeom prst="rect">
            <a:avLst/>
          </a:prstGeom>
          <a:noFill/>
        </p:spPr>
        <p:txBody>
          <a:bodyPr wrap="square" rtlCol="0">
            <a:spAutoFit/>
          </a:bodyPr>
          <a:lstStyle/>
          <a:p>
            <a:pPr algn="ctr"/>
            <a:r>
              <a:rPr lang="en-IN" b="1" dirty="0">
                <a:solidFill>
                  <a:srgbClr val="FF0000"/>
                </a:solidFill>
              </a:rPr>
              <a:t>4</a:t>
            </a:r>
          </a:p>
        </p:txBody>
      </p:sp>
      <p:graphicFrame>
        <p:nvGraphicFramePr>
          <p:cNvPr id="35" name="Table 3">
            <a:extLst>
              <a:ext uri="{FF2B5EF4-FFF2-40B4-BE49-F238E27FC236}">
                <a16:creationId xmlns:a16="http://schemas.microsoft.com/office/drawing/2014/main" id="{BF367DEB-1E0B-D4EB-EAD1-9341601F9B3A}"/>
              </a:ext>
            </a:extLst>
          </p:cNvPr>
          <p:cNvGraphicFramePr>
            <a:graphicFrameLocks noGrp="1"/>
          </p:cNvGraphicFramePr>
          <p:nvPr>
            <p:extLst>
              <p:ext uri="{D42A27DB-BD31-4B8C-83A1-F6EECF244321}">
                <p14:modId xmlns:p14="http://schemas.microsoft.com/office/powerpoint/2010/main" val="3114894985"/>
              </p:ext>
            </p:extLst>
          </p:nvPr>
        </p:nvGraphicFramePr>
        <p:xfrm>
          <a:off x="5082114" y="1104898"/>
          <a:ext cx="556964" cy="1404258"/>
        </p:xfrm>
        <a:graphic>
          <a:graphicData uri="http://schemas.openxmlformats.org/drawingml/2006/table">
            <a:tbl>
              <a:tblPr firstRow="1" bandRow="1">
                <a:tableStyleId>{5940675A-B579-460E-94D1-54222C63F5DA}</a:tableStyleId>
              </a:tblPr>
              <a:tblGrid>
                <a:gridCol w="556964">
                  <a:extLst>
                    <a:ext uri="{9D8B030D-6E8A-4147-A177-3AD203B41FA5}">
                      <a16:colId xmlns:a16="http://schemas.microsoft.com/office/drawing/2014/main" val="3871611496"/>
                    </a:ext>
                  </a:extLst>
                </a:gridCol>
              </a:tblGrid>
              <a:tr h="468086">
                <a:tc>
                  <a:txBody>
                    <a:bodyPr/>
                    <a:lstStyle/>
                    <a:p>
                      <a:pPr algn="ctr"/>
                      <a:r>
                        <a:rPr lang="en-IN" b="1" dirty="0"/>
                        <a:t>4</a:t>
                      </a:r>
                    </a:p>
                  </a:txBody>
                  <a:tcPr/>
                </a:tc>
                <a:extLst>
                  <a:ext uri="{0D108BD9-81ED-4DB2-BD59-A6C34878D82A}">
                    <a16:rowId xmlns:a16="http://schemas.microsoft.com/office/drawing/2014/main" val="998241085"/>
                  </a:ext>
                </a:extLst>
              </a:tr>
              <a:tr h="468086">
                <a:tc>
                  <a:txBody>
                    <a:bodyPr/>
                    <a:lstStyle/>
                    <a:p>
                      <a:pPr algn="ctr"/>
                      <a:r>
                        <a:rPr lang="en-IN" b="1" dirty="0"/>
                        <a:t>2</a:t>
                      </a:r>
                    </a:p>
                  </a:txBody>
                  <a:tcPr/>
                </a:tc>
                <a:extLst>
                  <a:ext uri="{0D108BD9-81ED-4DB2-BD59-A6C34878D82A}">
                    <a16:rowId xmlns:a16="http://schemas.microsoft.com/office/drawing/2014/main" val="2953948409"/>
                  </a:ext>
                </a:extLst>
              </a:tr>
              <a:tr h="468086">
                <a:tc>
                  <a:txBody>
                    <a:bodyPr/>
                    <a:lstStyle/>
                    <a:p>
                      <a:pPr algn="ctr"/>
                      <a:r>
                        <a:rPr lang="en-IN" b="1" dirty="0"/>
                        <a:t>3</a:t>
                      </a:r>
                    </a:p>
                  </a:txBody>
                  <a:tcPr/>
                </a:tc>
                <a:extLst>
                  <a:ext uri="{0D108BD9-81ED-4DB2-BD59-A6C34878D82A}">
                    <a16:rowId xmlns:a16="http://schemas.microsoft.com/office/drawing/2014/main" val="2487396617"/>
                  </a:ext>
                </a:extLst>
              </a:tr>
            </a:tbl>
          </a:graphicData>
        </a:graphic>
      </p:graphicFrame>
      <p:sp>
        <p:nvSpPr>
          <p:cNvPr id="36" name="TextBox 35">
            <a:extLst>
              <a:ext uri="{FF2B5EF4-FFF2-40B4-BE49-F238E27FC236}">
                <a16:creationId xmlns:a16="http://schemas.microsoft.com/office/drawing/2014/main" id="{35C6EFB1-8344-8899-D1D9-1AB5BDC9319E}"/>
              </a:ext>
            </a:extLst>
          </p:cNvPr>
          <p:cNvSpPr txBox="1"/>
          <p:nvPr/>
        </p:nvSpPr>
        <p:spPr>
          <a:xfrm>
            <a:off x="5866963" y="674913"/>
            <a:ext cx="556964" cy="370114"/>
          </a:xfrm>
          <a:prstGeom prst="rect">
            <a:avLst/>
          </a:prstGeom>
          <a:noFill/>
        </p:spPr>
        <p:txBody>
          <a:bodyPr wrap="square" rtlCol="0">
            <a:spAutoFit/>
          </a:bodyPr>
          <a:lstStyle/>
          <a:p>
            <a:pPr algn="ctr"/>
            <a:r>
              <a:rPr lang="en-IN" b="1" dirty="0">
                <a:solidFill>
                  <a:srgbClr val="FF0000"/>
                </a:solidFill>
              </a:rPr>
              <a:t>1</a:t>
            </a:r>
          </a:p>
        </p:txBody>
      </p:sp>
      <p:graphicFrame>
        <p:nvGraphicFramePr>
          <p:cNvPr id="37" name="Table 3">
            <a:extLst>
              <a:ext uri="{FF2B5EF4-FFF2-40B4-BE49-F238E27FC236}">
                <a16:creationId xmlns:a16="http://schemas.microsoft.com/office/drawing/2014/main" id="{1467B45D-3884-2FFF-F33D-678BEBCAE110}"/>
              </a:ext>
            </a:extLst>
          </p:cNvPr>
          <p:cNvGraphicFramePr>
            <a:graphicFrameLocks noGrp="1"/>
          </p:cNvGraphicFramePr>
          <p:nvPr>
            <p:extLst>
              <p:ext uri="{D42A27DB-BD31-4B8C-83A1-F6EECF244321}">
                <p14:modId xmlns:p14="http://schemas.microsoft.com/office/powerpoint/2010/main" val="3598482255"/>
              </p:ext>
            </p:extLst>
          </p:nvPr>
        </p:nvGraphicFramePr>
        <p:xfrm>
          <a:off x="5866963" y="1115784"/>
          <a:ext cx="485777" cy="1404258"/>
        </p:xfrm>
        <a:graphic>
          <a:graphicData uri="http://schemas.openxmlformats.org/drawingml/2006/table">
            <a:tbl>
              <a:tblPr firstRow="1" bandRow="1">
                <a:tableStyleId>{5940675A-B579-460E-94D1-54222C63F5DA}</a:tableStyleId>
              </a:tblPr>
              <a:tblGrid>
                <a:gridCol w="485777">
                  <a:extLst>
                    <a:ext uri="{9D8B030D-6E8A-4147-A177-3AD203B41FA5}">
                      <a16:colId xmlns:a16="http://schemas.microsoft.com/office/drawing/2014/main" val="3871611496"/>
                    </a:ext>
                  </a:extLst>
                </a:gridCol>
              </a:tblGrid>
              <a:tr h="468086">
                <a:tc>
                  <a:txBody>
                    <a:bodyPr/>
                    <a:lstStyle/>
                    <a:p>
                      <a:pPr algn="ctr"/>
                      <a:r>
                        <a:rPr lang="en-IN" b="1" dirty="0"/>
                        <a:t>4</a:t>
                      </a:r>
                    </a:p>
                  </a:txBody>
                  <a:tcPr/>
                </a:tc>
                <a:extLst>
                  <a:ext uri="{0D108BD9-81ED-4DB2-BD59-A6C34878D82A}">
                    <a16:rowId xmlns:a16="http://schemas.microsoft.com/office/drawing/2014/main" val="998241085"/>
                  </a:ext>
                </a:extLst>
              </a:tr>
              <a:tr h="468086">
                <a:tc>
                  <a:txBody>
                    <a:bodyPr/>
                    <a:lstStyle/>
                    <a:p>
                      <a:pPr algn="ctr"/>
                      <a:r>
                        <a:rPr lang="en-IN" b="1" dirty="0"/>
                        <a:t>1</a:t>
                      </a:r>
                    </a:p>
                  </a:txBody>
                  <a:tcPr/>
                </a:tc>
                <a:extLst>
                  <a:ext uri="{0D108BD9-81ED-4DB2-BD59-A6C34878D82A}">
                    <a16:rowId xmlns:a16="http://schemas.microsoft.com/office/drawing/2014/main" val="2953948409"/>
                  </a:ext>
                </a:extLst>
              </a:tr>
              <a:tr h="468086">
                <a:tc>
                  <a:txBody>
                    <a:bodyPr/>
                    <a:lstStyle/>
                    <a:p>
                      <a:pPr algn="ctr"/>
                      <a:r>
                        <a:rPr lang="en-IN" b="1" dirty="0"/>
                        <a:t>3</a:t>
                      </a:r>
                    </a:p>
                  </a:txBody>
                  <a:tcPr/>
                </a:tc>
                <a:extLst>
                  <a:ext uri="{0D108BD9-81ED-4DB2-BD59-A6C34878D82A}">
                    <a16:rowId xmlns:a16="http://schemas.microsoft.com/office/drawing/2014/main" val="2487396617"/>
                  </a:ext>
                </a:extLst>
              </a:tr>
            </a:tbl>
          </a:graphicData>
        </a:graphic>
      </p:graphicFrame>
      <p:sp>
        <p:nvSpPr>
          <p:cNvPr id="38" name="TextBox 37">
            <a:extLst>
              <a:ext uri="{FF2B5EF4-FFF2-40B4-BE49-F238E27FC236}">
                <a16:creationId xmlns:a16="http://schemas.microsoft.com/office/drawing/2014/main" id="{4A623B8B-CB99-B99D-B241-067B51DB536F}"/>
              </a:ext>
            </a:extLst>
          </p:cNvPr>
          <p:cNvSpPr txBox="1"/>
          <p:nvPr/>
        </p:nvSpPr>
        <p:spPr>
          <a:xfrm>
            <a:off x="6580580" y="639525"/>
            <a:ext cx="556964" cy="370114"/>
          </a:xfrm>
          <a:prstGeom prst="rect">
            <a:avLst/>
          </a:prstGeom>
          <a:noFill/>
        </p:spPr>
        <p:txBody>
          <a:bodyPr wrap="square" rtlCol="0">
            <a:spAutoFit/>
          </a:bodyPr>
          <a:lstStyle/>
          <a:p>
            <a:pPr algn="ctr"/>
            <a:r>
              <a:rPr lang="en-IN" b="1" dirty="0">
                <a:solidFill>
                  <a:srgbClr val="FF0000"/>
                </a:solidFill>
              </a:rPr>
              <a:t>2</a:t>
            </a:r>
          </a:p>
        </p:txBody>
      </p:sp>
      <p:graphicFrame>
        <p:nvGraphicFramePr>
          <p:cNvPr id="39" name="Table 3">
            <a:extLst>
              <a:ext uri="{FF2B5EF4-FFF2-40B4-BE49-F238E27FC236}">
                <a16:creationId xmlns:a16="http://schemas.microsoft.com/office/drawing/2014/main" id="{7B1742D7-4408-E0E1-13C1-1E4097138241}"/>
              </a:ext>
            </a:extLst>
          </p:cNvPr>
          <p:cNvGraphicFramePr>
            <a:graphicFrameLocks noGrp="1"/>
          </p:cNvGraphicFramePr>
          <p:nvPr>
            <p:extLst>
              <p:ext uri="{D42A27DB-BD31-4B8C-83A1-F6EECF244321}">
                <p14:modId xmlns:p14="http://schemas.microsoft.com/office/powerpoint/2010/main" val="854823523"/>
              </p:ext>
            </p:extLst>
          </p:nvPr>
        </p:nvGraphicFramePr>
        <p:xfrm>
          <a:off x="6573777" y="1104898"/>
          <a:ext cx="469280" cy="1404258"/>
        </p:xfrm>
        <a:graphic>
          <a:graphicData uri="http://schemas.openxmlformats.org/drawingml/2006/table">
            <a:tbl>
              <a:tblPr firstRow="1" bandRow="1">
                <a:tableStyleId>{5940675A-B579-460E-94D1-54222C63F5DA}</a:tableStyleId>
              </a:tblPr>
              <a:tblGrid>
                <a:gridCol w="469280">
                  <a:extLst>
                    <a:ext uri="{9D8B030D-6E8A-4147-A177-3AD203B41FA5}">
                      <a16:colId xmlns:a16="http://schemas.microsoft.com/office/drawing/2014/main" val="3871611496"/>
                    </a:ext>
                  </a:extLst>
                </a:gridCol>
              </a:tblGrid>
              <a:tr h="468086">
                <a:tc>
                  <a:txBody>
                    <a:bodyPr/>
                    <a:lstStyle/>
                    <a:p>
                      <a:pPr algn="ctr"/>
                      <a:r>
                        <a:rPr lang="en-IN" b="1" dirty="0"/>
                        <a:t>4</a:t>
                      </a:r>
                    </a:p>
                  </a:txBody>
                  <a:tcPr/>
                </a:tc>
                <a:extLst>
                  <a:ext uri="{0D108BD9-81ED-4DB2-BD59-A6C34878D82A}">
                    <a16:rowId xmlns:a16="http://schemas.microsoft.com/office/drawing/2014/main" val="998241085"/>
                  </a:ext>
                </a:extLst>
              </a:tr>
              <a:tr h="468086">
                <a:tc>
                  <a:txBody>
                    <a:bodyPr/>
                    <a:lstStyle/>
                    <a:p>
                      <a:pPr algn="ctr"/>
                      <a:r>
                        <a:rPr lang="en-IN" b="1" dirty="0"/>
                        <a:t>1</a:t>
                      </a:r>
                    </a:p>
                  </a:txBody>
                  <a:tcPr/>
                </a:tc>
                <a:extLst>
                  <a:ext uri="{0D108BD9-81ED-4DB2-BD59-A6C34878D82A}">
                    <a16:rowId xmlns:a16="http://schemas.microsoft.com/office/drawing/2014/main" val="2953948409"/>
                  </a:ext>
                </a:extLst>
              </a:tr>
              <a:tr h="468086">
                <a:tc>
                  <a:txBody>
                    <a:bodyPr/>
                    <a:lstStyle/>
                    <a:p>
                      <a:pPr algn="ctr"/>
                      <a:r>
                        <a:rPr lang="en-IN" b="1" dirty="0"/>
                        <a:t>3</a:t>
                      </a:r>
                    </a:p>
                  </a:txBody>
                  <a:tcPr/>
                </a:tc>
                <a:extLst>
                  <a:ext uri="{0D108BD9-81ED-4DB2-BD59-A6C34878D82A}">
                    <a16:rowId xmlns:a16="http://schemas.microsoft.com/office/drawing/2014/main" val="2487396617"/>
                  </a:ext>
                </a:extLst>
              </a:tr>
            </a:tbl>
          </a:graphicData>
        </a:graphic>
      </p:graphicFrame>
      <p:sp>
        <p:nvSpPr>
          <p:cNvPr id="40" name="TextBox 39">
            <a:extLst>
              <a:ext uri="{FF2B5EF4-FFF2-40B4-BE49-F238E27FC236}">
                <a16:creationId xmlns:a16="http://schemas.microsoft.com/office/drawing/2014/main" id="{F21F7BE9-ABCC-4947-CEBD-D3E4A3431502}"/>
              </a:ext>
            </a:extLst>
          </p:cNvPr>
          <p:cNvSpPr txBox="1"/>
          <p:nvPr/>
        </p:nvSpPr>
        <p:spPr>
          <a:xfrm>
            <a:off x="7266126" y="674912"/>
            <a:ext cx="556964" cy="370114"/>
          </a:xfrm>
          <a:prstGeom prst="rect">
            <a:avLst/>
          </a:prstGeom>
          <a:noFill/>
        </p:spPr>
        <p:txBody>
          <a:bodyPr wrap="square" rtlCol="0">
            <a:spAutoFit/>
          </a:bodyPr>
          <a:lstStyle/>
          <a:p>
            <a:pPr algn="ctr"/>
            <a:r>
              <a:rPr lang="en-IN" b="1" dirty="0">
                <a:solidFill>
                  <a:srgbClr val="FF0000"/>
                </a:solidFill>
              </a:rPr>
              <a:t>5</a:t>
            </a:r>
          </a:p>
        </p:txBody>
      </p:sp>
      <p:graphicFrame>
        <p:nvGraphicFramePr>
          <p:cNvPr id="41" name="Table 3">
            <a:extLst>
              <a:ext uri="{FF2B5EF4-FFF2-40B4-BE49-F238E27FC236}">
                <a16:creationId xmlns:a16="http://schemas.microsoft.com/office/drawing/2014/main" id="{BEED9925-49FC-DF2A-DF37-48421B0C2E47}"/>
              </a:ext>
            </a:extLst>
          </p:cNvPr>
          <p:cNvGraphicFramePr>
            <a:graphicFrameLocks noGrp="1"/>
          </p:cNvGraphicFramePr>
          <p:nvPr>
            <p:extLst>
              <p:ext uri="{D42A27DB-BD31-4B8C-83A1-F6EECF244321}">
                <p14:modId xmlns:p14="http://schemas.microsoft.com/office/powerpoint/2010/main" val="976828401"/>
              </p:ext>
            </p:extLst>
          </p:nvPr>
        </p:nvGraphicFramePr>
        <p:xfrm>
          <a:off x="7292703" y="1104898"/>
          <a:ext cx="556964" cy="1404258"/>
        </p:xfrm>
        <a:graphic>
          <a:graphicData uri="http://schemas.openxmlformats.org/drawingml/2006/table">
            <a:tbl>
              <a:tblPr firstRow="1" bandRow="1">
                <a:tableStyleId>{5940675A-B579-460E-94D1-54222C63F5DA}</a:tableStyleId>
              </a:tblPr>
              <a:tblGrid>
                <a:gridCol w="556964">
                  <a:extLst>
                    <a:ext uri="{9D8B030D-6E8A-4147-A177-3AD203B41FA5}">
                      <a16:colId xmlns:a16="http://schemas.microsoft.com/office/drawing/2014/main" val="3871611496"/>
                    </a:ext>
                  </a:extLst>
                </a:gridCol>
              </a:tblGrid>
              <a:tr h="468086">
                <a:tc>
                  <a:txBody>
                    <a:bodyPr/>
                    <a:lstStyle/>
                    <a:p>
                      <a:pPr algn="ctr"/>
                      <a:r>
                        <a:rPr lang="en-IN" b="1" dirty="0"/>
                        <a:t>5</a:t>
                      </a:r>
                    </a:p>
                  </a:txBody>
                  <a:tcPr/>
                </a:tc>
                <a:extLst>
                  <a:ext uri="{0D108BD9-81ED-4DB2-BD59-A6C34878D82A}">
                    <a16:rowId xmlns:a16="http://schemas.microsoft.com/office/drawing/2014/main" val="998241085"/>
                  </a:ext>
                </a:extLst>
              </a:tr>
              <a:tr h="468086">
                <a:tc>
                  <a:txBody>
                    <a:bodyPr/>
                    <a:lstStyle/>
                    <a:p>
                      <a:pPr algn="ctr"/>
                      <a:r>
                        <a:rPr lang="en-IN" b="1" dirty="0"/>
                        <a:t>1</a:t>
                      </a:r>
                    </a:p>
                  </a:txBody>
                  <a:tcPr/>
                </a:tc>
                <a:extLst>
                  <a:ext uri="{0D108BD9-81ED-4DB2-BD59-A6C34878D82A}">
                    <a16:rowId xmlns:a16="http://schemas.microsoft.com/office/drawing/2014/main" val="2953948409"/>
                  </a:ext>
                </a:extLst>
              </a:tr>
              <a:tr h="468086">
                <a:tc>
                  <a:txBody>
                    <a:bodyPr/>
                    <a:lstStyle/>
                    <a:p>
                      <a:pPr algn="ctr"/>
                      <a:r>
                        <a:rPr lang="en-IN" b="1" dirty="0"/>
                        <a:t>2</a:t>
                      </a:r>
                    </a:p>
                  </a:txBody>
                  <a:tcPr/>
                </a:tc>
                <a:extLst>
                  <a:ext uri="{0D108BD9-81ED-4DB2-BD59-A6C34878D82A}">
                    <a16:rowId xmlns:a16="http://schemas.microsoft.com/office/drawing/2014/main" val="2487396617"/>
                  </a:ext>
                </a:extLst>
              </a:tr>
            </a:tbl>
          </a:graphicData>
        </a:graphic>
      </p:graphicFrame>
      <p:sp>
        <p:nvSpPr>
          <p:cNvPr id="42" name="TextBox 41">
            <a:extLst>
              <a:ext uri="{FF2B5EF4-FFF2-40B4-BE49-F238E27FC236}">
                <a16:creationId xmlns:a16="http://schemas.microsoft.com/office/drawing/2014/main" id="{44F9081D-E961-1FDB-7B3C-74A877C458C5}"/>
              </a:ext>
            </a:extLst>
          </p:cNvPr>
          <p:cNvSpPr txBox="1"/>
          <p:nvPr/>
        </p:nvSpPr>
        <p:spPr>
          <a:xfrm>
            <a:off x="8013201" y="674912"/>
            <a:ext cx="556964" cy="370114"/>
          </a:xfrm>
          <a:prstGeom prst="rect">
            <a:avLst/>
          </a:prstGeom>
          <a:noFill/>
        </p:spPr>
        <p:txBody>
          <a:bodyPr wrap="square" rtlCol="0">
            <a:spAutoFit/>
          </a:bodyPr>
          <a:lstStyle/>
          <a:p>
            <a:pPr algn="ctr"/>
            <a:r>
              <a:rPr lang="en-IN" b="1" dirty="0">
                <a:solidFill>
                  <a:srgbClr val="FF0000"/>
                </a:solidFill>
              </a:rPr>
              <a:t>1</a:t>
            </a:r>
          </a:p>
        </p:txBody>
      </p:sp>
      <p:graphicFrame>
        <p:nvGraphicFramePr>
          <p:cNvPr id="45" name="Table 3">
            <a:extLst>
              <a:ext uri="{FF2B5EF4-FFF2-40B4-BE49-F238E27FC236}">
                <a16:creationId xmlns:a16="http://schemas.microsoft.com/office/drawing/2014/main" id="{8F7D9BE0-56D6-96A4-2DCE-EFB91E710363}"/>
              </a:ext>
            </a:extLst>
          </p:cNvPr>
          <p:cNvGraphicFramePr>
            <a:graphicFrameLocks noGrp="1"/>
          </p:cNvGraphicFramePr>
          <p:nvPr>
            <p:extLst>
              <p:ext uri="{D42A27DB-BD31-4B8C-83A1-F6EECF244321}">
                <p14:modId xmlns:p14="http://schemas.microsoft.com/office/powerpoint/2010/main" val="3871545887"/>
              </p:ext>
            </p:extLst>
          </p:nvPr>
        </p:nvGraphicFramePr>
        <p:xfrm>
          <a:off x="11283370" y="1115784"/>
          <a:ext cx="556964" cy="1404258"/>
        </p:xfrm>
        <a:graphic>
          <a:graphicData uri="http://schemas.openxmlformats.org/drawingml/2006/table">
            <a:tbl>
              <a:tblPr firstRow="1" bandRow="1">
                <a:tableStyleId>{5940675A-B579-460E-94D1-54222C63F5DA}</a:tableStyleId>
              </a:tblPr>
              <a:tblGrid>
                <a:gridCol w="556964">
                  <a:extLst>
                    <a:ext uri="{9D8B030D-6E8A-4147-A177-3AD203B41FA5}">
                      <a16:colId xmlns:a16="http://schemas.microsoft.com/office/drawing/2014/main" val="3871611496"/>
                    </a:ext>
                  </a:extLst>
                </a:gridCol>
              </a:tblGrid>
              <a:tr h="468086">
                <a:tc>
                  <a:txBody>
                    <a:bodyPr/>
                    <a:lstStyle/>
                    <a:p>
                      <a:pPr algn="ctr"/>
                      <a:r>
                        <a:rPr lang="en-IN" b="1" dirty="0"/>
                        <a:t>5</a:t>
                      </a:r>
                    </a:p>
                  </a:txBody>
                  <a:tcPr/>
                </a:tc>
                <a:extLst>
                  <a:ext uri="{0D108BD9-81ED-4DB2-BD59-A6C34878D82A}">
                    <a16:rowId xmlns:a16="http://schemas.microsoft.com/office/drawing/2014/main" val="998241085"/>
                  </a:ext>
                </a:extLst>
              </a:tr>
              <a:tr h="468086">
                <a:tc>
                  <a:txBody>
                    <a:bodyPr/>
                    <a:lstStyle/>
                    <a:p>
                      <a:pPr algn="ctr"/>
                      <a:r>
                        <a:rPr lang="en-IN" b="1" dirty="0"/>
                        <a:t>3</a:t>
                      </a:r>
                    </a:p>
                  </a:txBody>
                  <a:tcPr/>
                </a:tc>
                <a:extLst>
                  <a:ext uri="{0D108BD9-81ED-4DB2-BD59-A6C34878D82A}">
                    <a16:rowId xmlns:a16="http://schemas.microsoft.com/office/drawing/2014/main" val="2953948409"/>
                  </a:ext>
                </a:extLst>
              </a:tr>
              <a:tr h="468086">
                <a:tc>
                  <a:txBody>
                    <a:bodyPr/>
                    <a:lstStyle/>
                    <a:p>
                      <a:pPr algn="ctr"/>
                      <a:r>
                        <a:rPr lang="en-IN" b="1" dirty="0"/>
                        <a:t>4</a:t>
                      </a:r>
                    </a:p>
                  </a:txBody>
                  <a:tcPr/>
                </a:tc>
                <a:extLst>
                  <a:ext uri="{0D108BD9-81ED-4DB2-BD59-A6C34878D82A}">
                    <a16:rowId xmlns:a16="http://schemas.microsoft.com/office/drawing/2014/main" val="2487396617"/>
                  </a:ext>
                </a:extLst>
              </a:tr>
            </a:tbl>
          </a:graphicData>
        </a:graphic>
      </p:graphicFrame>
      <p:graphicFrame>
        <p:nvGraphicFramePr>
          <p:cNvPr id="46" name="Table 3">
            <a:extLst>
              <a:ext uri="{FF2B5EF4-FFF2-40B4-BE49-F238E27FC236}">
                <a16:creationId xmlns:a16="http://schemas.microsoft.com/office/drawing/2014/main" id="{D9CA27A4-2CEE-1897-F581-FBD067B268E9}"/>
              </a:ext>
            </a:extLst>
          </p:cNvPr>
          <p:cNvGraphicFramePr>
            <a:graphicFrameLocks noGrp="1"/>
          </p:cNvGraphicFramePr>
          <p:nvPr>
            <p:extLst>
              <p:ext uri="{D42A27DB-BD31-4B8C-83A1-F6EECF244321}">
                <p14:modId xmlns:p14="http://schemas.microsoft.com/office/powerpoint/2010/main" val="92394527"/>
              </p:ext>
            </p:extLst>
          </p:nvPr>
        </p:nvGraphicFramePr>
        <p:xfrm>
          <a:off x="8827761" y="1104898"/>
          <a:ext cx="556964" cy="1404258"/>
        </p:xfrm>
        <a:graphic>
          <a:graphicData uri="http://schemas.openxmlformats.org/drawingml/2006/table">
            <a:tbl>
              <a:tblPr firstRow="1" bandRow="1">
                <a:tableStyleId>{5940675A-B579-460E-94D1-54222C63F5DA}</a:tableStyleId>
              </a:tblPr>
              <a:tblGrid>
                <a:gridCol w="556964">
                  <a:extLst>
                    <a:ext uri="{9D8B030D-6E8A-4147-A177-3AD203B41FA5}">
                      <a16:colId xmlns:a16="http://schemas.microsoft.com/office/drawing/2014/main" val="3871611496"/>
                    </a:ext>
                  </a:extLst>
                </a:gridCol>
              </a:tblGrid>
              <a:tr h="468086">
                <a:tc>
                  <a:txBody>
                    <a:bodyPr/>
                    <a:lstStyle/>
                    <a:p>
                      <a:pPr algn="ctr"/>
                      <a:r>
                        <a:rPr lang="en-IN" b="1" dirty="0"/>
                        <a:t>5</a:t>
                      </a:r>
                    </a:p>
                  </a:txBody>
                  <a:tcPr/>
                </a:tc>
                <a:extLst>
                  <a:ext uri="{0D108BD9-81ED-4DB2-BD59-A6C34878D82A}">
                    <a16:rowId xmlns:a16="http://schemas.microsoft.com/office/drawing/2014/main" val="998241085"/>
                  </a:ext>
                </a:extLst>
              </a:tr>
              <a:tr h="468086">
                <a:tc>
                  <a:txBody>
                    <a:bodyPr/>
                    <a:lstStyle/>
                    <a:p>
                      <a:pPr algn="ctr"/>
                      <a:r>
                        <a:rPr lang="en-IN" b="1" dirty="0"/>
                        <a:t>1</a:t>
                      </a:r>
                    </a:p>
                  </a:txBody>
                  <a:tcPr/>
                </a:tc>
                <a:extLst>
                  <a:ext uri="{0D108BD9-81ED-4DB2-BD59-A6C34878D82A}">
                    <a16:rowId xmlns:a16="http://schemas.microsoft.com/office/drawing/2014/main" val="2953948409"/>
                  </a:ext>
                </a:extLst>
              </a:tr>
              <a:tr h="468086">
                <a:tc>
                  <a:txBody>
                    <a:bodyPr/>
                    <a:lstStyle/>
                    <a:p>
                      <a:pPr algn="ctr"/>
                      <a:r>
                        <a:rPr lang="en-IN" b="1" dirty="0"/>
                        <a:t>2</a:t>
                      </a:r>
                    </a:p>
                  </a:txBody>
                  <a:tcPr/>
                </a:tc>
                <a:extLst>
                  <a:ext uri="{0D108BD9-81ED-4DB2-BD59-A6C34878D82A}">
                    <a16:rowId xmlns:a16="http://schemas.microsoft.com/office/drawing/2014/main" val="2487396617"/>
                  </a:ext>
                </a:extLst>
              </a:tr>
            </a:tbl>
          </a:graphicData>
        </a:graphic>
      </p:graphicFrame>
      <p:graphicFrame>
        <p:nvGraphicFramePr>
          <p:cNvPr id="47" name="Table 3">
            <a:extLst>
              <a:ext uri="{FF2B5EF4-FFF2-40B4-BE49-F238E27FC236}">
                <a16:creationId xmlns:a16="http://schemas.microsoft.com/office/drawing/2014/main" id="{0A2C3360-505C-BFB1-3F2A-6BAD65D90407}"/>
              </a:ext>
            </a:extLst>
          </p:cNvPr>
          <p:cNvGraphicFramePr>
            <a:graphicFrameLocks noGrp="1"/>
          </p:cNvGraphicFramePr>
          <p:nvPr>
            <p:extLst>
              <p:ext uri="{D42A27DB-BD31-4B8C-83A1-F6EECF244321}">
                <p14:modId xmlns:p14="http://schemas.microsoft.com/office/powerpoint/2010/main" val="3944326408"/>
              </p:ext>
            </p:extLst>
          </p:nvPr>
        </p:nvGraphicFramePr>
        <p:xfrm>
          <a:off x="9690672" y="1115784"/>
          <a:ext cx="542138" cy="1404258"/>
        </p:xfrm>
        <a:graphic>
          <a:graphicData uri="http://schemas.openxmlformats.org/drawingml/2006/table">
            <a:tbl>
              <a:tblPr firstRow="1" bandRow="1">
                <a:tableStyleId>{5940675A-B579-460E-94D1-54222C63F5DA}</a:tableStyleId>
              </a:tblPr>
              <a:tblGrid>
                <a:gridCol w="542138">
                  <a:extLst>
                    <a:ext uri="{9D8B030D-6E8A-4147-A177-3AD203B41FA5}">
                      <a16:colId xmlns:a16="http://schemas.microsoft.com/office/drawing/2014/main" val="3871611496"/>
                    </a:ext>
                  </a:extLst>
                </a:gridCol>
              </a:tblGrid>
              <a:tr h="468086">
                <a:tc>
                  <a:txBody>
                    <a:bodyPr/>
                    <a:lstStyle/>
                    <a:p>
                      <a:pPr algn="ctr"/>
                      <a:r>
                        <a:rPr lang="en-IN" b="1" dirty="0"/>
                        <a:t>5</a:t>
                      </a:r>
                    </a:p>
                  </a:txBody>
                  <a:tcPr/>
                </a:tc>
                <a:extLst>
                  <a:ext uri="{0D108BD9-81ED-4DB2-BD59-A6C34878D82A}">
                    <a16:rowId xmlns:a16="http://schemas.microsoft.com/office/drawing/2014/main" val="998241085"/>
                  </a:ext>
                </a:extLst>
              </a:tr>
              <a:tr h="468086">
                <a:tc>
                  <a:txBody>
                    <a:bodyPr/>
                    <a:lstStyle/>
                    <a:p>
                      <a:pPr algn="ctr"/>
                      <a:r>
                        <a:rPr lang="en-IN" b="1" dirty="0"/>
                        <a:t>3</a:t>
                      </a:r>
                    </a:p>
                  </a:txBody>
                  <a:tcPr/>
                </a:tc>
                <a:extLst>
                  <a:ext uri="{0D108BD9-81ED-4DB2-BD59-A6C34878D82A}">
                    <a16:rowId xmlns:a16="http://schemas.microsoft.com/office/drawing/2014/main" val="2953948409"/>
                  </a:ext>
                </a:extLst>
              </a:tr>
              <a:tr h="468086">
                <a:tc>
                  <a:txBody>
                    <a:bodyPr/>
                    <a:lstStyle/>
                    <a:p>
                      <a:pPr algn="ctr"/>
                      <a:r>
                        <a:rPr lang="en-IN" b="1" dirty="0"/>
                        <a:t>2</a:t>
                      </a:r>
                    </a:p>
                  </a:txBody>
                  <a:tcPr/>
                </a:tc>
                <a:extLst>
                  <a:ext uri="{0D108BD9-81ED-4DB2-BD59-A6C34878D82A}">
                    <a16:rowId xmlns:a16="http://schemas.microsoft.com/office/drawing/2014/main" val="2487396617"/>
                  </a:ext>
                </a:extLst>
              </a:tr>
            </a:tbl>
          </a:graphicData>
        </a:graphic>
      </p:graphicFrame>
      <p:graphicFrame>
        <p:nvGraphicFramePr>
          <p:cNvPr id="48" name="Table 3">
            <a:extLst>
              <a:ext uri="{FF2B5EF4-FFF2-40B4-BE49-F238E27FC236}">
                <a16:creationId xmlns:a16="http://schemas.microsoft.com/office/drawing/2014/main" id="{2470598C-E505-4FBF-0C64-5765B3E7F3B1}"/>
              </a:ext>
            </a:extLst>
          </p:cNvPr>
          <p:cNvGraphicFramePr>
            <a:graphicFrameLocks noGrp="1"/>
          </p:cNvGraphicFramePr>
          <p:nvPr>
            <p:extLst>
              <p:ext uri="{D42A27DB-BD31-4B8C-83A1-F6EECF244321}">
                <p14:modId xmlns:p14="http://schemas.microsoft.com/office/powerpoint/2010/main" val="2375604710"/>
              </p:ext>
            </p:extLst>
          </p:nvPr>
        </p:nvGraphicFramePr>
        <p:xfrm>
          <a:off x="10453418" y="1115784"/>
          <a:ext cx="542138" cy="1404258"/>
        </p:xfrm>
        <a:graphic>
          <a:graphicData uri="http://schemas.openxmlformats.org/drawingml/2006/table">
            <a:tbl>
              <a:tblPr firstRow="1" bandRow="1">
                <a:tableStyleId>{5940675A-B579-460E-94D1-54222C63F5DA}</a:tableStyleId>
              </a:tblPr>
              <a:tblGrid>
                <a:gridCol w="542138">
                  <a:extLst>
                    <a:ext uri="{9D8B030D-6E8A-4147-A177-3AD203B41FA5}">
                      <a16:colId xmlns:a16="http://schemas.microsoft.com/office/drawing/2014/main" val="3871611496"/>
                    </a:ext>
                  </a:extLst>
                </a:gridCol>
              </a:tblGrid>
              <a:tr h="468086">
                <a:tc>
                  <a:txBody>
                    <a:bodyPr/>
                    <a:lstStyle/>
                    <a:p>
                      <a:pPr algn="ctr"/>
                      <a:r>
                        <a:rPr lang="en-IN" b="1" dirty="0"/>
                        <a:t>5</a:t>
                      </a:r>
                    </a:p>
                  </a:txBody>
                  <a:tcPr/>
                </a:tc>
                <a:extLst>
                  <a:ext uri="{0D108BD9-81ED-4DB2-BD59-A6C34878D82A}">
                    <a16:rowId xmlns:a16="http://schemas.microsoft.com/office/drawing/2014/main" val="998241085"/>
                  </a:ext>
                </a:extLst>
              </a:tr>
              <a:tr h="468086">
                <a:tc>
                  <a:txBody>
                    <a:bodyPr/>
                    <a:lstStyle/>
                    <a:p>
                      <a:pPr algn="ctr"/>
                      <a:r>
                        <a:rPr lang="en-IN" b="1" dirty="0"/>
                        <a:t>3</a:t>
                      </a:r>
                    </a:p>
                  </a:txBody>
                  <a:tcPr/>
                </a:tc>
                <a:extLst>
                  <a:ext uri="{0D108BD9-81ED-4DB2-BD59-A6C34878D82A}">
                    <a16:rowId xmlns:a16="http://schemas.microsoft.com/office/drawing/2014/main" val="2953948409"/>
                  </a:ext>
                </a:extLst>
              </a:tr>
              <a:tr h="468086">
                <a:tc>
                  <a:txBody>
                    <a:bodyPr/>
                    <a:lstStyle/>
                    <a:p>
                      <a:pPr algn="ctr"/>
                      <a:r>
                        <a:rPr lang="en-IN" b="1" dirty="0"/>
                        <a:t>4</a:t>
                      </a:r>
                    </a:p>
                  </a:txBody>
                  <a:tcPr/>
                </a:tc>
                <a:extLst>
                  <a:ext uri="{0D108BD9-81ED-4DB2-BD59-A6C34878D82A}">
                    <a16:rowId xmlns:a16="http://schemas.microsoft.com/office/drawing/2014/main" val="2487396617"/>
                  </a:ext>
                </a:extLst>
              </a:tr>
            </a:tbl>
          </a:graphicData>
        </a:graphic>
      </p:graphicFrame>
      <p:sp>
        <p:nvSpPr>
          <p:cNvPr id="49" name="TextBox 48">
            <a:extLst>
              <a:ext uri="{FF2B5EF4-FFF2-40B4-BE49-F238E27FC236}">
                <a16:creationId xmlns:a16="http://schemas.microsoft.com/office/drawing/2014/main" id="{1EA94EB9-CA4C-4809-6B72-46118D8E74D9}"/>
              </a:ext>
            </a:extLst>
          </p:cNvPr>
          <p:cNvSpPr txBox="1"/>
          <p:nvPr/>
        </p:nvSpPr>
        <p:spPr>
          <a:xfrm>
            <a:off x="8866204" y="685799"/>
            <a:ext cx="556964" cy="370114"/>
          </a:xfrm>
          <a:prstGeom prst="rect">
            <a:avLst/>
          </a:prstGeom>
          <a:noFill/>
        </p:spPr>
        <p:txBody>
          <a:bodyPr wrap="square" rtlCol="0">
            <a:spAutoFit/>
          </a:bodyPr>
          <a:lstStyle/>
          <a:p>
            <a:pPr algn="ctr"/>
            <a:r>
              <a:rPr lang="en-IN" b="1" dirty="0">
                <a:solidFill>
                  <a:srgbClr val="FF0000"/>
                </a:solidFill>
              </a:rPr>
              <a:t>2</a:t>
            </a:r>
          </a:p>
        </p:txBody>
      </p:sp>
      <p:sp>
        <p:nvSpPr>
          <p:cNvPr id="50" name="TextBox 49">
            <a:extLst>
              <a:ext uri="{FF2B5EF4-FFF2-40B4-BE49-F238E27FC236}">
                <a16:creationId xmlns:a16="http://schemas.microsoft.com/office/drawing/2014/main" id="{72F64B50-092D-1CEC-FB54-B160F9DA1FB0}"/>
              </a:ext>
            </a:extLst>
          </p:cNvPr>
          <p:cNvSpPr txBox="1"/>
          <p:nvPr/>
        </p:nvSpPr>
        <p:spPr>
          <a:xfrm>
            <a:off x="9692803" y="674910"/>
            <a:ext cx="556964" cy="370114"/>
          </a:xfrm>
          <a:prstGeom prst="rect">
            <a:avLst/>
          </a:prstGeom>
          <a:noFill/>
        </p:spPr>
        <p:txBody>
          <a:bodyPr wrap="square" rtlCol="0">
            <a:spAutoFit/>
          </a:bodyPr>
          <a:lstStyle/>
          <a:p>
            <a:pPr algn="ctr"/>
            <a:r>
              <a:rPr lang="en-IN" b="1" dirty="0">
                <a:solidFill>
                  <a:srgbClr val="FF0000"/>
                </a:solidFill>
              </a:rPr>
              <a:t>3</a:t>
            </a:r>
          </a:p>
        </p:txBody>
      </p:sp>
      <p:sp>
        <p:nvSpPr>
          <p:cNvPr id="51" name="TextBox 50">
            <a:extLst>
              <a:ext uri="{FF2B5EF4-FFF2-40B4-BE49-F238E27FC236}">
                <a16:creationId xmlns:a16="http://schemas.microsoft.com/office/drawing/2014/main" id="{2139BDEB-46D0-5732-CDE1-5F0DBA21C579}"/>
              </a:ext>
            </a:extLst>
          </p:cNvPr>
          <p:cNvSpPr txBox="1"/>
          <p:nvPr/>
        </p:nvSpPr>
        <p:spPr>
          <a:xfrm>
            <a:off x="10397522" y="707562"/>
            <a:ext cx="556964" cy="370114"/>
          </a:xfrm>
          <a:prstGeom prst="rect">
            <a:avLst/>
          </a:prstGeom>
          <a:noFill/>
        </p:spPr>
        <p:txBody>
          <a:bodyPr wrap="square" rtlCol="0">
            <a:spAutoFit/>
          </a:bodyPr>
          <a:lstStyle/>
          <a:p>
            <a:pPr algn="ctr"/>
            <a:r>
              <a:rPr lang="en-IN" b="1" dirty="0">
                <a:solidFill>
                  <a:srgbClr val="FF0000"/>
                </a:solidFill>
              </a:rPr>
              <a:t>4</a:t>
            </a:r>
          </a:p>
        </p:txBody>
      </p:sp>
      <p:sp>
        <p:nvSpPr>
          <p:cNvPr id="52" name="TextBox 51">
            <a:extLst>
              <a:ext uri="{FF2B5EF4-FFF2-40B4-BE49-F238E27FC236}">
                <a16:creationId xmlns:a16="http://schemas.microsoft.com/office/drawing/2014/main" id="{301AAAB8-31A6-AB89-71AD-AF73BFCAE1D8}"/>
              </a:ext>
            </a:extLst>
          </p:cNvPr>
          <p:cNvSpPr txBox="1"/>
          <p:nvPr/>
        </p:nvSpPr>
        <p:spPr>
          <a:xfrm>
            <a:off x="11208346" y="729337"/>
            <a:ext cx="556964" cy="370114"/>
          </a:xfrm>
          <a:prstGeom prst="rect">
            <a:avLst/>
          </a:prstGeom>
          <a:noFill/>
        </p:spPr>
        <p:txBody>
          <a:bodyPr wrap="square" rtlCol="0">
            <a:spAutoFit/>
          </a:bodyPr>
          <a:lstStyle/>
          <a:p>
            <a:pPr algn="ctr"/>
            <a:r>
              <a:rPr lang="en-IN" b="1" dirty="0">
                <a:solidFill>
                  <a:srgbClr val="FF0000"/>
                </a:solidFill>
              </a:rPr>
              <a:t>5</a:t>
            </a:r>
          </a:p>
        </p:txBody>
      </p:sp>
      <p:sp>
        <p:nvSpPr>
          <p:cNvPr id="53" name="TextBox 52">
            <a:extLst>
              <a:ext uri="{FF2B5EF4-FFF2-40B4-BE49-F238E27FC236}">
                <a16:creationId xmlns:a16="http://schemas.microsoft.com/office/drawing/2014/main" id="{75F6381F-1389-8D5E-D85C-3C23A81193E0}"/>
              </a:ext>
            </a:extLst>
          </p:cNvPr>
          <p:cNvSpPr txBox="1"/>
          <p:nvPr/>
        </p:nvSpPr>
        <p:spPr>
          <a:xfrm>
            <a:off x="2881087" y="2782153"/>
            <a:ext cx="556964" cy="370114"/>
          </a:xfrm>
          <a:prstGeom prst="rect">
            <a:avLst/>
          </a:prstGeom>
          <a:noFill/>
        </p:spPr>
        <p:txBody>
          <a:bodyPr wrap="square" rtlCol="0">
            <a:spAutoFit/>
          </a:bodyPr>
          <a:lstStyle/>
          <a:p>
            <a:pPr algn="ctr"/>
            <a:r>
              <a:rPr lang="en-IN" b="1" dirty="0">
                <a:solidFill>
                  <a:srgbClr val="FF0000"/>
                </a:solidFill>
              </a:rPr>
              <a:t>F</a:t>
            </a:r>
          </a:p>
        </p:txBody>
      </p:sp>
      <p:sp>
        <p:nvSpPr>
          <p:cNvPr id="54" name="TextBox 53">
            <a:extLst>
              <a:ext uri="{FF2B5EF4-FFF2-40B4-BE49-F238E27FC236}">
                <a16:creationId xmlns:a16="http://schemas.microsoft.com/office/drawing/2014/main" id="{6046DA1B-4148-5AFA-EEF3-9ED44CE239EC}"/>
              </a:ext>
            </a:extLst>
          </p:cNvPr>
          <p:cNvSpPr txBox="1"/>
          <p:nvPr/>
        </p:nvSpPr>
        <p:spPr>
          <a:xfrm>
            <a:off x="3649079" y="2782153"/>
            <a:ext cx="556964" cy="370114"/>
          </a:xfrm>
          <a:prstGeom prst="rect">
            <a:avLst/>
          </a:prstGeom>
          <a:noFill/>
        </p:spPr>
        <p:txBody>
          <a:bodyPr wrap="square" rtlCol="0">
            <a:spAutoFit/>
          </a:bodyPr>
          <a:lstStyle/>
          <a:p>
            <a:pPr algn="ctr"/>
            <a:r>
              <a:rPr lang="en-IN" b="1" dirty="0">
                <a:solidFill>
                  <a:srgbClr val="FF0000"/>
                </a:solidFill>
              </a:rPr>
              <a:t>F</a:t>
            </a:r>
          </a:p>
        </p:txBody>
      </p:sp>
      <p:sp>
        <p:nvSpPr>
          <p:cNvPr id="55" name="TextBox 54">
            <a:extLst>
              <a:ext uri="{FF2B5EF4-FFF2-40B4-BE49-F238E27FC236}">
                <a16:creationId xmlns:a16="http://schemas.microsoft.com/office/drawing/2014/main" id="{A4B236A9-F4EC-25FD-D42E-742F6B050276}"/>
              </a:ext>
            </a:extLst>
          </p:cNvPr>
          <p:cNvSpPr txBox="1"/>
          <p:nvPr/>
        </p:nvSpPr>
        <p:spPr>
          <a:xfrm>
            <a:off x="4249890" y="2782153"/>
            <a:ext cx="556964" cy="370114"/>
          </a:xfrm>
          <a:prstGeom prst="rect">
            <a:avLst/>
          </a:prstGeom>
          <a:noFill/>
        </p:spPr>
        <p:txBody>
          <a:bodyPr wrap="square" rtlCol="0">
            <a:spAutoFit/>
          </a:bodyPr>
          <a:lstStyle/>
          <a:p>
            <a:pPr algn="ctr"/>
            <a:r>
              <a:rPr lang="en-IN" b="1" dirty="0">
                <a:solidFill>
                  <a:srgbClr val="FF0000"/>
                </a:solidFill>
              </a:rPr>
              <a:t>F</a:t>
            </a:r>
          </a:p>
        </p:txBody>
      </p:sp>
      <p:sp>
        <p:nvSpPr>
          <p:cNvPr id="56" name="TextBox 55">
            <a:extLst>
              <a:ext uri="{FF2B5EF4-FFF2-40B4-BE49-F238E27FC236}">
                <a16:creationId xmlns:a16="http://schemas.microsoft.com/office/drawing/2014/main" id="{DB9AC1CC-9A5E-D7BE-4378-14F891D170EE}"/>
              </a:ext>
            </a:extLst>
          </p:cNvPr>
          <p:cNvSpPr txBox="1"/>
          <p:nvPr/>
        </p:nvSpPr>
        <p:spPr>
          <a:xfrm>
            <a:off x="4969250" y="2782153"/>
            <a:ext cx="556964" cy="370114"/>
          </a:xfrm>
          <a:prstGeom prst="rect">
            <a:avLst/>
          </a:prstGeom>
          <a:noFill/>
        </p:spPr>
        <p:txBody>
          <a:bodyPr wrap="square" rtlCol="0">
            <a:spAutoFit/>
          </a:bodyPr>
          <a:lstStyle/>
          <a:p>
            <a:pPr algn="ctr"/>
            <a:r>
              <a:rPr lang="en-IN" b="1" dirty="0">
                <a:solidFill>
                  <a:srgbClr val="FF0000"/>
                </a:solidFill>
              </a:rPr>
              <a:t>F</a:t>
            </a:r>
          </a:p>
        </p:txBody>
      </p:sp>
      <p:sp>
        <p:nvSpPr>
          <p:cNvPr id="59" name="TextBox 58">
            <a:extLst>
              <a:ext uri="{FF2B5EF4-FFF2-40B4-BE49-F238E27FC236}">
                <a16:creationId xmlns:a16="http://schemas.microsoft.com/office/drawing/2014/main" id="{EB10A9C2-9B9C-3F3B-8208-B46B8C96A62D}"/>
              </a:ext>
            </a:extLst>
          </p:cNvPr>
          <p:cNvSpPr txBox="1"/>
          <p:nvPr/>
        </p:nvSpPr>
        <p:spPr>
          <a:xfrm>
            <a:off x="5795776" y="2803924"/>
            <a:ext cx="556964" cy="370114"/>
          </a:xfrm>
          <a:prstGeom prst="rect">
            <a:avLst/>
          </a:prstGeom>
          <a:noFill/>
        </p:spPr>
        <p:txBody>
          <a:bodyPr wrap="square" rtlCol="0">
            <a:spAutoFit/>
          </a:bodyPr>
          <a:lstStyle/>
          <a:p>
            <a:pPr algn="ctr"/>
            <a:r>
              <a:rPr lang="en-IN" b="1" dirty="0">
                <a:solidFill>
                  <a:srgbClr val="FF0000"/>
                </a:solidFill>
              </a:rPr>
              <a:t>F</a:t>
            </a:r>
          </a:p>
        </p:txBody>
      </p:sp>
      <p:sp>
        <p:nvSpPr>
          <p:cNvPr id="60" name="TextBox 59">
            <a:extLst>
              <a:ext uri="{FF2B5EF4-FFF2-40B4-BE49-F238E27FC236}">
                <a16:creationId xmlns:a16="http://schemas.microsoft.com/office/drawing/2014/main" id="{12F014C0-CE06-511D-D9FF-259594DF6B3E}"/>
              </a:ext>
            </a:extLst>
          </p:cNvPr>
          <p:cNvSpPr txBox="1"/>
          <p:nvPr/>
        </p:nvSpPr>
        <p:spPr>
          <a:xfrm>
            <a:off x="9777630" y="2871955"/>
            <a:ext cx="556964" cy="370114"/>
          </a:xfrm>
          <a:prstGeom prst="rect">
            <a:avLst/>
          </a:prstGeom>
          <a:noFill/>
        </p:spPr>
        <p:txBody>
          <a:bodyPr wrap="square" rtlCol="0">
            <a:spAutoFit/>
          </a:bodyPr>
          <a:lstStyle/>
          <a:p>
            <a:pPr algn="ctr"/>
            <a:r>
              <a:rPr lang="en-IN" b="1" dirty="0">
                <a:solidFill>
                  <a:srgbClr val="FF0000"/>
                </a:solidFill>
              </a:rPr>
              <a:t>F</a:t>
            </a:r>
          </a:p>
        </p:txBody>
      </p:sp>
      <p:sp>
        <p:nvSpPr>
          <p:cNvPr id="61" name="TextBox 60">
            <a:extLst>
              <a:ext uri="{FF2B5EF4-FFF2-40B4-BE49-F238E27FC236}">
                <a16:creationId xmlns:a16="http://schemas.microsoft.com/office/drawing/2014/main" id="{63C45172-3D89-5A98-EEF5-97B7EF16A239}"/>
              </a:ext>
            </a:extLst>
          </p:cNvPr>
          <p:cNvSpPr txBox="1"/>
          <p:nvPr/>
        </p:nvSpPr>
        <p:spPr>
          <a:xfrm>
            <a:off x="10438592" y="2867364"/>
            <a:ext cx="556964" cy="370114"/>
          </a:xfrm>
          <a:prstGeom prst="rect">
            <a:avLst/>
          </a:prstGeom>
          <a:noFill/>
        </p:spPr>
        <p:txBody>
          <a:bodyPr wrap="square" rtlCol="0">
            <a:spAutoFit/>
          </a:bodyPr>
          <a:lstStyle/>
          <a:p>
            <a:pPr algn="ctr"/>
            <a:r>
              <a:rPr lang="en-IN" b="1" dirty="0">
                <a:solidFill>
                  <a:srgbClr val="FF0000"/>
                </a:solidFill>
              </a:rPr>
              <a:t>F</a:t>
            </a:r>
          </a:p>
        </p:txBody>
      </p:sp>
      <p:sp>
        <p:nvSpPr>
          <p:cNvPr id="66" name="TextBox 65">
            <a:extLst>
              <a:ext uri="{FF2B5EF4-FFF2-40B4-BE49-F238E27FC236}">
                <a16:creationId xmlns:a16="http://schemas.microsoft.com/office/drawing/2014/main" id="{137EE82E-699C-20CA-4AF4-23532444A55B}"/>
              </a:ext>
            </a:extLst>
          </p:cNvPr>
          <p:cNvSpPr txBox="1"/>
          <p:nvPr/>
        </p:nvSpPr>
        <p:spPr>
          <a:xfrm>
            <a:off x="6644863" y="2782153"/>
            <a:ext cx="556964" cy="370114"/>
          </a:xfrm>
          <a:prstGeom prst="rect">
            <a:avLst/>
          </a:prstGeom>
          <a:noFill/>
        </p:spPr>
        <p:txBody>
          <a:bodyPr wrap="square" rtlCol="0">
            <a:spAutoFit/>
          </a:bodyPr>
          <a:lstStyle/>
          <a:p>
            <a:pPr algn="ctr"/>
            <a:r>
              <a:rPr lang="en-IN" b="1" dirty="0">
                <a:solidFill>
                  <a:srgbClr val="FF0000"/>
                </a:solidFill>
              </a:rPr>
              <a:t>F</a:t>
            </a:r>
          </a:p>
        </p:txBody>
      </p:sp>
      <p:sp>
        <p:nvSpPr>
          <p:cNvPr id="67" name="TextBox 66">
            <a:extLst>
              <a:ext uri="{FF2B5EF4-FFF2-40B4-BE49-F238E27FC236}">
                <a16:creationId xmlns:a16="http://schemas.microsoft.com/office/drawing/2014/main" id="{733CC809-8910-B927-3F3B-FEF81784E2C3}"/>
              </a:ext>
            </a:extLst>
          </p:cNvPr>
          <p:cNvSpPr txBox="1"/>
          <p:nvPr/>
        </p:nvSpPr>
        <p:spPr>
          <a:xfrm>
            <a:off x="7325167" y="2782153"/>
            <a:ext cx="556964" cy="370114"/>
          </a:xfrm>
          <a:prstGeom prst="rect">
            <a:avLst/>
          </a:prstGeom>
          <a:noFill/>
        </p:spPr>
        <p:txBody>
          <a:bodyPr wrap="square" rtlCol="0">
            <a:spAutoFit/>
          </a:bodyPr>
          <a:lstStyle/>
          <a:p>
            <a:pPr algn="ctr"/>
            <a:r>
              <a:rPr lang="en-IN" b="1" dirty="0">
                <a:solidFill>
                  <a:srgbClr val="FF0000"/>
                </a:solidFill>
              </a:rPr>
              <a:t>F</a:t>
            </a:r>
          </a:p>
        </p:txBody>
      </p:sp>
      <p:sp>
        <p:nvSpPr>
          <p:cNvPr id="5" name="Left Brace 4">
            <a:extLst>
              <a:ext uri="{FF2B5EF4-FFF2-40B4-BE49-F238E27FC236}">
                <a16:creationId xmlns:a16="http://schemas.microsoft.com/office/drawing/2014/main" id="{1D8D8870-D758-BEC0-61F5-CD61FCCED28F}"/>
              </a:ext>
            </a:extLst>
          </p:cNvPr>
          <p:cNvSpPr/>
          <p:nvPr/>
        </p:nvSpPr>
        <p:spPr>
          <a:xfrm rot="16200000">
            <a:off x="6616074" y="-397679"/>
            <a:ext cx="1404259" cy="8874234"/>
          </a:xfrm>
          <a:prstGeom prst="leftBrace">
            <a:avLst>
              <a:gd name="adj1" fmla="val 8333"/>
              <a:gd name="adj2" fmla="val 5147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6" name="TextBox 5">
            <a:extLst>
              <a:ext uri="{FF2B5EF4-FFF2-40B4-BE49-F238E27FC236}">
                <a16:creationId xmlns:a16="http://schemas.microsoft.com/office/drawing/2014/main" id="{5B9A2A31-CFCF-74CE-3C73-A4249DE572D7}"/>
              </a:ext>
            </a:extLst>
          </p:cNvPr>
          <p:cNvSpPr txBox="1"/>
          <p:nvPr/>
        </p:nvSpPr>
        <p:spPr>
          <a:xfrm>
            <a:off x="6297165" y="4834093"/>
            <a:ext cx="2494885" cy="461665"/>
          </a:xfrm>
          <a:prstGeom prst="rect">
            <a:avLst/>
          </a:prstGeom>
          <a:noFill/>
        </p:spPr>
        <p:txBody>
          <a:bodyPr wrap="square" rtlCol="0">
            <a:spAutoFit/>
          </a:bodyPr>
          <a:lstStyle/>
          <a:p>
            <a:pPr algn="ctr"/>
            <a:r>
              <a:rPr lang="en-IN" sz="2400" dirty="0">
                <a:solidFill>
                  <a:srgbClr val="FF0000"/>
                </a:solidFill>
              </a:rPr>
              <a:t>9 page faults</a:t>
            </a:r>
          </a:p>
        </p:txBody>
      </p:sp>
      <p:sp>
        <p:nvSpPr>
          <p:cNvPr id="8" name="Google Shape;98;g2eff20282af_0_123">
            <a:extLst>
              <a:ext uri="{FF2B5EF4-FFF2-40B4-BE49-F238E27FC236}">
                <a16:creationId xmlns:a16="http://schemas.microsoft.com/office/drawing/2014/main" id="{96B4ECD2-6D2E-821E-CF7C-CB553026676A}"/>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90382342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003FB9-679A-4BA0-9A26-2C1A6462A92F}"/>
              </a:ext>
            </a:extLst>
          </p:cNvPr>
          <p:cNvSpPr>
            <a:spLocks noGrp="1"/>
          </p:cNvSpPr>
          <p:nvPr>
            <p:ph idx="1"/>
          </p:nvPr>
        </p:nvSpPr>
        <p:spPr>
          <a:xfrm>
            <a:off x="2588964" y="544286"/>
            <a:ext cx="9026093" cy="5999733"/>
          </a:xfrm>
        </p:spPr>
        <p:txBody>
          <a:bodyPr>
            <a:normAutofit/>
          </a:bodyPr>
          <a:lstStyle/>
          <a:p>
            <a:pPr marL="0" indent="0">
              <a:lnSpc>
                <a:spcPct val="100000"/>
              </a:lnSpc>
              <a:buNone/>
            </a:pPr>
            <a:r>
              <a:rPr lang="en-IN" sz="2400" dirty="0">
                <a:latin typeface="+mn-lt"/>
              </a:rPr>
              <a:t>Consider the reference string</a:t>
            </a:r>
          </a:p>
          <a:p>
            <a:pPr marL="0" indent="0" algn="ctr">
              <a:lnSpc>
                <a:spcPct val="100000"/>
              </a:lnSpc>
              <a:buNone/>
            </a:pPr>
            <a:r>
              <a:rPr lang="en-IN" sz="2400" b="1" dirty="0">
                <a:solidFill>
                  <a:srgbClr val="C00000"/>
                </a:solidFill>
                <a:latin typeface="+mn-lt"/>
              </a:rPr>
              <a:t>1,2,3,4,1,2,5,1,2,3,4,5</a:t>
            </a:r>
          </a:p>
          <a:p>
            <a:pPr marL="0" indent="0">
              <a:lnSpc>
                <a:spcPct val="100000"/>
              </a:lnSpc>
              <a:buNone/>
            </a:pPr>
            <a:r>
              <a:rPr lang="en-IN" sz="2400" dirty="0">
                <a:latin typeface="+mn-lt"/>
              </a:rPr>
              <a:t>Where each value represents a page</a:t>
            </a:r>
          </a:p>
          <a:p>
            <a:pPr marL="0" indent="0">
              <a:lnSpc>
                <a:spcPct val="100000"/>
              </a:lnSpc>
              <a:buNone/>
            </a:pPr>
            <a:endParaRPr lang="en-IN" sz="2400" dirty="0">
              <a:latin typeface="+mn-lt"/>
            </a:endParaRPr>
          </a:p>
          <a:p>
            <a:pPr marL="0" indent="0">
              <a:lnSpc>
                <a:spcPct val="100000"/>
              </a:lnSpc>
              <a:buNone/>
            </a:pPr>
            <a:r>
              <a:rPr lang="en-IN" sz="2400" dirty="0">
                <a:latin typeface="+mn-lt"/>
              </a:rPr>
              <a:t>Lets us say we have 4 frames in memory</a:t>
            </a:r>
          </a:p>
          <a:p>
            <a:pPr marL="0" indent="0">
              <a:lnSpc>
                <a:spcPct val="100000"/>
              </a:lnSpc>
              <a:buNone/>
            </a:pPr>
            <a:endParaRPr lang="en-IN" sz="2400" dirty="0">
              <a:latin typeface="+mn-lt"/>
            </a:endParaRPr>
          </a:p>
          <a:p>
            <a:pPr marL="0" indent="0">
              <a:lnSpc>
                <a:spcPct val="100000"/>
              </a:lnSpc>
              <a:buNone/>
            </a:pPr>
            <a:endParaRPr lang="en-IN" sz="2400" dirty="0">
              <a:latin typeface="+mn-lt"/>
            </a:endParaRPr>
          </a:p>
          <a:p>
            <a:pPr marL="0" indent="0">
              <a:lnSpc>
                <a:spcPct val="100000"/>
              </a:lnSpc>
              <a:buNone/>
            </a:pPr>
            <a:endParaRPr lang="en-IN" sz="2400" dirty="0">
              <a:latin typeface="+mn-lt"/>
            </a:endParaRPr>
          </a:p>
          <a:p>
            <a:pPr marL="0" indent="0">
              <a:lnSpc>
                <a:spcPct val="100000"/>
              </a:lnSpc>
              <a:buNone/>
            </a:pPr>
            <a:endParaRPr lang="en-IN" sz="2400" dirty="0">
              <a:latin typeface="+mn-lt"/>
            </a:endParaRPr>
          </a:p>
          <a:p>
            <a:pPr marL="0" indent="0">
              <a:lnSpc>
                <a:spcPct val="150000"/>
              </a:lnSpc>
              <a:buNone/>
            </a:pPr>
            <a:r>
              <a:rPr lang="en-IN" sz="2400" dirty="0">
                <a:latin typeface="+mn-lt"/>
              </a:rPr>
              <a:t>Let us use the FIFO page replacement and find the number of page faults that would occur in this case.</a:t>
            </a:r>
          </a:p>
          <a:p>
            <a:pPr marL="0" indent="0">
              <a:buNone/>
            </a:pPr>
            <a:endParaRPr lang="en-IN" sz="2400" dirty="0">
              <a:latin typeface="+mn-lt"/>
            </a:endParaRPr>
          </a:p>
          <a:p>
            <a:pPr marL="0" indent="0">
              <a:buNone/>
            </a:pPr>
            <a:endParaRPr lang="en-IN" sz="2400" b="1" dirty="0">
              <a:solidFill>
                <a:srgbClr val="C00000"/>
              </a:solidFill>
              <a:latin typeface="+mn-lt"/>
            </a:endParaRPr>
          </a:p>
        </p:txBody>
      </p:sp>
      <p:graphicFrame>
        <p:nvGraphicFramePr>
          <p:cNvPr id="2" name="Table 3">
            <a:extLst>
              <a:ext uri="{FF2B5EF4-FFF2-40B4-BE49-F238E27FC236}">
                <a16:creationId xmlns:a16="http://schemas.microsoft.com/office/drawing/2014/main" id="{08512B4B-020E-A409-6C48-2C0D5852B400}"/>
              </a:ext>
            </a:extLst>
          </p:cNvPr>
          <p:cNvGraphicFramePr>
            <a:graphicFrameLocks noGrp="1"/>
          </p:cNvGraphicFramePr>
          <p:nvPr>
            <p:extLst>
              <p:ext uri="{D42A27DB-BD31-4B8C-83A1-F6EECF244321}">
                <p14:modId xmlns:p14="http://schemas.microsoft.com/office/powerpoint/2010/main" val="1677617377"/>
              </p:ext>
            </p:extLst>
          </p:nvPr>
        </p:nvGraphicFramePr>
        <p:xfrm>
          <a:off x="5428344" y="3429000"/>
          <a:ext cx="556964" cy="1483360"/>
        </p:xfrm>
        <a:graphic>
          <a:graphicData uri="http://schemas.openxmlformats.org/drawingml/2006/table">
            <a:tbl>
              <a:tblPr firstRow="1" bandRow="1">
                <a:tableStyleId>{5940675A-B579-460E-94D1-54222C63F5DA}</a:tableStyleId>
              </a:tblPr>
              <a:tblGrid>
                <a:gridCol w="556964">
                  <a:extLst>
                    <a:ext uri="{9D8B030D-6E8A-4147-A177-3AD203B41FA5}">
                      <a16:colId xmlns:a16="http://schemas.microsoft.com/office/drawing/2014/main" val="3871611496"/>
                    </a:ext>
                  </a:extLst>
                </a:gridCol>
              </a:tblGrid>
              <a:tr h="370840">
                <a:tc>
                  <a:txBody>
                    <a:bodyPr/>
                    <a:lstStyle/>
                    <a:p>
                      <a:endParaRPr lang="en-IN"/>
                    </a:p>
                  </a:txBody>
                  <a:tcPr/>
                </a:tc>
                <a:extLst>
                  <a:ext uri="{0D108BD9-81ED-4DB2-BD59-A6C34878D82A}">
                    <a16:rowId xmlns:a16="http://schemas.microsoft.com/office/drawing/2014/main" val="998241085"/>
                  </a:ext>
                </a:extLst>
              </a:tr>
              <a:tr h="370840">
                <a:tc>
                  <a:txBody>
                    <a:bodyPr/>
                    <a:lstStyle/>
                    <a:p>
                      <a:endParaRPr lang="en-IN" dirty="0"/>
                    </a:p>
                  </a:txBody>
                  <a:tcPr/>
                </a:tc>
                <a:extLst>
                  <a:ext uri="{0D108BD9-81ED-4DB2-BD59-A6C34878D82A}">
                    <a16:rowId xmlns:a16="http://schemas.microsoft.com/office/drawing/2014/main" val="1023908528"/>
                  </a:ext>
                </a:extLst>
              </a:tr>
              <a:tr h="370840">
                <a:tc>
                  <a:txBody>
                    <a:bodyPr/>
                    <a:lstStyle/>
                    <a:p>
                      <a:endParaRPr lang="en-IN" dirty="0"/>
                    </a:p>
                  </a:txBody>
                  <a:tcPr/>
                </a:tc>
                <a:extLst>
                  <a:ext uri="{0D108BD9-81ED-4DB2-BD59-A6C34878D82A}">
                    <a16:rowId xmlns:a16="http://schemas.microsoft.com/office/drawing/2014/main" val="2953948409"/>
                  </a:ext>
                </a:extLst>
              </a:tr>
              <a:tr h="370840">
                <a:tc>
                  <a:txBody>
                    <a:bodyPr/>
                    <a:lstStyle/>
                    <a:p>
                      <a:endParaRPr lang="en-IN" dirty="0"/>
                    </a:p>
                  </a:txBody>
                  <a:tcPr/>
                </a:tc>
                <a:extLst>
                  <a:ext uri="{0D108BD9-81ED-4DB2-BD59-A6C34878D82A}">
                    <a16:rowId xmlns:a16="http://schemas.microsoft.com/office/drawing/2014/main" val="2487396617"/>
                  </a:ext>
                </a:extLst>
              </a:tr>
            </a:tbl>
          </a:graphicData>
        </a:graphic>
      </p:graphicFrame>
      <p:sp>
        <p:nvSpPr>
          <p:cNvPr id="4" name="Google Shape;98;g2eff20282af_0_123">
            <a:extLst>
              <a:ext uri="{FF2B5EF4-FFF2-40B4-BE49-F238E27FC236}">
                <a16:creationId xmlns:a16="http://schemas.microsoft.com/office/drawing/2014/main" id="{AE922F6B-1EB1-F8A8-A7BD-DB2E62AFAC90}"/>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93088894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003FB9-679A-4BA0-9A26-2C1A6462A92F}"/>
              </a:ext>
            </a:extLst>
          </p:cNvPr>
          <p:cNvSpPr>
            <a:spLocks noGrp="1"/>
          </p:cNvSpPr>
          <p:nvPr>
            <p:ph idx="1"/>
          </p:nvPr>
        </p:nvSpPr>
        <p:spPr>
          <a:xfrm>
            <a:off x="2588964" y="544286"/>
            <a:ext cx="9472407" cy="5999733"/>
          </a:xfrm>
        </p:spPr>
        <p:txBody>
          <a:bodyPr>
            <a:normAutofit/>
          </a:bodyPr>
          <a:lstStyle/>
          <a:p>
            <a:pPr marL="0" indent="0">
              <a:buNone/>
            </a:pPr>
            <a:endParaRPr lang="en-IN" sz="2400" dirty="0">
              <a:latin typeface="+mn-lt"/>
            </a:endParaRPr>
          </a:p>
          <a:p>
            <a:pPr marL="0" indent="0">
              <a:buNone/>
            </a:pPr>
            <a:endParaRPr lang="en-IN" sz="2400" b="1" dirty="0">
              <a:solidFill>
                <a:srgbClr val="C00000"/>
              </a:solidFill>
              <a:latin typeface="+mn-lt"/>
            </a:endParaRPr>
          </a:p>
        </p:txBody>
      </p:sp>
      <p:graphicFrame>
        <p:nvGraphicFramePr>
          <p:cNvPr id="2" name="Table 3">
            <a:extLst>
              <a:ext uri="{FF2B5EF4-FFF2-40B4-BE49-F238E27FC236}">
                <a16:creationId xmlns:a16="http://schemas.microsoft.com/office/drawing/2014/main" id="{08512B4B-020E-A409-6C48-2C0D5852B400}"/>
              </a:ext>
            </a:extLst>
          </p:cNvPr>
          <p:cNvGraphicFramePr>
            <a:graphicFrameLocks noGrp="1"/>
          </p:cNvGraphicFramePr>
          <p:nvPr>
            <p:extLst>
              <p:ext uri="{D42A27DB-BD31-4B8C-83A1-F6EECF244321}">
                <p14:modId xmlns:p14="http://schemas.microsoft.com/office/powerpoint/2010/main" val="2805008568"/>
              </p:ext>
            </p:extLst>
          </p:nvPr>
        </p:nvGraphicFramePr>
        <p:xfrm>
          <a:off x="2881087" y="1110342"/>
          <a:ext cx="556964" cy="1872344"/>
        </p:xfrm>
        <a:graphic>
          <a:graphicData uri="http://schemas.openxmlformats.org/drawingml/2006/table">
            <a:tbl>
              <a:tblPr firstRow="1" bandRow="1">
                <a:tableStyleId>{5940675A-B579-460E-94D1-54222C63F5DA}</a:tableStyleId>
              </a:tblPr>
              <a:tblGrid>
                <a:gridCol w="556964">
                  <a:extLst>
                    <a:ext uri="{9D8B030D-6E8A-4147-A177-3AD203B41FA5}">
                      <a16:colId xmlns:a16="http://schemas.microsoft.com/office/drawing/2014/main" val="3871611496"/>
                    </a:ext>
                  </a:extLst>
                </a:gridCol>
              </a:tblGrid>
              <a:tr h="468086">
                <a:tc>
                  <a:txBody>
                    <a:bodyPr/>
                    <a:lstStyle/>
                    <a:p>
                      <a:pPr algn="ctr"/>
                      <a:r>
                        <a:rPr lang="en-IN" b="1" dirty="0"/>
                        <a:t>1</a:t>
                      </a:r>
                    </a:p>
                  </a:txBody>
                  <a:tcPr/>
                </a:tc>
                <a:extLst>
                  <a:ext uri="{0D108BD9-81ED-4DB2-BD59-A6C34878D82A}">
                    <a16:rowId xmlns:a16="http://schemas.microsoft.com/office/drawing/2014/main" val="998241085"/>
                  </a:ext>
                </a:extLst>
              </a:tr>
              <a:tr h="468086">
                <a:tc>
                  <a:txBody>
                    <a:bodyPr/>
                    <a:lstStyle/>
                    <a:p>
                      <a:pPr algn="ctr"/>
                      <a:endParaRPr lang="en-IN" b="1" dirty="0"/>
                    </a:p>
                  </a:txBody>
                  <a:tcPr/>
                </a:tc>
                <a:extLst>
                  <a:ext uri="{0D108BD9-81ED-4DB2-BD59-A6C34878D82A}">
                    <a16:rowId xmlns:a16="http://schemas.microsoft.com/office/drawing/2014/main" val="2953948409"/>
                  </a:ext>
                </a:extLst>
              </a:tr>
              <a:tr h="468086">
                <a:tc>
                  <a:txBody>
                    <a:bodyPr/>
                    <a:lstStyle/>
                    <a:p>
                      <a:pPr algn="ctr"/>
                      <a:endParaRPr lang="en-IN" b="1" dirty="0"/>
                    </a:p>
                  </a:txBody>
                  <a:tcPr/>
                </a:tc>
                <a:extLst>
                  <a:ext uri="{0D108BD9-81ED-4DB2-BD59-A6C34878D82A}">
                    <a16:rowId xmlns:a16="http://schemas.microsoft.com/office/drawing/2014/main" val="2487396617"/>
                  </a:ext>
                </a:extLst>
              </a:tr>
              <a:tr h="468086">
                <a:tc>
                  <a:txBody>
                    <a:bodyPr/>
                    <a:lstStyle/>
                    <a:p>
                      <a:pPr algn="ctr"/>
                      <a:endParaRPr lang="en-IN" b="1" dirty="0"/>
                    </a:p>
                  </a:txBody>
                  <a:tcPr/>
                </a:tc>
                <a:extLst>
                  <a:ext uri="{0D108BD9-81ED-4DB2-BD59-A6C34878D82A}">
                    <a16:rowId xmlns:a16="http://schemas.microsoft.com/office/drawing/2014/main" val="2399064250"/>
                  </a:ext>
                </a:extLst>
              </a:tr>
            </a:tbl>
          </a:graphicData>
        </a:graphic>
      </p:graphicFrame>
      <p:sp>
        <p:nvSpPr>
          <p:cNvPr id="4" name="TextBox 3">
            <a:extLst>
              <a:ext uri="{FF2B5EF4-FFF2-40B4-BE49-F238E27FC236}">
                <a16:creationId xmlns:a16="http://schemas.microsoft.com/office/drawing/2014/main" id="{0C6BCE7D-62B5-A76D-C2CB-FDEECB115086}"/>
              </a:ext>
            </a:extLst>
          </p:cNvPr>
          <p:cNvSpPr txBox="1"/>
          <p:nvPr/>
        </p:nvSpPr>
        <p:spPr>
          <a:xfrm>
            <a:off x="2891076" y="642257"/>
            <a:ext cx="556964" cy="370114"/>
          </a:xfrm>
          <a:prstGeom prst="rect">
            <a:avLst/>
          </a:prstGeom>
          <a:noFill/>
        </p:spPr>
        <p:txBody>
          <a:bodyPr wrap="square" rtlCol="0">
            <a:spAutoFit/>
          </a:bodyPr>
          <a:lstStyle/>
          <a:p>
            <a:pPr algn="ctr"/>
            <a:r>
              <a:rPr lang="en-IN" b="1" dirty="0">
                <a:solidFill>
                  <a:srgbClr val="FF0000"/>
                </a:solidFill>
              </a:rPr>
              <a:t>1</a:t>
            </a:r>
          </a:p>
        </p:txBody>
      </p:sp>
      <p:graphicFrame>
        <p:nvGraphicFramePr>
          <p:cNvPr id="21" name="Table 3">
            <a:extLst>
              <a:ext uri="{FF2B5EF4-FFF2-40B4-BE49-F238E27FC236}">
                <a16:creationId xmlns:a16="http://schemas.microsoft.com/office/drawing/2014/main" id="{A99C4350-1763-E857-A48B-138AD2BD63B7}"/>
              </a:ext>
            </a:extLst>
          </p:cNvPr>
          <p:cNvGraphicFramePr>
            <a:graphicFrameLocks noGrp="1"/>
          </p:cNvGraphicFramePr>
          <p:nvPr>
            <p:extLst>
              <p:ext uri="{D42A27DB-BD31-4B8C-83A1-F6EECF244321}">
                <p14:modId xmlns:p14="http://schemas.microsoft.com/office/powerpoint/2010/main" val="495793983"/>
              </p:ext>
            </p:extLst>
          </p:nvPr>
        </p:nvGraphicFramePr>
        <p:xfrm>
          <a:off x="4309804" y="1110342"/>
          <a:ext cx="556964" cy="1872344"/>
        </p:xfrm>
        <a:graphic>
          <a:graphicData uri="http://schemas.openxmlformats.org/drawingml/2006/table">
            <a:tbl>
              <a:tblPr firstRow="1" bandRow="1">
                <a:tableStyleId>{5940675A-B579-460E-94D1-54222C63F5DA}</a:tableStyleId>
              </a:tblPr>
              <a:tblGrid>
                <a:gridCol w="556964">
                  <a:extLst>
                    <a:ext uri="{9D8B030D-6E8A-4147-A177-3AD203B41FA5}">
                      <a16:colId xmlns:a16="http://schemas.microsoft.com/office/drawing/2014/main" val="3871611496"/>
                    </a:ext>
                  </a:extLst>
                </a:gridCol>
              </a:tblGrid>
              <a:tr h="468086">
                <a:tc>
                  <a:txBody>
                    <a:bodyPr/>
                    <a:lstStyle/>
                    <a:p>
                      <a:pPr algn="ctr"/>
                      <a:r>
                        <a:rPr lang="en-IN" b="1" dirty="0"/>
                        <a:t>1</a:t>
                      </a:r>
                    </a:p>
                  </a:txBody>
                  <a:tcPr/>
                </a:tc>
                <a:extLst>
                  <a:ext uri="{0D108BD9-81ED-4DB2-BD59-A6C34878D82A}">
                    <a16:rowId xmlns:a16="http://schemas.microsoft.com/office/drawing/2014/main" val="998241085"/>
                  </a:ext>
                </a:extLst>
              </a:tr>
              <a:tr h="468086">
                <a:tc>
                  <a:txBody>
                    <a:bodyPr/>
                    <a:lstStyle/>
                    <a:p>
                      <a:pPr algn="ctr"/>
                      <a:r>
                        <a:rPr lang="en-IN" b="1" dirty="0"/>
                        <a:t>2</a:t>
                      </a:r>
                    </a:p>
                  </a:txBody>
                  <a:tcPr/>
                </a:tc>
                <a:extLst>
                  <a:ext uri="{0D108BD9-81ED-4DB2-BD59-A6C34878D82A}">
                    <a16:rowId xmlns:a16="http://schemas.microsoft.com/office/drawing/2014/main" val="2953948409"/>
                  </a:ext>
                </a:extLst>
              </a:tr>
              <a:tr h="468086">
                <a:tc>
                  <a:txBody>
                    <a:bodyPr/>
                    <a:lstStyle/>
                    <a:p>
                      <a:pPr algn="ctr"/>
                      <a:r>
                        <a:rPr lang="en-IN" b="1" dirty="0"/>
                        <a:t>3</a:t>
                      </a:r>
                    </a:p>
                  </a:txBody>
                  <a:tcPr/>
                </a:tc>
                <a:extLst>
                  <a:ext uri="{0D108BD9-81ED-4DB2-BD59-A6C34878D82A}">
                    <a16:rowId xmlns:a16="http://schemas.microsoft.com/office/drawing/2014/main" val="2487396617"/>
                  </a:ext>
                </a:extLst>
              </a:tr>
              <a:tr h="468086">
                <a:tc>
                  <a:txBody>
                    <a:bodyPr/>
                    <a:lstStyle/>
                    <a:p>
                      <a:pPr algn="ctr"/>
                      <a:endParaRPr lang="en-IN" b="1" dirty="0"/>
                    </a:p>
                  </a:txBody>
                  <a:tcPr/>
                </a:tc>
                <a:extLst>
                  <a:ext uri="{0D108BD9-81ED-4DB2-BD59-A6C34878D82A}">
                    <a16:rowId xmlns:a16="http://schemas.microsoft.com/office/drawing/2014/main" val="2088423974"/>
                  </a:ext>
                </a:extLst>
              </a:tr>
            </a:tbl>
          </a:graphicData>
        </a:graphic>
      </p:graphicFrame>
      <p:sp>
        <p:nvSpPr>
          <p:cNvPr id="22" name="TextBox 21">
            <a:extLst>
              <a:ext uri="{FF2B5EF4-FFF2-40B4-BE49-F238E27FC236}">
                <a16:creationId xmlns:a16="http://schemas.microsoft.com/office/drawing/2014/main" id="{4B55254F-98DE-808F-44AB-0D5C56D4F35B}"/>
              </a:ext>
            </a:extLst>
          </p:cNvPr>
          <p:cNvSpPr txBox="1"/>
          <p:nvPr/>
        </p:nvSpPr>
        <p:spPr>
          <a:xfrm>
            <a:off x="3511520" y="674913"/>
            <a:ext cx="556964" cy="370114"/>
          </a:xfrm>
          <a:prstGeom prst="rect">
            <a:avLst/>
          </a:prstGeom>
          <a:noFill/>
        </p:spPr>
        <p:txBody>
          <a:bodyPr wrap="square" rtlCol="0">
            <a:spAutoFit/>
          </a:bodyPr>
          <a:lstStyle/>
          <a:p>
            <a:pPr algn="ctr"/>
            <a:r>
              <a:rPr lang="en-IN" b="1" dirty="0">
                <a:solidFill>
                  <a:srgbClr val="FF0000"/>
                </a:solidFill>
              </a:rPr>
              <a:t>2</a:t>
            </a:r>
          </a:p>
        </p:txBody>
      </p:sp>
      <p:graphicFrame>
        <p:nvGraphicFramePr>
          <p:cNvPr id="23" name="Table 3">
            <a:extLst>
              <a:ext uri="{FF2B5EF4-FFF2-40B4-BE49-F238E27FC236}">
                <a16:creationId xmlns:a16="http://schemas.microsoft.com/office/drawing/2014/main" id="{F07F70F0-2A48-E4A1-F4AB-9A432F12A9C7}"/>
              </a:ext>
            </a:extLst>
          </p:cNvPr>
          <p:cNvGraphicFramePr>
            <a:graphicFrameLocks noGrp="1"/>
          </p:cNvGraphicFramePr>
          <p:nvPr>
            <p:extLst>
              <p:ext uri="{D42A27DB-BD31-4B8C-83A1-F6EECF244321}">
                <p14:modId xmlns:p14="http://schemas.microsoft.com/office/powerpoint/2010/main" val="3928642509"/>
              </p:ext>
            </p:extLst>
          </p:nvPr>
        </p:nvGraphicFramePr>
        <p:xfrm>
          <a:off x="3590451" y="1110342"/>
          <a:ext cx="556964" cy="1872344"/>
        </p:xfrm>
        <a:graphic>
          <a:graphicData uri="http://schemas.openxmlformats.org/drawingml/2006/table">
            <a:tbl>
              <a:tblPr firstRow="1" bandRow="1">
                <a:tableStyleId>{5940675A-B579-460E-94D1-54222C63F5DA}</a:tableStyleId>
              </a:tblPr>
              <a:tblGrid>
                <a:gridCol w="556964">
                  <a:extLst>
                    <a:ext uri="{9D8B030D-6E8A-4147-A177-3AD203B41FA5}">
                      <a16:colId xmlns:a16="http://schemas.microsoft.com/office/drawing/2014/main" val="3871611496"/>
                    </a:ext>
                  </a:extLst>
                </a:gridCol>
              </a:tblGrid>
              <a:tr h="468086">
                <a:tc>
                  <a:txBody>
                    <a:bodyPr/>
                    <a:lstStyle/>
                    <a:p>
                      <a:pPr algn="ctr"/>
                      <a:r>
                        <a:rPr lang="en-IN" b="1" dirty="0"/>
                        <a:t>1</a:t>
                      </a:r>
                    </a:p>
                  </a:txBody>
                  <a:tcPr/>
                </a:tc>
                <a:extLst>
                  <a:ext uri="{0D108BD9-81ED-4DB2-BD59-A6C34878D82A}">
                    <a16:rowId xmlns:a16="http://schemas.microsoft.com/office/drawing/2014/main" val="998241085"/>
                  </a:ext>
                </a:extLst>
              </a:tr>
              <a:tr h="468086">
                <a:tc>
                  <a:txBody>
                    <a:bodyPr/>
                    <a:lstStyle/>
                    <a:p>
                      <a:pPr algn="ctr"/>
                      <a:r>
                        <a:rPr lang="en-IN" b="1" dirty="0"/>
                        <a:t>2</a:t>
                      </a:r>
                    </a:p>
                  </a:txBody>
                  <a:tcPr/>
                </a:tc>
                <a:extLst>
                  <a:ext uri="{0D108BD9-81ED-4DB2-BD59-A6C34878D82A}">
                    <a16:rowId xmlns:a16="http://schemas.microsoft.com/office/drawing/2014/main" val="2953948409"/>
                  </a:ext>
                </a:extLst>
              </a:tr>
              <a:tr h="468086">
                <a:tc>
                  <a:txBody>
                    <a:bodyPr/>
                    <a:lstStyle/>
                    <a:p>
                      <a:pPr algn="ctr"/>
                      <a:endParaRPr lang="en-IN" b="1" dirty="0"/>
                    </a:p>
                  </a:txBody>
                  <a:tcPr/>
                </a:tc>
                <a:extLst>
                  <a:ext uri="{0D108BD9-81ED-4DB2-BD59-A6C34878D82A}">
                    <a16:rowId xmlns:a16="http://schemas.microsoft.com/office/drawing/2014/main" val="2487396617"/>
                  </a:ext>
                </a:extLst>
              </a:tr>
              <a:tr h="468086">
                <a:tc>
                  <a:txBody>
                    <a:bodyPr/>
                    <a:lstStyle/>
                    <a:p>
                      <a:pPr algn="ctr"/>
                      <a:endParaRPr lang="en-IN" b="1" dirty="0"/>
                    </a:p>
                  </a:txBody>
                  <a:tcPr/>
                </a:tc>
                <a:extLst>
                  <a:ext uri="{0D108BD9-81ED-4DB2-BD59-A6C34878D82A}">
                    <a16:rowId xmlns:a16="http://schemas.microsoft.com/office/drawing/2014/main" val="1622585952"/>
                  </a:ext>
                </a:extLst>
              </a:tr>
            </a:tbl>
          </a:graphicData>
        </a:graphic>
      </p:graphicFrame>
      <p:sp>
        <p:nvSpPr>
          <p:cNvPr id="24" name="TextBox 23">
            <a:extLst>
              <a:ext uri="{FF2B5EF4-FFF2-40B4-BE49-F238E27FC236}">
                <a16:creationId xmlns:a16="http://schemas.microsoft.com/office/drawing/2014/main" id="{56965CC3-B7A0-7353-5CE3-4A6E48BB2531}"/>
              </a:ext>
            </a:extLst>
          </p:cNvPr>
          <p:cNvSpPr txBox="1"/>
          <p:nvPr/>
        </p:nvSpPr>
        <p:spPr>
          <a:xfrm>
            <a:off x="4267533" y="642257"/>
            <a:ext cx="556964" cy="370114"/>
          </a:xfrm>
          <a:prstGeom prst="rect">
            <a:avLst/>
          </a:prstGeom>
          <a:noFill/>
        </p:spPr>
        <p:txBody>
          <a:bodyPr wrap="square" rtlCol="0">
            <a:spAutoFit/>
          </a:bodyPr>
          <a:lstStyle/>
          <a:p>
            <a:pPr algn="ctr"/>
            <a:r>
              <a:rPr lang="en-IN" b="1" dirty="0">
                <a:solidFill>
                  <a:srgbClr val="FF0000"/>
                </a:solidFill>
              </a:rPr>
              <a:t>3</a:t>
            </a:r>
          </a:p>
        </p:txBody>
      </p:sp>
      <p:graphicFrame>
        <p:nvGraphicFramePr>
          <p:cNvPr id="33" name="Table 3">
            <a:extLst>
              <a:ext uri="{FF2B5EF4-FFF2-40B4-BE49-F238E27FC236}">
                <a16:creationId xmlns:a16="http://schemas.microsoft.com/office/drawing/2014/main" id="{1341C2A8-7DCA-77E8-4F8A-DFF6FDED3029}"/>
              </a:ext>
            </a:extLst>
          </p:cNvPr>
          <p:cNvGraphicFramePr>
            <a:graphicFrameLocks noGrp="1"/>
          </p:cNvGraphicFramePr>
          <p:nvPr>
            <p:extLst>
              <p:ext uri="{D42A27DB-BD31-4B8C-83A1-F6EECF244321}">
                <p14:modId xmlns:p14="http://schemas.microsoft.com/office/powerpoint/2010/main" val="3873618946"/>
              </p:ext>
            </p:extLst>
          </p:nvPr>
        </p:nvGraphicFramePr>
        <p:xfrm>
          <a:off x="8065013" y="1104898"/>
          <a:ext cx="556964" cy="1872344"/>
        </p:xfrm>
        <a:graphic>
          <a:graphicData uri="http://schemas.openxmlformats.org/drawingml/2006/table">
            <a:tbl>
              <a:tblPr firstRow="1" bandRow="1">
                <a:tableStyleId>{5940675A-B579-460E-94D1-54222C63F5DA}</a:tableStyleId>
              </a:tblPr>
              <a:tblGrid>
                <a:gridCol w="556964">
                  <a:extLst>
                    <a:ext uri="{9D8B030D-6E8A-4147-A177-3AD203B41FA5}">
                      <a16:colId xmlns:a16="http://schemas.microsoft.com/office/drawing/2014/main" val="3871611496"/>
                    </a:ext>
                  </a:extLst>
                </a:gridCol>
              </a:tblGrid>
              <a:tr h="468086">
                <a:tc>
                  <a:txBody>
                    <a:bodyPr/>
                    <a:lstStyle/>
                    <a:p>
                      <a:pPr algn="ctr"/>
                      <a:r>
                        <a:rPr lang="en-IN" b="1" dirty="0"/>
                        <a:t>5</a:t>
                      </a:r>
                    </a:p>
                  </a:txBody>
                  <a:tcPr/>
                </a:tc>
                <a:extLst>
                  <a:ext uri="{0D108BD9-81ED-4DB2-BD59-A6C34878D82A}">
                    <a16:rowId xmlns:a16="http://schemas.microsoft.com/office/drawing/2014/main" val="998241085"/>
                  </a:ext>
                </a:extLst>
              </a:tr>
              <a:tr h="468086">
                <a:tc>
                  <a:txBody>
                    <a:bodyPr/>
                    <a:lstStyle/>
                    <a:p>
                      <a:pPr algn="ctr"/>
                      <a:r>
                        <a:rPr lang="en-IN" b="1" dirty="0"/>
                        <a:t>1</a:t>
                      </a:r>
                    </a:p>
                  </a:txBody>
                  <a:tcPr/>
                </a:tc>
                <a:extLst>
                  <a:ext uri="{0D108BD9-81ED-4DB2-BD59-A6C34878D82A}">
                    <a16:rowId xmlns:a16="http://schemas.microsoft.com/office/drawing/2014/main" val="2953948409"/>
                  </a:ext>
                </a:extLst>
              </a:tr>
              <a:tr h="468086">
                <a:tc>
                  <a:txBody>
                    <a:bodyPr/>
                    <a:lstStyle/>
                    <a:p>
                      <a:pPr algn="ctr"/>
                      <a:r>
                        <a:rPr lang="en-IN" b="1" dirty="0"/>
                        <a:t>3</a:t>
                      </a:r>
                    </a:p>
                  </a:txBody>
                  <a:tcPr/>
                </a:tc>
                <a:extLst>
                  <a:ext uri="{0D108BD9-81ED-4DB2-BD59-A6C34878D82A}">
                    <a16:rowId xmlns:a16="http://schemas.microsoft.com/office/drawing/2014/main" val="2487396617"/>
                  </a:ext>
                </a:extLst>
              </a:tr>
              <a:tr h="468086">
                <a:tc>
                  <a:txBody>
                    <a:bodyPr/>
                    <a:lstStyle/>
                    <a:p>
                      <a:pPr algn="ctr"/>
                      <a:r>
                        <a:rPr lang="en-IN" b="1" dirty="0"/>
                        <a:t>4</a:t>
                      </a:r>
                    </a:p>
                  </a:txBody>
                  <a:tcPr/>
                </a:tc>
                <a:extLst>
                  <a:ext uri="{0D108BD9-81ED-4DB2-BD59-A6C34878D82A}">
                    <a16:rowId xmlns:a16="http://schemas.microsoft.com/office/drawing/2014/main" val="2056271514"/>
                  </a:ext>
                </a:extLst>
              </a:tr>
            </a:tbl>
          </a:graphicData>
        </a:graphic>
      </p:graphicFrame>
      <p:sp>
        <p:nvSpPr>
          <p:cNvPr id="34" name="TextBox 33">
            <a:extLst>
              <a:ext uri="{FF2B5EF4-FFF2-40B4-BE49-F238E27FC236}">
                <a16:creationId xmlns:a16="http://schemas.microsoft.com/office/drawing/2014/main" id="{089FA13A-F953-39BE-F0D7-4DBDB6D6A2DA}"/>
              </a:ext>
            </a:extLst>
          </p:cNvPr>
          <p:cNvSpPr txBox="1"/>
          <p:nvPr/>
        </p:nvSpPr>
        <p:spPr>
          <a:xfrm>
            <a:off x="5121292" y="642257"/>
            <a:ext cx="556964" cy="370114"/>
          </a:xfrm>
          <a:prstGeom prst="rect">
            <a:avLst/>
          </a:prstGeom>
          <a:noFill/>
        </p:spPr>
        <p:txBody>
          <a:bodyPr wrap="square" rtlCol="0">
            <a:spAutoFit/>
          </a:bodyPr>
          <a:lstStyle/>
          <a:p>
            <a:pPr algn="ctr"/>
            <a:r>
              <a:rPr lang="en-IN" b="1" dirty="0">
                <a:solidFill>
                  <a:srgbClr val="FF0000"/>
                </a:solidFill>
              </a:rPr>
              <a:t>4</a:t>
            </a:r>
          </a:p>
        </p:txBody>
      </p:sp>
      <p:graphicFrame>
        <p:nvGraphicFramePr>
          <p:cNvPr id="35" name="Table 3">
            <a:extLst>
              <a:ext uri="{FF2B5EF4-FFF2-40B4-BE49-F238E27FC236}">
                <a16:creationId xmlns:a16="http://schemas.microsoft.com/office/drawing/2014/main" id="{BF367DEB-1E0B-D4EB-EAD1-9341601F9B3A}"/>
              </a:ext>
            </a:extLst>
          </p:cNvPr>
          <p:cNvGraphicFramePr>
            <a:graphicFrameLocks noGrp="1"/>
          </p:cNvGraphicFramePr>
          <p:nvPr>
            <p:extLst>
              <p:ext uri="{D42A27DB-BD31-4B8C-83A1-F6EECF244321}">
                <p14:modId xmlns:p14="http://schemas.microsoft.com/office/powerpoint/2010/main" val="3836438471"/>
              </p:ext>
            </p:extLst>
          </p:nvPr>
        </p:nvGraphicFramePr>
        <p:xfrm>
          <a:off x="5082114" y="1104898"/>
          <a:ext cx="556964" cy="1872344"/>
        </p:xfrm>
        <a:graphic>
          <a:graphicData uri="http://schemas.openxmlformats.org/drawingml/2006/table">
            <a:tbl>
              <a:tblPr firstRow="1" bandRow="1">
                <a:tableStyleId>{5940675A-B579-460E-94D1-54222C63F5DA}</a:tableStyleId>
              </a:tblPr>
              <a:tblGrid>
                <a:gridCol w="556964">
                  <a:extLst>
                    <a:ext uri="{9D8B030D-6E8A-4147-A177-3AD203B41FA5}">
                      <a16:colId xmlns:a16="http://schemas.microsoft.com/office/drawing/2014/main" val="3871611496"/>
                    </a:ext>
                  </a:extLst>
                </a:gridCol>
              </a:tblGrid>
              <a:tr h="468086">
                <a:tc>
                  <a:txBody>
                    <a:bodyPr/>
                    <a:lstStyle/>
                    <a:p>
                      <a:pPr algn="ctr"/>
                      <a:r>
                        <a:rPr lang="en-IN" b="1" dirty="0"/>
                        <a:t>1</a:t>
                      </a:r>
                    </a:p>
                  </a:txBody>
                  <a:tcPr/>
                </a:tc>
                <a:extLst>
                  <a:ext uri="{0D108BD9-81ED-4DB2-BD59-A6C34878D82A}">
                    <a16:rowId xmlns:a16="http://schemas.microsoft.com/office/drawing/2014/main" val="998241085"/>
                  </a:ext>
                </a:extLst>
              </a:tr>
              <a:tr h="468086">
                <a:tc>
                  <a:txBody>
                    <a:bodyPr/>
                    <a:lstStyle/>
                    <a:p>
                      <a:pPr algn="ctr"/>
                      <a:r>
                        <a:rPr lang="en-IN" b="1" dirty="0"/>
                        <a:t>2</a:t>
                      </a:r>
                    </a:p>
                  </a:txBody>
                  <a:tcPr/>
                </a:tc>
                <a:extLst>
                  <a:ext uri="{0D108BD9-81ED-4DB2-BD59-A6C34878D82A}">
                    <a16:rowId xmlns:a16="http://schemas.microsoft.com/office/drawing/2014/main" val="2953948409"/>
                  </a:ext>
                </a:extLst>
              </a:tr>
              <a:tr h="468086">
                <a:tc>
                  <a:txBody>
                    <a:bodyPr/>
                    <a:lstStyle/>
                    <a:p>
                      <a:pPr algn="ctr"/>
                      <a:r>
                        <a:rPr lang="en-IN" b="1" dirty="0"/>
                        <a:t>3</a:t>
                      </a:r>
                    </a:p>
                  </a:txBody>
                  <a:tcPr/>
                </a:tc>
                <a:extLst>
                  <a:ext uri="{0D108BD9-81ED-4DB2-BD59-A6C34878D82A}">
                    <a16:rowId xmlns:a16="http://schemas.microsoft.com/office/drawing/2014/main" val="2487396617"/>
                  </a:ext>
                </a:extLst>
              </a:tr>
              <a:tr h="468086">
                <a:tc>
                  <a:txBody>
                    <a:bodyPr/>
                    <a:lstStyle/>
                    <a:p>
                      <a:pPr algn="ctr"/>
                      <a:r>
                        <a:rPr lang="en-IN" b="1" dirty="0"/>
                        <a:t>4</a:t>
                      </a:r>
                    </a:p>
                  </a:txBody>
                  <a:tcPr/>
                </a:tc>
                <a:extLst>
                  <a:ext uri="{0D108BD9-81ED-4DB2-BD59-A6C34878D82A}">
                    <a16:rowId xmlns:a16="http://schemas.microsoft.com/office/drawing/2014/main" val="3317062395"/>
                  </a:ext>
                </a:extLst>
              </a:tr>
            </a:tbl>
          </a:graphicData>
        </a:graphic>
      </p:graphicFrame>
      <p:sp>
        <p:nvSpPr>
          <p:cNvPr id="36" name="TextBox 35">
            <a:extLst>
              <a:ext uri="{FF2B5EF4-FFF2-40B4-BE49-F238E27FC236}">
                <a16:creationId xmlns:a16="http://schemas.microsoft.com/office/drawing/2014/main" id="{35C6EFB1-8344-8899-D1D9-1AB5BDC9319E}"/>
              </a:ext>
            </a:extLst>
          </p:cNvPr>
          <p:cNvSpPr txBox="1"/>
          <p:nvPr/>
        </p:nvSpPr>
        <p:spPr>
          <a:xfrm>
            <a:off x="5866963" y="674913"/>
            <a:ext cx="556964" cy="370114"/>
          </a:xfrm>
          <a:prstGeom prst="rect">
            <a:avLst/>
          </a:prstGeom>
          <a:noFill/>
        </p:spPr>
        <p:txBody>
          <a:bodyPr wrap="square" rtlCol="0">
            <a:spAutoFit/>
          </a:bodyPr>
          <a:lstStyle/>
          <a:p>
            <a:pPr algn="ctr"/>
            <a:r>
              <a:rPr lang="en-IN" b="1" dirty="0">
                <a:solidFill>
                  <a:srgbClr val="FF0000"/>
                </a:solidFill>
              </a:rPr>
              <a:t>1</a:t>
            </a:r>
          </a:p>
        </p:txBody>
      </p:sp>
      <p:graphicFrame>
        <p:nvGraphicFramePr>
          <p:cNvPr id="37" name="Table 3">
            <a:extLst>
              <a:ext uri="{FF2B5EF4-FFF2-40B4-BE49-F238E27FC236}">
                <a16:creationId xmlns:a16="http://schemas.microsoft.com/office/drawing/2014/main" id="{1467B45D-3884-2FFF-F33D-678BEBCAE110}"/>
              </a:ext>
            </a:extLst>
          </p:cNvPr>
          <p:cNvGraphicFramePr>
            <a:graphicFrameLocks noGrp="1"/>
          </p:cNvGraphicFramePr>
          <p:nvPr>
            <p:extLst>
              <p:ext uri="{D42A27DB-BD31-4B8C-83A1-F6EECF244321}">
                <p14:modId xmlns:p14="http://schemas.microsoft.com/office/powerpoint/2010/main" val="2826180750"/>
              </p:ext>
            </p:extLst>
          </p:nvPr>
        </p:nvGraphicFramePr>
        <p:xfrm>
          <a:off x="5866963" y="1115784"/>
          <a:ext cx="485777" cy="1872344"/>
        </p:xfrm>
        <a:graphic>
          <a:graphicData uri="http://schemas.openxmlformats.org/drawingml/2006/table">
            <a:tbl>
              <a:tblPr firstRow="1" bandRow="1">
                <a:tableStyleId>{5940675A-B579-460E-94D1-54222C63F5DA}</a:tableStyleId>
              </a:tblPr>
              <a:tblGrid>
                <a:gridCol w="485777">
                  <a:extLst>
                    <a:ext uri="{9D8B030D-6E8A-4147-A177-3AD203B41FA5}">
                      <a16:colId xmlns:a16="http://schemas.microsoft.com/office/drawing/2014/main" val="3871611496"/>
                    </a:ext>
                  </a:extLst>
                </a:gridCol>
              </a:tblGrid>
              <a:tr h="468086">
                <a:tc>
                  <a:txBody>
                    <a:bodyPr/>
                    <a:lstStyle/>
                    <a:p>
                      <a:pPr algn="ctr"/>
                      <a:r>
                        <a:rPr lang="en-IN" b="1" dirty="0"/>
                        <a:t>1</a:t>
                      </a:r>
                    </a:p>
                  </a:txBody>
                  <a:tcPr/>
                </a:tc>
                <a:extLst>
                  <a:ext uri="{0D108BD9-81ED-4DB2-BD59-A6C34878D82A}">
                    <a16:rowId xmlns:a16="http://schemas.microsoft.com/office/drawing/2014/main" val="998241085"/>
                  </a:ext>
                </a:extLst>
              </a:tr>
              <a:tr h="468086">
                <a:tc>
                  <a:txBody>
                    <a:bodyPr/>
                    <a:lstStyle/>
                    <a:p>
                      <a:pPr algn="ctr"/>
                      <a:r>
                        <a:rPr lang="en-IN" b="1" dirty="0"/>
                        <a:t>2</a:t>
                      </a:r>
                    </a:p>
                  </a:txBody>
                  <a:tcPr/>
                </a:tc>
                <a:extLst>
                  <a:ext uri="{0D108BD9-81ED-4DB2-BD59-A6C34878D82A}">
                    <a16:rowId xmlns:a16="http://schemas.microsoft.com/office/drawing/2014/main" val="2953948409"/>
                  </a:ext>
                </a:extLst>
              </a:tr>
              <a:tr h="468086">
                <a:tc>
                  <a:txBody>
                    <a:bodyPr/>
                    <a:lstStyle/>
                    <a:p>
                      <a:pPr algn="ctr"/>
                      <a:r>
                        <a:rPr lang="en-IN" b="1" dirty="0"/>
                        <a:t>3</a:t>
                      </a:r>
                    </a:p>
                  </a:txBody>
                  <a:tcPr/>
                </a:tc>
                <a:extLst>
                  <a:ext uri="{0D108BD9-81ED-4DB2-BD59-A6C34878D82A}">
                    <a16:rowId xmlns:a16="http://schemas.microsoft.com/office/drawing/2014/main" val="2487396617"/>
                  </a:ext>
                </a:extLst>
              </a:tr>
              <a:tr h="468086">
                <a:tc>
                  <a:txBody>
                    <a:bodyPr/>
                    <a:lstStyle/>
                    <a:p>
                      <a:pPr algn="ctr"/>
                      <a:r>
                        <a:rPr lang="en-IN" b="1" dirty="0"/>
                        <a:t>4</a:t>
                      </a:r>
                    </a:p>
                  </a:txBody>
                  <a:tcPr/>
                </a:tc>
                <a:extLst>
                  <a:ext uri="{0D108BD9-81ED-4DB2-BD59-A6C34878D82A}">
                    <a16:rowId xmlns:a16="http://schemas.microsoft.com/office/drawing/2014/main" val="1083337011"/>
                  </a:ext>
                </a:extLst>
              </a:tr>
            </a:tbl>
          </a:graphicData>
        </a:graphic>
      </p:graphicFrame>
      <p:sp>
        <p:nvSpPr>
          <p:cNvPr id="38" name="TextBox 37">
            <a:extLst>
              <a:ext uri="{FF2B5EF4-FFF2-40B4-BE49-F238E27FC236}">
                <a16:creationId xmlns:a16="http://schemas.microsoft.com/office/drawing/2014/main" id="{4A623B8B-CB99-B99D-B241-067B51DB536F}"/>
              </a:ext>
            </a:extLst>
          </p:cNvPr>
          <p:cNvSpPr txBox="1"/>
          <p:nvPr/>
        </p:nvSpPr>
        <p:spPr>
          <a:xfrm>
            <a:off x="6580580" y="639525"/>
            <a:ext cx="556964" cy="370114"/>
          </a:xfrm>
          <a:prstGeom prst="rect">
            <a:avLst/>
          </a:prstGeom>
          <a:noFill/>
        </p:spPr>
        <p:txBody>
          <a:bodyPr wrap="square" rtlCol="0">
            <a:spAutoFit/>
          </a:bodyPr>
          <a:lstStyle/>
          <a:p>
            <a:pPr algn="ctr"/>
            <a:r>
              <a:rPr lang="en-IN" b="1" dirty="0">
                <a:solidFill>
                  <a:srgbClr val="FF0000"/>
                </a:solidFill>
              </a:rPr>
              <a:t>2</a:t>
            </a:r>
          </a:p>
        </p:txBody>
      </p:sp>
      <p:graphicFrame>
        <p:nvGraphicFramePr>
          <p:cNvPr id="39" name="Table 3">
            <a:extLst>
              <a:ext uri="{FF2B5EF4-FFF2-40B4-BE49-F238E27FC236}">
                <a16:creationId xmlns:a16="http://schemas.microsoft.com/office/drawing/2014/main" id="{7B1742D7-4408-E0E1-13C1-1E4097138241}"/>
              </a:ext>
            </a:extLst>
          </p:cNvPr>
          <p:cNvGraphicFramePr>
            <a:graphicFrameLocks noGrp="1"/>
          </p:cNvGraphicFramePr>
          <p:nvPr>
            <p:extLst>
              <p:ext uri="{D42A27DB-BD31-4B8C-83A1-F6EECF244321}">
                <p14:modId xmlns:p14="http://schemas.microsoft.com/office/powerpoint/2010/main" val="2879952694"/>
              </p:ext>
            </p:extLst>
          </p:nvPr>
        </p:nvGraphicFramePr>
        <p:xfrm>
          <a:off x="6573777" y="1104898"/>
          <a:ext cx="556964" cy="1872344"/>
        </p:xfrm>
        <a:graphic>
          <a:graphicData uri="http://schemas.openxmlformats.org/drawingml/2006/table">
            <a:tbl>
              <a:tblPr firstRow="1" bandRow="1">
                <a:tableStyleId>{5940675A-B579-460E-94D1-54222C63F5DA}</a:tableStyleId>
              </a:tblPr>
              <a:tblGrid>
                <a:gridCol w="556964">
                  <a:extLst>
                    <a:ext uri="{9D8B030D-6E8A-4147-A177-3AD203B41FA5}">
                      <a16:colId xmlns:a16="http://schemas.microsoft.com/office/drawing/2014/main" val="3871611496"/>
                    </a:ext>
                  </a:extLst>
                </a:gridCol>
              </a:tblGrid>
              <a:tr h="468086">
                <a:tc>
                  <a:txBody>
                    <a:bodyPr/>
                    <a:lstStyle/>
                    <a:p>
                      <a:pPr algn="ctr"/>
                      <a:r>
                        <a:rPr lang="en-IN" b="1" dirty="0"/>
                        <a:t>1</a:t>
                      </a:r>
                    </a:p>
                  </a:txBody>
                  <a:tcPr/>
                </a:tc>
                <a:extLst>
                  <a:ext uri="{0D108BD9-81ED-4DB2-BD59-A6C34878D82A}">
                    <a16:rowId xmlns:a16="http://schemas.microsoft.com/office/drawing/2014/main" val="998241085"/>
                  </a:ext>
                </a:extLst>
              </a:tr>
              <a:tr h="468086">
                <a:tc>
                  <a:txBody>
                    <a:bodyPr/>
                    <a:lstStyle/>
                    <a:p>
                      <a:pPr algn="ctr"/>
                      <a:r>
                        <a:rPr lang="en-IN" b="1" dirty="0"/>
                        <a:t>2</a:t>
                      </a:r>
                    </a:p>
                  </a:txBody>
                  <a:tcPr/>
                </a:tc>
                <a:extLst>
                  <a:ext uri="{0D108BD9-81ED-4DB2-BD59-A6C34878D82A}">
                    <a16:rowId xmlns:a16="http://schemas.microsoft.com/office/drawing/2014/main" val="2953948409"/>
                  </a:ext>
                </a:extLst>
              </a:tr>
              <a:tr h="468086">
                <a:tc>
                  <a:txBody>
                    <a:bodyPr/>
                    <a:lstStyle/>
                    <a:p>
                      <a:pPr algn="ctr"/>
                      <a:r>
                        <a:rPr lang="en-IN" b="1" dirty="0"/>
                        <a:t>3</a:t>
                      </a:r>
                    </a:p>
                  </a:txBody>
                  <a:tcPr/>
                </a:tc>
                <a:extLst>
                  <a:ext uri="{0D108BD9-81ED-4DB2-BD59-A6C34878D82A}">
                    <a16:rowId xmlns:a16="http://schemas.microsoft.com/office/drawing/2014/main" val="2487396617"/>
                  </a:ext>
                </a:extLst>
              </a:tr>
              <a:tr h="468086">
                <a:tc>
                  <a:txBody>
                    <a:bodyPr/>
                    <a:lstStyle/>
                    <a:p>
                      <a:pPr algn="ctr"/>
                      <a:r>
                        <a:rPr lang="en-IN" b="1" dirty="0"/>
                        <a:t>4</a:t>
                      </a:r>
                    </a:p>
                  </a:txBody>
                  <a:tcPr/>
                </a:tc>
                <a:extLst>
                  <a:ext uri="{0D108BD9-81ED-4DB2-BD59-A6C34878D82A}">
                    <a16:rowId xmlns:a16="http://schemas.microsoft.com/office/drawing/2014/main" val="499574885"/>
                  </a:ext>
                </a:extLst>
              </a:tr>
            </a:tbl>
          </a:graphicData>
        </a:graphic>
      </p:graphicFrame>
      <p:sp>
        <p:nvSpPr>
          <p:cNvPr id="40" name="TextBox 39">
            <a:extLst>
              <a:ext uri="{FF2B5EF4-FFF2-40B4-BE49-F238E27FC236}">
                <a16:creationId xmlns:a16="http://schemas.microsoft.com/office/drawing/2014/main" id="{F21F7BE9-ABCC-4947-CEBD-D3E4A3431502}"/>
              </a:ext>
            </a:extLst>
          </p:cNvPr>
          <p:cNvSpPr txBox="1"/>
          <p:nvPr/>
        </p:nvSpPr>
        <p:spPr>
          <a:xfrm>
            <a:off x="7266126" y="674912"/>
            <a:ext cx="556964" cy="370114"/>
          </a:xfrm>
          <a:prstGeom prst="rect">
            <a:avLst/>
          </a:prstGeom>
          <a:noFill/>
        </p:spPr>
        <p:txBody>
          <a:bodyPr wrap="square" rtlCol="0">
            <a:spAutoFit/>
          </a:bodyPr>
          <a:lstStyle/>
          <a:p>
            <a:pPr algn="ctr"/>
            <a:r>
              <a:rPr lang="en-IN" b="1" dirty="0">
                <a:solidFill>
                  <a:srgbClr val="FF0000"/>
                </a:solidFill>
              </a:rPr>
              <a:t>5</a:t>
            </a:r>
          </a:p>
        </p:txBody>
      </p:sp>
      <p:graphicFrame>
        <p:nvGraphicFramePr>
          <p:cNvPr id="41" name="Table 3">
            <a:extLst>
              <a:ext uri="{FF2B5EF4-FFF2-40B4-BE49-F238E27FC236}">
                <a16:creationId xmlns:a16="http://schemas.microsoft.com/office/drawing/2014/main" id="{BEED9925-49FC-DF2A-DF37-48421B0C2E47}"/>
              </a:ext>
            </a:extLst>
          </p:cNvPr>
          <p:cNvGraphicFramePr>
            <a:graphicFrameLocks noGrp="1"/>
          </p:cNvGraphicFramePr>
          <p:nvPr>
            <p:extLst>
              <p:ext uri="{D42A27DB-BD31-4B8C-83A1-F6EECF244321}">
                <p14:modId xmlns:p14="http://schemas.microsoft.com/office/powerpoint/2010/main" val="1596069285"/>
              </p:ext>
            </p:extLst>
          </p:nvPr>
        </p:nvGraphicFramePr>
        <p:xfrm>
          <a:off x="7292703" y="1104898"/>
          <a:ext cx="556964" cy="1872344"/>
        </p:xfrm>
        <a:graphic>
          <a:graphicData uri="http://schemas.openxmlformats.org/drawingml/2006/table">
            <a:tbl>
              <a:tblPr firstRow="1" bandRow="1">
                <a:tableStyleId>{5940675A-B579-460E-94D1-54222C63F5DA}</a:tableStyleId>
              </a:tblPr>
              <a:tblGrid>
                <a:gridCol w="556964">
                  <a:extLst>
                    <a:ext uri="{9D8B030D-6E8A-4147-A177-3AD203B41FA5}">
                      <a16:colId xmlns:a16="http://schemas.microsoft.com/office/drawing/2014/main" val="3871611496"/>
                    </a:ext>
                  </a:extLst>
                </a:gridCol>
              </a:tblGrid>
              <a:tr h="468086">
                <a:tc>
                  <a:txBody>
                    <a:bodyPr/>
                    <a:lstStyle/>
                    <a:p>
                      <a:pPr algn="ctr"/>
                      <a:r>
                        <a:rPr lang="en-IN" b="1" dirty="0"/>
                        <a:t>5</a:t>
                      </a:r>
                    </a:p>
                  </a:txBody>
                  <a:tcPr/>
                </a:tc>
                <a:extLst>
                  <a:ext uri="{0D108BD9-81ED-4DB2-BD59-A6C34878D82A}">
                    <a16:rowId xmlns:a16="http://schemas.microsoft.com/office/drawing/2014/main" val="998241085"/>
                  </a:ext>
                </a:extLst>
              </a:tr>
              <a:tr h="468086">
                <a:tc>
                  <a:txBody>
                    <a:bodyPr/>
                    <a:lstStyle/>
                    <a:p>
                      <a:pPr algn="ctr"/>
                      <a:r>
                        <a:rPr lang="en-IN" b="1" dirty="0"/>
                        <a:t>2</a:t>
                      </a:r>
                    </a:p>
                  </a:txBody>
                  <a:tcPr/>
                </a:tc>
                <a:extLst>
                  <a:ext uri="{0D108BD9-81ED-4DB2-BD59-A6C34878D82A}">
                    <a16:rowId xmlns:a16="http://schemas.microsoft.com/office/drawing/2014/main" val="2953948409"/>
                  </a:ext>
                </a:extLst>
              </a:tr>
              <a:tr h="468086">
                <a:tc>
                  <a:txBody>
                    <a:bodyPr/>
                    <a:lstStyle/>
                    <a:p>
                      <a:pPr algn="ctr"/>
                      <a:r>
                        <a:rPr lang="en-IN" b="1" dirty="0"/>
                        <a:t>3</a:t>
                      </a:r>
                    </a:p>
                  </a:txBody>
                  <a:tcPr/>
                </a:tc>
                <a:extLst>
                  <a:ext uri="{0D108BD9-81ED-4DB2-BD59-A6C34878D82A}">
                    <a16:rowId xmlns:a16="http://schemas.microsoft.com/office/drawing/2014/main" val="2487396617"/>
                  </a:ext>
                </a:extLst>
              </a:tr>
              <a:tr h="468086">
                <a:tc>
                  <a:txBody>
                    <a:bodyPr/>
                    <a:lstStyle/>
                    <a:p>
                      <a:pPr algn="ctr"/>
                      <a:r>
                        <a:rPr lang="en-IN" b="1" dirty="0"/>
                        <a:t>4</a:t>
                      </a:r>
                    </a:p>
                  </a:txBody>
                  <a:tcPr/>
                </a:tc>
                <a:extLst>
                  <a:ext uri="{0D108BD9-81ED-4DB2-BD59-A6C34878D82A}">
                    <a16:rowId xmlns:a16="http://schemas.microsoft.com/office/drawing/2014/main" val="4268159879"/>
                  </a:ext>
                </a:extLst>
              </a:tr>
            </a:tbl>
          </a:graphicData>
        </a:graphic>
      </p:graphicFrame>
      <p:sp>
        <p:nvSpPr>
          <p:cNvPr id="42" name="TextBox 41">
            <a:extLst>
              <a:ext uri="{FF2B5EF4-FFF2-40B4-BE49-F238E27FC236}">
                <a16:creationId xmlns:a16="http://schemas.microsoft.com/office/drawing/2014/main" id="{44F9081D-E961-1FDB-7B3C-74A877C458C5}"/>
              </a:ext>
            </a:extLst>
          </p:cNvPr>
          <p:cNvSpPr txBox="1"/>
          <p:nvPr/>
        </p:nvSpPr>
        <p:spPr>
          <a:xfrm>
            <a:off x="8013201" y="674912"/>
            <a:ext cx="556964" cy="370114"/>
          </a:xfrm>
          <a:prstGeom prst="rect">
            <a:avLst/>
          </a:prstGeom>
          <a:noFill/>
        </p:spPr>
        <p:txBody>
          <a:bodyPr wrap="square" rtlCol="0">
            <a:spAutoFit/>
          </a:bodyPr>
          <a:lstStyle/>
          <a:p>
            <a:pPr algn="ctr"/>
            <a:r>
              <a:rPr lang="en-IN" b="1" dirty="0">
                <a:solidFill>
                  <a:srgbClr val="FF0000"/>
                </a:solidFill>
              </a:rPr>
              <a:t>1</a:t>
            </a:r>
          </a:p>
        </p:txBody>
      </p:sp>
      <p:graphicFrame>
        <p:nvGraphicFramePr>
          <p:cNvPr id="45" name="Table 3">
            <a:extLst>
              <a:ext uri="{FF2B5EF4-FFF2-40B4-BE49-F238E27FC236}">
                <a16:creationId xmlns:a16="http://schemas.microsoft.com/office/drawing/2014/main" id="{8F7D9BE0-56D6-96A4-2DCE-EFB91E710363}"/>
              </a:ext>
            </a:extLst>
          </p:cNvPr>
          <p:cNvGraphicFramePr>
            <a:graphicFrameLocks noGrp="1"/>
          </p:cNvGraphicFramePr>
          <p:nvPr>
            <p:extLst>
              <p:ext uri="{D42A27DB-BD31-4B8C-83A1-F6EECF244321}">
                <p14:modId xmlns:p14="http://schemas.microsoft.com/office/powerpoint/2010/main" val="1098134324"/>
              </p:ext>
            </p:extLst>
          </p:nvPr>
        </p:nvGraphicFramePr>
        <p:xfrm>
          <a:off x="11283370" y="1115784"/>
          <a:ext cx="556964" cy="1872344"/>
        </p:xfrm>
        <a:graphic>
          <a:graphicData uri="http://schemas.openxmlformats.org/drawingml/2006/table">
            <a:tbl>
              <a:tblPr firstRow="1" bandRow="1">
                <a:tableStyleId>{5940675A-B579-460E-94D1-54222C63F5DA}</a:tableStyleId>
              </a:tblPr>
              <a:tblGrid>
                <a:gridCol w="556964">
                  <a:extLst>
                    <a:ext uri="{9D8B030D-6E8A-4147-A177-3AD203B41FA5}">
                      <a16:colId xmlns:a16="http://schemas.microsoft.com/office/drawing/2014/main" val="3871611496"/>
                    </a:ext>
                  </a:extLst>
                </a:gridCol>
              </a:tblGrid>
              <a:tr h="468086">
                <a:tc>
                  <a:txBody>
                    <a:bodyPr/>
                    <a:lstStyle/>
                    <a:p>
                      <a:pPr algn="ctr"/>
                      <a:r>
                        <a:rPr lang="en-IN" b="1" dirty="0"/>
                        <a:t>4</a:t>
                      </a:r>
                    </a:p>
                  </a:txBody>
                  <a:tcPr/>
                </a:tc>
                <a:extLst>
                  <a:ext uri="{0D108BD9-81ED-4DB2-BD59-A6C34878D82A}">
                    <a16:rowId xmlns:a16="http://schemas.microsoft.com/office/drawing/2014/main" val="998241085"/>
                  </a:ext>
                </a:extLst>
              </a:tr>
              <a:tr h="468086">
                <a:tc>
                  <a:txBody>
                    <a:bodyPr/>
                    <a:lstStyle/>
                    <a:p>
                      <a:pPr algn="ctr"/>
                      <a:r>
                        <a:rPr lang="en-IN" b="1" dirty="0"/>
                        <a:t>5</a:t>
                      </a:r>
                    </a:p>
                  </a:txBody>
                  <a:tcPr/>
                </a:tc>
                <a:extLst>
                  <a:ext uri="{0D108BD9-81ED-4DB2-BD59-A6C34878D82A}">
                    <a16:rowId xmlns:a16="http://schemas.microsoft.com/office/drawing/2014/main" val="2953948409"/>
                  </a:ext>
                </a:extLst>
              </a:tr>
              <a:tr h="468086">
                <a:tc>
                  <a:txBody>
                    <a:bodyPr/>
                    <a:lstStyle/>
                    <a:p>
                      <a:pPr algn="ctr"/>
                      <a:r>
                        <a:rPr lang="en-IN" b="1" dirty="0"/>
                        <a:t>2</a:t>
                      </a:r>
                    </a:p>
                  </a:txBody>
                  <a:tcPr/>
                </a:tc>
                <a:extLst>
                  <a:ext uri="{0D108BD9-81ED-4DB2-BD59-A6C34878D82A}">
                    <a16:rowId xmlns:a16="http://schemas.microsoft.com/office/drawing/2014/main" val="2487396617"/>
                  </a:ext>
                </a:extLst>
              </a:tr>
              <a:tr h="468086">
                <a:tc>
                  <a:txBody>
                    <a:bodyPr/>
                    <a:lstStyle/>
                    <a:p>
                      <a:pPr algn="ctr"/>
                      <a:r>
                        <a:rPr lang="en-IN" b="1" dirty="0"/>
                        <a:t>3</a:t>
                      </a:r>
                    </a:p>
                  </a:txBody>
                  <a:tcPr/>
                </a:tc>
                <a:extLst>
                  <a:ext uri="{0D108BD9-81ED-4DB2-BD59-A6C34878D82A}">
                    <a16:rowId xmlns:a16="http://schemas.microsoft.com/office/drawing/2014/main" val="2316623685"/>
                  </a:ext>
                </a:extLst>
              </a:tr>
            </a:tbl>
          </a:graphicData>
        </a:graphic>
      </p:graphicFrame>
      <p:graphicFrame>
        <p:nvGraphicFramePr>
          <p:cNvPr id="46" name="Table 3">
            <a:extLst>
              <a:ext uri="{FF2B5EF4-FFF2-40B4-BE49-F238E27FC236}">
                <a16:creationId xmlns:a16="http://schemas.microsoft.com/office/drawing/2014/main" id="{D9CA27A4-2CEE-1897-F581-FBD067B268E9}"/>
              </a:ext>
            </a:extLst>
          </p:cNvPr>
          <p:cNvGraphicFramePr>
            <a:graphicFrameLocks noGrp="1"/>
          </p:cNvGraphicFramePr>
          <p:nvPr>
            <p:extLst>
              <p:ext uri="{D42A27DB-BD31-4B8C-83A1-F6EECF244321}">
                <p14:modId xmlns:p14="http://schemas.microsoft.com/office/powerpoint/2010/main" val="2004411565"/>
              </p:ext>
            </p:extLst>
          </p:nvPr>
        </p:nvGraphicFramePr>
        <p:xfrm>
          <a:off x="8827761" y="1104898"/>
          <a:ext cx="556964" cy="1872344"/>
        </p:xfrm>
        <a:graphic>
          <a:graphicData uri="http://schemas.openxmlformats.org/drawingml/2006/table">
            <a:tbl>
              <a:tblPr firstRow="1" bandRow="1">
                <a:tableStyleId>{5940675A-B579-460E-94D1-54222C63F5DA}</a:tableStyleId>
              </a:tblPr>
              <a:tblGrid>
                <a:gridCol w="556964">
                  <a:extLst>
                    <a:ext uri="{9D8B030D-6E8A-4147-A177-3AD203B41FA5}">
                      <a16:colId xmlns:a16="http://schemas.microsoft.com/office/drawing/2014/main" val="3871611496"/>
                    </a:ext>
                  </a:extLst>
                </a:gridCol>
              </a:tblGrid>
              <a:tr h="468086">
                <a:tc>
                  <a:txBody>
                    <a:bodyPr/>
                    <a:lstStyle/>
                    <a:p>
                      <a:pPr algn="ctr"/>
                      <a:r>
                        <a:rPr lang="en-IN" b="1" dirty="0"/>
                        <a:t>5</a:t>
                      </a:r>
                    </a:p>
                  </a:txBody>
                  <a:tcPr/>
                </a:tc>
                <a:extLst>
                  <a:ext uri="{0D108BD9-81ED-4DB2-BD59-A6C34878D82A}">
                    <a16:rowId xmlns:a16="http://schemas.microsoft.com/office/drawing/2014/main" val="998241085"/>
                  </a:ext>
                </a:extLst>
              </a:tr>
              <a:tr h="468086">
                <a:tc>
                  <a:txBody>
                    <a:bodyPr/>
                    <a:lstStyle/>
                    <a:p>
                      <a:pPr algn="ctr"/>
                      <a:r>
                        <a:rPr lang="en-IN" b="1" dirty="0"/>
                        <a:t>1</a:t>
                      </a:r>
                    </a:p>
                  </a:txBody>
                  <a:tcPr/>
                </a:tc>
                <a:extLst>
                  <a:ext uri="{0D108BD9-81ED-4DB2-BD59-A6C34878D82A}">
                    <a16:rowId xmlns:a16="http://schemas.microsoft.com/office/drawing/2014/main" val="2953948409"/>
                  </a:ext>
                </a:extLst>
              </a:tr>
              <a:tr h="468086">
                <a:tc>
                  <a:txBody>
                    <a:bodyPr/>
                    <a:lstStyle/>
                    <a:p>
                      <a:pPr algn="ctr"/>
                      <a:r>
                        <a:rPr lang="en-IN" b="1" dirty="0"/>
                        <a:t>2</a:t>
                      </a:r>
                    </a:p>
                  </a:txBody>
                  <a:tcPr/>
                </a:tc>
                <a:extLst>
                  <a:ext uri="{0D108BD9-81ED-4DB2-BD59-A6C34878D82A}">
                    <a16:rowId xmlns:a16="http://schemas.microsoft.com/office/drawing/2014/main" val="2487396617"/>
                  </a:ext>
                </a:extLst>
              </a:tr>
              <a:tr h="468086">
                <a:tc>
                  <a:txBody>
                    <a:bodyPr/>
                    <a:lstStyle/>
                    <a:p>
                      <a:pPr algn="ctr"/>
                      <a:r>
                        <a:rPr lang="en-IN" b="1" dirty="0"/>
                        <a:t>4</a:t>
                      </a:r>
                    </a:p>
                  </a:txBody>
                  <a:tcPr/>
                </a:tc>
                <a:extLst>
                  <a:ext uri="{0D108BD9-81ED-4DB2-BD59-A6C34878D82A}">
                    <a16:rowId xmlns:a16="http://schemas.microsoft.com/office/drawing/2014/main" val="2824542426"/>
                  </a:ext>
                </a:extLst>
              </a:tr>
            </a:tbl>
          </a:graphicData>
        </a:graphic>
      </p:graphicFrame>
      <p:graphicFrame>
        <p:nvGraphicFramePr>
          <p:cNvPr id="47" name="Table 3">
            <a:extLst>
              <a:ext uri="{FF2B5EF4-FFF2-40B4-BE49-F238E27FC236}">
                <a16:creationId xmlns:a16="http://schemas.microsoft.com/office/drawing/2014/main" id="{0A2C3360-505C-BFB1-3F2A-6BAD65D90407}"/>
              </a:ext>
            </a:extLst>
          </p:cNvPr>
          <p:cNvGraphicFramePr>
            <a:graphicFrameLocks noGrp="1"/>
          </p:cNvGraphicFramePr>
          <p:nvPr>
            <p:extLst>
              <p:ext uri="{D42A27DB-BD31-4B8C-83A1-F6EECF244321}">
                <p14:modId xmlns:p14="http://schemas.microsoft.com/office/powerpoint/2010/main" val="1599056928"/>
              </p:ext>
            </p:extLst>
          </p:nvPr>
        </p:nvGraphicFramePr>
        <p:xfrm>
          <a:off x="9690672" y="1115784"/>
          <a:ext cx="542138" cy="1872344"/>
        </p:xfrm>
        <a:graphic>
          <a:graphicData uri="http://schemas.openxmlformats.org/drawingml/2006/table">
            <a:tbl>
              <a:tblPr firstRow="1" bandRow="1">
                <a:tableStyleId>{5940675A-B579-460E-94D1-54222C63F5DA}</a:tableStyleId>
              </a:tblPr>
              <a:tblGrid>
                <a:gridCol w="542138">
                  <a:extLst>
                    <a:ext uri="{9D8B030D-6E8A-4147-A177-3AD203B41FA5}">
                      <a16:colId xmlns:a16="http://schemas.microsoft.com/office/drawing/2014/main" val="3871611496"/>
                    </a:ext>
                  </a:extLst>
                </a:gridCol>
              </a:tblGrid>
              <a:tr h="468086">
                <a:tc>
                  <a:txBody>
                    <a:bodyPr/>
                    <a:lstStyle/>
                    <a:p>
                      <a:pPr algn="ctr"/>
                      <a:r>
                        <a:rPr lang="en-IN" b="1" dirty="0"/>
                        <a:t>5</a:t>
                      </a:r>
                    </a:p>
                  </a:txBody>
                  <a:tcPr/>
                </a:tc>
                <a:extLst>
                  <a:ext uri="{0D108BD9-81ED-4DB2-BD59-A6C34878D82A}">
                    <a16:rowId xmlns:a16="http://schemas.microsoft.com/office/drawing/2014/main" val="998241085"/>
                  </a:ext>
                </a:extLst>
              </a:tr>
              <a:tr h="468086">
                <a:tc>
                  <a:txBody>
                    <a:bodyPr/>
                    <a:lstStyle/>
                    <a:p>
                      <a:pPr algn="ctr"/>
                      <a:r>
                        <a:rPr lang="en-IN" b="1" dirty="0"/>
                        <a:t>1</a:t>
                      </a:r>
                    </a:p>
                  </a:txBody>
                  <a:tcPr/>
                </a:tc>
                <a:extLst>
                  <a:ext uri="{0D108BD9-81ED-4DB2-BD59-A6C34878D82A}">
                    <a16:rowId xmlns:a16="http://schemas.microsoft.com/office/drawing/2014/main" val="2953948409"/>
                  </a:ext>
                </a:extLst>
              </a:tr>
              <a:tr h="468086">
                <a:tc>
                  <a:txBody>
                    <a:bodyPr/>
                    <a:lstStyle/>
                    <a:p>
                      <a:pPr algn="ctr"/>
                      <a:r>
                        <a:rPr lang="en-IN" b="1" dirty="0"/>
                        <a:t>2</a:t>
                      </a:r>
                    </a:p>
                  </a:txBody>
                  <a:tcPr/>
                </a:tc>
                <a:extLst>
                  <a:ext uri="{0D108BD9-81ED-4DB2-BD59-A6C34878D82A}">
                    <a16:rowId xmlns:a16="http://schemas.microsoft.com/office/drawing/2014/main" val="2487396617"/>
                  </a:ext>
                </a:extLst>
              </a:tr>
              <a:tr h="468086">
                <a:tc>
                  <a:txBody>
                    <a:bodyPr/>
                    <a:lstStyle/>
                    <a:p>
                      <a:pPr algn="ctr"/>
                      <a:r>
                        <a:rPr lang="en-IN" b="1" dirty="0"/>
                        <a:t>3</a:t>
                      </a:r>
                    </a:p>
                  </a:txBody>
                  <a:tcPr/>
                </a:tc>
                <a:extLst>
                  <a:ext uri="{0D108BD9-81ED-4DB2-BD59-A6C34878D82A}">
                    <a16:rowId xmlns:a16="http://schemas.microsoft.com/office/drawing/2014/main" val="551006420"/>
                  </a:ext>
                </a:extLst>
              </a:tr>
            </a:tbl>
          </a:graphicData>
        </a:graphic>
      </p:graphicFrame>
      <p:graphicFrame>
        <p:nvGraphicFramePr>
          <p:cNvPr id="48" name="Table 3">
            <a:extLst>
              <a:ext uri="{FF2B5EF4-FFF2-40B4-BE49-F238E27FC236}">
                <a16:creationId xmlns:a16="http://schemas.microsoft.com/office/drawing/2014/main" id="{2470598C-E505-4FBF-0C64-5765B3E7F3B1}"/>
              </a:ext>
            </a:extLst>
          </p:cNvPr>
          <p:cNvGraphicFramePr>
            <a:graphicFrameLocks noGrp="1"/>
          </p:cNvGraphicFramePr>
          <p:nvPr>
            <p:extLst>
              <p:ext uri="{D42A27DB-BD31-4B8C-83A1-F6EECF244321}">
                <p14:modId xmlns:p14="http://schemas.microsoft.com/office/powerpoint/2010/main" val="470936678"/>
              </p:ext>
            </p:extLst>
          </p:nvPr>
        </p:nvGraphicFramePr>
        <p:xfrm>
          <a:off x="10453418" y="1115784"/>
          <a:ext cx="542138" cy="1872344"/>
        </p:xfrm>
        <a:graphic>
          <a:graphicData uri="http://schemas.openxmlformats.org/drawingml/2006/table">
            <a:tbl>
              <a:tblPr firstRow="1" bandRow="1">
                <a:tableStyleId>{5940675A-B579-460E-94D1-54222C63F5DA}</a:tableStyleId>
              </a:tblPr>
              <a:tblGrid>
                <a:gridCol w="542138">
                  <a:extLst>
                    <a:ext uri="{9D8B030D-6E8A-4147-A177-3AD203B41FA5}">
                      <a16:colId xmlns:a16="http://schemas.microsoft.com/office/drawing/2014/main" val="3871611496"/>
                    </a:ext>
                  </a:extLst>
                </a:gridCol>
              </a:tblGrid>
              <a:tr h="468086">
                <a:tc>
                  <a:txBody>
                    <a:bodyPr/>
                    <a:lstStyle/>
                    <a:p>
                      <a:pPr algn="ctr"/>
                      <a:r>
                        <a:rPr lang="en-IN" b="1" dirty="0"/>
                        <a:t>4</a:t>
                      </a:r>
                    </a:p>
                  </a:txBody>
                  <a:tcPr/>
                </a:tc>
                <a:extLst>
                  <a:ext uri="{0D108BD9-81ED-4DB2-BD59-A6C34878D82A}">
                    <a16:rowId xmlns:a16="http://schemas.microsoft.com/office/drawing/2014/main" val="998241085"/>
                  </a:ext>
                </a:extLst>
              </a:tr>
              <a:tr h="468086">
                <a:tc>
                  <a:txBody>
                    <a:bodyPr/>
                    <a:lstStyle/>
                    <a:p>
                      <a:pPr algn="ctr"/>
                      <a:r>
                        <a:rPr lang="en-IN" b="1" dirty="0"/>
                        <a:t>1</a:t>
                      </a:r>
                    </a:p>
                  </a:txBody>
                  <a:tcPr/>
                </a:tc>
                <a:extLst>
                  <a:ext uri="{0D108BD9-81ED-4DB2-BD59-A6C34878D82A}">
                    <a16:rowId xmlns:a16="http://schemas.microsoft.com/office/drawing/2014/main" val="2953948409"/>
                  </a:ext>
                </a:extLst>
              </a:tr>
              <a:tr h="468086">
                <a:tc>
                  <a:txBody>
                    <a:bodyPr/>
                    <a:lstStyle/>
                    <a:p>
                      <a:pPr algn="ctr"/>
                      <a:r>
                        <a:rPr lang="en-IN" b="1" dirty="0"/>
                        <a:t>2</a:t>
                      </a:r>
                    </a:p>
                  </a:txBody>
                  <a:tcPr/>
                </a:tc>
                <a:extLst>
                  <a:ext uri="{0D108BD9-81ED-4DB2-BD59-A6C34878D82A}">
                    <a16:rowId xmlns:a16="http://schemas.microsoft.com/office/drawing/2014/main" val="2487396617"/>
                  </a:ext>
                </a:extLst>
              </a:tr>
              <a:tr h="468086">
                <a:tc>
                  <a:txBody>
                    <a:bodyPr/>
                    <a:lstStyle/>
                    <a:p>
                      <a:pPr algn="ctr"/>
                      <a:r>
                        <a:rPr lang="en-IN" b="1" dirty="0"/>
                        <a:t>3</a:t>
                      </a:r>
                    </a:p>
                  </a:txBody>
                  <a:tcPr/>
                </a:tc>
                <a:extLst>
                  <a:ext uri="{0D108BD9-81ED-4DB2-BD59-A6C34878D82A}">
                    <a16:rowId xmlns:a16="http://schemas.microsoft.com/office/drawing/2014/main" val="3959482260"/>
                  </a:ext>
                </a:extLst>
              </a:tr>
            </a:tbl>
          </a:graphicData>
        </a:graphic>
      </p:graphicFrame>
      <p:sp>
        <p:nvSpPr>
          <p:cNvPr id="49" name="TextBox 48">
            <a:extLst>
              <a:ext uri="{FF2B5EF4-FFF2-40B4-BE49-F238E27FC236}">
                <a16:creationId xmlns:a16="http://schemas.microsoft.com/office/drawing/2014/main" id="{1EA94EB9-CA4C-4809-6B72-46118D8E74D9}"/>
              </a:ext>
            </a:extLst>
          </p:cNvPr>
          <p:cNvSpPr txBox="1"/>
          <p:nvPr/>
        </p:nvSpPr>
        <p:spPr>
          <a:xfrm>
            <a:off x="8866204" y="685799"/>
            <a:ext cx="556964" cy="370114"/>
          </a:xfrm>
          <a:prstGeom prst="rect">
            <a:avLst/>
          </a:prstGeom>
          <a:noFill/>
        </p:spPr>
        <p:txBody>
          <a:bodyPr wrap="square" rtlCol="0">
            <a:spAutoFit/>
          </a:bodyPr>
          <a:lstStyle/>
          <a:p>
            <a:pPr algn="ctr"/>
            <a:r>
              <a:rPr lang="en-IN" b="1" dirty="0">
                <a:solidFill>
                  <a:srgbClr val="FF0000"/>
                </a:solidFill>
              </a:rPr>
              <a:t>2</a:t>
            </a:r>
          </a:p>
        </p:txBody>
      </p:sp>
      <p:sp>
        <p:nvSpPr>
          <p:cNvPr id="50" name="TextBox 49">
            <a:extLst>
              <a:ext uri="{FF2B5EF4-FFF2-40B4-BE49-F238E27FC236}">
                <a16:creationId xmlns:a16="http://schemas.microsoft.com/office/drawing/2014/main" id="{72F64B50-092D-1CEC-FB54-B160F9DA1FB0}"/>
              </a:ext>
            </a:extLst>
          </p:cNvPr>
          <p:cNvSpPr txBox="1"/>
          <p:nvPr/>
        </p:nvSpPr>
        <p:spPr>
          <a:xfrm>
            <a:off x="9692803" y="674910"/>
            <a:ext cx="556964" cy="370114"/>
          </a:xfrm>
          <a:prstGeom prst="rect">
            <a:avLst/>
          </a:prstGeom>
          <a:noFill/>
        </p:spPr>
        <p:txBody>
          <a:bodyPr wrap="square" rtlCol="0">
            <a:spAutoFit/>
          </a:bodyPr>
          <a:lstStyle/>
          <a:p>
            <a:pPr algn="ctr"/>
            <a:r>
              <a:rPr lang="en-IN" b="1" dirty="0">
                <a:solidFill>
                  <a:srgbClr val="FF0000"/>
                </a:solidFill>
              </a:rPr>
              <a:t>3</a:t>
            </a:r>
          </a:p>
        </p:txBody>
      </p:sp>
      <p:sp>
        <p:nvSpPr>
          <p:cNvPr id="51" name="TextBox 50">
            <a:extLst>
              <a:ext uri="{FF2B5EF4-FFF2-40B4-BE49-F238E27FC236}">
                <a16:creationId xmlns:a16="http://schemas.microsoft.com/office/drawing/2014/main" id="{2139BDEB-46D0-5732-CDE1-5F0DBA21C579}"/>
              </a:ext>
            </a:extLst>
          </p:cNvPr>
          <p:cNvSpPr txBox="1"/>
          <p:nvPr/>
        </p:nvSpPr>
        <p:spPr>
          <a:xfrm>
            <a:off x="10397522" y="707562"/>
            <a:ext cx="556964" cy="370114"/>
          </a:xfrm>
          <a:prstGeom prst="rect">
            <a:avLst/>
          </a:prstGeom>
          <a:noFill/>
        </p:spPr>
        <p:txBody>
          <a:bodyPr wrap="square" rtlCol="0">
            <a:spAutoFit/>
          </a:bodyPr>
          <a:lstStyle/>
          <a:p>
            <a:pPr algn="ctr"/>
            <a:r>
              <a:rPr lang="en-IN" b="1" dirty="0">
                <a:solidFill>
                  <a:srgbClr val="FF0000"/>
                </a:solidFill>
              </a:rPr>
              <a:t>4</a:t>
            </a:r>
          </a:p>
        </p:txBody>
      </p:sp>
      <p:sp>
        <p:nvSpPr>
          <p:cNvPr id="52" name="TextBox 51">
            <a:extLst>
              <a:ext uri="{FF2B5EF4-FFF2-40B4-BE49-F238E27FC236}">
                <a16:creationId xmlns:a16="http://schemas.microsoft.com/office/drawing/2014/main" id="{301AAAB8-31A6-AB89-71AD-AF73BFCAE1D8}"/>
              </a:ext>
            </a:extLst>
          </p:cNvPr>
          <p:cNvSpPr txBox="1"/>
          <p:nvPr/>
        </p:nvSpPr>
        <p:spPr>
          <a:xfrm>
            <a:off x="11208346" y="729337"/>
            <a:ext cx="556964" cy="370114"/>
          </a:xfrm>
          <a:prstGeom prst="rect">
            <a:avLst/>
          </a:prstGeom>
          <a:noFill/>
        </p:spPr>
        <p:txBody>
          <a:bodyPr wrap="square" rtlCol="0">
            <a:spAutoFit/>
          </a:bodyPr>
          <a:lstStyle/>
          <a:p>
            <a:pPr algn="ctr"/>
            <a:r>
              <a:rPr lang="en-IN" b="1" dirty="0">
                <a:solidFill>
                  <a:srgbClr val="FF0000"/>
                </a:solidFill>
              </a:rPr>
              <a:t>5</a:t>
            </a:r>
          </a:p>
        </p:txBody>
      </p:sp>
      <p:sp>
        <p:nvSpPr>
          <p:cNvPr id="53" name="TextBox 52">
            <a:extLst>
              <a:ext uri="{FF2B5EF4-FFF2-40B4-BE49-F238E27FC236}">
                <a16:creationId xmlns:a16="http://schemas.microsoft.com/office/drawing/2014/main" id="{75F6381F-1389-8D5E-D85C-3C23A81193E0}"/>
              </a:ext>
            </a:extLst>
          </p:cNvPr>
          <p:cNvSpPr txBox="1"/>
          <p:nvPr/>
        </p:nvSpPr>
        <p:spPr>
          <a:xfrm>
            <a:off x="2891076" y="3174038"/>
            <a:ext cx="556964" cy="370114"/>
          </a:xfrm>
          <a:prstGeom prst="rect">
            <a:avLst/>
          </a:prstGeom>
          <a:noFill/>
        </p:spPr>
        <p:txBody>
          <a:bodyPr wrap="square" rtlCol="0">
            <a:spAutoFit/>
          </a:bodyPr>
          <a:lstStyle/>
          <a:p>
            <a:pPr algn="ctr"/>
            <a:r>
              <a:rPr lang="en-IN" b="1" dirty="0">
                <a:solidFill>
                  <a:srgbClr val="FF0000"/>
                </a:solidFill>
              </a:rPr>
              <a:t>F</a:t>
            </a:r>
          </a:p>
        </p:txBody>
      </p:sp>
      <p:sp>
        <p:nvSpPr>
          <p:cNvPr id="54" name="TextBox 53">
            <a:extLst>
              <a:ext uri="{FF2B5EF4-FFF2-40B4-BE49-F238E27FC236}">
                <a16:creationId xmlns:a16="http://schemas.microsoft.com/office/drawing/2014/main" id="{6046DA1B-4148-5AFA-EEF3-9ED44CE239EC}"/>
              </a:ext>
            </a:extLst>
          </p:cNvPr>
          <p:cNvSpPr txBox="1"/>
          <p:nvPr/>
        </p:nvSpPr>
        <p:spPr>
          <a:xfrm>
            <a:off x="3590451" y="3174038"/>
            <a:ext cx="556964" cy="370114"/>
          </a:xfrm>
          <a:prstGeom prst="rect">
            <a:avLst/>
          </a:prstGeom>
          <a:noFill/>
        </p:spPr>
        <p:txBody>
          <a:bodyPr wrap="square" rtlCol="0">
            <a:spAutoFit/>
          </a:bodyPr>
          <a:lstStyle/>
          <a:p>
            <a:pPr algn="ctr"/>
            <a:r>
              <a:rPr lang="en-IN" b="1" dirty="0">
                <a:solidFill>
                  <a:srgbClr val="FF0000"/>
                </a:solidFill>
              </a:rPr>
              <a:t>F</a:t>
            </a:r>
          </a:p>
        </p:txBody>
      </p:sp>
      <p:sp>
        <p:nvSpPr>
          <p:cNvPr id="55" name="TextBox 54">
            <a:extLst>
              <a:ext uri="{FF2B5EF4-FFF2-40B4-BE49-F238E27FC236}">
                <a16:creationId xmlns:a16="http://schemas.microsoft.com/office/drawing/2014/main" id="{A4B236A9-F4EC-25FD-D42E-742F6B050276}"/>
              </a:ext>
            </a:extLst>
          </p:cNvPr>
          <p:cNvSpPr txBox="1"/>
          <p:nvPr/>
        </p:nvSpPr>
        <p:spPr>
          <a:xfrm>
            <a:off x="4267533" y="3174038"/>
            <a:ext cx="556964" cy="370114"/>
          </a:xfrm>
          <a:prstGeom prst="rect">
            <a:avLst/>
          </a:prstGeom>
          <a:noFill/>
        </p:spPr>
        <p:txBody>
          <a:bodyPr wrap="square" rtlCol="0">
            <a:spAutoFit/>
          </a:bodyPr>
          <a:lstStyle/>
          <a:p>
            <a:pPr algn="ctr"/>
            <a:r>
              <a:rPr lang="en-IN" b="1" dirty="0">
                <a:solidFill>
                  <a:srgbClr val="FF0000"/>
                </a:solidFill>
              </a:rPr>
              <a:t>F</a:t>
            </a:r>
          </a:p>
        </p:txBody>
      </p:sp>
      <p:sp>
        <p:nvSpPr>
          <p:cNvPr id="56" name="TextBox 55">
            <a:extLst>
              <a:ext uri="{FF2B5EF4-FFF2-40B4-BE49-F238E27FC236}">
                <a16:creationId xmlns:a16="http://schemas.microsoft.com/office/drawing/2014/main" id="{DB9AC1CC-9A5E-D7BE-4378-14F891D170EE}"/>
              </a:ext>
            </a:extLst>
          </p:cNvPr>
          <p:cNvSpPr txBox="1"/>
          <p:nvPr/>
        </p:nvSpPr>
        <p:spPr>
          <a:xfrm>
            <a:off x="4947478" y="3174038"/>
            <a:ext cx="556964" cy="370114"/>
          </a:xfrm>
          <a:prstGeom prst="rect">
            <a:avLst/>
          </a:prstGeom>
          <a:noFill/>
        </p:spPr>
        <p:txBody>
          <a:bodyPr wrap="square" rtlCol="0">
            <a:spAutoFit/>
          </a:bodyPr>
          <a:lstStyle/>
          <a:p>
            <a:pPr algn="ctr"/>
            <a:r>
              <a:rPr lang="en-IN" b="1" dirty="0">
                <a:solidFill>
                  <a:srgbClr val="FF0000"/>
                </a:solidFill>
              </a:rPr>
              <a:t>F</a:t>
            </a:r>
          </a:p>
        </p:txBody>
      </p:sp>
      <p:sp>
        <p:nvSpPr>
          <p:cNvPr id="59" name="TextBox 58">
            <a:extLst>
              <a:ext uri="{FF2B5EF4-FFF2-40B4-BE49-F238E27FC236}">
                <a16:creationId xmlns:a16="http://schemas.microsoft.com/office/drawing/2014/main" id="{EB10A9C2-9B9C-3F3B-8208-B46B8C96A62D}"/>
              </a:ext>
            </a:extLst>
          </p:cNvPr>
          <p:cNvSpPr txBox="1"/>
          <p:nvPr/>
        </p:nvSpPr>
        <p:spPr>
          <a:xfrm>
            <a:off x="7266126" y="3243943"/>
            <a:ext cx="556964" cy="370114"/>
          </a:xfrm>
          <a:prstGeom prst="rect">
            <a:avLst/>
          </a:prstGeom>
          <a:noFill/>
        </p:spPr>
        <p:txBody>
          <a:bodyPr wrap="square" rtlCol="0">
            <a:spAutoFit/>
          </a:bodyPr>
          <a:lstStyle/>
          <a:p>
            <a:pPr algn="ctr"/>
            <a:r>
              <a:rPr lang="en-IN" b="1" dirty="0">
                <a:solidFill>
                  <a:srgbClr val="FF0000"/>
                </a:solidFill>
              </a:rPr>
              <a:t>F</a:t>
            </a:r>
          </a:p>
        </p:txBody>
      </p:sp>
      <p:sp>
        <p:nvSpPr>
          <p:cNvPr id="60" name="TextBox 59">
            <a:extLst>
              <a:ext uri="{FF2B5EF4-FFF2-40B4-BE49-F238E27FC236}">
                <a16:creationId xmlns:a16="http://schemas.microsoft.com/office/drawing/2014/main" id="{12F014C0-CE06-511D-D9FF-259594DF6B3E}"/>
              </a:ext>
            </a:extLst>
          </p:cNvPr>
          <p:cNvSpPr txBox="1"/>
          <p:nvPr/>
        </p:nvSpPr>
        <p:spPr>
          <a:xfrm>
            <a:off x="9719427" y="3243943"/>
            <a:ext cx="556964" cy="370114"/>
          </a:xfrm>
          <a:prstGeom prst="rect">
            <a:avLst/>
          </a:prstGeom>
          <a:noFill/>
        </p:spPr>
        <p:txBody>
          <a:bodyPr wrap="square" rtlCol="0">
            <a:spAutoFit/>
          </a:bodyPr>
          <a:lstStyle/>
          <a:p>
            <a:pPr algn="ctr"/>
            <a:r>
              <a:rPr lang="en-IN" b="1" dirty="0">
                <a:solidFill>
                  <a:srgbClr val="FF0000"/>
                </a:solidFill>
              </a:rPr>
              <a:t>F</a:t>
            </a:r>
          </a:p>
        </p:txBody>
      </p:sp>
      <p:sp>
        <p:nvSpPr>
          <p:cNvPr id="61" name="TextBox 60">
            <a:extLst>
              <a:ext uri="{FF2B5EF4-FFF2-40B4-BE49-F238E27FC236}">
                <a16:creationId xmlns:a16="http://schemas.microsoft.com/office/drawing/2014/main" id="{63C45172-3D89-5A98-EEF5-97B7EF16A239}"/>
              </a:ext>
            </a:extLst>
          </p:cNvPr>
          <p:cNvSpPr txBox="1"/>
          <p:nvPr/>
        </p:nvSpPr>
        <p:spPr>
          <a:xfrm>
            <a:off x="10488915" y="3243943"/>
            <a:ext cx="556964" cy="370114"/>
          </a:xfrm>
          <a:prstGeom prst="rect">
            <a:avLst/>
          </a:prstGeom>
          <a:noFill/>
        </p:spPr>
        <p:txBody>
          <a:bodyPr wrap="square" rtlCol="0">
            <a:spAutoFit/>
          </a:bodyPr>
          <a:lstStyle/>
          <a:p>
            <a:pPr algn="ctr"/>
            <a:r>
              <a:rPr lang="en-IN" b="1" dirty="0">
                <a:solidFill>
                  <a:srgbClr val="FF0000"/>
                </a:solidFill>
              </a:rPr>
              <a:t>F</a:t>
            </a:r>
          </a:p>
        </p:txBody>
      </p:sp>
      <p:sp>
        <p:nvSpPr>
          <p:cNvPr id="66" name="TextBox 65">
            <a:extLst>
              <a:ext uri="{FF2B5EF4-FFF2-40B4-BE49-F238E27FC236}">
                <a16:creationId xmlns:a16="http://schemas.microsoft.com/office/drawing/2014/main" id="{137EE82E-699C-20CA-4AF4-23532444A55B}"/>
              </a:ext>
            </a:extLst>
          </p:cNvPr>
          <p:cNvSpPr txBox="1"/>
          <p:nvPr/>
        </p:nvSpPr>
        <p:spPr>
          <a:xfrm>
            <a:off x="8104539" y="3243943"/>
            <a:ext cx="556964" cy="370114"/>
          </a:xfrm>
          <a:prstGeom prst="rect">
            <a:avLst/>
          </a:prstGeom>
          <a:noFill/>
        </p:spPr>
        <p:txBody>
          <a:bodyPr wrap="square" rtlCol="0">
            <a:spAutoFit/>
          </a:bodyPr>
          <a:lstStyle/>
          <a:p>
            <a:pPr algn="ctr"/>
            <a:r>
              <a:rPr lang="en-IN" b="1" dirty="0">
                <a:solidFill>
                  <a:srgbClr val="FF0000"/>
                </a:solidFill>
              </a:rPr>
              <a:t>F</a:t>
            </a:r>
          </a:p>
        </p:txBody>
      </p:sp>
      <p:sp>
        <p:nvSpPr>
          <p:cNvPr id="67" name="TextBox 66">
            <a:extLst>
              <a:ext uri="{FF2B5EF4-FFF2-40B4-BE49-F238E27FC236}">
                <a16:creationId xmlns:a16="http://schemas.microsoft.com/office/drawing/2014/main" id="{733CC809-8910-B927-3F3B-FEF81784E2C3}"/>
              </a:ext>
            </a:extLst>
          </p:cNvPr>
          <p:cNvSpPr txBox="1"/>
          <p:nvPr/>
        </p:nvSpPr>
        <p:spPr>
          <a:xfrm>
            <a:off x="8942952" y="3243943"/>
            <a:ext cx="556964" cy="370114"/>
          </a:xfrm>
          <a:prstGeom prst="rect">
            <a:avLst/>
          </a:prstGeom>
          <a:noFill/>
        </p:spPr>
        <p:txBody>
          <a:bodyPr wrap="square" rtlCol="0">
            <a:spAutoFit/>
          </a:bodyPr>
          <a:lstStyle/>
          <a:p>
            <a:pPr algn="ctr"/>
            <a:r>
              <a:rPr lang="en-IN" b="1" dirty="0">
                <a:solidFill>
                  <a:srgbClr val="FF0000"/>
                </a:solidFill>
              </a:rPr>
              <a:t>F</a:t>
            </a:r>
          </a:p>
        </p:txBody>
      </p:sp>
      <p:sp>
        <p:nvSpPr>
          <p:cNvPr id="68" name="TextBox 67">
            <a:extLst>
              <a:ext uri="{FF2B5EF4-FFF2-40B4-BE49-F238E27FC236}">
                <a16:creationId xmlns:a16="http://schemas.microsoft.com/office/drawing/2014/main" id="{116EBB90-CF22-DCCB-DCE0-C4334757BE3C}"/>
              </a:ext>
            </a:extLst>
          </p:cNvPr>
          <p:cNvSpPr txBox="1"/>
          <p:nvPr/>
        </p:nvSpPr>
        <p:spPr>
          <a:xfrm>
            <a:off x="11327424" y="3266564"/>
            <a:ext cx="556964" cy="370114"/>
          </a:xfrm>
          <a:prstGeom prst="rect">
            <a:avLst/>
          </a:prstGeom>
          <a:noFill/>
        </p:spPr>
        <p:txBody>
          <a:bodyPr wrap="square" rtlCol="0">
            <a:spAutoFit/>
          </a:bodyPr>
          <a:lstStyle/>
          <a:p>
            <a:pPr algn="ctr"/>
            <a:r>
              <a:rPr lang="en-IN" b="1" dirty="0">
                <a:solidFill>
                  <a:srgbClr val="FF0000"/>
                </a:solidFill>
              </a:rPr>
              <a:t>F</a:t>
            </a:r>
          </a:p>
        </p:txBody>
      </p:sp>
      <p:sp>
        <p:nvSpPr>
          <p:cNvPr id="70" name="TextBox 69">
            <a:extLst>
              <a:ext uri="{FF2B5EF4-FFF2-40B4-BE49-F238E27FC236}">
                <a16:creationId xmlns:a16="http://schemas.microsoft.com/office/drawing/2014/main" id="{C568BE6B-2A07-97CC-7CE8-A9DFD70B5902}"/>
              </a:ext>
            </a:extLst>
          </p:cNvPr>
          <p:cNvSpPr txBox="1"/>
          <p:nvPr/>
        </p:nvSpPr>
        <p:spPr>
          <a:xfrm>
            <a:off x="2917700" y="642257"/>
            <a:ext cx="556964" cy="370114"/>
          </a:xfrm>
          <a:prstGeom prst="rect">
            <a:avLst/>
          </a:prstGeom>
          <a:noFill/>
        </p:spPr>
        <p:txBody>
          <a:bodyPr wrap="square" rtlCol="0">
            <a:spAutoFit/>
          </a:bodyPr>
          <a:lstStyle/>
          <a:p>
            <a:pPr algn="ctr"/>
            <a:r>
              <a:rPr lang="en-IN" b="1" dirty="0">
                <a:solidFill>
                  <a:srgbClr val="FF0000"/>
                </a:solidFill>
              </a:rPr>
              <a:t>1</a:t>
            </a:r>
          </a:p>
        </p:txBody>
      </p:sp>
      <p:sp>
        <p:nvSpPr>
          <p:cNvPr id="71" name="TextBox 70">
            <a:extLst>
              <a:ext uri="{FF2B5EF4-FFF2-40B4-BE49-F238E27FC236}">
                <a16:creationId xmlns:a16="http://schemas.microsoft.com/office/drawing/2014/main" id="{0F8DD032-BFF6-59CA-C27B-FD93134D33FC}"/>
              </a:ext>
            </a:extLst>
          </p:cNvPr>
          <p:cNvSpPr txBox="1"/>
          <p:nvPr/>
        </p:nvSpPr>
        <p:spPr>
          <a:xfrm>
            <a:off x="3538144" y="674913"/>
            <a:ext cx="556964" cy="370114"/>
          </a:xfrm>
          <a:prstGeom prst="rect">
            <a:avLst/>
          </a:prstGeom>
          <a:noFill/>
        </p:spPr>
        <p:txBody>
          <a:bodyPr wrap="square" rtlCol="0">
            <a:spAutoFit/>
          </a:bodyPr>
          <a:lstStyle/>
          <a:p>
            <a:pPr algn="ctr"/>
            <a:r>
              <a:rPr lang="en-IN" b="1" dirty="0">
                <a:solidFill>
                  <a:srgbClr val="FF0000"/>
                </a:solidFill>
              </a:rPr>
              <a:t>2</a:t>
            </a:r>
          </a:p>
        </p:txBody>
      </p:sp>
      <p:sp>
        <p:nvSpPr>
          <p:cNvPr id="72" name="TextBox 71">
            <a:extLst>
              <a:ext uri="{FF2B5EF4-FFF2-40B4-BE49-F238E27FC236}">
                <a16:creationId xmlns:a16="http://schemas.microsoft.com/office/drawing/2014/main" id="{6141E4AA-F410-5949-4E98-279C9E90E9C4}"/>
              </a:ext>
            </a:extLst>
          </p:cNvPr>
          <p:cNvSpPr txBox="1"/>
          <p:nvPr/>
        </p:nvSpPr>
        <p:spPr>
          <a:xfrm>
            <a:off x="4294157" y="642257"/>
            <a:ext cx="556964" cy="370114"/>
          </a:xfrm>
          <a:prstGeom prst="rect">
            <a:avLst/>
          </a:prstGeom>
          <a:noFill/>
        </p:spPr>
        <p:txBody>
          <a:bodyPr wrap="square" rtlCol="0">
            <a:spAutoFit/>
          </a:bodyPr>
          <a:lstStyle/>
          <a:p>
            <a:pPr algn="ctr"/>
            <a:r>
              <a:rPr lang="en-IN" b="1" dirty="0">
                <a:solidFill>
                  <a:srgbClr val="FF0000"/>
                </a:solidFill>
              </a:rPr>
              <a:t>3</a:t>
            </a:r>
          </a:p>
        </p:txBody>
      </p:sp>
      <p:sp>
        <p:nvSpPr>
          <p:cNvPr id="73" name="TextBox 72">
            <a:extLst>
              <a:ext uri="{FF2B5EF4-FFF2-40B4-BE49-F238E27FC236}">
                <a16:creationId xmlns:a16="http://schemas.microsoft.com/office/drawing/2014/main" id="{057C828F-0D2D-6B2D-3AFA-AB8AF92B5754}"/>
              </a:ext>
            </a:extLst>
          </p:cNvPr>
          <p:cNvSpPr txBox="1"/>
          <p:nvPr/>
        </p:nvSpPr>
        <p:spPr>
          <a:xfrm>
            <a:off x="5147916" y="642257"/>
            <a:ext cx="556964" cy="370114"/>
          </a:xfrm>
          <a:prstGeom prst="rect">
            <a:avLst/>
          </a:prstGeom>
          <a:noFill/>
        </p:spPr>
        <p:txBody>
          <a:bodyPr wrap="square" rtlCol="0">
            <a:spAutoFit/>
          </a:bodyPr>
          <a:lstStyle/>
          <a:p>
            <a:pPr algn="ctr"/>
            <a:r>
              <a:rPr lang="en-IN" b="1" dirty="0">
                <a:solidFill>
                  <a:srgbClr val="FF0000"/>
                </a:solidFill>
              </a:rPr>
              <a:t>4</a:t>
            </a:r>
          </a:p>
        </p:txBody>
      </p:sp>
      <p:sp>
        <p:nvSpPr>
          <p:cNvPr id="74" name="TextBox 73">
            <a:extLst>
              <a:ext uri="{FF2B5EF4-FFF2-40B4-BE49-F238E27FC236}">
                <a16:creationId xmlns:a16="http://schemas.microsoft.com/office/drawing/2014/main" id="{3977CA6A-37DE-BF17-951D-276DE7930C89}"/>
              </a:ext>
            </a:extLst>
          </p:cNvPr>
          <p:cNvSpPr txBox="1"/>
          <p:nvPr/>
        </p:nvSpPr>
        <p:spPr>
          <a:xfrm>
            <a:off x="5893587" y="674913"/>
            <a:ext cx="556964" cy="370114"/>
          </a:xfrm>
          <a:prstGeom prst="rect">
            <a:avLst/>
          </a:prstGeom>
          <a:noFill/>
        </p:spPr>
        <p:txBody>
          <a:bodyPr wrap="square" rtlCol="0">
            <a:spAutoFit/>
          </a:bodyPr>
          <a:lstStyle/>
          <a:p>
            <a:pPr algn="ctr"/>
            <a:r>
              <a:rPr lang="en-IN" b="1" dirty="0">
                <a:solidFill>
                  <a:srgbClr val="FF0000"/>
                </a:solidFill>
              </a:rPr>
              <a:t>1</a:t>
            </a:r>
          </a:p>
        </p:txBody>
      </p:sp>
      <p:sp>
        <p:nvSpPr>
          <p:cNvPr id="75" name="TextBox 74">
            <a:extLst>
              <a:ext uri="{FF2B5EF4-FFF2-40B4-BE49-F238E27FC236}">
                <a16:creationId xmlns:a16="http://schemas.microsoft.com/office/drawing/2014/main" id="{F58D582E-4390-E227-0948-904AECCEA680}"/>
              </a:ext>
            </a:extLst>
          </p:cNvPr>
          <p:cNvSpPr txBox="1"/>
          <p:nvPr/>
        </p:nvSpPr>
        <p:spPr>
          <a:xfrm>
            <a:off x="6607204" y="639525"/>
            <a:ext cx="556964" cy="370114"/>
          </a:xfrm>
          <a:prstGeom prst="rect">
            <a:avLst/>
          </a:prstGeom>
          <a:noFill/>
        </p:spPr>
        <p:txBody>
          <a:bodyPr wrap="square" rtlCol="0">
            <a:spAutoFit/>
          </a:bodyPr>
          <a:lstStyle/>
          <a:p>
            <a:pPr algn="ctr"/>
            <a:r>
              <a:rPr lang="en-IN" b="1" dirty="0">
                <a:solidFill>
                  <a:srgbClr val="FF0000"/>
                </a:solidFill>
              </a:rPr>
              <a:t>2</a:t>
            </a:r>
          </a:p>
        </p:txBody>
      </p:sp>
      <p:sp>
        <p:nvSpPr>
          <p:cNvPr id="76" name="TextBox 75">
            <a:extLst>
              <a:ext uri="{FF2B5EF4-FFF2-40B4-BE49-F238E27FC236}">
                <a16:creationId xmlns:a16="http://schemas.microsoft.com/office/drawing/2014/main" id="{C6D6C18E-99F5-9A30-10AA-4F6DCFA944F9}"/>
              </a:ext>
            </a:extLst>
          </p:cNvPr>
          <p:cNvSpPr txBox="1"/>
          <p:nvPr/>
        </p:nvSpPr>
        <p:spPr>
          <a:xfrm>
            <a:off x="7292750" y="674912"/>
            <a:ext cx="556964" cy="370114"/>
          </a:xfrm>
          <a:prstGeom prst="rect">
            <a:avLst/>
          </a:prstGeom>
          <a:noFill/>
        </p:spPr>
        <p:txBody>
          <a:bodyPr wrap="square" rtlCol="0">
            <a:spAutoFit/>
          </a:bodyPr>
          <a:lstStyle/>
          <a:p>
            <a:pPr algn="ctr"/>
            <a:r>
              <a:rPr lang="en-IN" b="1" dirty="0">
                <a:solidFill>
                  <a:srgbClr val="FF0000"/>
                </a:solidFill>
              </a:rPr>
              <a:t>5</a:t>
            </a:r>
          </a:p>
        </p:txBody>
      </p:sp>
      <p:sp>
        <p:nvSpPr>
          <p:cNvPr id="77" name="TextBox 76">
            <a:extLst>
              <a:ext uri="{FF2B5EF4-FFF2-40B4-BE49-F238E27FC236}">
                <a16:creationId xmlns:a16="http://schemas.microsoft.com/office/drawing/2014/main" id="{5137594F-C030-5ECB-DC22-EDD519CB3F8D}"/>
              </a:ext>
            </a:extLst>
          </p:cNvPr>
          <p:cNvSpPr txBox="1"/>
          <p:nvPr/>
        </p:nvSpPr>
        <p:spPr>
          <a:xfrm>
            <a:off x="8039825" y="674912"/>
            <a:ext cx="556964" cy="370114"/>
          </a:xfrm>
          <a:prstGeom prst="rect">
            <a:avLst/>
          </a:prstGeom>
          <a:noFill/>
        </p:spPr>
        <p:txBody>
          <a:bodyPr wrap="square" rtlCol="0">
            <a:spAutoFit/>
          </a:bodyPr>
          <a:lstStyle/>
          <a:p>
            <a:pPr algn="ctr"/>
            <a:r>
              <a:rPr lang="en-IN" b="1" dirty="0">
                <a:solidFill>
                  <a:srgbClr val="FF0000"/>
                </a:solidFill>
              </a:rPr>
              <a:t>1</a:t>
            </a:r>
          </a:p>
        </p:txBody>
      </p:sp>
      <p:sp>
        <p:nvSpPr>
          <p:cNvPr id="78" name="TextBox 77">
            <a:extLst>
              <a:ext uri="{FF2B5EF4-FFF2-40B4-BE49-F238E27FC236}">
                <a16:creationId xmlns:a16="http://schemas.microsoft.com/office/drawing/2014/main" id="{737EA16B-09C4-74E6-0C74-668D8D37FE9F}"/>
              </a:ext>
            </a:extLst>
          </p:cNvPr>
          <p:cNvSpPr txBox="1"/>
          <p:nvPr/>
        </p:nvSpPr>
        <p:spPr>
          <a:xfrm>
            <a:off x="8892828" y="685799"/>
            <a:ext cx="556964" cy="370114"/>
          </a:xfrm>
          <a:prstGeom prst="rect">
            <a:avLst/>
          </a:prstGeom>
          <a:noFill/>
        </p:spPr>
        <p:txBody>
          <a:bodyPr wrap="square" rtlCol="0">
            <a:spAutoFit/>
          </a:bodyPr>
          <a:lstStyle/>
          <a:p>
            <a:pPr algn="ctr"/>
            <a:r>
              <a:rPr lang="en-IN" b="1" dirty="0">
                <a:solidFill>
                  <a:srgbClr val="FF0000"/>
                </a:solidFill>
              </a:rPr>
              <a:t>2</a:t>
            </a:r>
          </a:p>
        </p:txBody>
      </p:sp>
      <p:sp>
        <p:nvSpPr>
          <p:cNvPr id="79" name="TextBox 78">
            <a:extLst>
              <a:ext uri="{FF2B5EF4-FFF2-40B4-BE49-F238E27FC236}">
                <a16:creationId xmlns:a16="http://schemas.microsoft.com/office/drawing/2014/main" id="{7DCB71CD-110B-9696-68FA-B4DFC7AADBFC}"/>
              </a:ext>
            </a:extLst>
          </p:cNvPr>
          <p:cNvSpPr txBox="1"/>
          <p:nvPr/>
        </p:nvSpPr>
        <p:spPr>
          <a:xfrm>
            <a:off x="9719427" y="674910"/>
            <a:ext cx="556964" cy="370114"/>
          </a:xfrm>
          <a:prstGeom prst="rect">
            <a:avLst/>
          </a:prstGeom>
          <a:noFill/>
        </p:spPr>
        <p:txBody>
          <a:bodyPr wrap="square" rtlCol="0">
            <a:spAutoFit/>
          </a:bodyPr>
          <a:lstStyle/>
          <a:p>
            <a:pPr algn="ctr"/>
            <a:r>
              <a:rPr lang="en-IN" b="1" dirty="0">
                <a:solidFill>
                  <a:srgbClr val="FF0000"/>
                </a:solidFill>
              </a:rPr>
              <a:t>3</a:t>
            </a:r>
          </a:p>
        </p:txBody>
      </p:sp>
      <p:sp>
        <p:nvSpPr>
          <p:cNvPr id="80" name="TextBox 79">
            <a:extLst>
              <a:ext uri="{FF2B5EF4-FFF2-40B4-BE49-F238E27FC236}">
                <a16:creationId xmlns:a16="http://schemas.microsoft.com/office/drawing/2014/main" id="{8BCAD6BA-F8DA-CEF1-2F85-C5B753CF245E}"/>
              </a:ext>
            </a:extLst>
          </p:cNvPr>
          <p:cNvSpPr txBox="1"/>
          <p:nvPr/>
        </p:nvSpPr>
        <p:spPr>
          <a:xfrm>
            <a:off x="2917700" y="3174038"/>
            <a:ext cx="556964" cy="370114"/>
          </a:xfrm>
          <a:prstGeom prst="rect">
            <a:avLst/>
          </a:prstGeom>
          <a:noFill/>
        </p:spPr>
        <p:txBody>
          <a:bodyPr wrap="square" rtlCol="0">
            <a:spAutoFit/>
          </a:bodyPr>
          <a:lstStyle/>
          <a:p>
            <a:pPr algn="ctr"/>
            <a:r>
              <a:rPr lang="en-IN" b="1" dirty="0">
                <a:solidFill>
                  <a:srgbClr val="FF0000"/>
                </a:solidFill>
              </a:rPr>
              <a:t>F</a:t>
            </a:r>
          </a:p>
        </p:txBody>
      </p:sp>
      <p:sp>
        <p:nvSpPr>
          <p:cNvPr id="5" name="Left Brace 4">
            <a:extLst>
              <a:ext uri="{FF2B5EF4-FFF2-40B4-BE49-F238E27FC236}">
                <a16:creationId xmlns:a16="http://schemas.microsoft.com/office/drawing/2014/main" id="{E5C7E7DA-8990-CBAC-B279-0C3540C8B497}"/>
              </a:ext>
            </a:extLst>
          </p:cNvPr>
          <p:cNvSpPr/>
          <p:nvPr/>
        </p:nvSpPr>
        <p:spPr>
          <a:xfrm rot="16200000">
            <a:off x="7096714" y="-401402"/>
            <a:ext cx="489862" cy="8847334"/>
          </a:xfrm>
          <a:prstGeom prst="leftBrace">
            <a:avLst>
              <a:gd name="adj1" fmla="val 8333"/>
              <a:gd name="adj2" fmla="val 5013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6" name="TextBox 5">
            <a:extLst>
              <a:ext uri="{FF2B5EF4-FFF2-40B4-BE49-F238E27FC236}">
                <a16:creationId xmlns:a16="http://schemas.microsoft.com/office/drawing/2014/main" id="{EA9F7BD2-7AC2-E990-12EA-BD6A5C60764F}"/>
              </a:ext>
            </a:extLst>
          </p:cNvPr>
          <p:cNvSpPr txBox="1"/>
          <p:nvPr/>
        </p:nvSpPr>
        <p:spPr>
          <a:xfrm>
            <a:off x="6346008" y="4199639"/>
            <a:ext cx="2450353" cy="461665"/>
          </a:xfrm>
          <a:prstGeom prst="rect">
            <a:avLst/>
          </a:prstGeom>
          <a:noFill/>
        </p:spPr>
        <p:txBody>
          <a:bodyPr wrap="square" rtlCol="0">
            <a:spAutoFit/>
          </a:bodyPr>
          <a:lstStyle/>
          <a:p>
            <a:r>
              <a:rPr lang="en-IN" sz="2400" b="1" dirty="0">
                <a:solidFill>
                  <a:srgbClr val="C00000"/>
                </a:solidFill>
              </a:rPr>
              <a:t>10 page faults</a:t>
            </a:r>
          </a:p>
        </p:txBody>
      </p:sp>
      <p:sp>
        <p:nvSpPr>
          <p:cNvPr id="7" name="Google Shape;98;g2eff20282af_0_123">
            <a:extLst>
              <a:ext uri="{FF2B5EF4-FFF2-40B4-BE49-F238E27FC236}">
                <a16:creationId xmlns:a16="http://schemas.microsoft.com/office/drawing/2014/main" id="{9C4E0587-84C6-7F20-9E2A-AFE477A0277A}"/>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24593656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003FB9-679A-4BA0-9A26-2C1A6462A92F}"/>
              </a:ext>
            </a:extLst>
          </p:cNvPr>
          <p:cNvSpPr>
            <a:spLocks noGrp="1"/>
          </p:cNvSpPr>
          <p:nvPr>
            <p:ph idx="1"/>
          </p:nvPr>
        </p:nvSpPr>
        <p:spPr>
          <a:xfrm>
            <a:off x="2588964" y="544286"/>
            <a:ext cx="9472407" cy="5999733"/>
          </a:xfrm>
        </p:spPr>
        <p:txBody>
          <a:bodyPr>
            <a:normAutofit/>
          </a:bodyPr>
          <a:lstStyle/>
          <a:p>
            <a:pPr marL="0" indent="0">
              <a:buNone/>
            </a:pPr>
            <a:endParaRPr lang="en-IN" sz="2400" dirty="0">
              <a:latin typeface="+mn-lt"/>
            </a:endParaRPr>
          </a:p>
          <a:p>
            <a:pPr marL="0" indent="0">
              <a:buNone/>
            </a:pPr>
            <a:endParaRPr lang="en-IN" sz="2400" b="1" dirty="0">
              <a:solidFill>
                <a:srgbClr val="C00000"/>
              </a:solidFill>
              <a:latin typeface="+mn-lt"/>
            </a:endParaRPr>
          </a:p>
        </p:txBody>
      </p:sp>
      <p:graphicFrame>
        <p:nvGraphicFramePr>
          <p:cNvPr id="2" name="Table 3">
            <a:extLst>
              <a:ext uri="{FF2B5EF4-FFF2-40B4-BE49-F238E27FC236}">
                <a16:creationId xmlns:a16="http://schemas.microsoft.com/office/drawing/2014/main" id="{08512B4B-020E-A409-6C48-2C0D5852B400}"/>
              </a:ext>
            </a:extLst>
          </p:cNvPr>
          <p:cNvGraphicFramePr>
            <a:graphicFrameLocks noGrp="1"/>
          </p:cNvGraphicFramePr>
          <p:nvPr>
            <p:extLst>
              <p:ext uri="{D42A27DB-BD31-4B8C-83A1-F6EECF244321}">
                <p14:modId xmlns:p14="http://schemas.microsoft.com/office/powerpoint/2010/main" val="724105973"/>
              </p:ext>
            </p:extLst>
          </p:nvPr>
        </p:nvGraphicFramePr>
        <p:xfrm>
          <a:off x="2827703" y="1115784"/>
          <a:ext cx="456801" cy="1404258"/>
        </p:xfrm>
        <a:graphic>
          <a:graphicData uri="http://schemas.openxmlformats.org/drawingml/2006/table">
            <a:tbl>
              <a:tblPr firstRow="1" bandRow="1">
                <a:tableStyleId>{5940675A-B579-460E-94D1-54222C63F5DA}</a:tableStyleId>
              </a:tblPr>
              <a:tblGrid>
                <a:gridCol w="456801">
                  <a:extLst>
                    <a:ext uri="{9D8B030D-6E8A-4147-A177-3AD203B41FA5}">
                      <a16:colId xmlns:a16="http://schemas.microsoft.com/office/drawing/2014/main" val="3871611496"/>
                    </a:ext>
                  </a:extLst>
                </a:gridCol>
              </a:tblGrid>
              <a:tr h="468086">
                <a:tc>
                  <a:txBody>
                    <a:bodyPr/>
                    <a:lstStyle/>
                    <a:p>
                      <a:pPr algn="ctr"/>
                      <a:r>
                        <a:rPr lang="en-IN" b="1" dirty="0"/>
                        <a:t>1</a:t>
                      </a:r>
                    </a:p>
                  </a:txBody>
                  <a:tcPr/>
                </a:tc>
                <a:extLst>
                  <a:ext uri="{0D108BD9-81ED-4DB2-BD59-A6C34878D82A}">
                    <a16:rowId xmlns:a16="http://schemas.microsoft.com/office/drawing/2014/main" val="998241085"/>
                  </a:ext>
                </a:extLst>
              </a:tr>
              <a:tr h="468086">
                <a:tc>
                  <a:txBody>
                    <a:bodyPr/>
                    <a:lstStyle/>
                    <a:p>
                      <a:pPr algn="ctr"/>
                      <a:endParaRPr lang="en-IN" b="1" dirty="0"/>
                    </a:p>
                  </a:txBody>
                  <a:tcPr/>
                </a:tc>
                <a:extLst>
                  <a:ext uri="{0D108BD9-81ED-4DB2-BD59-A6C34878D82A}">
                    <a16:rowId xmlns:a16="http://schemas.microsoft.com/office/drawing/2014/main" val="2953948409"/>
                  </a:ext>
                </a:extLst>
              </a:tr>
              <a:tr h="468086">
                <a:tc>
                  <a:txBody>
                    <a:bodyPr/>
                    <a:lstStyle/>
                    <a:p>
                      <a:pPr algn="ctr"/>
                      <a:endParaRPr lang="en-IN" b="1" dirty="0"/>
                    </a:p>
                  </a:txBody>
                  <a:tcPr/>
                </a:tc>
                <a:extLst>
                  <a:ext uri="{0D108BD9-81ED-4DB2-BD59-A6C34878D82A}">
                    <a16:rowId xmlns:a16="http://schemas.microsoft.com/office/drawing/2014/main" val="2487396617"/>
                  </a:ext>
                </a:extLst>
              </a:tr>
            </a:tbl>
          </a:graphicData>
        </a:graphic>
      </p:graphicFrame>
      <p:sp>
        <p:nvSpPr>
          <p:cNvPr id="4" name="TextBox 3">
            <a:extLst>
              <a:ext uri="{FF2B5EF4-FFF2-40B4-BE49-F238E27FC236}">
                <a16:creationId xmlns:a16="http://schemas.microsoft.com/office/drawing/2014/main" id="{0C6BCE7D-62B5-A76D-C2CB-FDEECB115086}"/>
              </a:ext>
            </a:extLst>
          </p:cNvPr>
          <p:cNvSpPr txBox="1"/>
          <p:nvPr/>
        </p:nvSpPr>
        <p:spPr>
          <a:xfrm>
            <a:off x="2772803" y="672407"/>
            <a:ext cx="556964" cy="370114"/>
          </a:xfrm>
          <a:prstGeom prst="rect">
            <a:avLst/>
          </a:prstGeom>
          <a:noFill/>
        </p:spPr>
        <p:txBody>
          <a:bodyPr wrap="square" rtlCol="0">
            <a:spAutoFit/>
          </a:bodyPr>
          <a:lstStyle/>
          <a:p>
            <a:pPr algn="ctr"/>
            <a:r>
              <a:rPr lang="en-IN" b="1" dirty="0">
                <a:solidFill>
                  <a:srgbClr val="FF0000"/>
                </a:solidFill>
              </a:rPr>
              <a:t>1</a:t>
            </a:r>
          </a:p>
        </p:txBody>
      </p:sp>
      <p:graphicFrame>
        <p:nvGraphicFramePr>
          <p:cNvPr id="21" name="Table 3">
            <a:extLst>
              <a:ext uri="{FF2B5EF4-FFF2-40B4-BE49-F238E27FC236}">
                <a16:creationId xmlns:a16="http://schemas.microsoft.com/office/drawing/2014/main" id="{A99C4350-1763-E857-A48B-138AD2BD63B7}"/>
              </a:ext>
            </a:extLst>
          </p:cNvPr>
          <p:cNvGraphicFramePr>
            <a:graphicFrameLocks noGrp="1"/>
          </p:cNvGraphicFramePr>
          <p:nvPr>
            <p:extLst>
              <p:ext uri="{D42A27DB-BD31-4B8C-83A1-F6EECF244321}">
                <p14:modId xmlns:p14="http://schemas.microsoft.com/office/powerpoint/2010/main" val="768907488"/>
              </p:ext>
            </p:extLst>
          </p:nvPr>
        </p:nvGraphicFramePr>
        <p:xfrm>
          <a:off x="4047964" y="1142998"/>
          <a:ext cx="377867" cy="1404258"/>
        </p:xfrm>
        <a:graphic>
          <a:graphicData uri="http://schemas.openxmlformats.org/drawingml/2006/table">
            <a:tbl>
              <a:tblPr firstRow="1" bandRow="1">
                <a:tableStyleId>{5940675A-B579-460E-94D1-54222C63F5DA}</a:tableStyleId>
              </a:tblPr>
              <a:tblGrid>
                <a:gridCol w="377867">
                  <a:extLst>
                    <a:ext uri="{9D8B030D-6E8A-4147-A177-3AD203B41FA5}">
                      <a16:colId xmlns:a16="http://schemas.microsoft.com/office/drawing/2014/main" val="3871611496"/>
                    </a:ext>
                  </a:extLst>
                </a:gridCol>
              </a:tblGrid>
              <a:tr h="468086">
                <a:tc>
                  <a:txBody>
                    <a:bodyPr/>
                    <a:lstStyle/>
                    <a:p>
                      <a:pPr algn="ctr"/>
                      <a:r>
                        <a:rPr lang="en-IN" b="1" dirty="0"/>
                        <a:t>1</a:t>
                      </a:r>
                    </a:p>
                  </a:txBody>
                  <a:tcPr/>
                </a:tc>
                <a:extLst>
                  <a:ext uri="{0D108BD9-81ED-4DB2-BD59-A6C34878D82A}">
                    <a16:rowId xmlns:a16="http://schemas.microsoft.com/office/drawing/2014/main" val="998241085"/>
                  </a:ext>
                </a:extLst>
              </a:tr>
              <a:tr h="468086">
                <a:tc>
                  <a:txBody>
                    <a:bodyPr/>
                    <a:lstStyle/>
                    <a:p>
                      <a:pPr algn="ctr"/>
                      <a:r>
                        <a:rPr lang="en-IN" b="1" dirty="0"/>
                        <a:t>2</a:t>
                      </a:r>
                    </a:p>
                  </a:txBody>
                  <a:tcPr/>
                </a:tc>
                <a:extLst>
                  <a:ext uri="{0D108BD9-81ED-4DB2-BD59-A6C34878D82A}">
                    <a16:rowId xmlns:a16="http://schemas.microsoft.com/office/drawing/2014/main" val="2953948409"/>
                  </a:ext>
                </a:extLst>
              </a:tr>
              <a:tr h="468086">
                <a:tc>
                  <a:txBody>
                    <a:bodyPr/>
                    <a:lstStyle/>
                    <a:p>
                      <a:pPr algn="ctr"/>
                      <a:r>
                        <a:rPr lang="en-IN" b="1" dirty="0"/>
                        <a:t>3</a:t>
                      </a:r>
                    </a:p>
                  </a:txBody>
                  <a:tcPr/>
                </a:tc>
                <a:extLst>
                  <a:ext uri="{0D108BD9-81ED-4DB2-BD59-A6C34878D82A}">
                    <a16:rowId xmlns:a16="http://schemas.microsoft.com/office/drawing/2014/main" val="2487396617"/>
                  </a:ext>
                </a:extLst>
              </a:tr>
            </a:tbl>
          </a:graphicData>
        </a:graphic>
      </p:graphicFrame>
      <p:sp>
        <p:nvSpPr>
          <p:cNvPr id="22" name="TextBox 21">
            <a:extLst>
              <a:ext uri="{FF2B5EF4-FFF2-40B4-BE49-F238E27FC236}">
                <a16:creationId xmlns:a16="http://schemas.microsoft.com/office/drawing/2014/main" id="{4B55254F-98DE-808F-44AB-0D5C56D4F35B}"/>
              </a:ext>
            </a:extLst>
          </p:cNvPr>
          <p:cNvSpPr txBox="1"/>
          <p:nvPr/>
        </p:nvSpPr>
        <p:spPr>
          <a:xfrm>
            <a:off x="3402003" y="672407"/>
            <a:ext cx="556964" cy="370114"/>
          </a:xfrm>
          <a:prstGeom prst="rect">
            <a:avLst/>
          </a:prstGeom>
          <a:noFill/>
        </p:spPr>
        <p:txBody>
          <a:bodyPr wrap="square" rtlCol="0">
            <a:spAutoFit/>
          </a:bodyPr>
          <a:lstStyle/>
          <a:p>
            <a:pPr algn="ctr"/>
            <a:r>
              <a:rPr lang="en-IN" b="1" dirty="0">
                <a:solidFill>
                  <a:srgbClr val="FF0000"/>
                </a:solidFill>
              </a:rPr>
              <a:t>2</a:t>
            </a:r>
          </a:p>
        </p:txBody>
      </p:sp>
      <p:graphicFrame>
        <p:nvGraphicFramePr>
          <p:cNvPr id="23" name="Table 3">
            <a:extLst>
              <a:ext uri="{FF2B5EF4-FFF2-40B4-BE49-F238E27FC236}">
                <a16:creationId xmlns:a16="http://schemas.microsoft.com/office/drawing/2014/main" id="{F07F70F0-2A48-E4A1-F4AB-9A432F12A9C7}"/>
              </a:ext>
            </a:extLst>
          </p:cNvPr>
          <p:cNvGraphicFramePr>
            <a:graphicFrameLocks noGrp="1"/>
          </p:cNvGraphicFramePr>
          <p:nvPr>
            <p:extLst>
              <p:ext uri="{D42A27DB-BD31-4B8C-83A1-F6EECF244321}">
                <p14:modId xmlns:p14="http://schemas.microsoft.com/office/powerpoint/2010/main" val="1220788769"/>
              </p:ext>
            </p:extLst>
          </p:nvPr>
        </p:nvGraphicFramePr>
        <p:xfrm>
          <a:off x="3440983" y="1132539"/>
          <a:ext cx="377867" cy="1404258"/>
        </p:xfrm>
        <a:graphic>
          <a:graphicData uri="http://schemas.openxmlformats.org/drawingml/2006/table">
            <a:tbl>
              <a:tblPr firstRow="1" bandRow="1">
                <a:tableStyleId>{5940675A-B579-460E-94D1-54222C63F5DA}</a:tableStyleId>
              </a:tblPr>
              <a:tblGrid>
                <a:gridCol w="377867">
                  <a:extLst>
                    <a:ext uri="{9D8B030D-6E8A-4147-A177-3AD203B41FA5}">
                      <a16:colId xmlns:a16="http://schemas.microsoft.com/office/drawing/2014/main" val="3871611496"/>
                    </a:ext>
                  </a:extLst>
                </a:gridCol>
              </a:tblGrid>
              <a:tr h="468086">
                <a:tc>
                  <a:txBody>
                    <a:bodyPr/>
                    <a:lstStyle/>
                    <a:p>
                      <a:pPr algn="ctr"/>
                      <a:r>
                        <a:rPr lang="en-IN" b="1" dirty="0"/>
                        <a:t>1</a:t>
                      </a:r>
                    </a:p>
                  </a:txBody>
                  <a:tcPr/>
                </a:tc>
                <a:extLst>
                  <a:ext uri="{0D108BD9-81ED-4DB2-BD59-A6C34878D82A}">
                    <a16:rowId xmlns:a16="http://schemas.microsoft.com/office/drawing/2014/main" val="998241085"/>
                  </a:ext>
                </a:extLst>
              </a:tr>
              <a:tr h="468086">
                <a:tc>
                  <a:txBody>
                    <a:bodyPr/>
                    <a:lstStyle/>
                    <a:p>
                      <a:pPr algn="ctr"/>
                      <a:r>
                        <a:rPr lang="en-IN" b="1" dirty="0"/>
                        <a:t>2</a:t>
                      </a:r>
                    </a:p>
                  </a:txBody>
                  <a:tcPr/>
                </a:tc>
                <a:extLst>
                  <a:ext uri="{0D108BD9-81ED-4DB2-BD59-A6C34878D82A}">
                    <a16:rowId xmlns:a16="http://schemas.microsoft.com/office/drawing/2014/main" val="2953948409"/>
                  </a:ext>
                </a:extLst>
              </a:tr>
              <a:tr h="468086">
                <a:tc>
                  <a:txBody>
                    <a:bodyPr/>
                    <a:lstStyle/>
                    <a:p>
                      <a:pPr algn="ctr"/>
                      <a:endParaRPr lang="en-IN" b="1" dirty="0"/>
                    </a:p>
                  </a:txBody>
                  <a:tcPr/>
                </a:tc>
                <a:extLst>
                  <a:ext uri="{0D108BD9-81ED-4DB2-BD59-A6C34878D82A}">
                    <a16:rowId xmlns:a16="http://schemas.microsoft.com/office/drawing/2014/main" val="2487396617"/>
                  </a:ext>
                </a:extLst>
              </a:tr>
            </a:tbl>
          </a:graphicData>
        </a:graphic>
      </p:graphicFrame>
      <p:sp>
        <p:nvSpPr>
          <p:cNvPr id="24" name="TextBox 23">
            <a:extLst>
              <a:ext uri="{FF2B5EF4-FFF2-40B4-BE49-F238E27FC236}">
                <a16:creationId xmlns:a16="http://schemas.microsoft.com/office/drawing/2014/main" id="{56965CC3-B7A0-7353-5CE3-4A6E48BB2531}"/>
              </a:ext>
            </a:extLst>
          </p:cNvPr>
          <p:cNvSpPr txBox="1"/>
          <p:nvPr/>
        </p:nvSpPr>
        <p:spPr>
          <a:xfrm>
            <a:off x="3940486" y="685799"/>
            <a:ext cx="556964" cy="370114"/>
          </a:xfrm>
          <a:prstGeom prst="rect">
            <a:avLst/>
          </a:prstGeom>
          <a:noFill/>
        </p:spPr>
        <p:txBody>
          <a:bodyPr wrap="square" rtlCol="0">
            <a:spAutoFit/>
          </a:bodyPr>
          <a:lstStyle/>
          <a:p>
            <a:pPr algn="ctr"/>
            <a:r>
              <a:rPr lang="en-IN" b="1" dirty="0">
                <a:solidFill>
                  <a:srgbClr val="FF0000"/>
                </a:solidFill>
              </a:rPr>
              <a:t>3</a:t>
            </a:r>
          </a:p>
        </p:txBody>
      </p:sp>
      <p:graphicFrame>
        <p:nvGraphicFramePr>
          <p:cNvPr id="33" name="Table 3">
            <a:extLst>
              <a:ext uri="{FF2B5EF4-FFF2-40B4-BE49-F238E27FC236}">
                <a16:creationId xmlns:a16="http://schemas.microsoft.com/office/drawing/2014/main" id="{1341C2A8-7DCA-77E8-4F8A-DFF6FDED3029}"/>
              </a:ext>
            </a:extLst>
          </p:cNvPr>
          <p:cNvGraphicFramePr>
            <a:graphicFrameLocks noGrp="1"/>
          </p:cNvGraphicFramePr>
          <p:nvPr>
            <p:extLst>
              <p:ext uri="{D42A27DB-BD31-4B8C-83A1-F6EECF244321}">
                <p14:modId xmlns:p14="http://schemas.microsoft.com/office/powerpoint/2010/main" val="3803545415"/>
              </p:ext>
            </p:extLst>
          </p:nvPr>
        </p:nvGraphicFramePr>
        <p:xfrm>
          <a:off x="6646445" y="1132539"/>
          <a:ext cx="369016" cy="1404258"/>
        </p:xfrm>
        <a:graphic>
          <a:graphicData uri="http://schemas.openxmlformats.org/drawingml/2006/table">
            <a:tbl>
              <a:tblPr firstRow="1" bandRow="1">
                <a:tableStyleId>{5940675A-B579-460E-94D1-54222C63F5DA}</a:tableStyleId>
              </a:tblPr>
              <a:tblGrid>
                <a:gridCol w="369016">
                  <a:extLst>
                    <a:ext uri="{9D8B030D-6E8A-4147-A177-3AD203B41FA5}">
                      <a16:colId xmlns:a16="http://schemas.microsoft.com/office/drawing/2014/main" val="3871611496"/>
                    </a:ext>
                  </a:extLst>
                </a:gridCol>
              </a:tblGrid>
              <a:tr h="468086">
                <a:tc>
                  <a:txBody>
                    <a:bodyPr/>
                    <a:lstStyle/>
                    <a:p>
                      <a:pPr algn="ctr"/>
                      <a:r>
                        <a:rPr lang="en-IN" b="1" dirty="0"/>
                        <a:t>5</a:t>
                      </a:r>
                    </a:p>
                  </a:txBody>
                  <a:tcPr/>
                </a:tc>
                <a:extLst>
                  <a:ext uri="{0D108BD9-81ED-4DB2-BD59-A6C34878D82A}">
                    <a16:rowId xmlns:a16="http://schemas.microsoft.com/office/drawing/2014/main" val="998241085"/>
                  </a:ext>
                </a:extLst>
              </a:tr>
              <a:tr h="468086">
                <a:tc>
                  <a:txBody>
                    <a:bodyPr/>
                    <a:lstStyle/>
                    <a:p>
                      <a:pPr algn="ctr"/>
                      <a:r>
                        <a:rPr lang="en-IN" b="1" dirty="0"/>
                        <a:t>1</a:t>
                      </a:r>
                    </a:p>
                  </a:txBody>
                  <a:tcPr/>
                </a:tc>
                <a:extLst>
                  <a:ext uri="{0D108BD9-81ED-4DB2-BD59-A6C34878D82A}">
                    <a16:rowId xmlns:a16="http://schemas.microsoft.com/office/drawing/2014/main" val="2953948409"/>
                  </a:ext>
                </a:extLst>
              </a:tr>
              <a:tr h="468086">
                <a:tc>
                  <a:txBody>
                    <a:bodyPr/>
                    <a:lstStyle/>
                    <a:p>
                      <a:pPr algn="ctr"/>
                      <a:r>
                        <a:rPr lang="en-IN" b="1" dirty="0"/>
                        <a:t>2</a:t>
                      </a:r>
                    </a:p>
                  </a:txBody>
                  <a:tcPr/>
                </a:tc>
                <a:extLst>
                  <a:ext uri="{0D108BD9-81ED-4DB2-BD59-A6C34878D82A}">
                    <a16:rowId xmlns:a16="http://schemas.microsoft.com/office/drawing/2014/main" val="2487396617"/>
                  </a:ext>
                </a:extLst>
              </a:tr>
            </a:tbl>
          </a:graphicData>
        </a:graphic>
      </p:graphicFrame>
      <p:sp>
        <p:nvSpPr>
          <p:cNvPr id="34" name="TextBox 33">
            <a:extLst>
              <a:ext uri="{FF2B5EF4-FFF2-40B4-BE49-F238E27FC236}">
                <a16:creationId xmlns:a16="http://schemas.microsoft.com/office/drawing/2014/main" id="{089FA13A-F953-39BE-F0D7-4DBDB6D6A2DA}"/>
              </a:ext>
            </a:extLst>
          </p:cNvPr>
          <p:cNvSpPr txBox="1"/>
          <p:nvPr/>
        </p:nvSpPr>
        <p:spPr>
          <a:xfrm>
            <a:off x="4544340" y="672407"/>
            <a:ext cx="556964" cy="370114"/>
          </a:xfrm>
          <a:prstGeom prst="rect">
            <a:avLst/>
          </a:prstGeom>
          <a:noFill/>
        </p:spPr>
        <p:txBody>
          <a:bodyPr wrap="square" rtlCol="0">
            <a:spAutoFit/>
          </a:bodyPr>
          <a:lstStyle/>
          <a:p>
            <a:pPr algn="ctr"/>
            <a:r>
              <a:rPr lang="en-IN" b="1" dirty="0">
                <a:solidFill>
                  <a:srgbClr val="FF0000"/>
                </a:solidFill>
              </a:rPr>
              <a:t>4</a:t>
            </a:r>
          </a:p>
        </p:txBody>
      </p:sp>
      <p:graphicFrame>
        <p:nvGraphicFramePr>
          <p:cNvPr id="35" name="Table 3">
            <a:extLst>
              <a:ext uri="{FF2B5EF4-FFF2-40B4-BE49-F238E27FC236}">
                <a16:creationId xmlns:a16="http://schemas.microsoft.com/office/drawing/2014/main" id="{BF367DEB-1E0B-D4EB-EAD1-9341601F9B3A}"/>
              </a:ext>
            </a:extLst>
          </p:cNvPr>
          <p:cNvGraphicFramePr>
            <a:graphicFrameLocks noGrp="1"/>
          </p:cNvGraphicFramePr>
          <p:nvPr>
            <p:extLst>
              <p:ext uri="{D42A27DB-BD31-4B8C-83A1-F6EECF244321}">
                <p14:modId xmlns:p14="http://schemas.microsoft.com/office/powerpoint/2010/main" val="3566852908"/>
              </p:ext>
            </p:extLst>
          </p:nvPr>
        </p:nvGraphicFramePr>
        <p:xfrm>
          <a:off x="4592545" y="1142998"/>
          <a:ext cx="422970" cy="1404258"/>
        </p:xfrm>
        <a:graphic>
          <a:graphicData uri="http://schemas.openxmlformats.org/drawingml/2006/table">
            <a:tbl>
              <a:tblPr firstRow="1" bandRow="1">
                <a:tableStyleId>{5940675A-B579-460E-94D1-54222C63F5DA}</a:tableStyleId>
              </a:tblPr>
              <a:tblGrid>
                <a:gridCol w="422970">
                  <a:extLst>
                    <a:ext uri="{9D8B030D-6E8A-4147-A177-3AD203B41FA5}">
                      <a16:colId xmlns:a16="http://schemas.microsoft.com/office/drawing/2014/main" val="3871611496"/>
                    </a:ext>
                  </a:extLst>
                </a:gridCol>
              </a:tblGrid>
              <a:tr h="468086">
                <a:tc>
                  <a:txBody>
                    <a:bodyPr/>
                    <a:lstStyle/>
                    <a:p>
                      <a:pPr algn="ctr"/>
                      <a:r>
                        <a:rPr lang="en-IN" b="1" dirty="0"/>
                        <a:t>4</a:t>
                      </a:r>
                    </a:p>
                  </a:txBody>
                  <a:tcPr/>
                </a:tc>
                <a:extLst>
                  <a:ext uri="{0D108BD9-81ED-4DB2-BD59-A6C34878D82A}">
                    <a16:rowId xmlns:a16="http://schemas.microsoft.com/office/drawing/2014/main" val="998241085"/>
                  </a:ext>
                </a:extLst>
              </a:tr>
              <a:tr h="468086">
                <a:tc>
                  <a:txBody>
                    <a:bodyPr/>
                    <a:lstStyle/>
                    <a:p>
                      <a:pPr algn="ctr"/>
                      <a:r>
                        <a:rPr lang="en-IN" b="1" dirty="0"/>
                        <a:t>2</a:t>
                      </a:r>
                    </a:p>
                  </a:txBody>
                  <a:tcPr/>
                </a:tc>
                <a:extLst>
                  <a:ext uri="{0D108BD9-81ED-4DB2-BD59-A6C34878D82A}">
                    <a16:rowId xmlns:a16="http://schemas.microsoft.com/office/drawing/2014/main" val="2953948409"/>
                  </a:ext>
                </a:extLst>
              </a:tr>
              <a:tr h="468086">
                <a:tc>
                  <a:txBody>
                    <a:bodyPr/>
                    <a:lstStyle/>
                    <a:p>
                      <a:pPr algn="ctr"/>
                      <a:r>
                        <a:rPr lang="en-IN" b="1" dirty="0"/>
                        <a:t>3</a:t>
                      </a:r>
                    </a:p>
                  </a:txBody>
                  <a:tcPr/>
                </a:tc>
                <a:extLst>
                  <a:ext uri="{0D108BD9-81ED-4DB2-BD59-A6C34878D82A}">
                    <a16:rowId xmlns:a16="http://schemas.microsoft.com/office/drawing/2014/main" val="2487396617"/>
                  </a:ext>
                </a:extLst>
              </a:tr>
            </a:tbl>
          </a:graphicData>
        </a:graphic>
      </p:graphicFrame>
      <p:sp>
        <p:nvSpPr>
          <p:cNvPr id="36" name="TextBox 35">
            <a:extLst>
              <a:ext uri="{FF2B5EF4-FFF2-40B4-BE49-F238E27FC236}">
                <a16:creationId xmlns:a16="http://schemas.microsoft.com/office/drawing/2014/main" id="{35C6EFB1-8344-8899-D1D9-1AB5BDC9319E}"/>
              </a:ext>
            </a:extLst>
          </p:cNvPr>
          <p:cNvSpPr txBox="1"/>
          <p:nvPr/>
        </p:nvSpPr>
        <p:spPr>
          <a:xfrm>
            <a:off x="5118861" y="685799"/>
            <a:ext cx="556964" cy="370114"/>
          </a:xfrm>
          <a:prstGeom prst="rect">
            <a:avLst/>
          </a:prstGeom>
          <a:noFill/>
        </p:spPr>
        <p:txBody>
          <a:bodyPr wrap="square" rtlCol="0">
            <a:spAutoFit/>
          </a:bodyPr>
          <a:lstStyle/>
          <a:p>
            <a:pPr algn="ctr"/>
            <a:r>
              <a:rPr lang="en-IN" b="1" dirty="0">
                <a:solidFill>
                  <a:srgbClr val="FF0000"/>
                </a:solidFill>
              </a:rPr>
              <a:t>1</a:t>
            </a:r>
          </a:p>
        </p:txBody>
      </p:sp>
      <p:graphicFrame>
        <p:nvGraphicFramePr>
          <p:cNvPr id="37" name="Table 3">
            <a:extLst>
              <a:ext uri="{FF2B5EF4-FFF2-40B4-BE49-F238E27FC236}">
                <a16:creationId xmlns:a16="http://schemas.microsoft.com/office/drawing/2014/main" id="{1467B45D-3884-2FFF-F33D-678BEBCAE110}"/>
              </a:ext>
            </a:extLst>
          </p:cNvPr>
          <p:cNvGraphicFramePr>
            <a:graphicFrameLocks noGrp="1"/>
          </p:cNvGraphicFramePr>
          <p:nvPr>
            <p:extLst>
              <p:ext uri="{D42A27DB-BD31-4B8C-83A1-F6EECF244321}">
                <p14:modId xmlns:p14="http://schemas.microsoft.com/office/powerpoint/2010/main" val="2208893148"/>
              </p:ext>
            </p:extLst>
          </p:nvPr>
        </p:nvGraphicFramePr>
        <p:xfrm>
          <a:off x="5159402" y="1142998"/>
          <a:ext cx="356478" cy="1404258"/>
        </p:xfrm>
        <a:graphic>
          <a:graphicData uri="http://schemas.openxmlformats.org/drawingml/2006/table">
            <a:tbl>
              <a:tblPr firstRow="1" bandRow="1">
                <a:tableStyleId>{5940675A-B579-460E-94D1-54222C63F5DA}</a:tableStyleId>
              </a:tblPr>
              <a:tblGrid>
                <a:gridCol w="356478">
                  <a:extLst>
                    <a:ext uri="{9D8B030D-6E8A-4147-A177-3AD203B41FA5}">
                      <a16:colId xmlns:a16="http://schemas.microsoft.com/office/drawing/2014/main" val="3871611496"/>
                    </a:ext>
                  </a:extLst>
                </a:gridCol>
              </a:tblGrid>
              <a:tr h="468086">
                <a:tc>
                  <a:txBody>
                    <a:bodyPr/>
                    <a:lstStyle/>
                    <a:p>
                      <a:pPr algn="ctr"/>
                      <a:r>
                        <a:rPr lang="en-IN" b="1" dirty="0"/>
                        <a:t>4</a:t>
                      </a:r>
                    </a:p>
                  </a:txBody>
                  <a:tcPr/>
                </a:tc>
                <a:extLst>
                  <a:ext uri="{0D108BD9-81ED-4DB2-BD59-A6C34878D82A}">
                    <a16:rowId xmlns:a16="http://schemas.microsoft.com/office/drawing/2014/main" val="998241085"/>
                  </a:ext>
                </a:extLst>
              </a:tr>
              <a:tr h="468086">
                <a:tc>
                  <a:txBody>
                    <a:bodyPr/>
                    <a:lstStyle/>
                    <a:p>
                      <a:pPr algn="ctr"/>
                      <a:r>
                        <a:rPr lang="en-IN" b="1" dirty="0"/>
                        <a:t>1</a:t>
                      </a:r>
                    </a:p>
                  </a:txBody>
                  <a:tcPr/>
                </a:tc>
                <a:extLst>
                  <a:ext uri="{0D108BD9-81ED-4DB2-BD59-A6C34878D82A}">
                    <a16:rowId xmlns:a16="http://schemas.microsoft.com/office/drawing/2014/main" val="2953948409"/>
                  </a:ext>
                </a:extLst>
              </a:tr>
              <a:tr h="468086">
                <a:tc>
                  <a:txBody>
                    <a:bodyPr/>
                    <a:lstStyle/>
                    <a:p>
                      <a:pPr algn="ctr"/>
                      <a:r>
                        <a:rPr lang="en-IN" b="1" dirty="0"/>
                        <a:t>3</a:t>
                      </a:r>
                    </a:p>
                  </a:txBody>
                  <a:tcPr/>
                </a:tc>
                <a:extLst>
                  <a:ext uri="{0D108BD9-81ED-4DB2-BD59-A6C34878D82A}">
                    <a16:rowId xmlns:a16="http://schemas.microsoft.com/office/drawing/2014/main" val="2487396617"/>
                  </a:ext>
                </a:extLst>
              </a:tr>
            </a:tbl>
          </a:graphicData>
        </a:graphic>
      </p:graphicFrame>
      <p:sp>
        <p:nvSpPr>
          <p:cNvPr id="38" name="TextBox 37">
            <a:extLst>
              <a:ext uri="{FF2B5EF4-FFF2-40B4-BE49-F238E27FC236}">
                <a16:creationId xmlns:a16="http://schemas.microsoft.com/office/drawing/2014/main" id="{4A623B8B-CB99-B99D-B241-067B51DB536F}"/>
              </a:ext>
            </a:extLst>
          </p:cNvPr>
          <p:cNvSpPr txBox="1"/>
          <p:nvPr/>
        </p:nvSpPr>
        <p:spPr>
          <a:xfrm>
            <a:off x="5524273" y="704838"/>
            <a:ext cx="556964" cy="370114"/>
          </a:xfrm>
          <a:prstGeom prst="rect">
            <a:avLst/>
          </a:prstGeom>
          <a:noFill/>
        </p:spPr>
        <p:txBody>
          <a:bodyPr wrap="square" rtlCol="0">
            <a:spAutoFit/>
          </a:bodyPr>
          <a:lstStyle/>
          <a:p>
            <a:pPr algn="ctr"/>
            <a:r>
              <a:rPr lang="en-IN" b="1" dirty="0">
                <a:solidFill>
                  <a:srgbClr val="FF0000"/>
                </a:solidFill>
              </a:rPr>
              <a:t>2</a:t>
            </a:r>
          </a:p>
        </p:txBody>
      </p:sp>
      <p:graphicFrame>
        <p:nvGraphicFramePr>
          <p:cNvPr id="39" name="Table 3">
            <a:extLst>
              <a:ext uri="{FF2B5EF4-FFF2-40B4-BE49-F238E27FC236}">
                <a16:creationId xmlns:a16="http://schemas.microsoft.com/office/drawing/2014/main" id="{7B1742D7-4408-E0E1-13C1-1E4097138241}"/>
              </a:ext>
            </a:extLst>
          </p:cNvPr>
          <p:cNvGraphicFramePr>
            <a:graphicFrameLocks noGrp="1"/>
          </p:cNvGraphicFramePr>
          <p:nvPr>
            <p:extLst>
              <p:ext uri="{D42A27DB-BD31-4B8C-83A1-F6EECF244321}">
                <p14:modId xmlns:p14="http://schemas.microsoft.com/office/powerpoint/2010/main" val="4107013175"/>
              </p:ext>
            </p:extLst>
          </p:nvPr>
        </p:nvGraphicFramePr>
        <p:xfrm>
          <a:off x="5659767" y="1142998"/>
          <a:ext cx="345204" cy="1404258"/>
        </p:xfrm>
        <a:graphic>
          <a:graphicData uri="http://schemas.openxmlformats.org/drawingml/2006/table">
            <a:tbl>
              <a:tblPr firstRow="1" bandRow="1">
                <a:tableStyleId>{5940675A-B579-460E-94D1-54222C63F5DA}</a:tableStyleId>
              </a:tblPr>
              <a:tblGrid>
                <a:gridCol w="345204">
                  <a:extLst>
                    <a:ext uri="{9D8B030D-6E8A-4147-A177-3AD203B41FA5}">
                      <a16:colId xmlns:a16="http://schemas.microsoft.com/office/drawing/2014/main" val="3871611496"/>
                    </a:ext>
                  </a:extLst>
                </a:gridCol>
              </a:tblGrid>
              <a:tr h="468086">
                <a:tc>
                  <a:txBody>
                    <a:bodyPr/>
                    <a:lstStyle/>
                    <a:p>
                      <a:pPr algn="ctr"/>
                      <a:r>
                        <a:rPr lang="en-IN" b="1" dirty="0"/>
                        <a:t>4</a:t>
                      </a:r>
                    </a:p>
                  </a:txBody>
                  <a:tcPr/>
                </a:tc>
                <a:extLst>
                  <a:ext uri="{0D108BD9-81ED-4DB2-BD59-A6C34878D82A}">
                    <a16:rowId xmlns:a16="http://schemas.microsoft.com/office/drawing/2014/main" val="998241085"/>
                  </a:ext>
                </a:extLst>
              </a:tr>
              <a:tr h="468086">
                <a:tc>
                  <a:txBody>
                    <a:bodyPr/>
                    <a:lstStyle/>
                    <a:p>
                      <a:pPr algn="ctr"/>
                      <a:r>
                        <a:rPr lang="en-IN" b="1" dirty="0"/>
                        <a:t>1</a:t>
                      </a:r>
                    </a:p>
                  </a:txBody>
                  <a:tcPr/>
                </a:tc>
                <a:extLst>
                  <a:ext uri="{0D108BD9-81ED-4DB2-BD59-A6C34878D82A}">
                    <a16:rowId xmlns:a16="http://schemas.microsoft.com/office/drawing/2014/main" val="2953948409"/>
                  </a:ext>
                </a:extLst>
              </a:tr>
              <a:tr h="468086">
                <a:tc>
                  <a:txBody>
                    <a:bodyPr/>
                    <a:lstStyle/>
                    <a:p>
                      <a:pPr algn="ctr"/>
                      <a:r>
                        <a:rPr lang="en-IN" b="1" dirty="0"/>
                        <a:t>3</a:t>
                      </a:r>
                    </a:p>
                  </a:txBody>
                  <a:tcPr/>
                </a:tc>
                <a:extLst>
                  <a:ext uri="{0D108BD9-81ED-4DB2-BD59-A6C34878D82A}">
                    <a16:rowId xmlns:a16="http://schemas.microsoft.com/office/drawing/2014/main" val="2487396617"/>
                  </a:ext>
                </a:extLst>
              </a:tr>
            </a:tbl>
          </a:graphicData>
        </a:graphic>
      </p:graphicFrame>
      <p:sp>
        <p:nvSpPr>
          <p:cNvPr id="40" name="TextBox 39">
            <a:extLst>
              <a:ext uri="{FF2B5EF4-FFF2-40B4-BE49-F238E27FC236}">
                <a16:creationId xmlns:a16="http://schemas.microsoft.com/office/drawing/2014/main" id="{F21F7BE9-ABCC-4947-CEBD-D3E4A3431502}"/>
              </a:ext>
            </a:extLst>
          </p:cNvPr>
          <p:cNvSpPr txBox="1"/>
          <p:nvPr/>
        </p:nvSpPr>
        <p:spPr>
          <a:xfrm>
            <a:off x="6056615" y="693946"/>
            <a:ext cx="556964" cy="370114"/>
          </a:xfrm>
          <a:prstGeom prst="rect">
            <a:avLst/>
          </a:prstGeom>
          <a:noFill/>
        </p:spPr>
        <p:txBody>
          <a:bodyPr wrap="square" rtlCol="0">
            <a:spAutoFit/>
          </a:bodyPr>
          <a:lstStyle/>
          <a:p>
            <a:pPr algn="ctr"/>
            <a:r>
              <a:rPr lang="en-IN" b="1" dirty="0">
                <a:solidFill>
                  <a:srgbClr val="FF0000"/>
                </a:solidFill>
              </a:rPr>
              <a:t>5</a:t>
            </a:r>
          </a:p>
        </p:txBody>
      </p:sp>
      <p:graphicFrame>
        <p:nvGraphicFramePr>
          <p:cNvPr id="41" name="Table 3">
            <a:extLst>
              <a:ext uri="{FF2B5EF4-FFF2-40B4-BE49-F238E27FC236}">
                <a16:creationId xmlns:a16="http://schemas.microsoft.com/office/drawing/2014/main" id="{BEED9925-49FC-DF2A-DF37-48421B0C2E47}"/>
              </a:ext>
            </a:extLst>
          </p:cNvPr>
          <p:cNvGraphicFramePr>
            <a:graphicFrameLocks noGrp="1"/>
          </p:cNvGraphicFramePr>
          <p:nvPr>
            <p:extLst>
              <p:ext uri="{D42A27DB-BD31-4B8C-83A1-F6EECF244321}">
                <p14:modId xmlns:p14="http://schemas.microsoft.com/office/powerpoint/2010/main" val="2437137184"/>
              </p:ext>
            </p:extLst>
          </p:nvPr>
        </p:nvGraphicFramePr>
        <p:xfrm>
          <a:off x="6148858" y="1142998"/>
          <a:ext cx="345203" cy="1404258"/>
        </p:xfrm>
        <a:graphic>
          <a:graphicData uri="http://schemas.openxmlformats.org/drawingml/2006/table">
            <a:tbl>
              <a:tblPr firstRow="1" bandRow="1">
                <a:tableStyleId>{5940675A-B579-460E-94D1-54222C63F5DA}</a:tableStyleId>
              </a:tblPr>
              <a:tblGrid>
                <a:gridCol w="345203">
                  <a:extLst>
                    <a:ext uri="{9D8B030D-6E8A-4147-A177-3AD203B41FA5}">
                      <a16:colId xmlns:a16="http://schemas.microsoft.com/office/drawing/2014/main" val="3871611496"/>
                    </a:ext>
                  </a:extLst>
                </a:gridCol>
              </a:tblGrid>
              <a:tr h="468086">
                <a:tc>
                  <a:txBody>
                    <a:bodyPr/>
                    <a:lstStyle/>
                    <a:p>
                      <a:pPr algn="ctr"/>
                      <a:r>
                        <a:rPr lang="en-IN" b="1" dirty="0"/>
                        <a:t>5</a:t>
                      </a:r>
                    </a:p>
                  </a:txBody>
                  <a:tcPr/>
                </a:tc>
                <a:extLst>
                  <a:ext uri="{0D108BD9-81ED-4DB2-BD59-A6C34878D82A}">
                    <a16:rowId xmlns:a16="http://schemas.microsoft.com/office/drawing/2014/main" val="998241085"/>
                  </a:ext>
                </a:extLst>
              </a:tr>
              <a:tr h="468086">
                <a:tc>
                  <a:txBody>
                    <a:bodyPr/>
                    <a:lstStyle/>
                    <a:p>
                      <a:pPr algn="ctr"/>
                      <a:r>
                        <a:rPr lang="en-IN" b="1" dirty="0"/>
                        <a:t>1</a:t>
                      </a:r>
                    </a:p>
                  </a:txBody>
                  <a:tcPr/>
                </a:tc>
                <a:extLst>
                  <a:ext uri="{0D108BD9-81ED-4DB2-BD59-A6C34878D82A}">
                    <a16:rowId xmlns:a16="http://schemas.microsoft.com/office/drawing/2014/main" val="2953948409"/>
                  </a:ext>
                </a:extLst>
              </a:tr>
              <a:tr h="468086">
                <a:tc>
                  <a:txBody>
                    <a:bodyPr/>
                    <a:lstStyle/>
                    <a:p>
                      <a:pPr algn="ctr"/>
                      <a:r>
                        <a:rPr lang="en-IN" b="1" dirty="0"/>
                        <a:t>2</a:t>
                      </a:r>
                    </a:p>
                  </a:txBody>
                  <a:tcPr/>
                </a:tc>
                <a:extLst>
                  <a:ext uri="{0D108BD9-81ED-4DB2-BD59-A6C34878D82A}">
                    <a16:rowId xmlns:a16="http://schemas.microsoft.com/office/drawing/2014/main" val="2487396617"/>
                  </a:ext>
                </a:extLst>
              </a:tr>
            </a:tbl>
          </a:graphicData>
        </a:graphic>
      </p:graphicFrame>
      <p:sp>
        <p:nvSpPr>
          <p:cNvPr id="42" name="TextBox 41">
            <a:extLst>
              <a:ext uri="{FF2B5EF4-FFF2-40B4-BE49-F238E27FC236}">
                <a16:creationId xmlns:a16="http://schemas.microsoft.com/office/drawing/2014/main" id="{44F9081D-E961-1FDB-7B3C-74A877C458C5}"/>
              </a:ext>
            </a:extLst>
          </p:cNvPr>
          <p:cNvSpPr txBox="1"/>
          <p:nvPr/>
        </p:nvSpPr>
        <p:spPr>
          <a:xfrm>
            <a:off x="6565517" y="723893"/>
            <a:ext cx="556964" cy="370114"/>
          </a:xfrm>
          <a:prstGeom prst="rect">
            <a:avLst/>
          </a:prstGeom>
          <a:noFill/>
        </p:spPr>
        <p:txBody>
          <a:bodyPr wrap="square" rtlCol="0">
            <a:spAutoFit/>
          </a:bodyPr>
          <a:lstStyle/>
          <a:p>
            <a:pPr algn="ctr"/>
            <a:r>
              <a:rPr lang="en-IN" b="1" dirty="0">
                <a:solidFill>
                  <a:srgbClr val="FF0000"/>
                </a:solidFill>
              </a:rPr>
              <a:t>1</a:t>
            </a:r>
          </a:p>
        </p:txBody>
      </p:sp>
      <p:graphicFrame>
        <p:nvGraphicFramePr>
          <p:cNvPr id="45" name="Table 3">
            <a:extLst>
              <a:ext uri="{FF2B5EF4-FFF2-40B4-BE49-F238E27FC236}">
                <a16:creationId xmlns:a16="http://schemas.microsoft.com/office/drawing/2014/main" id="{8F7D9BE0-56D6-96A4-2DCE-EFB91E710363}"/>
              </a:ext>
            </a:extLst>
          </p:cNvPr>
          <p:cNvGraphicFramePr>
            <a:graphicFrameLocks noGrp="1"/>
          </p:cNvGraphicFramePr>
          <p:nvPr>
            <p:extLst>
              <p:ext uri="{D42A27DB-BD31-4B8C-83A1-F6EECF244321}">
                <p14:modId xmlns:p14="http://schemas.microsoft.com/office/powerpoint/2010/main" val="2823109362"/>
              </p:ext>
            </p:extLst>
          </p:nvPr>
        </p:nvGraphicFramePr>
        <p:xfrm>
          <a:off x="8810932" y="1142998"/>
          <a:ext cx="333754" cy="1404258"/>
        </p:xfrm>
        <a:graphic>
          <a:graphicData uri="http://schemas.openxmlformats.org/drawingml/2006/table">
            <a:tbl>
              <a:tblPr firstRow="1" bandRow="1">
                <a:tableStyleId>{5940675A-B579-460E-94D1-54222C63F5DA}</a:tableStyleId>
              </a:tblPr>
              <a:tblGrid>
                <a:gridCol w="333754">
                  <a:extLst>
                    <a:ext uri="{9D8B030D-6E8A-4147-A177-3AD203B41FA5}">
                      <a16:colId xmlns:a16="http://schemas.microsoft.com/office/drawing/2014/main" val="3871611496"/>
                    </a:ext>
                  </a:extLst>
                </a:gridCol>
              </a:tblGrid>
              <a:tr h="468086">
                <a:tc>
                  <a:txBody>
                    <a:bodyPr/>
                    <a:lstStyle/>
                    <a:p>
                      <a:pPr algn="ctr"/>
                      <a:r>
                        <a:rPr lang="en-IN" b="1" dirty="0"/>
                        <a:t>5</a:t>
                      </a:r>
                    </a:p>
                  </a:txBody>
                  <a:tcPr/>
                </a:tc>
                <a:extLst>
                  <a:ext uri="{0D108BD9-81ED-4DB2-BD59-A6C34878D82A}">
                    <a16:rowId xmlns:a16="http://schemas.microsoft.com/office/drawing/2014/main" val="998241085"/>
                  </a:ext>
                </a:extLst>
              </a:tr>
              <a:tr h="468086">
                <a:tc>
                  <a:txBody>
                    <a:bodyPr/>
                    <a:lstStyle/>
                    <a:p>
                      <a:pPr algn="ctr"/>
                      <a:r>
                        <a:rPr lang="en-IN" b="1" dirty="0"/>
                        <a:t>3</a:t>
                      </a:r>
                    </a:p>
                  </a:txBody>
                  <a:tcPr/>
                </a:tc>
                <a:extLst>
                  <a:ext uri="{0D108BD9-81ED-4DB2-BD59-A6C34878D82A}">
                    <a16:rowId xmlns:a16="http://schemas.microsoft.com/office/drawing/2014/main" val="2953948409"/>
                  </a:ext>
                </a:extLst>
              </a:tr>
              <a:tr h="468086">
                <a:tc>
                  <a:txBody>
                    <a:bodyPr/>
                    <a:lstStyle/>
                    <a:p>
                      <a:pPr algn="ctr"/>
                      <a:r>
                        <a:rPr lang="en-IN" b="1" dirty="0"/>
                        <a:t>4</a:t>
                      </a:r>
                    </a:p>
                  </a:txBody>
                  <a:tcPr/>
                </a:tc>
                <a:extLst>
                  <a:ext uri="{0D108BD9-81ED-4DB2-BD59-A6C34878D82A}">
                    <a16:rowId xmlns:a16="http://schemas.microsoft.com/office/drawing/2014/main" val="2487396617"/>
                  </a:ext>
                </a:extLst>
              </a:tr>
            </a:tbl>
          </a:graphicData>
        </a:graphic>
      </p:graphicFrame>
      <p:graphicFrame>
        <p:nvGraphicFramePr>
          <p:cNvPr id="46" name="Table 3">
            <a:extLst>
              <a:ext uri="{FF2B5EF4-FFF2-40B4-BE49-F238E27FC236}">
                <a16:creationId xmlns:a16="http://schemas.microsoft.com/office/drawing/2014/main" id="{D9CA27A4-2CEE-1897-F581-FBD067B268E9}"/>
              </a:ext>
            </a:extLst>
          </p:cNvPr>
          <p:cNvGraphicFramePr>
            <a:graphicFrameLocks noGrp="1"/>
          </p:cNvGraphicFramePr>
          <p:nvPr>
            <p:extLst>
              <p:ext uri="{D42A27DB-BD31-4B8C-83A1-F6EECF244321}">
                <p14:modId xmlns:p14="http://schemas.microsoft.com/office/powerpoint/2010/main" val="2512919335"/>
              </p:ext>
            </p:extLst>
          </p:nvPr>
        </p:nvGraphicFramePr>
        <p:xfrm>
          <a:off x="7167845" y="1132539"/>
          <a:ext cx="377867" cy="1404258"/>
        </p:xfrm>
        <a:graphic>
          <a:graphicData uri="http://schemas.openxmlformats.org/drawingml/2006/table">
            <a:tbl>
              <a:tblPr firstRow="1" bandRow="1">
                <a:tableStyleId>{5940675A-B579-460E-94D1-54222C63F5DA}</a:tableStyleId>
              </a:tblPr>
              <a:tblGrid>
                <a:gridCol w="377867">
                  <a:extLst>
                    <a:ext uri="{9D8B030D-6E8A-4147-A177-3AD203B41FA5}">
                      <a16:colId xmlns:a16="http://schemas.microsoft.com/office/drawing/2014/main" val="3871611496"/>
                    </a:ext>
                  </a:extLst>
                </a:gridCol>
              </a:tblGrid>
              <a:tr h="468086">
                <a:tc>
                  <a:txBody>
                    <a:bodyPr/>
                    <a:lstStyle/>
                    <a:p>
                      <a:pPr algn="ctr"/>
                      <a:r>
                        <a:rPr lang="en-IN" b="1" dirty="0"/>
                        <a:t>5</a:t>
                      </a:r>
                    </a:p>
                  </a:txBody>
                  <a:tcPr/>
                </a:tc>
                <a:extLst>
                  <a:ext uri="{0D108BD9-81ED-4DB2-BD59-A6C34878D82A}">
                    <a16:rowId xmlns:a16="http://schemas.microsoft.com/office/drawing/2014/main" val="998241085"/>
                  </a:ext>
                </a:extLst>
              </a:tr>
              <a:tr h="468086">
                <a:tc>
                  <a:txBody>
                    <a:bodyPr/>
                    <a:lstStyle/>
                    <a:p>
                      <a:pPr algn="ctr"/>
                      <a:r>
                        <a:rPr lang="en-IN" b="1" dirty="0"/>
                        <a:t>1</a:t>
                      </a:r>
                    </a:p>
                  </a:txBody>
                  <a:tcPr/>
                </a:tc>
                <a:extLst>
                  <a:ext uri="{0D108BD9-81ED-4DB2-BD59-A6C34878D82A}">
                    <a16:rowId xmlns:a16="http://schemas.microsoft.com/office/drawing/2014/main" val="2953948409"/>
                  </a:ext>
                </a:extLst>
              </a:tr>
              <a:tr h="468086">
                <a:tc>
                  <a:txBody>
                    <a:bodyPr/>
                    <a:lstStyle/>
                    <a:p>
                      <a:pPr algn="ctr"/>
                      <a:r>
                        <a:rPr lang="en-IN" b="1" dirty="0"/>
                        <a:t>2</a:t>
                      </a:r>
                    </a:p>
                  </a:txBody>
                  <a:tcPr/>
                </a:tc>
                <a:extLst>
                  <a:ext uri="{0D108BD9-81ED-4DB2-BD59-A6C34878D82A}">
                    <a16:rowId xmlns:a16="http://schemas.microsoft.com/office/drawing/2014/main" val="2487396617"/>
                  </a:ext>
                </a:extLst>
              </a:tr>
            </a:tbl>
          </a:graphicData>
        </a:graphic>
      </p:graphicFrame>
      <p:graphicFrame>
        <p:nvGraphicFramePr>
          <p:cNvPr id="47" name="Table 3">
            <a:extLst>
              <a:ext uri="{FF2B5EF4-FFF2-40B4-BE49-F238E27FC236}">
                <a16:creationId xmlns:a16="http://schemas.microsoft.com/office/drawing/2014/main" id="{0A2C3360-505C-BFB1-3F2A-6BAD65D90407}"/>
              </a:ext>
            </a:extLst>
          </p:cNvPr>
          <p:cNvGraphicFramePr>
            <a:graphicFrameLocks noGrp="1"/>
          </p:cNvGraphicFramePr>
          <p:nvPr>
            <p:extLst>
              <p:ext uri="{D42A27DB-BD31-4B8C-83A1-F6EECF244321}">
                <p14:modId xmlns:p14="http://schemas.microsoft.com/office/powerpoint/2010/main" val="3709379103"/>
              </p:ext>
            </p:extLst>
          </p:nvPr>
        </p:nvGraphicFramePr>
        <p:xfrm>
          <a:off x="7736494" y="1142998"/>
          <a:ext cx="333754" cy="1404258"/>
        </p:xfrm>
        <a:graphic>
          <a:graphicData uri="http://schemas.openxmlformats.org/drawingml/2006/table">
            <a:tbl>
              <a:tblPr firstRow="1" bandRow="1">
                <a:tableStyleId>{5940675A-B579-460E-94D1-54222C63F5DA}</a:tableStyleId>
              </a:tblPr>
              <a:tblGrid>
                <a:gridCol w="333754">
                  <a:extLst>
                    <a:ext uri="{9D8B030D-6E8A-4147-A177-3AD203B41FA5}">
                      <a16:colId xmlns:a16="http://schemas.microsoft.com/office/drawing/2014/main" val="3871611496"/>
                    </a:ext>
                  </a:extLst>
                </a:gridCol>
              </a:tblGrid>
              <a:tr h="468086">
                <a:tc>
                  <a:txBody>
                    <a:bodyPr/>
                    <a:lstStyle/>
                    <a:p>
                      <a:pPr algn="ctr"/>
                      <a:r>
                        <a:rPr lang="en-IN" b="1" dirty="0"/>
                        <a:t>5</a:t>
                      </a:r>
                    </a:p>
                  </a:txBody>
                  <a:tcPr/>
                </a:tc>
                <a:extLst>
                  <a:ext uri="{0D108BD9-81ED-4DB2-BD59-A6C34878D82A}">
                    <a16:rowId xmlns:a16="http://schemas.microsoft.com/office/drawing/2014/main" val="998241085"/>
                  </a:ext>
                </a:extLst>
              </a:tr>
              <a:tr h="468086">
                <a:tc>
                  <a:txBody>
                    <a:bodyPr/>
                    <a:lstStyle/>
                    <a:p>
                      <a:pPr algn="ctr"/>
                      <a:r>
                        <a:rPr lang="en-IN" b="1" dirty="0"/>
                        <a:t>3</a:t>
                      </a:r>
                    </a:p>
                  </a:txBody>
                  <a:tcPr/>
                </a:tc>
                <a:extLst>
                  <a:ext uri="{0D108BD9-81ED-4DB2-BD59-A6C34878D82A}">
                    <a16:rowId xmlns:a16="http://schemas.microsoft.com/office/drawing/2014/main" val="2953948409"/>
                  </a:ext>
                </a:extLst>
              </a:tr>
              <a:tr h="468086">
                <a:tc>
                  <a:txBody>
                    <a:bodyPr/>
                    <a:lstStyle/>
                    <a:p>
                      <a:pPr algn="ctr"/>
                      <a:r>
                        <a:rPr lang="en-IN" b="1" dirty="0"/>
                        <a:t>2</a:t>
                      </a:r>
                    </a:p>
                  </a:txBody>
                  <a:tcPr/>
                </a:tc>
                <a:extLst>
                  <a:ext uri="{0D108BD9-81ED-4DB2-BD59-A6C34878D82A}">
                    <a16:rowId xmlns:a16="http://schemas.microsoft.com/office/drawing/2014/main" val="2487396617"/>
                  </a:ext>
                </a:extLst>
              </a:tr>
            </a:tbl>
          </a:graphicData>
        </a:graphic>
      </p:graphicFrame>
      <p:graphicFrame>
        <p:nvGraphicFramePr>
          <p:cNvPr id="48" name="Table 3">
            <a:extLst>
              <a:ext uri="{FF2B5EF4-FFF2-40B4-BE49-F238E27FC236}">
                <a16:creationId xmlns:a16="http://schemas.microsoft.com/office/drawing/2014/main" id="{2470598C-E505-4FBF-0C64-5765B3E7F3B1}"/>
              </a:ext>
            </a:extLst>
          </p:cNvPr>
          <p:cNvGraphicFramePr>
            <a:graphicFrameLocks noGrp="1"/>
          </p:cNvGraphicFramePr>
          <p:nvPr>
            <p:extLst>
              <p:ext uri="{D42A27DB-BD31-4B8C-83A1-F6EECF244321}">
                <p14:modId xmlns:p14="http://schemas.microsoft.com/office/powerpoint/2010/main" val="3931667258"/>
              </p:ext>
            </p:extLst>
          </p:nvPr>
        </p:nvGraphicFramePr>
        <p:xfrm>
          <a:off x="8312637" y="1115784"/>
          <a:ext cx="333754" cy="1404258"/>
        </p:xfrm>
        <a:graphic>
          <a:graphicData uri="http://schemas.openxmlformats.org/drawingml/2006/table">
            <a:tbl>
              <a:tblPr firstRow="1" bandRow="1">
                <a:tableStyleId>{5940675A-B579-460E-94D1-54222C63F5DA}</a:tableStyleId>
              </a:tblPr>
              <a:tblGrid>
                <a:gridCol w="333754">
                  <a:extLst>
                    <a:ext uri="{9D8B030D-6E8A-4147-A177-3AD203B41FA5}">
                      <a16:colId xmlns:a16="http://schemas.microsoft.com/office/drawing/2014/main" val="3871611496"/>
                    </a:ext>
                  </a:extLst>
                </a:gridCol>
              </a:tblGrid>
              <a:tr h="468086">
                <a:tc>
                  <a:txBody>
                    <a:bodyPr/>
                    <a:lstStyle/>
                    <a:p>
                      <a:pPr algn="ctr"/>
                      <a:r>
                        <a:rPr lang="en-IN" b="1" dirty="0"/>
                        <a:t>5</a:t>
                      </a:r>
                    </a:p>
                  </a:txBody>
                  <a:tcPr/>
                </a:tc>
                <a:extLst>
                  <a:ext uri="{0D108BD9-81ED-4DB2-BD59-A6C34878D82A}">
                    <a16:rowId xmlns:a16="http://schemas.microsoft.com/office/drawing/2014/main" val="998241085"/>
                  </a:ext>
                </a:extLst>
              </a:tr>
              <a:tr h="468086">
                <a:tc>
                  <a:txBody>
                    <a:bodyPr/>
                    <a:lstStyle/>
                    <a:p>
                      <a:pPr algn="ctr"/>
                      <a:r>
                        <a:rPr lang="en-IN" b="1" dirty="0"/>
                        <a:t>3</a:t>
                      </a:r>
                    </a:p>
                  </a:txBody>
                  <a:tcPr/>
                </a:tc>
                <a:extLst>
                  <a:ext uri="{0D108BD9-81ED-4DB2-BD59-A6C34878D82A}">
                    <a16:rowId xmlns:a16="http://schemas.microsoft.com/office/drawing/2014/main" val="2953948409"/>
                  </a:ext>
                </a:extLst>
              </a:tr>
              <a:tr h="468086">
                <a:tc>
                  <a:txBody>
                    <a:bodyPr/>
                    <a:lstStyle/>
                    <a:p>
                      <a:pPr algn="ctr"/>
                      <a:r>
                        <a:rPr lang="en-IN" b="1" dirty="0"/>
                        <a:t>4</a:t>
                      </a:r>
                    </a:p>
                  </a:txBody>
                  <a:tcPr/>
                </a:tc>
                <a:extLst>
                  <a:ext uri="{0D108BD9-81ED-4DB2-BD59-A6C34878D82A}">
                    <a16:rowId xmlns:a16="http://schemas.microsoft.com/office/drawing/2014/main" val="2487396617"/>
                  </a:ext>
                </a:extLst>
              </a:tr>
            </a:tbl>
          </a:graphicData>
        </a:graphic>
      </p:graphicFrame>
      <p:sp>
        <p:nvSpPr>
          <p:cNvPr id="49" name="TextBox 48">
            <a:extLst>
              <a:ext uri="{FF2B5EF4-FFF2-40B4-BE49-F238E27FC236}">
                <a16:creationId xmlns:a16="http://schemas.microsoft.com/office/drawing/2014/main" id="{1EA94EB9-CA4C-4809-6B72-46118D8E74D9}"/>
              </a:ext>
            </a:extLst>
          </p:cNvPr>
          <p:cNvSpPr txBox="1"/>
          <p:nvPr/>
        </p:nvSpPr>
        <p:spPr>
          <a:xfrm>
            <a:off x="7097859" y="704847"/>
            <a:ext cx="556964" cy="370114"/>
          </a:xfrm>
          <a:prstGeom prst="rect">
            <a:avLst/>
          </a:prstGeom>
          <a:noFill/>
        </p:spPr>
        <p:txBody>
          <a:bodyPr wrap="square" rtlCol="0">
            <a:spAutoFit/>
          </a:bodyPr>
          <a:lstStyle/>
          <a:p>
            <a:pPr algn="ctr"/>
            <a:r>
              <a:rPr lang="en-IN" b="1" dirty="0">
                <a:solidFill>
                  <a:srgbClr val="FF0000"/>
                </a:solidFill>
              </a:rPr>
              <a:t>2</a:t>
            </a:r>
          </a:p>
        </p:txBody>
      </p:sp>
      <p:sp>
        <p:nvSpPr>
          <p:cNvPr id="50" name="TextBox 49">
            <a:extLst>
              <a:ext uri="{FF2B5EF4-FFF2-40B4-BE49-F238E27FC236}">
                <a16:creationId xmlns:a16="http://schemas.microsoft.com/office/drawing/2014/main" id="{72F64B50-092D-1CEC-FB54-B160F9DA1FB0}"/>
              </a:ext>
            </a:extLst>
          </p:cNvPr>
          <p:cNvSpPr txBox="1"/>
          <p:nvPr/>
        </p:nvSpPr>
        <p:spPr>
          <a:xfrm>
            <a:off x="7572306" y="740653"/>
            <a:ext cx="556964" cy="370114"/>
          </a:xfrm>
          <a:prstGeom prst="rect">
            <a:avLst/>
          </a:prstGeom>
          <a:noFill/>
        </p:spPr>
        <p:txBody>
          <a:bodyPr wrap="square" rtlCol="0">
            <a:spAutoFit/>
          </a:bodyPr>
          <a:lstStyle/>
          <a:p>
            <a:pPr algn="ctr"/>
            <a:r>
              <a:rPr lang="en-IN" b="1" dirty="0">
                <a:solidFill>
                  <a:srgbClr val="FF0000"/>
                </a:solidFill>
              </a:rPr>
              <a:t>3</a:t>
            </a:r>
          </a:p>
        </p:txBody>
      </p:sp>
      <p:sp>
        <p:nvSpPr>
          <p:cNvPr id="51" name="TextBox 50">
            <a:extLst>
              <a:ext uri="{FF2B5EF4-FFF2-40B4-BE49-F238E27FC236}">
                <a16:creationId xmlns:a16="http://schemas.microsoft.com/office/drawing/2014/main" id="{2139BDEB-46D0-5732-CDE1-5F0DBA21C579}"/>
              </a:ext>
            </a:extLst>
          </p:cNvPr>
          <p:cNvSpPr txBox="1"/>
          <p:nvPr/>
        </p:nvSpPr>
        <p:spPr>
          <a:xfrm>
            <a:off x="8154984" y="749031"/>
            <a:ext cx="556964" cy="370114"/>
          </a:xfrm>
          <a:prstGeom prst="rect">
            <a:avLst/>
          </a:prstGeom>
          <a:noFill/>
        </p:spPr>
        <p:txBody>
          <a:bodyPr wrap="square" rtlCol="0">
            <a:spAutoFit/>
          </a:bodyPr>
          <a:lstStyle/>
          <a:p>
            <a:pPr algn="ctr"/>
            <a:r>
              <a:rPr lang="en-IN" b="1" dirty="0">
                <a:solidFill>
                  <a:srgbClr val="FF0000"/>
                </a:solidFill>
              </a:rPr>
              <a:t>4</a:t>
            </a:r>
          </a:p>
        </p:txBody>
      </p:sp>
      <p:sp>
        <p:nvSpPr>
          <p:cNvPr id="52" name="TextBox 51">
            <a:extLst>
              <a:ext uri="{FF2B5EF4-FFF2-40B4-BE49-F238E27FC236}">
                <a16:creationId xmlns:a16="http://schemas.microsoft.com/office/drawing/2014/main" id="{301AAAB8-31A6-AB89-71AD-AF73BFCAE1D8}"/>
              </a:ext>
            </a:extLst>
          </p:cNvPr>
          <p:cNvSpPr txBox="1"/>
          <p:nvPr/>
        </p:nvSpPr>
        <p:spPr>
          <a:xfrm>
            <a:off x="8646391" y="740653"/>
            <a:ext cx="556964" cy="370114"/>
          </a:xfrm>
          <a:prstGeom prst="rect">
            <a:avLst/>
          </a:prstGeom>
          <a:noFill/>
        </p:spPr>
        <p:txBody>
          <a:bodyPr wrap="square" rtlCol="0">
            <a:spAutoFit/>
          </a:bodyPr>
          <a:lstStyle/>
          <a:p>
            <a:pPr algn="ctr"/>
            <a:r>
              <a:rPr lang="en-IN" b="1" dirty="0">
                <a:solidFill>
                  <a:srgbClr val="FF0000"/>
                </a:solidFill>
              </a:rPr>
              <a:t>5</a:t>
            </a:r>
          </a:p>
        </p:txBody>
      </p:sp>
      <p:sp>
        <p:nvSpPr>
          <p:cNvPr id="53" name="TextBox 52">
            <a:extLst>
              <a:ext uri="{FF2B5EF4-FFF2-40B4-BE49-F238E27FC236}">
                <a16:creationId xmlns:a16="http://schemas.microsoft.com/office/drawing/2014/main" id="{75F6381F-1389-8D5E-D85C-3C23A81193E0}"/>
              </a:ext>
            </a:extLst>
          </p:cNvPr>
          <p:cNvSpPr txBox="1"/>
          <p:nvPr/>
        </p:nvSpPr>
        <p:spPr>
          <a:xfrm>
            <a:off x="2751963" y="2623455"/>
            <a:ext cx="556964" cy="370114"/>
          </a:xfrm>
          <a:prstGeom prst="rect">
            <a:avLst/>
          </a:prstGeom>
          <a:noFill/>
        </p:spPr>
        <p:txBody>
          <a:bodyPr wrap="square" rtlCol="0">
            <a:spAutoFit/>
          </a:bodyPr>
          <a:lstStyle/>
          <a:p>
            <a:pPr algn="ctr"/>
            <a:r>
              <a:rPr lang="en-IN" b="1" dirty="0">
                <a:solidFill>
                  <a:srgbClr val="FF0000"/>
                </a:solidFill>
              </a:rPr>
              <a:t>F</a:t>
            </a:r>
          </a:p>
        </p:txBody>
      </p:sp>
      <p:sp>
        <p:nvSpPr>
          <p:cNvPr id="54" name="TextBox 53">
            <a:extLst>
              <a:ext uri="{FF2B5EF4-FFF2-40B4-BE49-F238E27FC236}">
                <a16:creationId xmlns:a16="http://schemas.microsoft.com/office/drawing/2014/main" id="{6046DA1B-4148-5AFA-EEF3-9ED44CE239EC}"/>
              </a:ext>
            </a:extLst>
          </p:cNvPr>
          <p:cNvSpPr txBox="1"/>
          <p:nvPr/>
        </p:nvSpPr>
        <p:spPr>
          <a:xfrm>
            <a:off x="3339917" y="2597096"/>
            <a:ext cx="556964" cy="370114"/>
          </a:xfrm>
          <a:prstGeom prst="rect">
            <a:avLst/>
          </a:prstGeom>
          <a:noFill/>
        </p:spPr>
        <p:txBody>
          <a:bodyPr wrap="square" rtlCol="0">
            <a:spAutoFit/>
          </a:bodyPr>
          <a:lstStyle/>
          <a:p>
            <a:pPr algn="ctr"/>
            <a:r>
              <a:rPr lang="en-IN" b="1" dirty="0">
                <a:solidFill>
                  <a:srgbClr val="FF0000"/>
                </a:solidFill>
              </a:rPr>
              <a:t>F</a:t>
            </a:r>
          </a:p>
        </p:txBody>
      </p:sp>
      <p:sp>
        <p:nvSpPr>
          <p:cNvPr id="55" name="TextBox 54">
            <a:extLst>
              <a:ext uri="{FF2B5EF4-FFF2-40B4-BE49-F238E27FC236}">
                <a16:creationId xmlns:a16="http://schemas.microsoft.com/office/drawing/2014/main" id="{A4B236A9-F4EC-25FD-D42E-742F6B050276}"/>
              </a:ext>
            </a:extLst>
          </p:cNvPr>
          <p:cNvSpPr txBox="1"/>
          <p:nvPr/>
        </p:nvSpPr>
        <p:spPr>
          <a:xfrm>
            <a:off x="3978194" y="2655945"/>
            <a:ext cx="556964" cy="370114"/>
          </a:xfrm>
          <a:prstGeom prst="rect">
            <a:avLst/>
          </a:prstGeom>
          <a:noFill/>
        </p:spPr>
        <p:txBody>
          <a:bodyPr wrap="square" rtlCol="0">
            <a:spAutoFit/>
          </a:bodyPr>
          <a:lstStyle/>
          <a:p>
            <a:pPr algn="ctr"/>
            <a:r>
              <a:rPr lang="en-IN" b="1" dirty="0">
                <a:solidFill>
                  <a:srgbClr val="FF0000"/>
                </a:solidFill>
              </a:rPr>
              <a:t>F</a:t>
            </a:r>
          </a:p>
        </p:txBody>
      </p:sp>
      <p:sp>
        <p:nvSpPr>
          <p:cNvPr id="56" name="TextBox 55">
            <a:extLst>
              <a:ext uri="{FF2B5EF4-FFF2-40B4-BE49-F238E27FC236}">
                <a16:creationId xmlns:a16="http://schemas.microsoft.com/office/drawing/2014/main" id="{DB9AC1CC-9A5E-D7BE-4378-14F891D170EE}"/>
              </a:ext>
            </a:extLst>
          </p:cNvPr>
          <p:cNvSpPr txBox="1"/>
          <p:nvPr/>
        </p:nvSpPr>
        <p:spPr>
          <a:xfrm>
            <a:off x="4544867" y="2618867"/>
            <a:ext cx="556964" cy="370114"/>
          </a:xfrm>
          <a:prstGeom prst="rect">
            <a:avLst/>
          </a:prstGeom>
          <a:noFill/>
        </p:spPr>
        <p:txBody>
          <a:bodyPr wrap="square" rtlCol="0">
            <a:spAutoFit/>
          </a:bodyPr>
          <a:lstStyle/>
          <a:p>
            <a:pPr algn="ctr"/>
            <a:r>
              <a:rPr lang="en-IN" b="1" dirty="0">
                <a:solidFill>
                  <a:srgbClr val="FF0000"/>
                </a:solidFill>
              </a:rPr>
              <a:t>F</a:t>
            </a:r>
          </a:p>
        </p:txBody>
      </p:sp>
      <p:sp>
        <p:nvSpPr>
          <p:cNvPr id="59" name="TextBox 58">
            <a:extLst>
              <a:ext uri="{FF2B5EF4-FFF2-40B4-BE49-F238E27FC236}">
                <a16:creationId xmlns:a16="http://schemas.microsoft.com/office/drawing/2014/main" id="{EB10A9C2-9B9C-3F3B-8208-B46B8C96A62D}"/>
              </a:ext>
            </a:extLst>
          </p:cNvPr>
          <p:cNvSpPr txBox="1"/>
          <p:nvPr/>
        </p:nvSpPr>
        <p:spPr>
          <a:xfrm>
            <a:off x="5088151" y="2654672"/>
            <a:ext cx="556964" cy="370114"/>
          </a:xfrm>
          <a:prstGeom prst="rect">
            <a:avLst/>
          </a:prstGeom>
          <a:noFill/>
        </p:spPr>
        <p:txBody>
          <a:bodyPr wrap="square" rtlCol="0">
            <a:spAutoFit/>
          </a:bodyPr>
          <a:lstStyle/>
          <a:p>
            <a:pPr algn="ctr"/>
            <a:r>
              <a:rPr lang="en-IN" b="1" dirty="0">
                <a:solidFill>
                  <a:srgbClr val="FF0000"/>
                </a:solidFill>
              </a:rPr>
              <a:t>F</a:t>
            </a:r>
          </a:p>
        </p:txBody>
      </p:sp>
      <p:sp>
        <p:nvSpPr>
          <p:cNvPr id="60" name="TextBox 59">
            <a:extLst>
              <a:ext uri="{FF2B5EF4-FFF2-40B4-BE49-F238E27FC236}">
                <a16:creationId xmlns:a16="http://schemas.microsoft.com/office/drawing/2014/main" id="{12F014C0-CE06-511D-D9FF-259594DF6B3E}"/>
              </a:ext>
            </a:extLst>
          </p:cNvPr>
          <p:cNvSpPr txBox="1"/>
          <p:nvPr/>
        </p:nvSpPr>
        <p:spPr>
          <a:xfrm>
            <a:off x="7624889" y="2618867"/>
            <a:ext cx="556964" cy="370114"/>
          </a:xfrm>
          <a:prstGeom prst="rect">
            <a:avLst/>
          </a:prstGeom>
          <a:noFill/>
        </p:spPr>
        <p:txBody>
          <a:bodyPr wrap="square" rtlCol="0">
            <a:spAutoFit/>
          </a:bodyPr>
          <a:lstStyle/>
          <a:p>
            <a:pPr algn="ctr"/>
            <a:r>
              <a:rPr lang="en-IN" b="1" dirty="0">
                <a:solidFill>
                  <a:srgbClr val="FF0000"/>
                </a:solidFill>
              </a:rPr>
              <a:t>F</a:t>
            </a:r>
          </a:p>
        </p:txBody>
      </p:sp>
      <p:sp>
        <p:nvSpPr>
          <p:cNvPr id="61" name="TextBox 60">
            <a:extLst>
              <a:ext uri="{FF2B5EF4-FFF2-40B4-BE49-F238E27FC236}">
                <a16:creationId xmlns:a16="http://schemas.microsoft.com/office/drawing/2014/main" id="{63C45172-3D89-5A98-EEF5-97B7EF16A239}"/>
              </a:ext>
            </a:extLst>
          </p:cNvPr>
          <p:cNvSpPr txBox="1"/>
          <p:nvPr/>
        </p:nvSpPr>
        <p:spPr>
          <a:xfrm>
            <a:off x="8253968" y="2562562"/>
            <a:ext cx="556964" cy="370114"/>
          </a:xfrm>
          <a:prstGeom prst="rect">
            <a:avLst/>
          </a:prstGeom>
          <a:noFill/>
        </p:spPr>
        <p:txBody>
          <a:bodyPr wrap="square" rtlCol="0">
            <a:spAutoFit/>
          </a:bodyPr>
          <a:lstStyle/>
          <a:p>
            <a:pPr algn="ctr"/>
            <a:r>
              <a:rPr lang="en-IN" b="1" dirty="0">
                <a:solidFill>
                  <a:srgbClr val="FF0000"/>
                </a:solidFill>
              </a:rPr>
              <a:t>F</a:t>
            </a:r>
          </a:p>
        </p:txBody>
      </p:sp>
      <p:sp>
        <p:nvSpPr>
          <p:cNvPr id="66" name="TextBox 65">
            <a:extLst>
              <a:ext uri="{FF2B5EF4-FFF2-40B4-BE49-F238E27FC236}">
                <a16:creationId xmlns:a16="http://schemas.microsoft.com/office/drawing/2014/main" id="{137EE82E-699C-20CA-4AF4-23532444A55B}"/>
              </a:ext>
            </a:extLst>
          </p:cNvPr>
          <p:cNvSpPr txBox="1"/>
          <p:nvPr/>
        </p:nvSpPr>
        <p:spPr>
          <a:xfrm>
            <a:off x="5576933" y="2673294"/>
            <a:ext cx="556964" cy="370114"/>
          </a:xfrm>
          <a:prstGeom prst="rect">
            <a:avLst/>
          </a:prstGeom>
          <a:noFill/>
        </p:spPr>
        <p:txBody>
          <a:bodyPr wrap="square" rtlCol="0">
            <a:spAutoFit/>
          </a:bodyPr>
          <a:lstStyle/>
          <a:p>
            <a:pPr algn="ctr"/>
            <a:r>
              <a:rPr lang="en-IN" b="1" dirty="0">
                <a:solidFill>
                  <a:srgbClr val="FF0000"/>
                </a:solidFill>
              </a:rPr>
              <a:t>F</a:t>
            </a:r>
          </a:p>
        </p:txBody>
      </p:sp>
      <p:sp>
        <p:nvSpPr>
          <p:cNvPr id="67" name="TextBox 66">
            <a:extLst>
              <a:ext uri="{FF2B5EF4-FFF2-40B4-BE49-F238E27FC236}">
                <a16:creationId xmlns:a16="http://schemas.microsoft.com/office/drawing/2014/main" id="{733CC809-8910-B927-3F3B-FEF81784E2C3}"/>
              </a:ext>
            </a:extLst>
          </p:cNvPr>
          <p:cNvSpPr txBox="1"/>
          <p:nvPr/>
        </p:nvSpPr>
        <p:spPr>
          <a:xfrm>
            <a:off x="6065715" y="2682307"/>
            <a:ext cx="556964" cy="370114"/>
          </a:xfrm>
          <a:prstGeom prst="rect">
            <a:avLst/>
          </a:prstGeom>
          <a:noFill/>
        </p:spPr>
        <p:txBody>
          <a:bodyPr wrap="square" rtlCol="0">
            <a:spAutoFit/>
          </a:bodyPr>
          <a:lstStyle/>
          <a:p>
            <a:pPr algn="ctr"/>
            <a:r>
              <a:rPr lang="en-IN" b="1" dirty="0">
                <a:solidFill>
                  <a:srgbClr val="FF0000"/>
                </a:solidFill>
              </a:rPr>
              <a:t>F</a:t>
            </a:r>
          </a:p>
        </p:txBody>
      </p:sp>
      <p:cxnSp>
        <p:nvCxnSpPr>
          <p:cNvPr id="8" name="Straight Arrow Connector 7">
            <a:extLst>
              <a:ext uri="{FF2B5EF4-FFF2-40B4-BE49-F238E27FC236}">
                <a16:creationId xmlns:a16="http://schemas.microsoft.com/office/drawing/2014/main" id="{870BC6E8-3904-7D76-E6E2-A67B33926B53}"/>
              </a:ext>
            </a:extLst>
          </p:cNvPr>
          <p:cNvCxnSpPr>
            <a:cxnSpLocks/>
          </p:cNvCxnSpPr>
          <p:nvPr/>
        </p:nvCxnSpPr>
        <p:spPr>
          <a:xfrm flipH="1">
            <a:off x="9203355" y="1273629"/>
            <a:ext cx="626445"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11F06069-E208-6B1D-5BC3-7CAF3B24464E}"/>
              </a:ext>
            </a:extLst>
          </p:cNvPr>
          <p:cNvSpPr txBox="1"/>
          <p:nvPr/>
        </p:nvSpPr>
        <p:spPr>
          <a:xfrm>
            <a:off x="9829800" y="1042521"/>
            <a:ext cx="2230281" cy="646331"/>
          </a:xfrm>
          <a:prstGeom prst="rect">
            <a:avLst/>
          </a:prstGeom>
          <a:noFill/>
        </p:spPr>
        <p:txBody>
          <a:bodyPr wrap="square" rtlCol="0">
            <a:spAutoFit/>
          </a:bodyPr>
          <a:lstStyle/>
          <a:p>
            <a:r>
              <a:rPr lang="en-IN" dirty="0"/>
              <a:t>9 page faults when there are 3 frames</a:t>
            </a:r>
          </a:p>
        </p:txBody>
      </p:sp>
      <p:sp>
        <p:nvSpPr>
          <p:cNvPr id="7" name="TextBox 6">
            <a:extLst>
              <a:ext uri="{FF2B5EF4-FFF2-40B4-BE49-F238E27FC236}">
                <a16:creationId xmlns:a16="http://schemas.microsoft.com/office/drawing/2014/main" id="{FA98C377-7FEE-515D-B001-EE483B6E5EBB}"/>
              </a:ext>
            </a:extLst>
          </p:cNvPr>
          <p:cNvSpPr txBox="1"/>
          <p:nvPr/>
        </p:nvSpPr>
        <p:spPr>
          <a:xfrm>
            <a:off x="2687100" y="4386660"/>
            <a:ext cx="2230281" cy="646331"/>
          </a:xfrm>
          <a:prstGeom prst="rect">
            <a:avLst/>
          </a:prstGeom>
          <a:noFill/>
        </p:spPr>
        <p:txBody>
          <a:bodyPr wrap="square" rtlCol="0">
            <a:spAutoFit/>
          </a:bodyPr>
          <a:lstStyle/>
          <a:p>
            <a:r>
              <a:rPr lang="en-IN" dirty="0"/>
              <a:t>10 page faults when there are 4 frames</a:t>
            </a:r>
          </a:p>
        </p:txBody>
      </p:sp>
      <p:pic>
        <p:nvPicPr>
          <p:cNvPr id="11" name="Picture 10">
            <a:extLst>
              <a:ext uri="{FF2B5EF4-FFF2-40B4-BE49-F238E27FC236}">
                <a16:creationId xmlns:a16="http://schemas.microsoft.com/office/drawing/2014/main" id="{C0FF8D7A-4639-934B-D2A1-4C696CA65881}"/>
              </a:ext>
            </a:extLst>
          </p:cNvPr>
          <p:cNvPicPr>
            <a:picLocks noChangeAspect="1"/>
          </p:cNvPicPr>
          <p:nvPr/>
        </p:nvPicPr>
        <p:blipFill>
          <a:blip r:embed="rId2"/>
          <a:stretch>
            <a:fillRect/>
          </a:stretch>
        </p:blipFill>
        <p:spPr>
          <a:xfrm>
            <a:off x="5015515" y="3287194"/>
            <a:ext cx="6098867" cy="3286772"/>
          </a:xfrm>
          <a:prstGeom prst="rect">
            <a:avLst/>
          </a:prstGeom>
        </p:spPr>
      </p:pic>
      <p:cxnSp>
        <p:nvCxnSpPr>
          <p:cNvPr id="12" name="Straight Arrow Connector 11">
            <a:extLst>
              <a:ext uri="{FF2B5EF4-FFF2-40B4-BE49-F238E27FC236}">
                <a16:creationId xmlns:a16="http://schemas.microsoft.com/office/drawing/2014/main" id="{CD323C2A-82A1-72F4-6461-36E1F4CBA582}"/>
              </a:ext>
            </a:extLst>
          </p:cNvPr>
          <p:cNvCxnSpPr>
            <a:cxnSpLocks/>
          </p:cNvCxnSpPr>
          <p:nvPr/>
        </p:nvCxnSpPr>
        <p:spPr>
          <a:xfrm>
            <a:off x="4272256" y="5032991"/>
            <a:ext cx="887146"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5" name="Google Shape;98;g2eff20282af_0_123">
            <a:extLst>
              <a:ext uri="{FF2B5EF4-FFF2-40B4-BE49-F238E27FC236}">
                <a16:creationId xmlns:a16="http://schemas.microsoft.com/office/drawing/2014/main" id="{371A991A-736C-F3C4-607F-2ADB0C8E13E8}"/>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16334565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Content Placeholder 12">
            <a:extLst>
              <a:ext uri="{FF2B5EF4-FFF2-40B4-BE49-F238E27FC236}">
                <a16:creationId xmlns:a16="http://schemas.microsoft.com/office/drawing/2014/main" id="{2FF0F0E9-FFE4-E989-BEE8-47847EE9D74D}"/>
              </a:ext>
            </a:extLst>
          </p:cNvPr>
          <p:cNvPicPr>
            <a:picLocks noGrp="1" noChangeAspect="1"/>
          </p:cNvPicPr>
          <p:nvPr>
            <p:ph idx="1"/>
          </p:nvPr>
        </p:nvPicPr>
        <p:blipFill>
          <a:blip r:embed="rId2"/>
          <a:stretch>
            <a:fillRect/>
          </a:stretch>
        </p:blipFill>
        <p:spPr>
          <a:xfrm>
            <a:off x="2612571" y="381000"/>
            <a:ext cx="9220200" cy="6248400"/>
          </a:xfrm>
        </p:spPr>
      </p:pic>
      <p:sp>
        <p:nvSpPr>
          <p:cNvPr id="2" name="Google Shape;98;g2eff20282af_0_123">
            <a:extLst>
              <a:ext uri="{FF2B5EF4-FFF2-40B4-BE49-F238E27FC236}">
                <a16:creationId xmlns:a16="http://schemas.microsoft.com/office/drawing/2014/main" id="{1624934C-3BCF-A87F-B8C3-5C7339F20BBE}"/>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06749391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13EEF3-7272-75DA-17BB-CC9CD0133E85}"/>
              </a:ext>
            </a:extLst>
          </p:cNvPr>
          <p:cNvSpPr>
            <a:spLocks noGrp="1"/>
          </p:cNvSpPr>
          <p:nvPr>
            <p:ph idx="1"/>
          </p:nvPr>
        </p:nvSpPr>
        <p:spPr>
          <a:xfrm>
            <a:off x="2590799" y="185057"/>
            <a:ext cx="9405257" cy="6574972"/>
          </a:xfrm>
        </p:spPr>
        <p:txBody>
          <a:bodyPr>
            <a:normAutofit/>
          </a:bodyPr>
          <a:lstStyle/>
          <a:p>
            <a:pPr marL="0" indent="0" algn="ctr">
              <a:buNone/>
            </a:pPr>
            <a:r>
              <a:rPr lang="en-IN" sz="2400" b="1" dirty="0">
                <a:solidFill>
                  <a:srgbClr val="FF0000"/>
                </a:solidFill>
                <a:latin typeface="+mn-lt"/>
              </a:rPr>
              <a:t>Optimal Page Replacement</a:t>
            </a:r>
          </a:p>
          <a:p>
            <a:pPr marL="0" indent="0" algn="just">
              <a:lnSpc>
                <a:spcPct val="150000"/>
              </a:lnSpc>
              <a:buNone/>
            </a:pPr>
            <a:r>
              <a:rPr lang="en-IN" sz="2000" dirty="0">
                <a:latin typeface="+mn-lt"/>
              </a:rPr>
              <a:t>An Optimal page replacement algorithm has the lowest page fault  rate of all algorithms.</a:t>
            </a:r>
          </a:p>
          <a:p>
            <a:pPr marL="0" indent="0" algn="just">
              <a:lnSpc>
                <a:spcPct val="150000"/>
              </a:lnSpc>
              <a:buNone/>
            </a:pPr>
            <a:r>
              <a:rPr lang="en-IN" sz="2000" dirty="0">
                <a:latin typeface="+mn-lt"/>
              </a:rPr>
              <a:t>It will never suffer from </a:t>
            </a:r>
            <a:r>
              <a:rPr lang="en-IN" sz="2000" dirty="0" err="1">
                <a:latin typeface="+mn-lt"/>
              </a:rPr>
              <a:t>belady’s</a:t>
            </a:r>
            <a:r>
              <a:rPr lang="en-IN" sz="2000" dirty="0">
                <a:latin typeface="+mn-lt"/>
              </a:rPr>
              <a:t> anomaly.</a:t>
            </a:r>
          </a:p>
          <a:p>
            <a:pPr marL="0" indent="0" algn="just">
              <a:lnSpc>
                <a:spcPct val="150000"/>
              </a:lnSpc>
              <a:buNone/>
            </a:pPr>
            <a:r>
              <a:rPr lang="en-IN" sz="2000" dirty="0">
                <a:latin typeface="+mn-lt"/>
              </a:rPr>
              <a:t>It guarantees the lowest  possible page fault rate for a fixed number of frames.</a:t>
            </a:r>
          </a:p>
          <a:p>
            <a:pPr marL="0" indent="0" algn="just">
              <a:lnSpc>
                <a:spcPct val="150000"/>
              </a:lnSpc>
              <a:buNone/>
            </a:pPr>
            <a:endParaRPr lang="en-IN" sz="2000" dirty="0">
              <a:latin typeface="+mn-lt"/>
            </a:endParaRPr>
          </a:p>
        </p:txBody>
      </p:sp>
      <p:sp>
        <p:nvSpPr>
          <p:cNvPr id="2" name="Google Shape;98;g2eff20282af_0_123">
            <a:extLst>
              <a:ext uri="{FF2B5EF4-FFF2-40B4-BE49-F238E27FC236}">
                <a16:creationId xmlns:a16="http://schemas.microsoft.com/office/drawing/2014/main" id="{FF4BE81C-5F07-85C7-DE91-3AFCEE76AB85}"/>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46295639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a:extLst>
              <a:ext uri="{FF2B5EF4-FFF2-40B4-BE49-F238E27FC236}">
                <a16:creationId xmlns:a16="http://schemas.microsoft.com/office/drawing/2014/main" id="{B735D1F7-98BC-9FC4-3DE5-0FD503438AC4}"/>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220720" y="132080"/>
            <a:ext cx="7670800" cy="3652767"/>
          </a:xfrm>
          <a:prstGeom prst="rect">
            <a:avLst/>
          </a:prstGeom>
          <a:noFill/>
          <a:ln>
            <a:noFill/>
          </a:ln>
        </p:spPr>
      </p:pic>
      <p:sp>
        <p:nvSpPr>
          <p:cNvPr id="6" name="TextBox 5">
            <a:extLst>
              <a:ext uri="{FF2B5EF4-FFF2-40B4-BE49-F238E27FC236}">
                <a16:creationId xmlns:a16="http://schemas.microsoft.com/office/drawing/2014/main" id="{A0B8F623-AEBF-6D8C-6572-FFD896F86EA1}"/>
              </a:ext>
            </a:extLst>
          </p:cNvPr>
          <p:cNvSpPr txBox="1"/>
          <p:nvPr/>
        </p:nvSpPr>
        <p:spPr>
          <a:xfrm>
            <a:off x="2621280" y="3784847"/>
            <a:ext cx="9062720" cy="2237151"/>
          </a:xfrm>
          <a:prstGeom prst="rect">
            <a:avLst/>
          </a:prstGeom>
          <a:noFill/>
        </p:spPr>
        <p:txBody>
          <a:bodyPr wrap="square">
            <a:spAutoFit/>
          </a:bodyPr>
          <a:lstStyle/>
          <a:p>
            <a:pPr algn="just">
              <a:lnSpc>
                <a:spcPct val="150000"/>
              </a:lnSpc>
              <a:spcAft>
                <a:spcPts val="800"/>
              </a:spcAft>
            </a:pPr>
            <a:r>
              <a:rPr lang="en-US" sz="2400" dirty="0">
                <a:effectLst/>
                <a:ea typeface="Cambria" panose="02040503050406030204" pitchFamily="18" charset="0"/>
                <a:cs typeface="Times New Roman" panose="02020603050405020304" pitchFamily="18" charset="0"/>
              </a:rPr>
              <a:t>With only nine page faults, optimal replacement is much better than a FIFO algorithm, which resulted in fifteen faults. Unfortunately, the optimal page-replacement algorithm is difficult to implement, because it requires future knowledge of the reference string.</a:t>
            </a:r>
            <a:endParaRPr lang="en-IN" sz="2400" dirty="0">
              <a:effectLst/>
              <a:ea typeface="Calibri" panose="020F0502020204030204" pitchFamily="34" charset="0"/>
              <a:cs typeface="Times New Roman" panose="02020603050405020304" pitchFamily="18" charset="0"/>
            </a:endParaRPr>
          </a:p>
        </p:txBody>
      </p:sp>
      <p:sp>
        <p:nvSpPr>
          <p:cNvPr id="3" name="Google Shape;98;g2eff20282af_0_123">
            <a:extLst>
              <a:ext uri="{FF2B5EF4-FFF2-40B4-BE49-F238E27FC236}">
                <a16:creationId xmlns:a16="http://schemas.microsoft.com/office/drawing/2014/main" id="{ED8801BA-7896-E6A0-6405-274BA0EAF4B8}"/>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99187813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7D8DA8-138C-C47E-8610-C8D4860798C3}"/>
              </a:ext>
            </a:extLst>
          </p:cNvPr>
          <p:cNvSpPr>
            <a:spLocks noGrp="1"/>
          </p:cNvSpPr>
          <p:nvPr>
            <p:ph idx="1"/>
          </p:nvPr>
        </p:nvSpPr>
        <p:spPr>
          <a:xfrm>
            <a:off x="2590800" y="179704"/>
            <a:ext cx="9428480" cy="6495415"/>
          </a:xfrm>
        </p:spPr>
        <p:txBody>
          <a:bodyPr/>
          <a:lstStyle/>
          <a:p>
            <a:pPr marL="0" indent="0" algn="ctr">
              <a:buNone/>
            </a:pPr>
            <a:r>
              <a:rPr lang="en-US" sz="2400" b="1" dirty="0">
                <a:solidFill>
                  <a:srgbClr val="FF0000"/>
                </a:solidFill>
                <a:effectLst/>
                <a:latin typeface="+mn-lt"/>
                <a:ea typeface="Cambria" panose="02040503050406030204" pitchFamily="18" charset="0"/>
                <a:cs typeface="Times New Roman" panose="02020603050405020304" pitchFamily="18" charset="0"/>
              </a:rPr>
              <a:t>LRU Page Replacement</a:t>
            </a:r>
          </a:p>
          <a:p>
            <a:pPr marL="0" indent="0" algn="ctr">
              <a:buNone/>
            </a:pPr>
            <a:r>
              <a:rPr lang="en-IN" sz="2400" dirty="0">
                <a:solidFill>
                  <a:srgbClr val="FF0000"/>
                </a:solidFill>
                <a:effectLst/>
                <a:latin typeface="+mn-lt"/>
                <a:ea typeface="Calibri" panose="020F0502020204030204" pitchFamily="34" charset="0"/>
                <a:cs typeface="Times New Roman" panose="02020603050405020304" pitchFamily="18" charset="0"/>
              </a:rPr>
              <a:t>Least recently used algorithm</a:t>
            </a:r>
          </a:p>
          <a:p>
            <a:pPr marL="0" indent="0" algn="just">
              <a:lnSpc>
                <a:spcPct val="150000"/>
              </a:lnSpc>
              <a:buNone/>
            </a:pPr>
            <a:r>
              <a:rPr lang="en-IN" sz="2400" dirty="0">
                <a:latin typeface="+mn-lt"/>
                <a:ea typeface="Calibri" panose="020F0502020204030204" pitchFamily="34" charset="0"/>
                <a:cs typeface="Times New Roman" panose="02020603050405020304" pitchFamily="18" charset="0"/>
              </a:rPr>
              <a:t>It associates with each page the time of that page’s last use. </a:t>
            </a:r>
          </a:p>
          <a:p>
            <a:pPr marL="0" indent="0" algn="just">
              <a:lnSpc>
                <a:spcPct val="150000"/>
              </a:lnSpc>
              <a:buNone/>
            </a:pPr>
            <a:r>
              <a:rPr lang="en-IN" sz="2400" dirty="0">
                <a:latin typeface="+mn-lt"/>
                <a:ea typeface="Calibri" panose="020F0502020204030204" pitchFamily="34" charset="0"/>
                <a:cs typeface="Times New Roman" panose="02020603050405020304" pitchFamily="18" charset="0"/>
              </a:rPr>
              <a:t>When a page must be replaced, LRU chooses the page that has not been used for longest period of time.</a:t>
            </a:r>
          </a:p>
          <a:p>
            <a:pPr marL="0" indent="0" algn="just">
              <a:lnSpc>
                <a:spcPct val="150000"/>
              </a:lnSpc>
              <a:buNone/>
            </a:pPr>
            <a:r>
              <a:rPr lang="en-IN" sz="2400" dirty="0">
                <a:latin typeface="+mn-lt"/>
                <a:ea typeface="Calibri" panose="020F0502020204030204" pitchFamily="34" charset="0"/>
                <a:cs typeface="Times New Roman" panose="02020603050405020304" pitchFamily="18" charset="0"/>
              </a:rPr>
              <a:t>It is almost like the optimal page replacement algorithm looking backward in time, rather than forward.</a:t>
            </a:r>
          </a:p>
          <a:p>
            <a:pPr marL="0" indent="0" algn="just">
              <a:lnSpc>
                <a:spcPct val="150000"/>
              </a:lnSpc>
              <a:buNone/>
            </a:pPr>
            <a:endParaRPr lang="en-IN" sz="2400" dirty="0">
              <a:latin typeface="+mn-lt"/>
              <a:ea typeface="Calibri" panose="020F0502020204030204" pitchFamily="34" charset="0"/>
              <a:cs typeface="Times New Roman" panose="02020603050405020304" pitchFamily="18" charset="0"/>
            </a:endParaRPr>
          </a:p>
          <a:p>
            <a:pPr marL="0" indent="0">
              <a:buNone/>
            </a:pPr>
            <a:endParaRPr lang="en-IN" sz="2400" dirty="0">
              <a:latin typeface="+mn-lt"/>
              <a:ea typeface="Calibri" panose="020F0502020204030204" pitchFamily="34" charset="0"/>
              <a:cs typeface="Times New Roman" panose="02020603050405020304" pitchFamily="18" charset="0"/>
            </a:endParaRPr>
          </a:p>
          <a:p>
            <a:pPr marL="0" indent="0">
              <a:buNone/>
            </a:pPr>
            <a:endParaRPr lang="en-IN" sz="2400" dirty="0">
              <a:effectLst/>
              <a:latin typeface="+mn-lt"/>
              <a:ea typeface="Calibri" panose="020F0502020204030204" pitchFamily="34" charset="0"/>
              <a:cs typeface="Times New Roman" panose="02020603050405020304" pitchFamily="18" charset="0"/>
            </a:endParaRPr>
          </a:p>
          <a:p>
            <a:pPr marL="0" indent="0">
              <a:buNone/>
            </a:pPr>
            <a:endParaRPr lang="en-IN" sz="2400" dirty="0">
              <a:effectLst/>
              <a:latin typeface="+mn-lt"/>
              <a:ea typeface="Calibri" panose="020F0502020204030204" pitchFamily="34" charset="0"/>
              <a:cs typeface="Times New Roman" panose="02020603050405020304" pitchFamily="18" charset="0"/>
            </a:endParaRPr>
          </a:p>
        </p:txBody>
      </p:sp>
      <p:sp>
        <p:nvSpPr>
          <p:cNvPr id="2" name="Google Shape;98;g2eff20282af_0_123">
            <a:extLst>
              <a:ext uri="{FF2B5EF4-FFF2-40B4-BE49-F238E27FC236}">
                <a16:creationId xmlns:a16="http://schemas.microsoft.com/office/drawing/2014/main" id="{97A3A2E1-7591-6507-D1D6-CB91A45095D9}"/>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23846172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13EEF3-7272-75DA-17BB-CC9CD0133E85}"/>
              </a:ext>
            </a:extLst>
          </p:cNvPr>
          <p:cNvSpPr>
            <a:spLocks noGrp="1"/>
          </p:cNvSpPr>
          <p:nvPr>
            <p:ph idx="1"/>
          </p:nvPr>
        </p:nvSpPr>
        <p:spPr>
          <a:xfrm>
            <a:off x="2590799" y="185057"/>
            <a:ext cx="9405257" cy="6574972"/>
          </a:xfrm>
        </p:spPr>
        <p:txBody>
          <a:bodyPr>
            <a:normAutofit/>
          </a:bodyPr>
          <a:lstStyle/>
          <a:p>
            <a:pPr marL="0" indent="0" algn="ctr">
              <a:buNone/>
            </a:pPr>
            <a:r>
              <a:rPr lang="en-IN" sz="2000" dirty="0">
                <a:latin typeface="+mn-lt"/>
              </a:rPr>
              <a:t>.</a:t>
            </a:r>
          </a:p>
          <a:p>
            <a:pPr marL="0" indent="0" algn="just">
              <a:lnSpc>
                <a:spcPct val="150000"/>
              </a:lnSpc>
              <a:buNone/>
            </a:pPr>
            <a:endParaRPr lang="en-IN" sz="2000" dirty="0">
              <a:latin typeface="+mn-lt"/>
            </a:endParaRPr>
          </a:p>
        </p:txBody>
      </p:sp>
      <p:pic>
        <p:nvPicPr>
          <p:cNvPr id="2" name="Picture 1">
            <a:extLst>
              <a:ext uri="{FF2B5EF4-FFF2-40B4-BE49-F238E27FC236}">
                <a16:creationId xmlns:a16="http://schemas.microsoft.com/office/drawing/2014/main" id="{523F096B-D8C7-4839-A6D8-70545E5C031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7692"/>
          <a:stretch/>
        </p:blipFill>
        <p:spPr bwMode="auto">
          <a:xfrm>
            <a:off x="2773680" y="185057"/>
            <a:ext cx="8930640" cy="4129768"/>
          </a:xfrm>
          <a:prstGeom prst="rect">
            <a:avLst/>
          </a:prstGeom>
          <a:noFill/>
          <a:ln>
            <a:noFill/>
          </a:ln>
          <a:extLst>
            <a:ext uri="{53640926-AAD7-44D8-BBD7-CCE9431645EC}">
              <a14:shadowObscured xmlns:a14="http://schemas.microsoft.com/office/drawing/2010/main"/>
            </a:ext>
          </a:extLst>
        </p:spPr>
      </p:pic>
      <p:sp>
        <p:nvSpPr>
          <p:cNvPr id="6" name="TextBox 5">
            <a:extLst>
              <a:ext uri="{FF2B5EF4-FFF2-40B4-BE49-F238E27FC236}">
                <a16:creationId xmlns:a16="http://schemas.microsoft.com/office/drawing/2014/main" id="{515D4C36-D522-F2FF-E517-2017A3548B87}"/>
              </a:ext>
            </a:extLst>
          </p:cNvPr>
          <p:cNvSpPr txBox="1"/>
          <p:nvPr/>
        </p:nvSpPr>
        <p:spPr>
          <a:xfrm>
            <a:off x="2928256" y="4314825"/>
            <a:ext cx="9067800" cy="2251065"/>
          </a:xfrm>
          <a:prstGeom prst="rect">
            <a:avLst/>
          </a:prstGeom>
          <a:noFill/>
        </p:spPr>
        <p:txBody>
          <a:bodyPr wrap="square">
            <a:spAutoFit/>
          </a:bodyPr>
          <a:lstStyle/>
          <a:p>
            <a:pPr algn="just">
              <a:lnSpc>
                <a:spcPct val="150000"/>
              </a:lnSpc>
            </a:pPr>
            <a:r>
              <a:rPr lang="en-US" sz="2400" dirty="0">
                <a:effectLst/>
                <a:ea typeface="Cambria" panose="02040503050406030204" pitchFamily="18" charset="0"/>
              </a:rPr>
              <a:t>The LRU algorithm produces 12 faults.</a:t>
            </a:r>
          </a:p>
          <a:p>
            <a:pPr algn="just">
              <a:lnSpc>
                <a:spcPct val="150000"/>
              </a:lnSpc>
            </a:pPr>
            <a:r>
              <a:rPr lang="en-US" sz="2400" dirty="0">
                <a:ea typeface="Cambria" panose="02040503050406030204" pitchFamily="18" charset="0"/>
              </a:rPr>
              <a:t>The LRU Page Replacement Algorithm is generally considered  a good algorithm and is used frequently.</a:t>
            </a:r>
            <a:endParaRPr lang="en-US" sz="2400" dirty="0">
              <a:effectLst/>
              <a:ea typeface="Cambria" panose="02040503050406030204" pitchFamily="18" charset="0"/>
            </a:endParaRPr>
          </a:p>
          <a:p>
            <a:pPr algn="just">
              <a:lnSpc>
                <a:spcPct val="150000"/>
              </a:lnSpc>
            </a:pPr>
            <a:r>
              <a:rPr lang="en-US" sz="2400" dirty="0">
                <a:effectLst/>
                <a:ea typeface="Cambria" panose="02040503050406030204" pitchFamily="18" charset="0"/>
              </a:rPr>
              <a:t> </a:t>
            </a:r>
            <a:endParaRPr lang="en-IN" sz="2400" dirty="0"/>
          </a:p>
        </p:txBody>
      </p:sp>
      <p:sp>
        <p:nvSpPr>
          <p:cNvPr id="4" name="Google Shape;98;g2eff20282af_0_123">
            <a:extLst>
              <a:ext uri="{FF2B5EF4-FFF2-40B4-BE49-F238E27FC236}">
                <a16:creationId xmlns:a16="http://schemas.microsoft.com/office/drawing/2014/main" id="{2A940BCD-C3F5-E9F3-9B22-BD2AABB9694B}"/>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58152044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76C385-74B2-D39E-BEAF-8DC4701ADFFB}"/>
              </a:ext>
            </a:extLst>
          </p:cNvPr>
          <p:cNvSpPr>
            <a:spLocks noGrp="1"/>
          </p:cNvSpPr>
          <p:nvPr>
            <p:ph idx="1"/>
          </p:nvPr>
        </p:nvSpPr>
        <p:spPr>
          <a:xfrm>
            <a:off x="2621280" y="193040"/>
            <a:ext cx="9276080" cy="6512560"/>
          </a:xfrm>
        </p:spPr>
        <p:txBody>
          <a:bodyPr>
            <a:normAutofit/>
          </a:bodyPr>
          <a:lstStyle/>
          <a:p>
            <a:pPr marL="0" indent="0" algn="ctr">
              <a:lnSpc>
                <a:spcPct val="150000"/>
              </a:lnSpc>
              <a:buNone/>
            </a:pPr>
            <a:r>
              <a:rPr lang="en-US" sz="2400" b="1" dirty="0">
                <a:solidFill>
                  <a:srgbClr val="FF0000"/>
                </a:solidFill>
                <a:latin typeface="+mn-lt"/>
              </a:rPr>
              <a:t>Implementation of LRU Page Replacement </a:t>
            </a:r>
          </a:p>
          <a:p>
            <a:pPr marL="0" indent="0" algn="just">
              <a:lnSpc>
                <a:spcPct val="150000"/>
              </a:lnSpc>
              <a:buNone/>
            </a:pPr>
            <a:r>
              <a:rPr lang="en-US" sz="2400" dirty="0">
                <a:latin typeface="+mn-lt"/>
              </a:rPr>
              <a:t>An LRU page replacement algorithm may require substantial hardware assistance.</a:t>
            </a:r>
          </a:p>
          <a:p>
            <a:pPr marL="0" indent="0" algn="just">
              <a:lnSpc>
                <a:spcPct val="150000"/>
              </a:lnSpc>
              <a:buNone/>
            </a:pPr>
            <a:r>
              <a:rPr lang="en-US" sz="2400" dirty="0">
                <a:latin typeface="+mn-lt"/>
              </a:rPr>
              <a:t>The problem is How to keep track of the pages that were least recently used?</a:t>
            </a:r>
          </a:p>
          <a:p>
            <a:pPr marL="0" indent="0" algn="just">
              <a:lnSpc>
                <a:spcPct val="150000"/>
              </a:lnSpc>
              <a:buNone/>
            </a:pPr>
            <a:r>
              <a:rPr lang="en-US" sz="2400" dirty="0">
                <a:latin typeface="+mn-lt"/>
              </a:rPr>
              <a:t>There are two ways we can implement this:</a:t>
            </a:r>
          </a:p>
          <a:p>
            <a:pPr marL="0" indent="0" algn="just">
              <a:lnSpc>
                <a:spcPct val="150000"/>
              </a:lnSpc>
              <a:buNone/>
            </a:pPr>
            <a:r>
              <a:rPr lang="en-US" sz="2400" dirty="0">
                <a:latin typeface="+mn-lt"/>
              </a:rPr>
              <a:t>By using counters</a:t>
            </a:r>
          </a:p>
          <a:p>
            <a:pPr marL="0" indent="0" algn="just">
              <a:lnSpc>
                <a:spcPct val="150000"/>
              </a:lnSpc>
              <a:buNone/>
            </a:pPr>
            <a:r>
              <a:rPr lang="en-US" sz="2400" dirty="0">
                <a:latin typeface="+mn-lt"/>
              </a:rPr>
              <a:t>By using a stack</a:t>
            </a:r>
          </a:p>
          <a:p>
            <a:pPr marL="0" indent="0">
              <a:buNone/>
            </a:pPr>
            <a:endParaRPr lang="en-IN" sz="2000" dirty="0">
              <a:latin typeface="+mn-lt"/>
            </a:endParaRPr>
          </a:p>
        </p:txBody>
      </p:sp>
      <p:sp>
        <p:nvSpPr>
          <p:cNvPr id="2" name="Google Shape;98;g2eff20282af_0_123">
            <a:extLst>
              <a:ext uri="{FF2B5EF4-FFF2-40B4-BE49-F238E27FC236}">
                <a16:creationId xmlns:a16="http://schemas.microsoft.com/office/drawing/2014/main" id="{67AF31F3-A44D-8BC4-EAF8-0A026E10E7D6}"/>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0876713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859694-0E56-CC96-2EFE-286F8E693FF8}"/>
              </a:ext>
            </a:extLst>
          </p:cNvPr>
          <p:cNvSpPr>
            <a:spLocks noGrp="1"/>
          </p:cNvSpPr>
          <p:nvPr>
            <p:ph idx="1"/>
          </p:nvPr>
        </p:nvSpPr>
        <p:spPr>
          <a:xfrm>
            <a:off x="2600960" y="182880"/>
            <a:ext cx="9326880" cy="6410960"/>
          </a:xfrm>
        </p:spPr>
        <p:txBody>
          <a:bodyPr>
            <a:normAutofit/>
          </a:bodyPr>
          <a:lstStyle/>
          <a:p>
            <a:pPr marL="0" indent="0" algn="ctr">
              <a:lnSpc>
                <a:spcPct val="150000"/>
              </a:lnSpc>
              <a:buNone/>
            </a:pPr>
            <a:r>
              <a:rPr lang="en-US" sz="2400" b="1" dirty="0">
                <a:solidFill>
                  <a:srgbClr val="FF0000"/>
                </a:solidFill>
                <a:latin typeface="+mn-lt"/>
              </a:rPr>
              <a:t>Counter Implementation</a:t>
            </a:r>
          </a:p>
          <a:p>
            <a:pPr marL="0" indent="0" algn="just">
              <a:lnSpc>
                <a:spcPct val="150000"/>
              </a:lnSpc>
              <a:buNone/>
            </a:pPr>
            <a:r>
              <a:rPr lang="en-US" sz="2400" dirty="0">
                <a:latin typeface="+mn-lt"/>
              </a:rPr>
              <a:t>With each page table entry, we associate a time of use field and add a logical clock or counter to the CPU.</a:t>
            </a:r>
          </a:p>
          <a:p>
            <a:pPr marL="0" indent="0" algn="just">
              <a:lnSpc>
                <a:spcPct val="150000"/>
              </a:lnSpc>
              <a:buNone/>
            </a:pPr>
            <a:r>
              <a:rPr lang="en-US" sz="2400" dirty="0">
                <a:latin typeface="+mn-lt"/>
              </a:rPr>
              <a:t>The clock is incremented for every memory reference.</a:t>
            </a:r>
          </a:p>
          <a:p>
            <a:pPr marL="0" indent="0" algn="just">
              <a:lnSpc>
                <a:spcPct val="150000"/>
              </a:lnSpc>
              <a:buNone/>
            </a:pPr>
            <a:r>
              <a:rPr lang="en-US" sz="2400" dirty="0">
                <a:latin typeface="+mn-lt"/>
              </a:rPr>
              <a:t>Whenever a reference to a page is made, the contents of the clock register are copied to the time of use field in the page table entry for that page.</a:t>
            </a:r>
          </a:p>
          <a:p>
            <a:pPr marL="0" indent="0" algn="just">
              <a:lnSpc>
                <a:spcPct val="150000"/>
              </a:lnSpc>
              <a:buNone/>
            </a:pPr>
            <a:r>
              <a:rPr lang="en-US" sz="2400" dirty="0">
                <a:latin typeface="+mn-lt"/>
              </a:rPr>
              <a:t>Hence, we always have the “time” of the last reference to each page.</a:t>
            </a:r>
          </a:p>
          <a:p>
            <a:pPr marL="0" indent="0" algn="just">
              <a:lnSpc>
                <a:spcPct val="150000"/>
              </a:lnSpc>
              <a:buNone/>
            </a:pPr>
            <a:r>
              <a:rPr lang="en-US" sz="2400" dirty="0">
                <a:latin typeface="+mn-lt"/>
              </a:rPr>
              <a:t>We replace the page with the smallest time value.</a:t>
            </a:r>
          </a:p>
          <a:p>
            <a:endParaRPr lang="en-US" sz="2000" dirty="0">
              <a:latin typeface="+mn-lt"/>
            </a:endParaRPr>
          </a:p>
          <a:p>
            <a:endParaRPr lang="en-IN" sz="2000" dirty="0">
              <a:latin typeface="+mn-lt"/>
            </a:endParaRPr>
          </a:p>
        </p:txBody>
      </p:sp>
      <p:sp>
        <p:nvSpPr>
          <p:cNvPr id="2" name="Google Shape;98;g2eff20282af_0_123">
            <a:extLst>
              <a:ext uri="{FF2B5EF4-FFF2-40B4-BE49-F238E27FC236}">
                <a16:creationId xmlns:a16="http://schemas.microsoft.com/office/drawing/2014/main" id="{CCACDDFD-6B2B-D05C-B873-D819BCCAC2F1}"/>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69547641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EAAD6C-EB43-FEEF-6789-0396C9F1F045}"/>
              </a:ext>
            </a:extLst>
          </p:cNvPr>
          <p:cNvSpPr>
            <a:spLocks noGrp="1"/>
          </p:cNvSpPr>
          <p:nvPr>
            <p:ph idx="1"/>
          </p:nvPr>
        </p:nvSpPr>
        <p:spPr>
          <a:xfrm>
            <a:off x="2600960" y="152400"/>
            <a:ext cx="9387840" cy="6532880"/>
          </a:xfrm>
        </p:spPr>
        <p:txBody>
          <a:bodyPr>
            <a:normAutofit/>
          </a:bodyPr>
          <a:lstStyle/>
          <a:p>
            <a:pPr marL="0" indent="0" algn="ctr">
              <a:lnSpc>
                <a:spcPct val="150000"/>
              </a:lnSpc>
              <a:buNone/>
            </a:pPr>
            <a:r>
              <a:rPr lang="en-US" sz="2400" b="1" dirty="0">
                <a:solidFill>
                  <a:srgbClr val="FF0000"/>
                </a:solidFill>
                <a:latin typeface="+mn-lt"/>
              </a:rPr>
              <a:t>Stack Implementation</a:t>
            </a:r>
          </a:p>
          <a:p>
            <a:pPr marL="0" indent="0" algn="just">
              <a:lnSpc>
                <a:spcPct val="150000"/>
              </a:lnSpc>
              <a:buNone/>
            </a:pPr>
            <a:r>
              <a:rPr lang="en-US" sz="2400" dirty="0">
                <a:latin typeface="+mn-lt"/>
              </a:rPr>
              <a:t>Maintain a stack of page numbers.</a:t>
            </a:r>
          </a:p>
          <a:p>
            <a:pPr marL="0" indent="0" algn="just">
              <a:lnSpc>
                <a:spcPct val="150000"/>
              </a:lnSpc>
              <a:buNone/>
            </a:pPr>
            <a:r>
              <a:rPr lang="en-US" sz="2400" dirty="0">
                <a:latin typeface="+mn-lt"/>
              </a:rPr>
              <a:t>Whenever a page is referenced, it is removed from the stack and put on the top.</a:t>
            </a:r>
          </a:p>
          <a:p>
            <a:pPr marL="0" indent="0" algn="just">
              <a:lnSpc>
                <a:spcPct val="150000"/>
              </a:lnSpc>
              <a:buNone/>
            </a:pPr>
            <a:r>
              <a:rPr lang="en-US" sz="2400" dirty="0">
                <a:latin typeface="+mn-lt"/>
              </a:rPr>
              <a:t>Hence, the most recently used page is always at the top of the stack and the least recently used page is always at the bottom.</a:t>
            </a:r>
          </a:p>
          <a:p>
            <a:pPr marL="0" indent="0" algn="just">
              <a:lnSpc>
                <a:spcPct val="150000"/>
              </a:lnSpc>
              <a:buNone/>
            </a:pPr>
            <a:r>
              <a:rPr lang="en-US" sz="2400" dirty="0">
                <a:latin typeface="+mn-lt"/>
              </a:rPr>
              <a:t>Since, entries must be removed from the middle of the stack, it is best to implement this approach by using a doubly linked list with a head and tail pointer.</a:t>
            </a:r>
          </a:p>
          <a:p>
            <a:endParaRPr lang="en-IN" sz="2000" dirty="0">
              <a:latin typeface="+mn-lt"/>
            </a:endParaRPr>
          </a:p>
        </p:txBody>
      </p:sp>
      <p:sp>
        <p:nvSpPr>
          <p:cNvPr id="2" name="Google Shape;98;g2eff20282af_0_123">
            <a:extLst>
              <a:ext uri="{FF2B5EF4-FFF2-40B4-BE49-F238E27FC236}">
                <a16:creationId xmlns:a16="http://schemas.microsoft.com/office/drawing/2014/main" id="{57A76B56-653F-D083-5EBD-61D6DC59E697}"/>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0316908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0DEB0B-F6DF-F140-93EF-128A51B93FD2}"/>
              </a:ext>
            </a:extLst>
          </p:cNvPr>
          <p:cNvSpPr>
            <a:spLocks noGrp="1"/>
          </p:cNvSpPr>
          <p:nvPr>
            <p:ph idx="1"/>
          </p:nvPr>
        </p:nvSpPr>
        <p:spPr>
          <a:xfrm>
            <a:off x="2611120" y="121920"/>
            <a:ext cx="9398000" cy="6604000"/>
          </a:xfrm>
        </p:spPr>
        <p:txBody>
          <a:bodyPr>
            <a:normAutofit/>
          </a:bodyPr>
          <a:lstStyle/>
          <a:p>
            <a:pPr marL="0" indent="0" algn="ctr">
              <a:buNone/>
            </a:pPr>
            <a:r>
              <a:rPr lang="en-US" sz="2400" b="1" dirty="0">
                <a:solidFill>
                  <a:srgbClr val="FF0000"/>
                </a:solidFill>
                <a:effectLst/>
                <a:latin typeface="+mn-lt"/>
                <a:ea typeface="Cambria" panose="02040503050406030204" pitchFamily="18" charset="0"/>
                <a:cs typeface="Times New Roman" panose="02020603050405020304" pitchFamily="18" charset="0"/>
              </a:rPr>
              <a:t>Additional-Reference-Bits Algorithm</a:t>
            </a:r>
            <a:endParaRPr lang="en-IN" sz="2400" b="1" dirty="0">
              <a:solidFill>
                <a:srgbClr val="FF0000"/>
              </a:solidFill>
              <a:effectLst/>
              <a:latin typeface="+mn-lt"/>
              <a:ea typeface="Calibri" panose="020F0502020204030204" pitchFamily="34" charset="0"/>
              <a:cs typeface="Times New Roman" panose="02020603050405020304" pitchFamily="18" charset="0"/>
            </a:endParaRPr>
          </a:p>
          <a:p>
            <a:pPr marL="0" indent="0" algn="just">
              <a:lnSpc>
                <a:spcPct val="150000"/>
              </a:lnSpc>
              <a:buNone/>
            </a:pPr>
            <a:r>
              <a:rPr lang="en-IN" sz="2400" dirty="0">
                <a:latin typeface="+mn-lt"/>
              </a:rPr>
              <a:t>LRU Approximation age Replacement </a:t>
            </a:r>
          </a:p>
          <a:p>
            <a:pPr marL="0" indent="0" algn="just">
              <a:lnSpc>
                <a:spcPct val="150000"/>
              </a:lnSpc>
              <a:buNone/>
            </a:pPr>
            <a:r>
              <a:rPr lang="en-IN" sz="2400" dirty="0">
                <a:latin typeface="+mn-lt"/>
              </a:rPr>
              <a:t>Only a few computer systems provide the necessary hardware support for LRU Page Replacement </a:t>
            </a:r>
          </a:p>
          <a:p>
            <a:pPr marL="0" indent="0" algn="just">
              <a:lnSpc>
                <a:spcPct val="150000"/>
              </a:lnSpc>
              <a:buNone/>
            </a:pPr>
            <a:r>
              <a:rPr lang="en-IN" sz="2400" dirty="0">
                <a:latin typeface="+mn-lt"/>
              </a:rPr>
              <a:t>Some systems provide no hardware support at all and we end up using other algorithms like FIFO.</a:t>
            </a:r>
          </a:p>
          <a:p>
            <a:pPr marL="0" indent="0" algn="just">
              <a:lnSpc>
                <a:spcPct val="150000"/>
              </a:lnSpc>
              <a:buNone/>
            </a:pPr>
            <a:r>
              <a:rPr lang="en-IN" sz="2400" dirty="0">
                <a:latin typeface="+mn-lt"/>
              </a:rPr>
              <a:t>However, many systems provide support for LRU in the form of a reference bit.</a:t>
            </a:r>
          </a:p>
          <a:p>
            <a:pPr marL="0" indent="0" algn="just">
              <a:lnSpc>
                <a:spcPct val="150000"/>
              </a:lnSpc>
              <a:buNone/>
            </a:pPr>
            <a:r>
              <a:rPr lang="en-IN" sz="2400" dirty="0">
                <a:latin typeface="+mn-lt"/>
              </a:rPr>
              <a:t>The reference bit( which is associated with each entry in the page table) for a page is set by the hardware whenever that page is referenced.</a:t>
            </a:r>
          </a:p>
        </p:txBody>
      </p:sp>
      <p:sp>
        <p:nvSpPr>
          <p:cNvPr id="2" name="Google Shape;98;g2eff20282af_0_123">
            <a:extLst>
              <a:ext uri="{FF2B5EF4-FFF2-40B4-BE49-F238E27FC236}">
                <a16:creationId xmlns:a16="http://schemas.microsoft.com/office/drawing/2014/main" id="{7ADCFE5F-3CC6-20F7-FEA8-2CED61B5E32B}"/>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24992331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898541-2B8E-84E3-3B60-349CFDAF80EC}"/>
              </a:ext>
            </a:extLst>
          </p:cNvPr>
          <p:cNvSpPr>
            <a:spLocks noGrp="1"/>
          </p:cNvSpPr>
          <p:nvPr>
            <p:ph idx="1"/>
          </p:nvPr>
        </p:nvSpPr>
        <p:spPr>
          <a:xfrm>
            <a:off x="2590800" y="182880"/>
            <a:ext cx="9387840" cy="6522720"/>
          </a:xfrm>
        </p:spPr>
        <p:txBody>
          <a:bodyPr/>
          <a:lstStyle/>
          <a:p>
            <a:pPr marL="0" indent="0" algn="just">
              <a:lnSpc>
                <a:spcPct val="150000"/>
              </a:lnSpc>
              <a:buNone/>
            </a:pPr>
            <a:r>
              <a:rPr lang="en-IN" sz="2400" b="1" dirty="0">
                <a:latin typeface="+mn-lt"/>
              </a:rPr>
              <a:t>Steps:</a:t>
            </a:r>
          </a:p>
          <a:p>
            <a:pPr marL="0" indent="0" algn="just">
              <a:lnSpc>
                <a:spcPct val="150000"/>
              </a:lnSpc>
              <a:buNone/>
            </a:pPr>
            <a:r>
              <a:rPr lang="en-IN" sz="2400" dirty="0">
                <a:latin typeface="+mn-lt"/>
              </a:rPr>
              <a:t>Initially the OS sets all the reference bits for all the pages to ‘0’.</a:t>
            </a:r>
          </a:p>
          <a:p>
            <a:pPr marL="0" indent="0" algn="just">
              <a:lnSpc>
                <a:spcPct val="150000"/>
              </a:lnSpc>
              <a:buNone/>
            </a:pPr>
            <a:r>
              <a:rPr lang="en-IN" sz="2400" dirty="0">
                <a:latin typeface="+mn-lt"/>
              </a:rPr>
              <a:t>Whenever a page is referenced, the hardware sets the reference bits to ‘1’.</a:t>
            </a:r>
          </a:p>
          <a:p>
            <a:pPr marL="0" indent="0" algn="just">
              <a:lnSpc>
                <a:spcPct val="150000"/>
              </a:lnSpc>
              <a:buNone/>
            </a:pPr>
            <a:r>
              <a:rPr lang="en-IN" sz="2400" dirty="0">
                <a:latin typeface="+mn-lt"/>
              </a:rPr>
              <a:t>By checking these reference bits we can tell which pages have been used and which haven’t been used.</a:t>
            </a:r>
          </a:p>
          <a:p>
            <a:pPr marL="0" indent="0" algn="just">
              <a:lnSpc>
                <a:spcPct val="150000"/>
              </a:lnSpc>
              <a:buNone/>
            </a:pPr>
            <a:r>
              <a:rPr lang="en-IN" sz="2400" dirty="0">
                <a:latin typeface="+mn-lt"/>
              </a:rPr>
              <a:t>But, we cannot determine the order of use.</a:t>
            </a:r>
          </a:p>
          <a:p>
            <a:endParaRPr lang="en-IN" dirty="0"/>
          </a:p>
        </p:txBody>
      </p:sp>
      <p:sp>
        <p:nvSpPr>
          <p:cNvPr id="2" name="Google Shape;98;g2eff20282af_0_123">
            <a:extLst>
              <a:ext uri="{FF2B5EF4-FFF2-40B4-BE49-F238E27FC236}">
                <a16:creationId xmlns:a16="http://schemas.microsoft.com/office/drawing/2014/main" id="{E0CDF131-2FE4-33B3-4C77-580D2045E037}"/>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67569072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819482-D551-1922-D82F-6C5477375848}"/>
              </a:ext>
            </a:extLst>
          </p:cNvPr>
          <p:cNvSpPr>
            <a:spLocks noGrp="1"/>
          </p:cNvSpPr>
          <p:nvPr>
            <p:ph idx="1"/>
          </p:nvPr>
        </p:nvSpPr>
        <p:spPr>
          <a:xfrm>
            <a:off x="2611120" y="213360"/>
            <a:ext cx="9418320" cy="6573520"/>
          </a:xfrm>
        </p:spPr>
        <p:txBody>
          <a:bodyPr>
            <a:normAutofit fontScale="92500"/>
          </a:bodyPr>
          <a:lstStyle/>
          <a:p>
            <a:pPr marL="0" indent="0" algn="ctr">
              <a:lnSpc>
                <a:spcPct val="150000"/>
              </a:lnSpc>
              <a:buNone/>
            </a:pPr>
            <a:r>
              <a:rPr lang="en-US" sz="2400" b="1" dirty="0">
                <a:solidFill>
                  <a:srgbClr val="FF0000"/>
                </a:solidFill>
                <a:latin typeface="+mn-lt"/>
              </a:rPr>
              <a:t>Additional Reference Bits Algorithm</a:t>
            </a:r>
          </a:p>
          <a:p>
            <a:pPr marL="0" indent="0" algn="just">
              <a:lnSpc>
                <a:spcPct val="150000"/>
              </a:lnSpc>
              <a:buNone/>
            </a:pPr>
            <a:r>
              <a:rPr lang="en-US" sz="2400" dirty="0">
                <a:latin typeface="+mn-lt"/>
              </a:rPr>
              <a:t>Used to get an idea of the ordering information of by recording the reference bits at regular intervals</a:t>
            </a:r>
          </a:p>
          <a:p>
            <a:pPr marL="0" indent="0" algn="just">
              <a:lnSpc>
                <a:spcPct val="150000"/>
              </a:lnSpc>
              <a:buNone/>
            </a:pPr>
            <a:r>
              <a:rPr lang="en-US" sz="2400" b="1" dirty="0">
                <a:latin typeface="+mn-lt"/>
              </a:rPr>
              <a:t>How is it done?</a:t>
            </a:r>
          </a:p>
          <a:p>
            <a:pPr marL="0" indent="0" algn="just">
              <a:lnSpc>
                <a:spcPct val="150000"/>
              </a:lnSpc>
              <a:buNone/>
            </a:pPr>
            <a:r>
              <a:rPr lang="en-US" sz="2400" dirty="0">
                <a:latin typeface="+mn-lt"/>
              </a:rPr>
              <a:t>We keep an 8 bit byte for each page in a table in memory.</a:t>
            </a:r>
          </a:p>
          <a:p>
            <a:pPr marL="0" indent="0" algn="just">
              <a:lnSpc>
                <a:spcPct val="150000"/>
              </a:lnSpc>
              <a:buNone/>
            </a:pPr>
            <a:r>
              <a:rPr lang="en-US" sz="2400" dirty="0">
                <a:latin typeface="+mn-lt"/>
              </a:rPr>
              <a:t>At regular intervals(say, every 100 </a:t>
            </a:r>
            <a:r>
              <a:rPr lang="en-US" sz="2400" dirty="0" err="1">
                <a:latin typeface="+mn-lt"/>
              </a:rPr>
              <a:t>ms</a:t>
            </a:r>
            <a:r>
              <a:rPr lang="en-US" sz="2400" dirty="0">
                <a:latin typeface="+mn-lt"/>
              </a:rPr>
              <a:t>), a timer interrupt transfers control to the OS.</a:t>
            </a:r>
          </a:p>
          <a:p>
            <a:pPr marL="0" indent="0" algn="just">
              <a:lnSpc>
                <a:spcPct val="150000"/>
              </a:lnSpc>
              <a:buNone/>
            </a:pPr>
            <a:r>
              <a:rPr lang="en-US" sz="2400" dirty="0">
                <a:latin typeface="+mn-lt"/>
              </a:rPr>
              <a:t>The OS shifts the reference bit for each page into the high order bit of its 8 bit byte, shifting the other bits right by 1 bit and discarding the low order bit.</a:t>
            </a:r>
          </a:p>
          <a:p>
            <a:pPr marL="0" indent="0" algn="just">
              <a:lnSpc>
                <a:spcPct val="150000"/>
              </a:lnSpc>
              <a:buNone/>
            </a:pPr>
            <a:r>
              <a:rPr lang="en-US" sz="2400" dirty="0">
                <a:latin typeface="+mn-lt"/>
              </a:rPr>
              <a:t>These 8 bit shift registers contain the history of page use for the last eight time periods. </a:t>
            </a:r>
          </a:p>
          <a:p>
            <a:endParaRPr lang="en-IN" sz="2400" dirty="0">
              <a:latin typeface="+mn-lt"/>
            </a:endParaRPr>
          </a:p>
        </p:txBody>
      </p:sp>
      <p:sp>
        <p:nvSpPr>
          <p:cNvPr id="2" name="Google Shape;98;g2eff20282af_0_123">
            <a:extLst>
              <a:ext uri="{FF2B5EF4-FFF2-40B4-BE49-F238E27FC236}">
                <a16:creationId xmlns:a16="http://schemas.microsoft.com/office/drawing/2014/main" id="{6267FEDC-2FE7-326A-E44B-D68671FF0DFB}"/>
              </a:ext>
            </a:extLst>
          </p:cNvPr>
          <p:cNvSpPr txBox="1"/>
          <p:nvPr/>
        </p:nvSpPr>
        <p:spPr>
          <a:xfrm>
            <a:off x="524064" y="3891899"/>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39308983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2F6491-6B34-3A58-7351-8173DF958FD4}"/>
              </a:ext>
            </a:extLst>
          </p:cNvPr>
          <p:cNvSpPr>
            <a:spLocks noGrp="1"/>
          </p:cNvSpPr>
          <p:nvPr>
            <p:ph idx="1"/>
          </p:nvPr>
        </p:nvSpPr>
        <p:spPr>
          <a:xfrm>
            <a:off x="2590800" y="213360"/>
            <a:ext cx="9408160" cy="6461760"/>
          </a:xfrm>
        </p:spPr>
        <p:txBody>
          <a:bodyPr>
            <a:normAutofit fontScale="85000" lnSpcReduction="10000"/>
          </a:bodyPr>
          <a:lstStyle/>
          <a:p>
            <a:pPr marL="0" indent="0" algn="ctr">
              <a:lnSpc>
                <a:spcPct val="150000"/>
              </a:lnSpc>
              <a:buNone/>
            </a:pPr>
            <a:r>
              <a:rPr lang="en-US" sz="2400" b="1" dirty="0">
                <a:solidFill>
                  <a:srgbClr val="FF0000"/>
                </a:solidFill>
                <a:effectLst/>
                <a:latin typeface="+mn-lt"/>
                <a:ea typeface="Cambria" panose="02040503050406030204" pitchFamily="18" charset="0"/>
                <a:cs typeface="Times New Roman" panose="02020603050405020304" pitchFamily="18" charset="0"/>
              </a:rPr>
              <a:t>Second-Chance Algorithm</a:t>
            </a:r>
          </a:p>
          <a:p>
            <a:pPr marL="0" indent="0" algn="ctr">
              <a:lnSpc>
                <a:spcPct val="150000"/>
              </a:lnSpc>
              <a:buNone/>
            </a:pPr>
            <a:r>
              <a:rPr lang="en-US" sz="2400" b="1" dirty="0">
                <a:solidFill>
                  <a:srgbClr val="FF0000"/>
                </a:solidFill>
                <a:latin typeface="+mn-lt"/>
                <a:ea typeface="Cambria" panose="02040503050406030204" pitchFamily="18" charset="0"/>
                <a:cs typeface="Times New Roman" panose="02020603050405020304" pitchFamily="18" charset="0"/>
              </a:rPr>
              <a:t>LRU Approximation Page Replacement</a:t>
            </a:r>
          </a:p>
          <a:p>
            <a:pPr marL="0" indent="0" algn="just">
              <a:lnSpc>
                <a:spcPct val="150000"/>
              </a:lnSpc>
              <a:buNone/>
            </a:pPr>
            <a:r>
              <a:rPr lang="en-US" sz="2400" dirty="0">
                <a:effectLst/>
                <a:latin typeface="+mn-lt"/>
                <a:ea typeface="Cambria" panose="02040503050406030204" pitchFamily="18" charset="0"/>
                <a:cs typeface="Times New Roman" panose="02020603050405020304" pitchFamily="18" charset="0"/>
              </a:rPr>
              <a:t>It is basically a FIFO replacement algorithm but with an additional feature.</a:t>
            </a:r>
          </a:p>
          <a:p>
            <a:pPr marL="0" indent="0" algn="just">
              <a:lnSpc>
                <a:spcPct val="150000"/>
              </a:lnSpc>
              <a:buNone/>
            </a:pPr>
            <a:r>
              <a:rPr lang="en-US" sz="2400" dirty="0">
                <a:latin typeface="+mn-lt"/>
                <a:ea typeface="Cambria" panose="02040503050406030204" pitchFamily="18" charset="0"/>
                <a:cs typeface="Times New Roman" panose="02020603050405020304" pitchFamily="18" charset="0"/>
              </a:rPr>
              <a:t>When a page has been selected, we check its reference bit.</a:t>
            </a:r>
          </a:p>
          <a:p>
            <a:pPr marL="0" indent="0" algn="just">
              <a:lnSpc>
                <a:spcPct val="150000"/>
              </a:lnSpc>
              <a:buNone/>
            </a:pPr>
            <a:r>
              <a:rPr lang="en-US" sz="2400" dirty="0">
                <a:effectLst/>
                <a:latin typeface="+mn-lt"/>
                <a:ea typeface="Cambria" panose="02040503050406030204" pitchFamily="18" charset="0"/>
                <a:cs typeface="Times New Roman" panose="02020603050405020304" pitchFamily="18" charset="0"/>
              </a:rPr>
              <a:t>If reference bit = 0 </a:t>
            </a:r>
            <a:r>
              <a:rPr lang="en-US" sz="2400" dirty="0">
                <a:effectLst/>
                <a:latin typeface="Aptos Display" panose="020B0004020202020204" pitchFamily="34" charset="0"/>
                <a:ea typeface="Cambria" panose="02040503050406030204" pitchFamily="18" charset="0"/>
                <a:cs typeface="Times New Roman" panose="02020603050405020304" pitchFamily="18" charset="0"/>
              </a:rPr>
              <a:t>→</a:t>
            </a:r>
            <a:r>
              <a:rPr lang="en-US" sz="2400" dirty="0">
                <a:effectLst/>
                <a:latin typeface="+mn-lt"/>
                <a:ea typeface="Cambria" panose="02040503050406030204" pitchFamily="18" charset="0"/>
                <a:cs typeface="Times New Roman" panose="02020603050405020304" pitchFamily="18" charset="0"/>
              </a:rPr>
              <a:t> we replace the page.</a:t>
            </a:r>
          </a:p>
          <a:p>
            <a:pPr marL="0" indent="0" algn="just">
              <a:lnSpc>
                <a:spcPct val="150000"/>
              </a:lnSpc>
              <a:buNone/>
            </a:pPr>
            <a:r>
              <a:rPr lang="en-US" sz="2400" dirty="0">
                <a:latin typeface="+mn-lt"/>
                <a:ea typeface="Cambria" panose="02040503050406030204" pitchFamily="18" charset="0"/>
                <a:cs typeface="Times New Roman" panose="02020603050405020304" pitchFamily="18" charset="0"/>
              </a:rPr>
              <a:t>If reference bit = 1 </a:t>
            </a:r>
            <a:r>
              <a:rPr lang="en-US" sz="2400" dirty="0">
                <a:latin typeface="Aptos Display" panose="020B0004020202020204" pitchFamily="34" charset="0"/>
                <a:ea typeface="Cambria" panose="02040503050406030204" pitchFamily="18" charset="0"/>
                <a:cs typeface="Times New Roman" panose="02020603050405020304" pitchFamily="18" charset="0"/>
              </a:rPr>
              <a:t>→  we give a second chance to that page and move on to the next.</a:t>
            </a:r>
          </a:p>
          <a:p>
            <a:pPr marL="0" indent="0" algn="just">
              <a:lnSpc>
                <a:spcPct val="150000"/>
              </a:lnSpc>
              <a:buNone/>
            </a:pPr>
            <a:r>
              <a:rPr lang="en-US" sz="2400" dirty="0">
                <a:effectLst/>
                <a:latin typeface="Aptos Display" panose="020B0004020202020204" pitchFamily="34" charset="0"/>
                <a:ea typeface="Cambria" panose="02040503050406030204" pitchFamily="18" charset="0"/>
                <a:cs typeface="Times New Roman" panose="02020603050405020304" pitchFamily="18" charset="0"/>
              </a:rPr>
              <a:t>When a page gets a second chance</a:t>
            </a:r>
            <a:r>
              <a:rPr lang="en-US" sz="2400" dirty="0">
                <a:latin typeface="Aptos Display" panose="020B0004020202020204" pitchFamily="34" charset="0"/>
                <a:ea typeface="Cambria" panose="02040503050406030204" pitchFamily="18" charset="0"/>
                <a:cs typeface="Times New Roman" panose="02020603050405020304" pitchFamily="18" charset="0"/>
              </a:rPr>
              <a:t>, its reference bit is reset to ‘0’ and its arrival time is reset to the current time.</a:t>
            </a:r>
          </a:p>
          <a:p>
            <a:pPr marL="0" indent="0" algn="just">
              <a:lnSpc>
                <a:spcPct val="150000"/>
              </a:lnSpc>
              <a:buNone/>
            </a:pPr>
            <a:r>
              <a:rPr lang="en-US" sz="2400" dirty="0">
                <a:effectLst/>
                <a:latin typeface="Aptos Display" panose="020B0004020202020204" pitchFamily="34" charset="0"/>
                <a:ea typeface="Cambria" panose="02040503050406030204" pitchFamily="18" charset="0"/>
                <a:cs typeface="Times New Roman" panose="02020603050405020304" pitchFamily="18" charset="0"/>
              </a:rPr>
              <a:t>So, if a page is given a second chance, it is not replaced until all other pages are either replaced or given their own second chance.</a:t>
            </a:r>
          </a:p>
          <a:p>
            <a:pPr marL="0" indent="0" algn="just">
              <a:lnSpc>
                <a:spcPct val="150000"/>
              </a:lnSpc>
              <a:buNone/>
            </a:pPr>
            <a:r>
              <a:rPr lang="en-US" sz="2400" dirty="0">
                <a:latin typeface="Aptos Display" panose="020B0004020202020204" pitchFamily="34" charset="0"/>
                <a:ea typeface="Cambria" panose="02040503050406030204" pitchFamily="18" charset="0"/>
                <a:cs typeface="Times New Roman" panose="02020603050405020304" pitchFamily="18" charset="0"/>
              </a:rPr>
              <a:t>Also, if a page is frequently used, its reference bit will mostly be set(1) and hence, it will never be replaced. </a:t>
            </a:r>
            <a:endParaRPr lang="en-IN" sz="2400" dirty="0">
              <a:effectLst/>
              <a:latin typeface="+mn-lt"/>
              <a:ea typeface="Calibri" panose="020F0502020204030204" pitchFamily="34" charset="0"/>
              <a:cs typeface="Times New Roman" panose="02020603050405020304" pitchFamily="18" charset="0"/>
            </a:endParaRPr>
          </a:p>
          <a:p>
            <a:pPr marL="0" indent="0">
              <a:buNone/>
            </a:pPr>
            <a:endParaRPr lang="en-IN" sz="2400" dirty="0">
              <a:latin typeface="+mn-lt"/>
            </a:endParaRPr>
          </a:p>
        </p:txBody>
      </p:sp>
      <p:sp>
        <p:nvSpPr>
          <p:cNvPr id="2" name="Google Shape;98;g2eff20282af_0_123">
            <a:extLst>
              <a:ext uri="{FF2B5EF4-FFF2-40B4-BE49-F238E27FC236}">
                <a16:creationId xmlns:a16="http://schemas.microsoft.com/office/drawing/2014/main" id="{D809CC75-95CB-460A-DC27-E00BECF6C153}"/>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53230316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044CEA1-C640-1130-B356-85D200883F3A}"/>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692400" y="236686"/>
            <a:ext cx="9144000" cy="5767873"/>
          </a:xfrm>
          <a:prstGeom prst="rect">
            <a:avLst/>
          </a:prstGeom>
          <a:noFill/>
          <a:ln>
            <a:noFill/>
          </a:ln>
        </p:spPr>
      </p:pic>
      <p:sp>
        <p:nvSpPr>
          <p:cNvPr id="6" name="TextBox 5">
            <a:extLst>
              <a:ext uri="{FF2B5EF4-FFF2-40B4-BE49-F238E27FC236}">
                <a16:creationId xmlns:a16="http://schemas.microsoft.com/office/drawing/2014/main" id="{42AA2B83-7F36-E378-BE21-AE14C9E67867}"/>
              </a:ext>
            </a:extLst>
          </p:cNvPr>
          <p:cNvSpPr txBox="1"/>
          <p:nvPr/>
        </p:nvSpPr>
        <p:spPr>
          <a:xfrm>
            <a:off x="4323080" y="6159968"/>
            <a:ext cx="6106160" cy="503984"/>
          </a:xfrm>
          <a:prstGeom prst="rect">
            <a:avLst/>
          </a:prstGeom>
          <a:noFill/>
        </p:spPr>
        <p:txBody>
          <a:bodyPr wrap="square">
            <a:spAutoFit/>
          </a:bodyPr>
          <a:lstStyle/>
          <a:p>
            <a:pPr algn="ctr">
              <a:lnSpc>
                <a:spcPct val="149000"/>
              </a:lnSpc>
              <a:spcAft>
                <a:spcPts val="800"/>
              </a:spcAft>
            </a:pPr>
            <a:r>
              <a:rPr lang="en-US" sz="2000" dirty="0">
                <a:effectLst/>
                <a:ea typeface="Cambria" panose="02040503050406030204" pitchFamily="18" charset="0"/>
                <a:cs typeface="Times New Roman" panose="02020603050405020304" pitchFamily="18" charset="0"/>
              </a:rPr>
              <a:t>Second-chance (clock) page-replacement algorithm.</a:t>
            </a:r>
            <a:endParaRPr lang="en-IN" sz="2000" dirty="0">
              <a:effectLst/>
              <a:ea typeface="Calibri" panose="020F0502020204030204" pitchFamily="34" charset="0"/>
              <a:cs typeface="Times New Roman" panose="02020603050405020304" pitchFamily="18" charset="0"/>
            </a:endParaRPr>
          </a:p>
        </p:txBody>
      </p:sp>
      <p:sp>
        <p:nvSpPr>
          <p:cNvPr id="2" name="Google Shape;98;g2eff20282af_0_123">
            <a:extLst>
              <a:ext uri="{FF2B5EF4-FFF2-40B4-BE49-F238E27FC236}">
                <a16:creationId xmlns:a16="http://schemas.microsoft.com/office/drawing/2014/main" id="{72172E7C-D471-8701-AA34-BA2949F9B4FE}"/>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22262677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1949E7-EED5-26AA-40B7-1ACE86E07AD1}"/>
              </a:ext>
            </a:extLst>
          </p:cNvPr>
          <p:cNvSpPr>
            <a:spLocks noGrp="1"/>
          </p:cNvSpPr>
          <p:nvPr>
            <p:ph idx="1"/>
          </p:nvPr>
        </p:nvSpPr>
        <p:spPr>
          <a:xfrm>
            <a:off x="2580640" y="121920"/>
            <a:ext cx="9458960" cy="6593840"/>
          </a:xfrm>
        </p:spPr>
        <p:txBody>
          <a:bodyPr>
            <a:normAutofit/>
          </a:bodyPr>
          <a:lstStyle/>
          <a:p>
            <a:pPr marL="0" indent="0" algn="ctr">
              <a:lnSpc>
                <a:spcPct val="150000"/>
              </a:lnSpc>
              <a:buNone/>
            </a:pPr>
            <a:r>
              <a:rPr lang="en-US" sz="2400" b="1" dirty="0">
                <a:solidFill>
                  <a:srgbClr val="FF0000"/>
                </a:solidFill>
                <a:effectLst/>
                <a:latin typeface="+mn-lt"/>
                <a:ea typeface="Cambria" panose="02040503050406030204" pitchFamily="18" charset="0"/>
                <a:cs typeface="Times New Roman" panose="02020603050405020304" pitchFamily="18" charset="0"/>
              </a:rPr>
              <a:t>Enhanced Second-Chance Algorithm</a:t>
            </a:r>
          </a:p>
          <a:p>
            <a:pPr marL="0" indent="0" algn="ctr">
              <a:lnSpc>
                <a:spcPct val="150000"/>
              </a:lnSpc>
              <a:buNone/>
            </a:pPr>
            <a:r>
              <a:rPr lang="en-IN" sz="2400" b="1" dirty="0">
                <a:solidFill>
                  <a:srgbClr val="FF0000"/>
                </a:solidFill>
                <a:effectLst/>
                <a:latin typeface="+mn-lt"/>
                <a:ea typeface="Calibri" panose="020F0502020204030204" pitchFamily="34" charset="0"/>
                <a:cs typeface="Times New Roman" panose="02020603050405020304" pitchFamily="18" charset="0"/>
              </a:rPr>
              <a:t>LRU Approximation Page Replacement </a:t>
            </a:r>
          </a:p>
          <a:p>
            <a:pPr marL="0" indent="0" algn="just">
              <a:lnSpc>
                <a:spcPct val="150000"/>
              </a:lnSpc>
              <a:buNone/>
            </a:pPr>
            <a:r>
              <a:rPr lang="en-IN" sz="2400" dirty="0">
                <a:latin typeface="+mn-lt"/>
                <a:ea typeface="Calibri" panose="020F0502020204030204" pitchFamily="34" charset="0"/>
                <a:cs typeface="Times New Roman" panose="02020603050405020304" pitchFamily="18" charset="0"/>
              </a:rPr>
              <a:t>This is an enhancement of the second chance algorithm.</a:t>
            </a:r>
          </a:p>
          <a:p>
            <a:pPr marL="0" indent="0" algn="ctr">
              <a:lnSpc>
                <a:spcPct val="150000"/>
              </a:lnSpc>
              <a:buNone/>
            </a:pPr>
            <a:r>
              <a:rPr lang="en-IN" sz="2400" dirty="0">
                <a:latin typeface="+mn-lt"/>
                <a:ea typeface="Calibri" panose="020F0502020204030204" pitchFamily="34" charset="0"/>
                <a:cs typeface="Times New Roman" panose="02020603050405020304" pitchFamily="18" charset="0"/>
              </a:rPr>
              <a:t>How?</a:t>
            </a:r>
          </a:p>
          <a:p>
            <a:pPr marL="0" indent="0" algn="just">
              <a:lnSpc>
                <a:spcPct val="150000"/>
              </a:lnSpc>
              <a:buNone/>
            </a:pPr>
            <a:r>
              <a:rPr lang="en-IN" sz="2400" dirty="0">
                <a:latin typeface="+mn-lt"/>
                <a:ea typeface="Calibri" panose="020F0502020204030204" pitchFamily="34" charset="0"/>
                <a:cs typeface="Times New Roman" panose="02020603050405020304" pitchFamily="18" charset="0"/>
              </a:rPr>
              <a:t>Here we consider the reference bit and the modify bit as an ordered pair.</a:t>
            </a:r>
          </a:p>
          <a:p>
            <a:pPr marL="0" indent="0" algn="just">
              <a:lnSpc>
                <a:spcPct val="150000"/>
              </a:lnSpc>
              <a:buNone/>
            </a:pPr>
            <a:r>
              <a:rPr lang="en-IN" sz="2400" dirty="0">
                <a:solidFill>
                  <a:srgbClr val="0000FF"/>
                </a:solidFill>
                <a:latin typeface="+mn-lt"/>
                <a:ea typeface="Calibri" panose="020F0502020204030204" pitchFamily="34" charset="0"/>
                <a:cs typeface="Times New Roman" panose="02020603050405020304" pitchFamily="18" charset="0"/>
              </a:rPr>
              <a:t>Reference bit </a:t>
            </a:r>
            <a:r>
              <a:rPr lang="en-IN" sz="2400" dirty="0">
                <a:latin typeface="+mn-lt"/>
                <a:ea typeface="Calibri" panose="020F0502020204030204" pitchFamily="34" charset="0"/>
                <a:cs typeface="Times New Roman" panose="02020603050405020304" pitchFamily="18" charset="0"/>
              </a:rPr>
              <a:t>is set when a page has been referenced.</a:t>
            </a:r>
          </a:p>
          <a:p>
            <a:pPr marL="0" indent="0" algn="just">
              <a:lnSpc>
                <a:spcPct val="150000"/>
              </a:lnSpc>
              <a:buNone/>
            </a:pPr>
            <a:r>
              <a:rPr lang="en-IN" sz="2400" dirty="0">
                <a:solidFill>
                  <a:srgbClr val="0000FF"/>
                </a:solidFill>
                <a:latin typeface="+mn-lt"/>
                <a:ea typeface="Calibri" panose="020F0502020204030204" pitchFamily="34" charset="0"/>
                <a:cs typeface="Times New Roman" panose="02020603050405020304" pitchFamily="18" charset="0"/>
              </a:rPr>
              <a:t>Modify bit </a:t>
            </a:r>
            <a:r>
              <a:rPr lang="en-IN" sz="2400" dirty="0">
                <a:latin typeface="+mn-lt"/>
                <a:ea typeface="Calibri" panose="020F0502020204030204" pitchFamily="34" charset="0"/>
                <a:cs typeface="Times New Roman" panose="02020603050405020304" pitchFamily="18" charset="0"/>
              </a:rPr>
              <a:t>is set when a page has been modified.</a:t>
            </a:r>
          </a:p>
          <a:p>
            <a:pPr marL="0" indent="0" algn="just">
              <a:lnSpc>
                <a:spcPct val="150000"/>
              </a:lnSpc>
              <a:buNone/>
            </a:pPr>
            <a:endParaRPr lang="en-IN" sz="2400" dirty="0">
              <a:latin typeface="+mn-lt"/>
              <a:ea typeface="Calibri" panose="020F0502020204030204" pitchFamily="34" charset="0"/>
              <a:cs typeface="Times New Roman" panose="02020603050405020304" pitchFamily="18" charset="0"/>
            </a:endParaRPr>
          </a:p>
          <a:p>
            <a:endParaRPr lang="en-IN" sz="2400" dirty="0">
              <a:latin typeface="+mn-lt"/>
              <a:ea typeface="Calibri" panose="020F0502020204030204" pitchFamily="34" charset="0"/>
              <a:cs typeface="Times New Roman" panose="02020603050405020304" pitchFamily="18" charset="0"/>
            </a:endParaRPr>
          </a:p>
          <a:p>
            <a:endParaRPr lang="en-IN" sz="2400" dirty="0">
              <a:latin typeface="+mn-lt"/>
              <a:ea typeface="Calibri" panose="020F0502020204030204" pitchFamily="34" charset="0"/>
              <a:cs typeface="Times New Roman" panose="02020603050405020304" pitchFamily="18" charset="0"/>
            </a:endParaRPr>
          </a:p>
          <a:p>
            <a:endParaRPr lang="en-IN" sz="2400" dirty="0">
              <a:latin typeface="+mn-lt"/>
              <a:ea typeface="Calibri" panose="020F0502020204030204" pitchFamily="34" charset="0"/>
              <a:cs typeface="Times New Roman" panose="02020603050405020304" pitchFamily="18" charset="0"/>
            </a:endParaRPr>
          </a:p>
          <a:p>
            <a:endParaRPr lang="en-IN" sz="2400" dirty="0">
              <a:effectLst/>
              <a:latin typeface="+mn-lt"/>
              <a:ea typeface="Calibri" panose="020F0502020204030204" pitchFamily="34" charset="0"/>
              <a:cs typeface="Times New Roman" panose="02020603050405020304" pitchFamily="18" charset="0"/>
            </a:endParaRPr>
          </a:p>
          <a:p>
            <a:endParaRPr lang="en-IN" sz="2000" dirty="0">
              <a:latin typeface="+mn-lt"/>
            </a:endParaRPr>
          </a:p>
        </p:txBody>
      </p:sp>
      <p:sp>
        <p:nvSpPr>
          <p:cNvPr id="2" name="Google Shape;98;g2eff20282af_0_123">
            <a:extLst>
              <a:ext uri="{FF2B5EF4-FFF2-40B4-BE49-F238E27FC236}">
                <a16:creationId xmlns:a16="http://schemas.microsoft.com/office/drawing/2014/main" id="{FFAED2A6-4483-944E-FF8B-358A9C90393C}"/>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00292491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E01701-AD1E-5D02-AA5F-6A762C6A61B7}"/>
              </a:ext>
            </a:extLst>
          </p:cNvPr>
          <p:cNvSpPr>
            <a:spLocks noGrp="1"/>
          </p:cNvSpPr>
          <p:nvPr>
            <p:ph idx="1"/>
          </p:nvPr>
        </p:nvSpPr>
        <p:spPr>
          <a:xfrm>
            <a:off x="2580640" y="264160"/>
            <a:ext cx="9418320" cy="6370320"/>
          </a:xfrm>
        </p:spPr>
        <p:txBody>
          <a:bodyPr>
            <a:normAutofit/>
          </a:bodyPr>
          <a:lstStyle/>
          <a:p>
            <a:pPr marL="0" indent="0" algn="just">
              <a:lnSpc>
                <a:spcPct val="150000"/>
              </a:lnSpc>
              <a:buNone/>
            </a:pPr>
            <a:r>
              <a:rPr lang="en-IN" sz="2400" dirty="0">
                <a:latin typeface="+mn-lt"/>
              </a:rPr>
              <a:t>Here we can have four possible cases</a:t>
            </a:r>
          </a:p>
          <a:p>
            <a:pPr marL="0" indent="0" algn="just">
              <a:lnSpc>
                <a:spcPct val="150000"/>
              </a:lnSpc>
              <a:buNone/>
            </a:pPr>
            <a:r>
              <a:rPr lang="en-IN" sz="2400" dirty="0">
                <a:latin typeface="+mn-lt"/>
              </a:rPr>
              <a:t>(0,0) , (0,1), (1,0) , (1,1)</a:t>
            </a:r>
          </a:p>
        </p:txBody>
      </p:sp>
      <p:graphicFrame>
        <p:nvGraphicFramePr>
          <p:cNvPr id="4" name="Table 4">
            <a:extLst>
              <a:ext uri="{FF2B5EF4-FFF2-40B4-BE49-F238E27FC236}">
                <a16:creationId xmlns:a16="http://schemas.microsoft.com/office/drawing/2014/main" id="{E3A3C642-37DE-AED4-0299-F1EC34DD3AF3}"/>
              </a:ext>
            </a:extLst>
          </p:cNvPr>
          <p:cNvGraphicFramePr>
            <a:graphicFrameLocks noGrp="1"/>
          </p:cNvGraphicFramePr>
          <p:nvPr>
            <p:extLst>
              <p:ext uri="{D42A27DB-BD31-4B8C-83A1-F6EECF244321}">
                <p14:modId xmlns:p14="http://schemas.microsoft.com/office/powerpoint/2010/main" val="1536066679"/>
              </p:ext>
            </p:extLst>
          </p:nvPr>
        </p:nvGraphicFramePr>
        <p:xfrm>
          <a:off x="2580640" y="1574800"/>
          <a:ext cx="9499601" cy="5086237"/>
        </p:xfrm>
        <a:graphic>
          <a:graphicData uri="http://schemas.openxmlformats.org/drawingml/2006/table">
            <a:tbl>
              <a:tblPr firstRow="1" bandRow="1">
                <a:tableStyleId>{5C22544A-7EE6-4342-B048-85BDC9FD1C3A}</a:tableStyleId>
              </a:tblPr>
              <a:tblGrid>
                <a:gridCol w="1558855">
                  <a:extLst>
                    <a:ext uri="{9D8B030D-6E8A-4147-A177-3AD203B41FA5}">
                      <a16:colId xmlns:a16="http://schemas.microsoft.com/office/drawing/2014/main" val="3208954639"/>
                    </a:ext>
                  </a:extLst>
                </a:gridCol>
                <a:gridCol w="1234530">
                  <a:extLst>
                    <a:ext uri="{9D8B030D-6E8A-4147-A177-3AD203B41FA5}">
                      <a16:colId xmlns:a16="http://schemas.microsoft.com/office/drawing/2014/main" val="750788052"/>
                    </a:ext>
                  </a:extLst>
                </a:gridCol>
                <a:gridCol w="3567581">
                  <a:extLst>
                    <a:ext uri="{9D8B030D-6E8A-4147-A177-3AD203B41FA5}">
                      <a16:colId xmlns:a16="http://schemas.microsoft.com/office/drawing/2014/main" val="847349096"/>
                    </a:ext>
                  </a:extLst>
                </a:gridCol>
                <a:gridCol w="3138635">
                  <a:extLst>
                    <a:ext uri="{9D8B030D-6E8A-4147-A177-3AD203B41FA5}">
                      <a16:colId xmlns:a16="http://schemas.microsoft.com/office/drawing/2014/main" val="419869948"/>
                    </a:ext>
                  </a:extLst>
                </a:gridCol>
              </a:tblGrid>
              <a:tr h="388114">
                <a:tc>
                  <a:txBody>
                    <a:bodyPr/>
                    <a:lstStyle/>
                    <a:p>
                      <a:pPr algn="ctr"/>
                      <a:r>
                        <a:rPr lang="en-IN" dirty="0"/>
                        <a:t>Reference bit</a:t>
                      </a:r>
                    </a:p>
                  </a:txBody>
                  <a:tcPr/>
                </a:tc>
                <a:tc>
                  <a:txBody>
                    <a:bodyPr/>
                    <a:lstStyle/>
                    <a:p>
                      <a:pPr algn="ctr"/>
                      <a:r>
                        <a:rPr lang="en-IN" dirty="0"/>
                        <a:t>Modify bit</a:t>
                      </a:r>
                    </a:p>
                  </a:txBody>
                  <a:tcPr/>
                </a:tc>
                <a:tc>
                  <a:txBody>
                    <a:bodyPr/>
                    <a:lstStyle/>
                    <a:p>
                      <a:pPr algn="ctr"/>
                      <a:r>
                        <a:rPr lang="en-IN" dirty="0"/>
                        <a:t>What it implies</a:t>
                      </a:r>
                    </a:p>
                  </a:txBody>
                  <a:tcPr/>
                </a:tc>
                <a:tc>
                  <a:txBody>
                    <a:bodyPr/>
                    <a:lstStyle/>
                    <a:p>
                      <a:pPr algn="ctr"/>
                      <a:r>
                        <a:rPr lang="en-IN" dirty="0"/>
                        <a:t>Remarks</a:t>
                      </a:r>
                    </a:p>
                  </a:txBody>
                  <a:tcPr/>
                </a:tc>
                <a:extLst>
                  <a:ext uri="{0D108BD9-81ED-4DB2-BD59-A6C34878D82A}">
                    <a16:rowId xmlns:a16="http://schemas.microsoft.com/office/drawing/2014/main" val="3268197796"/>
                  </a:ext>
                </a:extLst>
              </a:tr>
              <a:tr h="826513">
                <a:tc>
                  <a:txBody>
                    <a:bodyPr/>
                    <a:lstStyle/>
                    <a:p>
                      <a:pPr algn="ctr"/>
                      <a:r>
                        <a:rPr lang="en-IN" dirty="0"/>
                        <a:t> 0   </a:t>
                      </a:r>
                    </a:p>
                  </a:txBody>
                  <a:tcPr/>
                </a:tc>
                <a:tc>
                  <a:txBody>
                    <a:bodyPr/>
                    <a:lstStyle/>
                    <a:p>
                      <a:pPr algn="ctr"/>
                      <a:r>
                        <a:rPr lang="en-IN" dirty="0"/>
                        <a:t>0</a:t>
                      </a:r>
                    </a:p>
                  </a:txBody>
                  <a:tcPr/>
                </a:tc>
                <a:tc>
                  <a:txBody>
                    <a:bodyPr/>
                    <a:lstStyle/>
                    <a:p>
                      <a:pPr algn="ctr"/>
                      <a:r>
                        <a:rPr lang="en-IN" dirty="0"/>
                        <a:t>The page was neither used recently nor modified</a:t>
                      </a:r>
                    </a:p>
                  </a:txBody>
                  <a:tcPr/>
                </a:tc>
                <a:tc>
                  <a:txBody>
                    <a:bodyPr/>
                    <a:lstStyle/>
                    <a:p>
                      <a:pPr algn="ctr"/>
                      <a:r>
                        <a:rPr lang="en-IN" dirty="0"/>
                        <a:t>Best page to  replaced</a:t>
                      </a:r>
                    </a:p>
                  </a:txBody>
                  <a:tcPr/>
                </a:tc>
                <a:extLst>
                  <a:ext uri="{0D108BD9-81ED-4DB2-BD59-A6C34878D82A}">
                    <a16:rowId xmlns:a16="http://schemas.microsoft.com/office/drawing/2014/main" val="3981686641"/>
                  </a:ext>
                </a:extLst>
              </a:tr>
              <a:tr h="1290537">
                <a:tc>
                  <a:txBody>
                    <a:bodyPr/>
                    <a:lstStyle/>
                    <a:p>
                      <a:pPr algn="ctr"/>
                      <a:r>
                        <a:rPr lang="en-IN" dirty="0"/>
                        <a:t>0</a:t>
                      </a:r>
                    </a:p>
                  </a:txBody>
                  <a:tcPr/>
                </a:tc>
                <a:tc>
                  <a:txBody>
                    <a:bodyPr/>
                    <a:lstStyle/>
                    <a:p>
                      <a:pPr algn="ctr"/>
                      <a:r>
                        <a:rPr lang="en-IN" dirty="0"/>
                        <a:t>1</a:t>
                      </a:r>
                    </a:p>
                  </a:txBody>
                  <a:tcPr/>
                </a:tc>
                <a:tc>
                  <a:txBody>
                    <a:bodyPr/>
                    <a:lstStyle/>
                    <a:p>
                      <a:pPr algn="ctr"/>
                      <a:r>
                        <a:rPr lang="en-IN" dirty="0"/>
                        <a:t>The page was not used recently, but it  has been modified</a:t>
                      </a:r>
                    </a:p>
                  </a:txBody>
                  <a:tcPr/>
                </a:tc>
                <a:tc>
                  <a:txBody>
                    <a:bodyPr/>
                    <a:lstStyle/>
                    <a:p>
                      <a:pPr algn="ctr"/>
                      <a:r>
                        <a:rPr lang="en-IN" dirty="0"/>
                        <a:t>Not the best page to be replaced, as we will have to write this page to the disk when replacement is done.</a:t>
                      </a:r>
                    </a:p>
                  </a:txBody>
                  <a:tcPr/>
                </a:tc>
                <a:extLst>
                  <a:ext uri="{0D108BD9-81ED-4DB2-BD59-A6C34878D82A}">
                    <a16:rowId xmlns:a16="http://schemas.microsoft.com/office/drawing/2014/main" val="1777065525"/>
                  </a:ext>
                </a:extLst>
              </a:tr>
              <a:tr h="806585">
                <a:tc>
                  <a:txBody>
                    <a:bodyPr/>
                    <a:lstStyle/>
                    <a:p>
                      <a:pPr algn="ctr"/>
                      <a:r>
                        <a:rPr lang="en-IN" dirty="0"/>
                        <a:t>1</a:t>
                      </a:r>
                    </a:p>
                  </a:txBody>
                  <a:tcPr/>
                </a:tc>
                <a:tc>
                  <a:txBody>
                    <a:bodyPr/>
                    <a:lstStyle/>
                    <a:p>
                      <a:pPr algn="ctr"/>
                      <a:r>
                        <a:rPr lang="en-IN" dirty="0"/>
                        <a:t>0</a:t>
                      </a:r>
                    </a:p>
                  </a:txBody>
                  <a:tcPr/>
                </a:tc>
                <a:tc>
                  <a:txBody>
                    <a:bodyPr/>
                    <a:lstStyle/>
                    <a:p>
                      <a:pPr algn="ctr"/>
                      <a:r>
                        <a:rPr lang="en-IN" dirty="0"/>
                        <a:t>The page was used recently but not modified</a:t>
                      </a:r>
                    </a:p>
                  </a:txBody>
                  <a:tcPr/>
                </a:tc>
                <a:tc>
                  <a:txBody>
                    <a:bodyPr/>
                    <a:lstStyle/>
                    <a:p>
                      <a:pPr algn="ctr"/>
                      <a:r>
                        <a:rPr lang="en-IN" dirty="0"/>
                        <a:t>There are chances that this page will be used again soon</a:t>
                      </a:r>
                    </a:p>
                  </a:txBody>
                  <a:tcPr/>
                </a:tc>
                <a:extLst>
                  <a:ext uri="{0D108BD9-81ED-4DB2-BD59-A6C34878D82A}">
                    <a16:rowId xmlns:a16="http://schemas.microsoft.com/office/drawing/2014/main" val="3565699775"/>
                  </a:ext>
                </a:extLst>
              </a:tr>
              <a:tr h="1774488">
                <a:tc>
                  <a:txBody>
                    <a:bodyPr/>
                    <a:lstStyle/>
                    <a:p>
                      <a:pPr algn="ctr"/>
                      <a:r>
                        <a:rPr lang="en-IN" dirty="0"/>
                        <a:t>1</a:t>
                      </a:r>
                    </a:p>
                  </a:txBody>
                  <a:tcPr/>
                </a:tc>
                <a:tc>
                  <a:txBody>
                    <a:bodyPr/>
                    <a:lstStyle/>
                    <a:p>
                      <a:pPr algn="ctr"/>
                      <a:r>
                        <a:rPr lang="en-IN"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The page was used recently and also  has been modified</a:t>
                      </a:r>
                    </a:p>
                    <a:p>
                      <a:pPr algn="ctr"/>
                      <a:endParaRPr lang="en-IN" dirty="0"/>
                    </a:p>
                  </a:txBody>
                  <a:tcPr/>
                </a:tc>
                <a:tc>
                  <a:txBody>
                    <a:bodyPr/>
                    <a:lstStyle/>
                    <a:p>
                      <a:pPr algn="ctr"/>
                      <a:r>
                        <a:rPr lang="en-IN" dirty="0"/>
                        <a:t>There are chances that this page will be used again soon and also we will have to write this page to the disk if we choose to replace this page</a:t>
                      </a:r>
                    </a:p>
                  </a:txBody>
                  <a:tcPr/>
                </a:tc>
                <a:extLst>
                  <a:ext uri="{0D108BD9-81ED-4DB2-BD59-A6C34878D82A}">
                    <a16:rowId xmlns:a16="http://schemas.microsoft.com/office/drawing/2014/main" val="2495560062"/>
                  </a:ext>
                </a:extLst>
              </a:tr>
            </a:tbl>
          </a:graphicData>
        </a:graphic>
      </p:graphicFrame>
      <p:sp>
        <p:nvSpPr>
          <p:cNvPr id="2" name="Google Shape;98;g2eff20282af_0_123">
            <a:extLst>
              <a:ext uri="{FF2B5EF4-FFF2-40B4-BE49-F238E27FC236}">
                <a16:creationId xmlns:a16="http://schemas.microsoft.com/office/drawing/2014/main" id="{EFEFFE55-AE4B-5051-876E-7423675CB650}"/>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60006584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892C21-D5AB-C077-8161-C658BDF41CD1}"/>
              </a:ext>
            </a:extLst>
          </p:cNvPr>
          <p:cNvSpPr>
            <a:spLocks noGrp="1"/>
          </p:cNvSpPr>
          <p:nvPr>
            <p:ph idx="1"/>
          </p:nvPr>
        </p:nvSpPr>
        <p:spPr>
          <a:xfrm>
            <a:off x="2550160" y="142240"/>
            <a:ext cx="9489440" cy="6563360"/>
          </a:xfrm>
        </p:spPr>
        <p:txBody>
          <a:bodyPr>
            <a:normAutofit/>
          </a:bodyPr>
          <a:lstStyle/>
          <a:p>
            <a:pPr marL="0" indent="0" algn="ctr">
              <a:lnSpc>
                <a:spcPct val="150000"/>
              </a:lnSpc>
              <a:buNone/>
            </a:pPr>
            <a:r>
              <a:rPr lang="en-IN" sz="2400" b="1" dirty="0">
                <a:solidFill>
                  <a:srgbClr val="FF0000"/>
                </a:solidFill>
                <a:latin typeface="+mn-lt"/>
              </a:rPr>
              <a:t>Counting Based Page Replacement</a:t>
            </a:r>
          </a:p>
          <a:p>
            <a:pPr marL="0" indent="0" algn="just">
              <a:lnSpc>
                <a:spcPct val="150000"/>
              </a:lnSpc>
              <a:buNone/>
            </a:pPr>
            <a:r>
              <a:rPr lang="en-IN" sz="2400" dirty="0">
                <a:latin typeface="+mn-lt"/>
              </a:rPr>
              <a:t>Maintain a counter that keeps a count of the number of references made to each page</a:t>
            </a:r>
          </a:p>
          <a:p>
            <a:pPr marL="0" indent="0" algn="just">
              <a:lnSpc>
                <a:spcPct val="150000"/>
              </a:lnSpc>
              <a:buNone/>
            </a:pPr>
            <a:r>
              <a:rPr lang="en-IN" sz="2400" dirty="0">
                <a:latin typeface="+mn-lt"/>
              </a:rPr>
              <a:t>Using the counter we formulate the following schemes </a:t>
            </a:r>
          </a:p>
          <a:p>
            <a:pPr marL="0" indent="0" algn="just">
              <a:lnSpc>
                <a:spcPct val="150000"/>
              </a:lnSpc>
              <a:buNone/>
            </a:pPr>
            <a:r>
              <a:rPr lang="en-IN" sz="2400" dirty="0">
                <a:solidFill>
                  <a:srgbClr val="0000FF"/>
                </a:solidFill>
                <a:latin typeface="+mn-lt"/>
              </a:rPr>
              <a:t>Least Frequently Used (LFU) </a:t>
            </a:r>
            <a:r>
              <a:rPr lang="en-IN" sz="2400" dirty="0">
                <a:latin typeface="+mn-lt"/>
              </a:rPr>
              <a:t>Page Replacement Algorithm</a:t>
            </a:r>
          </a:p>
          <a:p>
            <a:pPr marL="0" indent="0" algn="just">
              <a:lnSpc>
                <a:spcPct val="150000"/>
              </a:lnSpc>
              <a:buNone/>
            </a:pPr>
            <a:r>
              <a:rPr lang="en-IN" sz="2400" dirty="0">
                <a:solidFill>
                  <a:srgbClr val="0000FF"/>
                </a:solidFill>
                <a:latin typeface="+mn-lt"/>
              </a:rPr>
              <a:t>Most Frequently Used (MFU) </a:t>
            </a:r>
            <a:r>
              <a:rPr lang="en-IN" sz="2400" dirty="0">
                <a:latin typeface="+mn-lt"/>
              </a:rPr>
              <a:t>Page Replacement Algorithm</a:t>
            </a:r>
          </a:p>
        </p:txBody>
      </p:sp>
      <p:sp>
        <p:nvSpPr>
          <p:cNvPr id="2" name="Google Shape;98;g2eff20282af_0_123">
            <a:extLst>
              <a:ext uri="{FF2B5EF4-FFF2-40B4-BE49-F238E27FC236}">
                <a16:creationId xmlns:a16="http://schemas.microsoft.com/office/drawing/2014/main" id="{71D1C5E2-D775-C56F-AD50-935B1B5C18B2}"/>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52607723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9BB20F-2DB2-5AEB-659E-EE359253773A}"/>
              </a:ext>
            </a:extLst>
          </p:cNvPr>
          <p:cNvSpPr>
            <a:spLocks noGrp="1"/>
          </p:cNvSpPr>
          <p:nvPr>
            <p:ph idx="1"/>
          </p:nvPr>
        </p:nvSpPr>
        <p:spPr>
          <a:xfrm>
            <a:off x="2611120" y="142240"/>
            <a:ext cx="9448800" cy="6583680"/>
          </a:xfrm>
        </p:spPr>
        <p:txBody>
          <a:bodyPr>
            <a:normAutofit/>
          </a:bodyPr>
          <a:lstStyle/>
          <a:p>
            <a:pPr marL="0" indent="0" algn="ctr">
              <a:lnSpc>
                <a:spcPct val="150000"/>
              </a:lnSpc>
              <a:buNone/>
            </a:pPr>
            <a:r>
              <a:rPr lang="en-IN" sz="2400" b="1" dirty="0">
                <a:solidFill>
                  <a:srgbClr val="FF0000"/>
                </a:solidFill>
                <a:latin typeface="+mn-lt"/>
              </a:rPr>
              <a:t>Least Frequently Used (LFU) Page Replacement Algorithm</a:t>
            </a:r>
          </a:p>
          <a:p>
            <a:pPr marL="0" indent="0" algn="just">
              <a:lnSpc>
                <a:spcPct val="150000"/>
              </a:lnSpc>
              <a:buNone/>
            </a:pPr>
            <a:r>
              <a:rPr lang="en-IN" sz="2400" dirty="0">
                <a:solidFill>
                  <a:srgbClr val="0000FF"/>
                </a:solidFill>
                <a:latin typeface="+mn-lt"/>
              </a:rPr>
              <a:t>Counter</a:t>
            </a:r>
            <a:r>
              <a:rPr lang="en-IN" sz="2400" dirty="0">
                <a:latin typeface="+mn-lt"/>
              </a:rPr>
              <a:t> – Keeps a count of the number of </a:t>
            </a:r>
            <a:r>
              <a:rPr lang="en-IN" sz="2400" dirty="0" err="1">
                <a:latin typeface="+mn-lt"/>
              </a:rPr>
              <a:t>refrences</a:t>
            </a:r>
            <a:r>
              <a:rPr lang="en-IN" sz="2400" dirty="0">
                <a:latin typeface="+mn-lt"/>
              </a:rPr>
              <a:t> made to each page </a:t>
            </a:r>
          </a:p>
          <a:p>
            <a:pPr marL="0" indent="0" algn="just">
              <a:lnSpc>
                <a:spcPct val="150000"/>
              </a:lnSpc>
              <a:buNone/>
            </a:pPr>
            <a:r>
              <a:rPr lang="en-IN" sz="2400" dirty="0">
                <a:latin typeface="+mn-lt"/>
              </a:rPr>
              <a:t>Pages which are least used – will have lesser counts</a:t>
            </a:r>
          </a:p>
          <a:p>
            <a:pPr marL="0" indent="0" algn="just">
              <a:lnSpc>
                <a:spcPct val="150000"/>
              </a:lnSpc>
              <a:buNone/>
            </a:pPr>
            <a:r>
              <a:rPr lang="en-IN" sz="2400" dirty="0">
                <a:latin typeface="+mn-lt"/>
              </a:rPr>
              <a:t>Pages which are frequently used – will have greater counts</a:t>
            </a:r>
          </a:p>
          <a:p>
            <a:pPr marL="0" indent="0" algn="just">
              <a:lnSpc>
                <a:spcPct val="150000"/>
              </a:lnSpc>
              <a:buNone/>
            </a:pPr>
            <a:r>
              <a:rPr lang="en-IN" sz="2400" b="1" dirty="0">
                <a:latin typeface="+mn-lt"/>
              </a:rPr>
              <a:t>Replace the page with least count</a:t>
            </a:r>
          </a:p>
          <a:p>
            <a:pPr marL="0" indent="0" algn="just">
              <a:lnSpc>
                <a:spcPct val="150000"/>
              </a:lnSpc>
              <a:buNone/>
            </a:pPr>
            <a:r>
              <a:rPr lang="en-IN" sz="2400" dirty="0">
                <a:solidFill>
                  <a:srgbClr val="0000FF"/>
                </a:solidFill>
                <a:latin typeface="+mn-lt"/>
              </a:rPr>
              <a:t>Problem:</a:t>
            </a:r>
            <a:r>
              <a:rPr lang="en-IN" sz="2400" dirty="0">
                <a:latin typeface="+mn-lt"/>
              </a:rPr>
              <a:t> Pages that </a:t>
            </a:r>
            <a:r>
              <a:rPr lang="en-IN" sz="2400" dirty="0" err="1">
                <a:latin typeface="+mn-lt"/>
              </a:rPr>
              <a:t>wrer</a:t>
            </a:r>
            <a:r>
              <a:rPr lang="en-IN" sz="2400" dirty="0">
                <a:latin typeface="+mn-lt"/>
              </a:rPr>
              <a:t> heavily used during the initial phase of processes would have higher counts and would remain in memory though they may not be needed further.</a:t>
            </a:r>
          </a:p>
          <a:p>
            <a:pPr marL="0" indent="0" algn="just">
              <a:lnSpc>
                <a:spcPct val="150000"/>
              </a:lnSpc>
              <a:buNone/>
            </a:pPr>
            <a:r>
              <a:rPr lang="en-IN" sz="2400" dirty="0">
                <a:solidFill>
                  <a:srgbClr val="0000FF"/>
                </a:solidFill>
                <a:latin typeface="+mn-lt"/>
              </a:rPr>
              <a:t>Solution:</a:t>
            </a:r>
            <a:r>
              <a:rPr lang="en-IN" sz="2400" dirty="0">
                <a:latin typeface="+mn-lt"/>
              </a:rPr>
              <a:t> Shift the counts right by 1 bit at regular intervals, forming an exponentially decaying average usage count.</a:t>
            </a:r>
          </a:p>
        </p:txBody>
      </p:sp>
      <p:sp>
        <p:nvSpPr>
          <p:cNvPr id="2" name="Google Shape;98;g2eff20282af_0_123">
            <a:extLst>
              <a:ext uri="{FF2B5EF4-FFF2-40B4-BE49-F238E27FC236}">
                <a16:creationId xmlns:a16="http://schemas.microsoft.com/office/drawing/2014/main" id="{B09AFD1A-1312-8C51-2DA5-F8DB339AB936}"/>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6599803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AB93B7-974E-1283-E965-8DF8D7C538CC}"/>
              </a:ext>
            </a:extLst>
          </p:cNvPr>
          <p:cNvSpPr>
            <a:spLocks noGrp="1"/>
          </p:cNvSpPr>
          <p:nvPr>
            <p:ph idx="1"/>
          </p:nvPr>
        </p:nvSpPr>
        <p:spPr>
          <a:xfrm>
            <a:off x="2560320" y="101600"/>
            <a:ext cx="9519920" cy="6482080"/>
          </a:xfrm>
        </p:spPr>
        <p:txBody>
          <a:bodyPr>
            <a:normAutofit/>
          </a:bodyPr>
          <a:lstStyle/>
          <a:p>
            <a:pPr marL="0" indent="0" algn="just">
              <a:lnSpc>
                <a:spcPct val="150000"/>
              </a:lnSpc>
              <a:buNone/>
            </a:pPr>
            <a:r>
              <a:rPr lang="en-IN" sz="2400" b="1" dirty="0">
                <a:solidFill>
                  <a:srgbClr val="FF0000"/>
                </a:solidFill>
                <a:latin typeface="+mn-lt"/>
              </a:rPr>
              <a:t>Most Frequently Used (MFU) Page Replacement Algorithm</a:t>
            </a:r>
          </a:p>
          <a:p>
            <a:pPr marL="0" indent="0" algn="just">
              <a:lnSpc>
                <a:spcPct val="150000"/>
              </a:lnSpc>
              <a:buNone/>
            </a:pPr>
            <a:r>
              <a:rPr lang="en-IN" sz="2400" dirty="0">
                <a:solidFill>
                  <a:srgbClr val="0000FF"/>
                </a:solidFill>
                <a:latin typeface="+mn-lt"/>
              </a:rPr>
              <a:t>Counter</a:t>
            </a:r>
            <a:r>
              <a:rPr lang="en-IN" sz="2400" dirty="0">
                <a:latin typeface="+mn-lt"/>
              </a:rPr>
              <a:t> – Keeps a count of the number of </a:t>
            </a:r>
            <a:r>
              <a:rPr lang="en-IN" sz="2400" dirty="0" err="1">
                <a:latin typeface="+mn-lt"/>
              </a:rPr>
              <a:t>refrences</a:t>
            </a:r>
            <a:r>
              <a:rPr lang="en-IN" sz="2400" dirty="0">
                <a:latin typeface="+mn-lt"/>
              </a:rPr>
              <a:t> made to each page </a:t>
            </a:r>
          </a:p>
          <a:p>
            <a:pPr marL="0" indent="0" algn="just">
              <a:lnSpc>
                <a:spcPct val="150000"/>
              </a:lnSpc>
              <a:buNone/>
            </a:pPr>
            <a:r>
              <a:rPr lang="en-IN" sz="2400" dirty="0">
                <a:latin typeface="+mn-lt"/>
              </a:rPr>
              <a:t>Pages which are least used – will have lesser counts</a:t>
            </a:r>
          </a:p>
          <a:p>
            <a:pPr marL="0" indent="0" algn="just">
              <a:lnSpc>
                <a:spcPct val="150000"/>
              </a:lnSpc>
              <a:buNone/>
            </a:pPr>
            <a:r>
              <a:rPr lang="en-IN" sz="2400" dirty="0">
                <a:latin typeface="+mn-lt"/>
              </a:rPr>
              <a:t>Pages which are frequently used – will have greater counts</a:t>
            </a:r>
          </a:p>
          <a:p>
            <a:pPr marL="0" indent="0" algn="just">
              <a:lnSpc>
                <a:spcPct val="150000"/>
              </a:lnSpc>
              <a:buNone/>
            </a:pPr>
            <a:r>
              <a:rPr lang="en-IN" sz="2400" dirty="0">
                <a:latin typeface="+mn-lt"/>
              </a:rPr>
              <a:t>Based on the argument that the page with the smallest count was probably just brought in  and is yet to be used.</a:t>
            </a:r>
          </a:p>
          <a:p>
            <a:pPr marL="0" indent="0" algn="just">
              <a:lnSpc>
                <a:spcPct val="150000"/>
              </a:lnSpc>
              <a:buNone/>
            </a:pPr>
            <a:r>
              <a:rPr lang="en-IN" sz="2400" b="1" dirty="0">
                <a:latin typeface="+mn-lt"/>
              </a:rPr>
              <a:t>Do not replace the page with the least count.</a:t>
            </a:r>
          </a:p>
          <a:p>
            <a:pPr marL="0" indent="0" algn="just">
              <a:lnSpc>
                <a:spcPct val="150000"/>
              </a:lnSpc>
              <a:buNone/>
            </a:pPr>
            <a:endParaRPr lang="en-IN" sz="2400" dirty="0">
              <a:latin typeface="+mn-lt"/>
            </a:endParaRPr>
          </a:p>
          <a:p>
            <a:pPr marL="0" indent="0" algn="just">
              <a:lnSpc>
                <a:spcPct val="150000"/>
              </a:lnSpc>
              <a:buNone/>
            </a:pPr>
            <a:endParaRPr lang="en-IN" sz="2400" dirty="0">
              <a:latin typeface="+mn-lt"/>
            </a:endParaRPr>
          </a:p>
          <a:p>
            <a:endParaRPr lang="en-IN" sz="2000" dirty="0">
              <a:latin typeface="+mn-lt"/>
            </a:endParaRPr>
          </a:p>
        </p:txBody>
      </p:sp>
      <p:sp>
        <p:nvSpPr>
          <p:cNvPr id="2" name="Google Shape;98;g2eff20282af_0_123">
            <a:extLst>
              <a:ext uri="{FF2B5EF4-FFF2-40B4-BE49-F238E27FC236}">
                <a16:creationId xmlns:a16="http://schemas.microsoft.com/office/drawing/2014/main" id="{8163C507-76A0-17E8-CD11-51960129798E}"/>
              </a:ext>
            </a:extLst>
          </p:cNvPr>
          <p:cNvSpPr txBox="1"/>
          <p:nvPr/>
        </p:nvSpPr>
        <p:spPr>
          <a:xfrm>
            <a:off x="524064" y="3874143"/>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28148312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A51F6D-1CC0-9BA8-D0CA-E2B55D7FCB29}"/>
              </a:ext>
            </a:extLst>
          </p:cNvPr>
          <p:cNvSpPr>
            <a:spLocks noGrp="1"/>
          </p:cNvSpPr>
          <p:nvPr>
            <p:ph idx="1"/>
          </p:nvPr>
        </p:nvSpPr>
        <p:spPr>
          <a:xfrm>
            <a:off x="2550160" y="111760"/>
            <a:ext cx="9469120" cy="6634480"/>
          </a:xfrm>
        </p:spPr>
        <p:txBody>
          <a:bodyPr>
            <a:normAutofit/>
          </a:bodyPr>
          <a:lstStyle/>
          <a:p>
            <a:pPr marL="0" indent="0" algn="just">
              <a:lnSpc>
                <a:spcPct val="150000"/>
              </a:lnSpc>
              <a:buNone/>
            </a:pPr>
            <a:r>
              <a:rPr lang="en-IN" sz="2400" dirty="0">
                <a:latin typeface="+mn-lt"/>
              </a:rPr>
              <a:t>Both LFU and MFU algorithms are </a:t>
            </a:r>
          </a:p>
          <a:p>
            <a:pPr marL="0" indent="0" algn="just">
              <a:lnSpc>
                <a:spcPct val="150000"/>
              </a:lnSpc>
              <a:buNone/>
            </a:pPr>
            <a:r>
              <a:rPr lang="en-IN" sz="2400" dirty="0">
                <a:latin typeface="+mn-lt"/>
              </a:rPr>
              <a:t>Expensive to implement  and they also </a:t>
            </a:r>
          </a:p>
          <a:p>
            <a:pPr marL="0" indent="0" algn="just">
              <a:lnSpc>
                <a:spcPct val="150000"/>
              </a:lnSpc>
              <a:buNone/>
            </a:pPr>
            <a:r>
              <a:rPr lang="en-IN" sz="2400" dirty="0">
                <a:latin typeface="+mn-lt"/>
              </a:rPr>
              <a:t>Do not approximate Optimal Page Replacement well</a:t>
            </a:r>
          </a:p>
          <a:p>
            <a:pPr marL="0" indent="0" algn="just">
              <a:lnSpc>
                <a:spcPct val="150000"/>
              </a:lnSpc>
              <a:buNone/>
            </a:pPr>
            <a:r>
              <a:rPr lang="en-IN" sz="2400" dirty="0">
                <a:latin typeface="+mn-lt"/>
              </a:rPr>
              <a:t>Hence they are not usually used.</a:t>
            </a:r>
          </a:p>
          <a:p>
            <a:pPr marL="0" indent="0" algn="just">
              <a:lnSpc>
                <a:spcPct val="150000"/>
              </a:lnSpc>
              <a:buNone/>
            </a:pPr>
            <a:r>
              <a:rPr lang="en-IN" sz="2400" dirty="0">
                <a:latin typeface="+mn-lt"/>
              </a:rPr>
              <a:t> </a:t>
            </a:r>
          </a:p>
        </p:txBody>
      </p:sp>
      <p:sp>
        <p:nvSpPr>
          <p:cNvPr id="2" name="Google Shape;98;g2eff20282af_0_123">
            <a:extLst>
              <a:ext uri="{FF2B5EF4-FFF2-40B4-BE49-F238E27FC236}">
                <a16:creationId xmlns:a16="http://schemas.microsoft.com/office/drawing/2014/main" id="{F333FC3D-9F2B-3D69-B439-F6DA1667FC1B}"/>
              </a:ext>
            </a:extLst>
          </p:cNvPr>
          <p:cNvSpPr txBox="1"/>
          <p:nvPr/>
        </p:nvSpPr>
        <p:spPr>
          <a:xfrm>
            <a:off x="524064" y="3891899"/>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41082908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849E63-27CF-6324-BA3A-007039341E99}"/>
              </a:ext>
            </a:extLst>
          </p:cNvPr>
          <p:cNvSpPr>
            <a:spLocks noGrp="1"/>
          </p:cNvSpPr>
          <p:nvPr>
            <p:ph idx="1"/>
          </p:nvPr>
        </p:nvSpPr>
        <p:spPr>
          <a:xfrm>
            <a:off x="2580640" y="223520"/>
            <a:ext cx="9428480" cy="6502400"/>
          </a:xfrm>
        </p:spPr>
        <p:txBody>
          <a:bodyPr>
            <a:normAutofit/>
          </a:bodyPr>
          <a:lstStyle/>
          <a:p>
            <a:pPr marL="0" indent="0" algn="ctr">
              <a:lnSpc>
                <a:spcPct val="150000"/>
              </a:lnSpc>
              <a:buNone/>
            </a:pPr>
            <a:r>
              <a:rPr lang="en-IN" sz="2400" b="1" dirty="0">
                <a:solidFill>
                  <a:srgbClr val="FF0000"/>
                </a:solidFill>
                <a:latin typeface="+mn-lt"/>
              </a:rPr>
              <a:t>Page Buffering Algorithm</a:t>
            </a:r>
          </a:p>
          <a:p>
            <a:pPr marL="0" indent="0" algn="ctr">
              <a:lnSpc>
                <a:spcPct val="150000"/>
              </a:lnSpc>
              <a:buNone/>
            </a:pPr>
            <a:r>
              <a:rPr lang="en-IN" sz="2400" dirty="0">
                <a:latin typeface="+mn-lt"/>
              </a:rPr>
              <a:t>Maintain a pool of free frames</a:t>
            </a:r>
          </a:p>
          <a:p>
            <a:pPr marL="0" indent="0" algn="just">
              <a:lnSpc>
                <a:spcPct val="150000"/>
              </a:lnSpc>
              <a:buNone/>
            </a:pPr>
            <a:r>
              <a:rPr lang="en-IN" sz="2400" b="1" dirty="0">
                <a:latin typeface="+mn-lt"/>
              </a:rPr>
              <a:t>When a Page fault occurs:</a:t>
            </a:r>
          </a:p>
          <a:p>
            <a:pPr marL="0" indent="0" algn="just">
              <a:lnSpc>
                <a:spcPct val="150000"/>
              </a:lnSpc>
              <a:buNone/>
            </a:pPr>
            <a:r>
              <a:rPr lang="en-IN" sz="2400" dirty="0">
                <a:latin typeface="+mn-lt"/>
              </a:rPr>
              <a:t>A victim frame is chosen</a:t>
            </a:r>
          </a:p>
          <a:p>
            <a:pPr marL="0" indent="0" algn="just">
              <a:lnSpc>
                <a:spcPct val="150000"/>
              </a:lnSpc>
              <a:buNone/>
            </a:pPr>
            <a:r>
              <a:rPr lang="en-IN" sz="2400" dirty="0">
                <a:latin typeface="+mn-lt"/>
              </a:rPr>
              <a:t>The desired page is loaded into a frame from the free frames pool</a:t>
            </a:r>
          </a:p>
          <a:p>
            <a:pPr marL="0" indent="0" algn="just">
              <a:lnSpc>
                <a:spcPct val="150000"/>
              </a:lnSpc>
              <a:buNone/>
            </a:pPr>
            <a:r>
              <a:rPr lang="en-IN" sz="2400" dirty="0">
                <a:latin typeface="+mn-lt"/>
              </a:rPr>
              <a:t>This happens before the victim page is swapped out.</a:t>
            </a:r>
          </a:p>
          <a:p>
            <a:pPr marL="0" indent="0" algn="just">
              <a:lnSpc>
                <a:spcPct val="150000"/>
              </a:lnSpc>
              <a:buNone/>
            </a:pPr>
            <a:r>
              <a:rPr lang="en-IN" sz="2400" dirty="0">
                <a:latin typeface="+mn-lt"/>
              </a:rPr>
              <a:t>Once the victim page is swapped out and written to the disk, the victim frame will be added to the free frames pool.</a:t>
            </a:r>
          </a:p>
          <a:p>
            <a:pPr marL="0" indent="0" algn="just">
              <a:lnSpc>
                <a:spcPct val="150000"/>
              </a:lnSpc>
              <a:buNone/>
            </a:pPr>
            <a:r>
              <a:rPr lang="en-IN" sz="2400" dirty="0">
                <a:latin typeface="+mn-lt"/>
              </a:rPr>
              <a:t>This allows the process to restart as soon as possible, without waiting for the victim page to be written out. </a:t>
            </a:r>
          </a:p>
          <a:p>
            <a:endParaRPr lang="en-IN" sz="2400" dirty="0">
              <a:latin typeface="+mn-lt"/>
            </a:endParaRPr>
          </a:p>
        </p:txBody>
      </p:sp>
      <p:sp>
        <p:nvSpPr>
          <p:cNvPr id="2" name="Google Shape;98;g2eff20282af_0_123">
            <a:extLst>
              <a:ext uri="{FF2B5EF4-FFF2-40B4-BE49-F238E27FC236}">
                <a16:creationId xmlns:a16="http://schemas.microsoft.com/office/drawing/2014/main" id="{23495047-0322-C5CB-A8B1-E9CA6310F469}"/>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25448652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CF45EA-1ED8-9745-BE51-000B0FA49FD9}"/>
              </a:ext>
            </a:extLst>
          </p:cNvPr>
          <p:cNvSpPr>
            <a:spLocks noGrp="1"/>
          </p:cNvSpPr>
          <p:nvPr>
            <p:ph idx="1"/>
          </p:nvPr>
        </p:nvSpPr>
        <p:spPr>
          <a:xfrm>
            <a:off x="2580640" y="121920"/>
            <a:ext cx="9428480" cy="6543040"/>
          </a:xfrm>
        </p:spPr>
        <p:txBody>
          <a:bodyPr>
            <a:normAutofit/>
          </a:bodyPr>
          <a:lstStyle/>
          <a:p>
            <a:pPr marL="0" indent="0" algn="ctr">
              <a:lnSpc>
                <a:spcPct val="150000"/>
              </a:lnSpc>
              <a:buNone/>
            </a:pPr>
            <a:r>
              <a:rPr lang="en-IN" sz="2400" b="1" dirty="0">
                <a:solidFill>
                  <a:srgbClr val="FF0000"/>
                </a:solidFill>
                <a:latin typeface="+mn-lt"/>
              </a:rPr>
              <a:t>An expansion of this idea</a:t>
            </a:r>
          </a:p>
          <a:p>
            <a:pPr marL="0" indent="0" algn="ctr">
              <a:lnSpc>
                <a:spcPct val="150000"/>
              </a:lnSpc>
              <a:buNone/>
            </a:pPr>
            <a:r>
              <a:rPr lang="en-IN" sz="2400" dirty="0">
                <a:latin typeface="+mn-lt"/>
              </a:rPr>
              <a:t>Maintain a pool of modified pages.</a:t>
            </a:r>
          </a:p>
          <a:p>
            <a:pPr marL="0" indent="0" algn="just">
              <a:lnSpc>
                <a:spcPct val="150000"/>
              </a:lnSpc>
              <a:buNone/>
            </a:pPr>
            <a:r>
              <a:rPr lang="en-IN" sz="2400" dirty="0">
                <a:latin typeface="+mn-lt"/>
              </a:rPr>
              <a:t>Whenever the paging Device is idle:</a:t>
            </a:r>
          </a:p>
          <a:p>
            <a:pPr marL="0" indent="0" algn="just">
              <a:lnSpc>
                <a:spcPct val="150000"/>
              </a:lnSpc>
              <a:buNone/>
            </a:pPr>
            <a:r>
              <a:rPr lang="en-IN" sz="2400" dirty="0">
                <a:latin typeface="+mn-lt"/>
              </a:rPr>
              <a:t>A modified page is selected and is written to the disk.</a:t>
            </a:r>
          </a:p>
          <a:p>
            <a:pPr marL="0" indent="0" algn="just">
              <a:lnSpc>
                <a:spcPct val="150000"/>
              </a:lnSpc>
              <a:buNone/>
            </a:pPr>
            <a:r>
              <a:rPr lang="en-IN" sz="2400" dirty="0">
                <a:latin typeface="+mn-lt"/>
              </a:rPr>
              <a:t>Its modify bit is then reset.</a:t>
            </a:r>
          </a:p>
          <a:p>
            <a:pPr marL="0" indent="0" algn="ctr">
              <a:lnSpc>
                <a:spcPct val="150000"/>
              </a:lnSpc>
              <a:buNone/>
            </a:pPr>
            <a:r>
              <a:rPr lang="en-IN" sz="2400" b="1" dirty="0">
                <a:latin typeface="+mn-lt"/>
              </a:rPr>
              <a:t>Why is this done?</a:t>
            </a:r>
          </a:p>
          <a:p>
            <a:pPr marL="0" indent="0" algn="just">
              <a:lnSpc>
                <a:spcPct val="150000"/>
              </a:lnSpc>
              <a:buNone/>
            </a:pPr>
            <a:r>
              <a:rPr lang="en-IN" sz="2400" dirty="0">
                <a:latin typeface="+mn-lt"/>
              </a:rPr>
              <a:t>This increases the probability that a page will be clean when it is selected for replacement and will not need to be written back to the disk again. </a:t>
            </a:r>
          </a:p>
        </p:txBody>
      </p:sp>
      <p:sp>
        <p:nvSpPr>
          <p:cNvPr id="2" name="Google Shape;98;g2eff20282af_0_123">
            <a:extLst>
              <a:ext uri="{FF2B5EF4-FFF2-40B4-BE49-F238E27FC236}">
                <a16:creationId xmlns:a16="http://schemas.microsoft.com/office/drawing/2014/main" id="{EDEE2780-1320-E57B-A8BA-DCD68E068CC7}"/>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08984413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CA799D-786D-520B-F4AA-444261DB7ACF}"/>
              </a:ext>
            </a:extLst>
          </p:cNvPr>
          <p:cNvSpPr>
            <a:spLocks noGrp="1"/>
          </p:cNvSpPr>
          <p:nvPr>
            <p:ph idx="1"/>
          </p:nvPr>
        </p:nvSpPr>
        <p:spPr>
          <a:xfrm>
            <a:off x="2611120" y="172720"/>
            <a:ext cx="9347200" cy="6522720"/>
          </a:xfrm>
        </p:spPr>
        <p:txBody>
          <a:bodyPr>
            <a:normAutofit/>
          </a:bodyPr>
          <a:lstStyle/>
          <a:p>
            <a:pPr marL="0" indent="0" algn="ctr">
              <a:lnSpc>
                <a:spcPct val="160000"/>
              </a:lnSpc>
              <a:buNone/>
            </a:pPr>
            <a:r>
              <a:rPr lang="en-IN" sz="2400" b="1" dirty="0">
                <a:solidFill>
                  <a:srgbClr val="FF0000"/>
                </a:solidFill>
                <a:latin typeface="+mn-lt"/>
              </a:rPr>
              <a:t>Allocation of frames</a:t>
            </a:r>
          </a:p>
          <a:p>
            <a:pPr marL="0" indent="0" algn="just">
              <a:lnSpc>
                <a:spcPct val="160000"/>
              </a:lnSpc>
              <a:buNone/>
            </a:pPr>
            <a:r>
              <a:rPr lang="en-IN" sz="2400" dirty="0">
                <a:latin typeface="+mn-lt"/>
              </a:rPr>
              <a:t>How do we allocate to various processes the fixed amount of free memory that is available?</a:t>
            </a:r>
          </a:p>
          <a:p>
            <a:pPr marL="0" indent="0" algn="just">
              <a:lnSpc>
                <a:spcPct val="160000"/>
              </a:lnSpc>
              <a:buNone/>
            </a:pPr>
            <a:r>
              <a:rPr lang="en-IN" sz="2400" dirty="0">
                <a:latin typeface="+mn-lt"/>
              </a:rPr>
              <a:t>Example:</a:t>
            </a:r>
          </a:p>
          <a:p>
            <a:pPr marL="0" indent="0" algn="just">
              <a:lnSpc>
                <a:spcPct val="160000"/>
              </a:lnSpc>
              <a:buNone/>
            </a:pPr>
            <a:r>
              <a:rPr lang="en-IN" sz="2400" dirty="0">
                <a:latin typeface="+mn-lt"/>
              </a:rPr>
              <a:t>In a single User System:</a:t>
            </a:r>
          </a:p>
          <a:p>
            <a:pPr marL="0" indent="0" algn="just">
              <a:lnSpc>
                <a:spcPct val="160000"/>
              </a:lnSpc>
              <a:buNone/>
            </a:pPr>
            <a:r>
              <a:rPr lang="en-IN" sz="2400" dirty="0">
                <a:latin typeface="+mn-lt"/>
              </a:rPr>
              <a:t>Consider Memory Size = 128KB.</a:t>
            </a:r>
          </a:p>
          <a:p>
            <a:pPr marL="0" indent="0" algn="just">
              <a:lnSpc>
                <a:spcPct val="160000"/>
              </a:lnSpc>
              <a:buNone/>
            </a:pPr>
            <a:r>
              <a:rPr lang="en-IN" sz="2400" dirty="0">
                <a:latin typeface="+mn-lt"/>
              </a:rPr>
              <a:t>Page Size = 1 KB</a:t>
            </a:r>
          </a:p>
          <a:p>
            <a:pPr marL="0" indent="0" algn="just">
              <a:lnSpc>
                <a:spcPct val="160000"/>
              </a:lnSpc>
              <a:buNone/>
            </a:pPr>
            <a:r>
              <a:rPr lang="en-IN" sz="2400" dirty="0">
                <a:latin typeface="+mn-lt"/>
              </a:rPr>
              <a:t>So, number of frames = 128</a:t>
            </a:r>
          </a:p>
          <a:p>
            <a:pPr marL="0" indent="0" algn="just">
              <a:lnSpc>
                <a:spcPct val="160000"/>
              </a:lnSpc>
              <a:buNone/>
            </a:pPr>
            <a:r>
              <a:rPr lang="en-IN" sz="2400" dirty="0">
                <a:latin typeface="+mn-lt"/>
              </a:rPr>
              <a:t>Suppose OS uses 30KB</a:t>
            </a:r>
          </a:p>
        </p:txBody>
      </p:sp>
      <p:sp>
        <p:nvSpPr>
          <p:cNvPr id="2" name="Google Shape;98;g2eff20282af_0_123">
            <a:extLst>
              <a:ext uri="{FF2B5EF4-FFF2-40B4-BE49-F238E27FC236}">
                <a16:creationId xmlns:a16="http://schemas.microsoft.com/office/drawing/2014/main" id="{081EF253-1512-59B7-2FB2-56C3AD65E804}"/>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27874098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CA799D-786D-520B-F4AA-444261DB7ACF}"/>
              </a:ext>
            </a:extLst>
          </p:cNvPr>
          <p:cNvSpPr>
            <a:spLocks noGrp="1"/>
          </p:cNvSpPr>
          <p:nvPr>
            <p:ph idx="1"/>
          </p:nvPr>
        </p:nvSpPr>
        <p:spPr>
          <a:xfrm>
            <a:off x="2611120" y="172720"/>
            <a:ext cx="9347200" cy="6522720"/>
          </a:xfrm>
        </p:spPr>
        <p:txBody>
          <a:bodyPr>
            <a:normAutofit/>
          </a:bodyPr>
          <a:lstStyle/>
          <a:p>
            <a:pPr marL="0" indent="0" algn="just">
              <a:lnSpc>
                <a:spcPct val="160000"/>
              </a:lnSpc>
              <a:buNone/>
            </a:pPr>
            <a:r>
              <a:rPr lang="en-IN" sz="2400" dirty="0">
                <a:latin typeface="+mn-lt"/>
              </a:rPr>
              <a:t>Frames remaining for user processes = 128 – 30 = 98</a:t>
            </a:r>
          </a:p>
          <a:p>
            <a:pPr marL="0" indent="0" algn="just">
              <a:lnSpc>
                <a:spcPct val="160000"/>
              </a:lnSpc>
              <a:buNone/>
            </a:pPr>
            <a:r>
              <a:rPr lang="en-IN" sz="2400" dirty="0">
                <a:latin typeface="+mn-lt"/>
              </a:rPr>
              <a:t>These 98 frames would be available in the free frames list.</a:t>
            </a:r>
          </a:p>
          <a:p>
            <a:pPr marL="0" indent="0" algn="just">
              <a:lnSpc>
                <a:spcPct val="160000"/>
              </a:lnSpc>
              <a:buNone/>
            </a:pPr>
            <a:r>
              <a:rPr lang="en-IN" sz="2400" dirty="0">
                <a:latin typeface="+mn-lt"/>
              </a:rPr>
              <a:t>If demand Paging is used:</a:t>
            </a:r>
          </a:p>
          <a:p>
            <a:pPr marL="0" indent="0" algn="just">
              <a:lnSpc>
                <a:spcPct val="160000"/>
              </a:lnSpc>
              <a:buNone/>
            </a:pPr>
            <a:r>
              <a:rPr lang="en-IN" sz="2400" dirty="0">
                <a:latin typeface="+mn-lt"/>
              </a:rPr>
              <a:t>The first 98 page faults would get all free frames from the list.</a:t>
            </a:r>
          </a:p>
          <a:p>
            <a:pPr marL="0" indent="0" algn="just">
              <a:lnSpc>
                <a:spcPct val="160000"/>
              </a:lnSpc>
              <a:buNone/>
            </a:pPr>
            <a:r>
              <a:rPr lang="en-IN" sz="2400" dirty="0">
                <a:latin typeface="+mn-lt"/>
              </a:rPr>
              <a:t>When the free frames are exhausted, a page replacement algorithm would be used to replace a page from the occupied list of 98 with the 99</a:t>
            </a:r>
            <a:r>
              <a:rPr lang="en-IN" sz="2400" baseline="30000" dirty="0">
                <a:latin typeface="+mn-lt"/>
              </a:rPr>
              <a:t>th</a:t>
            </a:r>
            <a:r>
              <a:rPr lang="en-IN" sz="2400" dirty="0">
                <a:latin typeface="+mn-lt"/>
              </a:rPr>
              <a:t> page. </a:t>
            </a:r>
          </a:p>
          <a:p>
            <a:endParaRPr lang="en-IN" sz="2400" dirty="0">
              <a:latin typeface="+mn-lt"/>
            </a:endParaRPr>
          </a:p>
        </p:txBody>
      </p:sp>
      <p:sp>
        <p:nvSpPr>
          <p:cNvPr id="2" name="Google Shape;98;g2eff20282af_0_123">
            <a:extLst>
              <a:ext uri="{FF2B5EF4-FFF2-40B4-BE49-F238E27FC236}">
                <a16:creationId xmlns:a16="http://schemas.microsoft.com/office/drawing/2014/main" id="{32E579E0-AC83-938C-7463-F34DF037DDE4}"/>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9666924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CA799D-786D-520B-F4AA-444261DB7ACF}"/>
              </a:ext>
            </a:extLst>
          </p:cNvPr>
          <p:cNvSpPr>
            <a:spLocks noGrp="1"/>
          </p:cNvSpPr>
          <p:nvPr>
            <p:ph idx="1"/>
          </p:nvPr>
        </p:nvSpPr>
        <p:spPr>
          <a:xfrm>
            <a:off x="2611120" y="172720"/>
            <a:ext cx="9347200" cy="6522720"/>
          </a:xfrm>
        </p:spPr>
        <p:txBody>
          <a:bodyPr>
            <a:normAutofit fontScale="92500" lnSpcReduction="10000"/>
          </a:bodyPr>
          <a:lstStyle/>
          <a:p>
            <a:pPr marL="0" indent="0" algn="ctr">
              <a:lnSpc>
                <a:spcPct val="150000"/>
              </a:lnSpc>
              <a:buNone/>
            </a:pPr>
            <a:r>
              <a:rPr lang="en-IN" sz="2400" b="1" dirty="0">
                <a:solidFill>
                  <a:srgbClr val="FF0000"/>
                </a:solidFill>
                <a:latin typeface="+mn-lt"/>
              </a:rPr>
              <a:t>Minimum Number of frames</a:t>
            </a:r>
          </a:p>
          <a:p>
            <a:pPr marL="0" indent="0" algn="just">
              <a:lnSpc>
                <a:spcPct val="150000"/>
              </a:lnSpc>
              <a:buNone/>
            </a:pPr>
            <a:r>
              <a:rPr lang="en-IN" sz="2400" dirty="0">
                <a:latin typeface="+mn-lt"/>
              </a:rPr>
              <a:t>Constraints for allocation of frames:</a:t>
            </a:r>
          </a:p>
          <a:p>
            <a:pPr marL="0" indent="0" algn="just">
              <a:lnSpc>
                <a:spcPct val="150000"/>
              </a:lnSpc>
              <a:buNone/>
            </a:pPr>
            <a:r>
              <a:rPr lang="en-IN" sz="2400" dirty="0">
                <a:latin typeface="+mn-lt"/>
              </a:rPr>
              <a:t>Unless there is page sharing, we cannot allocate more than the total number of available frames.</a:t>
            </a:r>
          </a:p>
          <a:p>
            <a:pPr marL="0" indent="0" algn="just">
              <a:lnSpc>
                <a:spcPct val="150000"/>
              </a:lnSpc>
              <a:buNone/>
            </a:pPr>
            <a:r>
              <a:rPr lang="en-IN" sz="2400" dirty="0">
                <a:latin typeface="+mn-lt"/>
              </a:rPr>
              <a:t>A minimum number of frames should be allocated to each process.</a:t>
            </a:r>
          </a:p>
          <a:p>
            <a:pPr marL="0" indent="0" algn="just">
              <a:lnSpc>
                <a:spcPct val="150000"/>
              </a:lnSpc>
              <a:buNone/>
            </a:pPr>
            <a:r>
              <a:rPr lang="en-IN" sz="2400" b="1" dirty="0">
                <a:latin typeface="+mn-lt"/>
              </a:rPr>
              <a:t>Performance:</a:t>
            </a:r>
            <a:r>
              <a:rPr lang="en-IN" sz="2400" dirty="0">
                <a:latin typeface="+mn-lt"/>
              </a:rPr>
              <a:t> As the number of frames allocated to a process decreases, the page fault rate increases.</a:t>
            </a:r>
          </a:p>
          <a:p>
            <a:pPr marL="0" indent="0" algn="just">
              <a:lnSpc>
                <a:spcPct val="150000"/>
              </a:lnSpc>
              <a:buNone/>
            </a:pPr>
            <a:r>
              <a:rPr lang="en-IN" sz="2400" dirty="0">
                <a:latin typeface="+mn-lt"/>
              </a:rPr>
              <a:t>There should be enough frames to hold all the different pages that any single instruction can reference.</a:t>
            </a:r>
          </a:p>
          <a:p>
            <a:pPr marL="0" indent="0" algn="just">
              <a:lnSpc>
                <a:spcPct val="150000"/>
              </a:lnSpc>
              <a:buNone/>
            </a:pPr>
            <a:r>
              <a:rPr lang="en-IN" sz="2400" dirty="0">
                <a:latin typeface="+mn-lt"/>
              </a:rPr>
              <a:t>Suppose in a one level indirect addressing, a load instruction on page 15 refers to an address on page 1, which is an indirect reference to page 22 – Here 3 frames are needed per process.</a:t>
            </a:r>
          </a:p>
          <a:p>
            <a:endParaRPr lang="en-IN" sz="2400" dirty="0">
              <a:latin typeface="+mn-lt"/>
            </a:endParaRPr>
          </a:p>
        </p:txBody>
      </p:sp>
      <p:sp>
        <p:nvSpPr>
          <p:cNvPr id="2" name="Google Shape;98;g2eff20282af_0_123">
            <a:extLst>
              <a:ext uri="{FF2B5EF4-FFF2-40B4-BE49-F238E27FC236}">
                <a16:creationId xmlns:a16="http://schemas.microsoft.com/office/drawing/2014/main" id="{CFBB3F48-7434-85D5-A796-76673866EA39}"/>
              </a:ext>
            </a:extLst>
          </p:cNvPr>
          <p:cNvSpPr txBox="1"/>
          <p:nvPr/>
        </p:nvSpPr>
        <p:spPr>
          <a:xfrm>
            <a:off x="524064" y="3891899"/>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714362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CA799D-786D-520B-F4AA-444261DB7ACF}"/>
              </a:ext>
            </a:extLst>
          </p:cNvPr>
          <p:cNvSpPr>
            <a:spLocks noGrp="1"/>
          </p:cNvSpPr>
          <p:nvPr>
            <p:ph idx="1"/>
          </p:nvPr>
        </p:nvSpPr>
        <p:spPr>
          <a:xfrm>
            <a:off x="2611120" y="172720"/>
            <a:ext cx="9347200" cy="6522720"/>
          </a:xfrm>
        </p:spPr>
        <p:txBody>
          <a:bodyPr>
            <a:normAutofit/>
          </a:bodyPr>
          <a:lstStyle/>
          <a:p>
            <a:pPr marL="0" indent="0" algn="ctr">
              <a:lnSpc>
                <a:spcPct val="150000"/>
              </a:lnSpc>
              <a:buNone/>
            </a:pPr>
            <a:r>
              <a:rPr lang="en-IN" sz="2400" b="1" dirty="0">
                <a:solidFill>
                  <a:srgbClr val="FF0000"/>
                </a:solidFill>
                <a:latin typeface="+mn-lt"/>
              </a:rPr>
              <a:t>Allocation Algorithms</a:t>
            </a:r>
          </a:p>
          <a:p>
            <a:pPr marL="0" indent="0" algn="just">
              <a:lnSpc>
                <a:spcPct val="150000"/>
              </a:lnSpc>
              <a:buNone/>
            </a:pPr>
            <a:r>
              <a:rPr lang="en-IN" sz="2400" dirty="0">
                <a:latin typeface="+mn-lt"/>
              </a:rPr>
              <a:t>Frame allocation algorithms would help us in determining how many frames should be allocated to different processes in a multi processing environment </a:t>
            </a:r>
          </a:p>
          <a:p>
            <a:pPr marL="0" indent="0" algn="just">
              <a:lnSpc>
                <a:spcPct val="150000"/>
              </a:lnSpc>
              <a:buNone/>
            </a:pPr>
            <a:r>
              <a:rPr lang="en-IN" sz="2400" dirty="0">
                <a:latin typeface="+mn-lt"/>
              </a:rPr>
              <a:t>The three most common allocation algorithms</a:t>
            </a:r>
          </a:p>
          <a:p>
            <a:pPr marL="0" indent="0" algn="just">
              <a:lnSpc>
                <a:spcPct val="150000"/>
              </a:lnSpc>
              <a:buNone/>
            </a:pPr>
            <a:r>
              <a:rPr lang="en-IN" sz="2400" dirty="0">
                <a:latin typeface="+mn-lt"/>
              </a:rPr>
              <a:t>Equal Allocation</a:t>
            </a:r>
          </a:p>
          <a:p>
            <a:pPr marL="0" indent="0" algn="just">
              <a:lnSpc>
                <a:spcPct val="150000"/>
              </a:lnSpc>
              <a:buNone/>
            </a:pPr>
            <a:r>
              <a:rPr lang="en-IN" sz="2400" dirty="0">
                <a:latin typeface="+mn-lt"/>
              </a:rPr>
              <a:t>Proportional Algorithm</a:t>
            </a:r>
          </a:p>
          <a:p>
            <a:pPr marL="0" indent="0" algn="just">
              <a:lnSpc>
                <a:spcPct val="150000"/>
              </a:lnSpc>
              <a:buNone/>
            </a:pPr>
            <a:r>
              <a:rPr lang="en-IN" sz="2400" dirty="0">
                <a:latin typeface="+mn-lt"/>
              </a:rPr>
              <a:t>Priority Algorithm</a:t>
            </a:r>
          </a:p>
          <a:p>
            <a:endParaRPr lang="en-IN" sz="2400" dirty="0">
              <a:latin typeface="+mn-lt"/>
            </a:endParaRPr>
          </a:p>
        </p:txBody>
      </p:sp>
      <p:sp>
        <p:nvSpPr>
          <p:cNvPr id="2" name="Google Shape;98;g2eff20282af_0_123">
            <a:extLst>
              <a:ext uri="{FF2B5EF4-FFF2-40B4-BE49-F238E27FC236}">
                <a16:creationId xmlns:a16="http://schemas.microsoft.com/office/drawing/2014/main" id="{10489B5A-B136-A2AF-BEA5-A5E252AF4D97}"/>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52134453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CA799D-786D-520B-F4AA-444261DB7ACF}"/>
              </a:ext>
            </a:extLst>
          </p:cNvPr>
          <p:cNvSpPr>
            <a:spLocks noGrp="1"/>
          </p:cNvSpPr>
          <p:nvPr>
            <p:ph idx="1"/>
          </p:nvPr>
        </p:nvSpPr>
        <p:spPr>
          <a:xfrm>
            <a:off x="2611120" y="172720"/>
            <a:ext cx="9347200" cy="6522720"/>
          </a:xfrm>
        </p:spPr>
        <p:txBody>
          <a:bodyPr>
            <a:normAutofit/>
          </a:bodyPr>
          <a:lstStyle/>
          <a:p>
            <a:pPr marL="0" indent="0" algn="ctr">
              <a:lnSpc>
                <a:spcPct val="160000"/>
              </a:lnSpc>
              <a:buNone/>
            </a:pPr>
            <a:r>
              <a:rPr lang="en-IN" sz="2400" b="1" dirty="0">
                <a:solidFill>
                  <a:srgbClr val="FF0000"/>
                </a:solidFill>
                <a:latin typeface="+mn-lt"/>
              </a:rPr>
              <a:t>Equal Allocation</a:t>
            </a:r>
          </a:p>
          <a:p>
            <a:pPr marL="0" indent="0" algn="just">
              <a:lnSpc>
                <a:spcPct val="160000"/>
              </a:lnSpc>
              <a:buNone/>
            </a:pPr>
            <a:r>
              <a:rPr lang="en-IN" sz="2400" dirty="0">
                <a:latin typeface="+mn-lt"/>
              </a:rPr>
              <a:t>The frames are equally distributed among the processes.</a:t>
            </a:r>
          </a:p>
          <a:p>
            <a:pPr marL="0" indent="0" algn="just">
              <a:lnSpc>
                <a:spcPct val="160000"/>
              </a:lnSpc>
              <a:buNone/>
            </a:pPr>
            <a:r>
              <a:rPr lang="en-IN" sz="2400" dirty="0">
                <a:latin typeface="+mn-lt"/>
              </a:rPr>
              <a:t>If we have m number of frames</a:t>
            </a:r>
          </a:p>
          <a:p>
            <a:pPr marL="0" indent="0" algn="just">
              <a:lnSpc>
                <a:spcPct val="160000"/>
              </a:lnSpc>
              <a:buNone/>
            </a:pPr>
            <a:r>
              <a:rPr lang="en-IN" sz="2400" dirty="0">
                <a:latin typeface="+mn-lt"/>
              </a:rPr>
              <a:t>If we have n number of processes</a:t>
            </a:r>
          </a:p>
          <a:p>
            <a:pPr marL="0" indent="0" algn="just">
              <a:lnSpc>
                <a:spcPct val="160000"/>
              </a:lnSpc>
              <a:buNone/>
            </a:pPr>
            <a:r>
              <a:rPr lang="en-IN" sz="2400" dirty="0">
                <a:latin typeface="+mn-lt"/>
              </a:rPr>
              <a:t>We allocate m/n frames to each process.</a:t>
            </a:r>
          </a:p>
          <a:p>
            <a:pPr marL="0" indent="0" algn="just">
              <a:lnSpc>
                <a:spcPct val="160000"/>
              </a:lnSpc>
              <a:buNone/>
            </a:pPr>
            <a:r>
              <a:rPr lang="en-IN" sz="2400" dirty="0">
                <a:latin typeface="+mn-lt"/>
              </a:rPr>
              <a:t>Example:</a:t>
            </a:r>
          </a:p>
          <a:p>
            <a:pPr marL="0" indent="0" algn="just">
              <a:lnSpc>
                <a:spcPct val="160000"/>
              </a:lnSpc>
              <a:buNone/>
            </a:pPr>
            <a:r>
              <a:rPr lang="en-IN" sz="2400" dirty="0">
                <a:latin typeface="+mn-lt"/>
              </a:rPr>
              <a:t>Number of frames = 98</a:t>
            </a:r>
          </a:p>
          <a:p>
            <a:pPr marL="0" indent="0" algn="just">
              <a:lnSpc>
                <a:spcPct val="160000"/>
              </a:lnSpc>
              <a:buNone/>
            </a:pPr>
            <a:r>
              <a:rPr lang="en-IN" sz="2400" dirty="0">
                <a:latin typeface="+mn-lt"/>
              </a:rPr>
              <a:t>Number of processes = 5</a:t>
            </a:r>
          </a:p>
          <a:p>
            <a:pPr marL="0" indent="0" algn="just">
              <a:lnSpc>
                <a:spcPct val="160000"/>
              </a:lnSpc>
              <a:buNone/>
            </a:pPr>
            <a:r>
              <a:rPr lang="en-IN" sz="2400" dirty="0">
                <a:latin typeface="+mn-lt"/>
              </a:rPr>
              <a:t>Each process gets = 98/5 = 19 frames</a:t>
            </a:r>
          </a:p>
          <a:p>
            <a:endParaRPr lang="en-IN" sz="2400" dirty="0">
              <a:latin typeface="+mn-lt"/>
            </a:endParaRPr>
          </a:p>
        </p:txBody>
      </p:sp>
      <p:sp>
        <p:nvSpPr>
          <p:cNvPr id="2" name="Google Shape;98;g2eff20282af_0_123">
            <a:extLst>
              <a:ext uri="{FF2B5EF4-FFF2-40B4-BE49-F238E27FC236}">
                <a16:creationId xmlns:a16="http://schemas.microsoft.com/office/drawing/2014/main" id="{4D6CBD31-8D34-3B30-1D40-62C7E6CBCF01}"/>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72678509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CA799D-786D-520B-F4AA-444261DB7ACF}"/>
              </a:ext>
            </a:extLst>
          </p:cNvPr>
          <p:cNvSpPr>
            <a:spLocks noGrp="1"/>
          </p:cNvSpPr>
          <p:nvPr>
            <p:ph idx="1"/>
          </p:nvPr>
        </p:nvSpPr>
        <p:spPr>
          <a:xfrm>
            <a:off x="2611120" y="172720"/>
            <a:ext cx="9347200" cy="6522720"/>
          </a:xfrm>
        </p:spPr>
        <p:txBody>
          <a:bodyPr>
            <a:normAutofit/>
          </a:bodyPr>
          <a:lstStyle/>
          <a:p>
            <a:pPr marL="0" indent="0" algn="just">
              <a:lnSpc>
                <a:spcPct val="160000"/>
              </a:lnSpc>
              <a:buNone/>
            </a:pPr>
            <a:r>
              <a:rPr lang="en-IN" sz="2400" dirty="0">
                <a:latin typeface="+mn-lt"/>
              </a:rPr>
              <a:t>The remaining 3 frames are kept as free frame buffer pool.</a:t>
            </a:r>
          </a:p>
          <a:p>
            <a:pPr marL="0" indent="0" algn="just">
              <a:lnSpc>
                <a:spcPct val="160000"/>
              </a:lnSpc>
              <a:buNone/>
            </a:pPr>
            <a:r>
              <a:rPr lang="en-IN" sz="2400" dirty="0">
                <a:latin typeface="+mn-lt"/>
              </a:rPr>
              <a:t>Problem : The memory requirement of processes are not the same.</a:t>
            </a:r>
          </a:p>
          <a:p>
            <a:pPr marL="0" indent="0" algn="just">
              <a:lnSpc>
                <a:spcPct val="160000"/>
              </a:lnSpc>
              <a:buNone/>
            </a:pPr>
            <a:r>
              <a:rPr lang="en-IN" sz="2400" dirty="0">
                <a:latin typeface="+mn-lt"/>
              </a:rPr>
              <a:t>Example : In a system with 64 free frames where frame size = 1 KB , say we have just 2 processes P1 = 10KB and P2 = 127 KB we allocate 64/2 = 32 frames to both processes.</a:t>
            </a:r>
          </a:p>
          <a:p>
            <a:pPr marL="0" indent="0" algn="just">
              <a:lnSpc>
                <a:spcPct val="160000"/>
              </a:lnSpc>
              <a:buNone/>
            </a:pPr>
            <a:r>
              <a:rPr lang="en-IN" sz="2400" dirty="0">
                <a:latin typeface="+mn-lt"/>
              </a:rPr>
              <a:t>But P1 needs only 10 frames and hence the remaining 32-10 = 22 frames are wasted. </a:t>
            </a:r>
          </a:p>
          <a:p>
            <a:pPr marL="0" indent="0">
              <a:buNone/>
            </a:pPr>
            <a:endParaRPr lang="en-IN" sz="2400" dirty="0">
              <a:latin typeface="+mn-lt"/>
            </a:endParaRPr>
          </a:p>
        </p:txBody>
      </p:sp>
      <p:sp>
        <p:nvSpPr>
          <p:cNvPr id="2" name="Google Shape;98;g2eff20282af_0_123">
            <a:extLst>
              <a:ext uri="{FF2B5EF4-FFF2-40B4-BE49-F238E27FC236}">
                <a16:creationId xmlns:a16="http://schemas.microsoft.com/office/drawing/2014/main" id="{2F4AA913-C707-ED1B-7FF0-999DD8EA9AEB}"/>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55891346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CA799D-786D-520B-F4AA-444261DB7ACF}"/>
              </a:ext>
            </a:extLst>
          </p:cNvPr>
          <p:cNvSpPr>
            <a:spLocks noGrp="1"/>
          </p:cNvSpPr>
          <p:nvPr>
            <p:ph idx="1"/>
          </p:nvPr>
        </p:nvSpPr>
        <p:spPr>
          <a:xfrm>
            <a:off x="2611120" y="172720"/>
            <a:ext cx="9347200" cy="6522720"/>
          </a:xfrm>
        </p:spPr>
        <p:txBody>
          <a:bodyPr>
            <a:noAutofit/>
          </a:bodyPr>
          <a:lstStyle/>
          <a:p>
            <a:pPr marL="0" indent="0" algn="ctr">
              <a:lnSpc>
                <a:spcPct val="150000"/>
              </a:lnSpc>
              <a:buNone/>
            </a:pPr>
            <a:r>
              <a:rPr lang="en-IN" sz="2400" b="1" dirty="0">
                <a:solidFill>
                  <a:srgbClr val="FF0000"/>
                </a:solidFill>
                <a:latin typeface="+mn-lt"/>
              </a:rPr>
              <a:t>Proportional Allocation</a:t>
            </a:r>
          </a:p>
          <a:p>
            <a:pPr marL="0" indent="0" algn="just">
              <a:lnSpc>
                <a:spcPct val="150000"/>
              </a:lnSpc>
              <a:buNone/>
            </a:pPr>
            <a:r>
              <a:rPr lang="en-IN" sz="2400" dirty="0">
                <a:latin typeface="+mn-lt"/>
              </a:rPr>
              <a:t>The frames are distributed among the processes according to their sizes</a:t>
            </a:r>
          </a:p>
          <a:p>
            <a:pPr marL="0" indent="0" algn="just">
              <a:lnSpc>
                <a:spcPct val="150000"/>
              </a:lnSpc>
              <a:buNone/>
            </a:pPr>
            <a:r>
              <a:rPr lang="en-IN" sz="2400" dirty="0">
                <a:latin typeface="+mn-lt"/>
              </a:rPr>
              <a:t>Let, </a:t>
            </a:r>
          </a:p>
          <a:p>
            <a:pPr marL="0" indent="0" algn="just">
              <a:lnSpc>
                <a:spcPct val="150000"/>
              </a:lnSpc>
              <a:buNone/>
            </a:pPr>
            <a:r>
              <a:rPr lang="en-IN" sz="2400" dirty="0">
                <a:latin typeface="+mn-lt"/>
              </a:rPr>
              <a:t>m be the number of frames</a:t>
            </a:r>
          </a:p>
          <a:p>
            <a:pPr marL="0" indent="0" algn="just">
              <a:lnSpc>
                <a:spcPct val="150000"/>
              </a:lnSpc>
              <a:buNone/>
            </a:pPr>
            <a:r>
              <a:rPr lang="en-IN" sz="2400" dirty="0">
                <a:latin typeface="+mn-lt"/>
              </a:rPr>
              <a:t>S</a:t>
            </a:r>
            <a:r>
              <a:rPr lang="en-IN" sz="2400" baseline="-25000" dirty="0">
                <a:latin typeface="+mn-lt"/>
              </a:rPr>
              <a:t>i</a:t>
            </a:r>
            <a:r>
              <a:rPr lang="en-IN" sz="2400" dirty="0">
                <a:latin typeface="+mn-lt"/>
              </a:rPr>
              <a:t> be size of process p</a:t>
            </a:r>
            <a:r>
              <a:rPr lang="en-IN" sz="2400" baseline="-25000" dirty="0">
                <a:latin typeface="+mn-lt"/>
              </a:rPr>
              <a:t>i</a:t>
            </a:r>
          </a:p>
          <a:p>
            <a:pPr marL="0" indent="0" algn="just">
              <a:lnSpc>
                <a:spcPct val="150000"/>
              </a:lnSpc>
              <a:buNone/>
            </a:pPr>
            <a:r>
              <a:rPr lang="en-IN" sz="2400" dirty="0">
                <a:latin typeface="+mn-lt"/>
              </a:rPr>
              <a:t>S = Ʃ s</a:t>
            </a:r>
            <a:r>
              <a:rPr lang="en-IN" sz="2400" baseline="-25000" dirty="0">
                <a:latin typeface="+mn-lt"/>
              </a:rPr>
              <a:t>i</a:t>
            </a:r>
          </a:p>
          <a:p>
            <a:pPr marL="0" indent="0" algn="just">
              <a:lnSpc>
                <a:spcPct val="150000"/>
              </a:lnSpc>
              <a:buNone/>
            </a:pPr>
            <a:r>
              <a:rPr lang="en-IN" sz="2400" dirty="0">
                <a:latin typeface="+mn-lt"/>
              </a:rPr>
              <a:t>Number of frames allocated to p</a:t>
            </a:r>
            <a:r>
              <a:rPr lang="en-IN" sz="2400" baseline="-25000" dirty="0">
                <a:latin typeface="+mn-lt"/>
              </a:rPr>
              <a:t>i</a:t>
            </a:r>
            <a:r>
              <a:rPr lang="en-IN" sz="2400" dirty="0">
                <a:latin typeface="+mn-lt"/>
              </a:rPr>
              <a:t> = a</a:t>
            </a:r>
            <a:r>
              <a:rPr lang="en-IN" sz="2400" baseline="-25000" dirty="0">
                <a:latin typeface="+mn-lt"/>
              </a:rPr>
              <a:t>i</a:t>
            </a:r>
          </a:p>
          <a:p>
            <a:pPr marL="0" indent="0" algn="just">
              <a:lnSpc>
                <a:spcPct val="150000"/>
              </a:lnSpc>
              <a:buNone/>
            </a:pPr>
            <a:r>
              <a:rPr lang="en-IN" sz="2400" dirty="0">
                <a:latin typeface="+mn-lt"/>
              </a:rPr>
              <a:t>Where </a:t>
            </a:r>
          </a:p>
          <a:p>
            <a:pPr marL="0" indent="0" algn="just">
              <a:lnSpc>
                <a:spcPct val="150000"/>
              </a:lnSpc>
              <a:buNone/>
            </a:pPr>
            <a:r>
              <a:rPr lang="en-IN" sz="2400" dirty="0">
                <a:latin typeface="+mn-lt"/>
              </a:rPr>
              <a:t>a</a:t>
            </a:r>
            <a:r>
              <a:rPr lang="en-IN" sz="2400" baseline="-25000" dirty="0">
                <a:latin typeface="+mn-lt"/>
              </a:rPr>
              <a:t>i</a:t>
            </a:r>
            <a:r>
              <a:rPr lang="en-IN" sz="2400" dirty="0">
                <a:latin typeface="+mn-lt"/>
              </a:rPr>
              <a:t> = s</a:t>
            </a:r>
            <a:r>
              <a:rPr lang="en-IN" sz="2400" baseline="-25000" dirty="0">
                <a:latin typeface="+mn-lt"/>
              </a:rPr>
              <a:t>i</a:t>
            </a:r>
            <a:r>
              <a:rPr lang="en-IN" sz="2400" dirty="0">
                <a:latin typeface="+mn-lt"/>
              </a:rPr>
              <a:t>/S * m</a:t>
            </a:r>
          </a:p>
          <a:p>
            <a:pPr algn="just">
              <a:lnSpc>
                <a:spcPct val="150000"/>
              </a:lnSpc>
            </a:pPr>
            <a:endParaRPr lang="en-IN" sz="1050" dirty="0">
              <a:latin typeface="+mn-lt"/>
            </a:endParaRPr>
          </a:p>
        </p:txBody>
      </p:sp>
      <p:sp>
        <p:nvSpPr>
          <p:cNvPr id="2" name="Google Shape;98;g2eff20282af_0_123">
            <a:extLst>
              <a:ext uri="{FF2B5EF4-FFF2-40B4-BE49-F238E27FC236}">
                <a16:creationId xmlns:a16="http://schemas.microsoft.com/office/drawing/2014/main" id="{D725A2BF-064C-D22B-EC72-C84B0ABC065F}"/>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6003730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CA799D-786D-520B-F4AA-444261DB7ACF}"/>
              </a:ext>
            </a:extLst>
          </p:cNvPr>
          <p:cNvSpPr>
            <a:spLocks noGrp="1"/>
          </p:cNvSpPr>
          <p:nvPr>
            <p:ph idx="1"/>
          </p:nvPr>
        </p:nvSpPr>
        <p:spPr>
          <a:xfrm>
            <a:off x="2611120" y="172720"/>
            <a:ext cx="9347200" cy="6522720"/>
          </a:xfrm>
        </p:spPr>
        <p:txBody>
          <a:bodyPr>
            <a:normAutofit/>
          </a:bodyPr>
          <a:lstStyle/>
          <a:p>
            <a:pPr marL="0" indent="0" algn="just">
              <a:lnSpc>
                <a:spcPct val="150000"/>
              </a:lnSpc>
              <a:buNone/>
            </a:pPr>
            <a:r>
              <a:rPr lang="en-IN" sz="2400" dirty="0">
                <a:latin typeface="+mn-lt"/>
              </a:rPr>
              <a:t>Example : In a system with 64 frames where frame size = 1 KB, say we have just 2 processes P1 = 10 KB and P2 = 127 KB</a:t>
            </a:r>
          </a:p>
          <a:p>
            <a:pPr marL="0" indent="0" algn="just">
              <a:lnSpc>
                <a:spcPct val="150000"/>
              </a:lnSpc>
              <a:buNone/>
            </a:pPr>
            <a:r>
              <a:rPr lang="en-IN" sz="2400" dirty="0">
                <a:latin typeface="+mn-lt"/>
              </a:rPr>
              <a:t>Here</a:t>
            </a:r>
          </a:p>
          <a:p>
            <a:pPr marL="0" indent="0" algn="just">
              <a:lnSpc>
                <a:spcPct val="150000"/>
              </a:lnSpc>
              <a:buNone/>
            </a:pPr>
            <a:r>
              <a:rPr lang="en-IN" sz="2400" dirty="0">
                <a:latin typeface="+mn-lt"/>
              </a:rPr>
              <a:t>m = 64</a:t>
            </a:r>
          </a:p>
          <a:p>
            <a:pPr marL="0" indent="0" algn="just">
              <a:lnSpc>
                <a:spcPct val="150000"/>
              </a:lnSpc>
              <a:buNone/>
            </a:pPr>
            <a:r>
              <a:rPr lang="en-IN" sz="2400" dirty="0">
                <a:latin typeface="+mn-lt"/>
              </a:rPr>
              <a:t>S</a:t>
            </a:r>
            <a:r>
              <a:rPr lang="en-IN" sz="2400" baseline="-25000" dirty="0">
                <a:latin typeface="+mn-lt"/>
              </a:rPr>
              <a:t>1</a:t>
            </a:r>
            <a:r>
              <a:rPr lang="en-IN" sz="2400" dirty="0">
                <a:latin typeface="+mn-lt"/>
              </a:rPr>
              <a:t> = 10 KB</a:t>
            </a:r>
          </a:p>
          <a:p>
            <a:pPr marL="0" indent="0" algn="just">
              <a:lnSpc>
                <a:spcPct val="150000"/>
              </a:lnSpc>
              <a:buNone/>
            </a:pPr>
            <a:r>
              <a:rPr lang="en-IN" sz="2400" dirty="0">
                <a:latin typeface="+mn-lt"/>
              </a:rPr>
              <a:t>S</a:t>
            </a:r>
            <a:r>
              <a:rPr lang="en-IN" sz="2400" baseline="-25000" dirty="0">
                <a:latin typeface="+mn-lt"/>
              </a:rPr>
              <a:t>2 </a:t>
            </a:r>
            <a:r>
              <a:rPr lang="en-IN" sz="2400" dirty="0">
                <a:latin typeface="+mn-lt"/>
              </a:rPr>
              <a:t>= 127 KB</a:t>
            </a:r>
          </a:p>
          <a:p>
            <a:pPr marL="0" indent="0" algn="just">
              <a:lnSpc>
                <a:spcPct val="150000"/>
              </a:lnSpc>
              <a:buNone/>
            </a:pPr>
            <a:r>
              <a:rPr lang="en-IN" sz="2400" dirty="0">
                <a:latin typeface="+mn-lt"/>
              </a:rPr>
              <a:t>S = S</a:t>
            </a:r>
            <a:r>
              <a:rPr lang="en-IN" sz="2400" baseline="-25000" dirty="0">
                <a:latin typeface="+mn-lt"/>
              </a:rPr>
              <a:t>1</a:t>
            </a:r>
            <a:r>
              <a:rPr lang="en-IN" sz="2400" dirty="0">
                <a:latin typeface="+mn-lt"/>
              </a:rPr>
              <a:t> + S</a:t>
            </a:r>
            <a:r>
              <a:rPr lang="en-IN" sz="2400" baseline="-25000" dirty="0">
                <a:latin typeface="+mn-lt"/>
              </a:rPr>
              <a:t>2</a:t>
            </a:r>
            <a:r>
              <a:rPr lang="en-IN" sz="2400" dirty="0">
                <a:latin typeface="+mn-lt"/>
              </a:rPr>
              <a:t> = 10 + 127 = 137 KB</a:t>
            </a:r>
          </a:p>
          <a:p>
            <a:pPr marL="0" indent="0" algn="just">
              <a:lnSpc>
                <a:spcPct val="150000"/>
              </a:lnSpc>
              <a:buNone/>
            </a:pPr>
            <a:r>
              <a:rPr lang="en-IN" sz="2400" dirty="0">
                <a:latin typeface="+mn-lt"/>
              </a:rPr>
              <a:t>Frames allocated to P1 = a</a:t>
            </a:r>
            <a:r>
              <a:rPr lang="en-IN" sz="2400" baseline="-25000" dirty="0">
                <a:latin typeface="+mn-lt"/>
              </a:rPr>
              <a:t>1</a:t>
            </a:r>
            <a:r>
              <a:rPr lang="en-IN" sz="2400" dirty="0">
                <a:latin typeface="+mn-lt"/>
              </a:rPr>
              <a:t> = s</a:t>
            </a:r>
            <a:r>
              <a:rPr lang="en-IN" sz="2400" baseline="-25000" dirty="0">
                <a:latin typeface="+mn-lt"/>
              </a:rPr>
              <a:t>1</a:t>
            </a:r>
            <a:r>
              <a:rPr lang="en-IN" sz="2400" dirty="0">
                <a:latin typeface="+mn-lt"/>
              </a:rPr>
              <a:t>/S * m = 10/137 * 64 = 5</a:t>
            </a:r>
          </a:p>
          <a:p>
            <a:pPr marL="0" indent="0" algn="just">
              <a:lnSpc>
                <a:spcPct val="150000"/>
              </a:lnSpc>
              <a:buNone/>
            </a:pPr>
            <a:r>
              <a:rPr lang="en-IN" sz="2400" dirty="0">
                <a:latin typeface="+mn-lt"/>
              </a:rPr>
              <a:t>Frames allocated to P2 = a</a:t>
            </a:r>
            <a:r>
              <a:rPr lang="en-IN" sz="2400" baseline="-25000" dirty="0">
                <a:latin typeface="+mn-lt"/>
              </a:rPr>
              <a:t>2</a:t>
            </a:r>
            <a:r>
              <a:rPr lang="en-IN" sz="2400" dirty="0">
                <a:latin typeface="+mn-lt"/>
              </a:rPr>
              <a:t> = s</a:t>
            </a:r>
            <a:r>
              <a:rPr lang="en-IN" sz="2400" baseline="-25000" dirty="0">
                <a:latin typeface="+mn-lt"/>
              </a:rPr>
              <a:t>2</a:t>
            </a:r>
            <a:r>
              <a:rPr lang="en-IN" sz="2400" dirty="0">
                <a:latin typeface="+mn-lt"/>
              </a:rPr>
              <a:t>/S * m = 127/137 * 64 = 59</a:t>
            </a:r>
          </a:p>
        </p:txBody>
      </p:sp>
      <p:sp>
        <p:nvSpPr>
          <p:cNvPr id="2" name="Google Shape;98;g2eff20282af_0_123">
            <a:extLst>
              <a:ext uri="{FF2B5EF4-FFF2-40B4-BE49-F238E27FC236}">
                <a16:creationId xmlns:a16="http://schemas.microsoft.com/office/drawing/2014/main" id="{78B54221-7F3A-DB1A-DF5A-9F34A3896D98}"/>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56505571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CA799D-786D-520B-F4AA-444261DB7ACF}"/>
              </a:ext>
            </a:extLst>
          </p:cNvPr>
          <p:cNvSpPr>
            <a:spLocks noGrp="1"/>
          </p:cNvSpPr>
          <p:nvPr>
            <p:ph idx="1"/>
          </p:nvPr>
        </p:nvSpPr>
        <p:spPr>
          <a:xfrm>
            <a:off x="2611120" y="172720"/>
            <a:ext cx="9347200" cy="6522720"/>
          </a:xfrm>
        </p:spPr>
        <p:txBody>
          <a:bodyPr>
            <a:normAutofit/>
          </a:bodyPr>
          <a:lstStyle/>
          <a:p>
            <a:pPr marL="0" indent="0" algn="ctr">
              <a:lnSpc>
                <a:spcPct val="150000"/>
              </a:lnSpc>
              <a:buNone/>
            </a:pPr>
            <a:r>
              <a:rPr lang="en-IN" sz="2400" b="1" dirty="0">
                <a:solidFill>
                  <a:srgbClr val="FF0000"/>
                </a:solidFill>
                <a:latin typeface="+mn-lt"/>
              </a:rPr>
              <a:t>Priority Allocation</a:t>
            </a:r>
          </a:p>
          <a:p>
            <a:pPr marL="0" indent="0" algn="just">
              <a:lnSpc>
                <a:spcPct val="150000"/>
              </a:lnSpc>
              <a:buNone/>
            </a:pPr>
            <a:r>
              <a:rPr lang="en-IN" sz="2400" dirty="0">
                <a:latin typeface="+mn-lt"/>
              </a:rPr>
              <a:t>The frames are distributed among the processes according to their priorities.</a:t>
            </a:r>
          </a:p>
          <a:p>
            <a:pPr marL="0" indent="0" algn="just">
              <a:lnSpc>
                <a:spcPct val="150000"/>
              </a:lnSpc>
              <a:buNone/>
            </a:pPr>
            <a:r>
              <a:rPr lang="en-IN" sz="2400" dirty="0">
                <a:latin typeface="+mn-lt"/>
              </a:rPr>
              <a:t>Here we implement a proportional allocation scheme using priorities or a combination of size and priorities rather than just size of the processes. </a:t>
            </a:r>
          </a:p>
          <a:p>
            <a:pPr marL="0" indent="0" algn="just">
              <a:lnSpc>
                <a:spcPct val="150000"/>
              </a:lnSpc>
              <a:buNone/>
            </a:pPr>
            <a:r>
              <a:rPr lang="en-IN" sz="2400" dirty="0">
                <a:latin typeface="+mn-lt"/>
              </a:rPr>
              <a:t>So, we allocate more frames to processes with higher priorities so as to speed up their execution. </a:t>
            </a:r>
          </a:p>
          <a:p>
            <a:pPr marL="0" indent="0">
              <a:buNone/>
            </a:pPr>
            <a:endParaRPr lang="en-IN" sz="2400" dirty="0">
              <a:latin typeface="+mn-lt"/>
            </a:endParaRPr>
          </a:p>
        </p:txBody>
      </p:sp>
      <p:sp>
        <p:nvSpPr>
          <p:cNvPr id="2" name="Google Shape;98;g2eff20282af_0_123">
            <a:extLst>
              <a:ext uri="{FF2B5EF4-FFF2-40B4-BE49-F238E27FC236}">
                <a16:creationId xmlns:a16="http://schemas.microsoft.com/office/drawing/2014/main" id="{CA605236-C3E4-2868-2800-0754585E5EFB}"/>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07166362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CA799D-786D-520B-F4AA-444261DB7ACF}"/>
              </a:ext>
            </a:extLst>
          </p:cNvPr>
          <p:cNvSpPr>
            <a:spLocks noGrp="1"/>
          </p:cNvSpPr>
          <p:nvPr>
            <p:ph idx="1"/>
          </p:nvPr>
        </p:nvSpPr>
        <p:spPr>
          <a:xfrm>
            <a:off x="2611120" y="172720"/>
            <a:ext cx="9347200" cy="6522720"/>
          </a:xfrm>
        </p:spPr>
        <p:txBody>
          <a:bodyPr>
            <a:normAutofit/>
          </a:bodyPr>
          <a:lstStyle/>
          <a:p>
            <a:pPr marL="0" indent="0" algn="ctr">
              <a:lnSpc>
                <a:spcPct val="150000"/>
              </a:lnSpc>
              <a:buNone/>
            </a:pPr>
            <a:r>
              <a:rPr lang="en-IN" sz="2400" b="1" dirty="0">
                <a:solidFill>
                  <a:srgbClr val="FF0000"/>
                </a:solidFill>
                <a:latin typeface="+mn-lt"/>
              </a:rPr>
              <a:t>Global versus Local Allocation </a:t>
            </a:r>
          </a:p>
          <a:p>
            <a:pPr marL="0" indent="0" algn="just">
              <a:lnSpc>
                <a:spcPct val="150000"/>
              </a:lnSpc>
              <a:buNone/>
            </a:pPr>
            <a:r>
              <a:rPr lang="en-IN" sz="2400" dirty="0">
                <a:latin typeface="+mn-lt"/>
              </a:rPr>
              <a:t>Page replacement algorithms can be classified into two broad categories</a:t>
            </a:r>
          </a:p>
          <a:p>
            <a:pPr marL="457200" indent="-457200" algn="just">
              <a:lnSpc>
                <a:spcPct val="150000"/>
              </a:lnSpc>
              <a:buFont typeface="+mj-lt"/>
              <a:buAutoNum type="arabicPeriod"/>
            </a:pPr>
            <a:r>
              <a:rPr lang="en-IN" sz="2400" dirty="0">
                <a:latin typeface="+mn-lt"/>
              </a:rPr>
              <a:t>Global Replacement</a:t>
            </a:r>
          </a:p>
          <a:p>
            <a:pPr marL="457200" indent="-457200" algn="just">
              <a:lnSpc>
                <a:spcPct val="150000"/>
              </a:lnSpc>
              <a:buFont typeface="+mj-lt"/>
              <a:buAutoNum type="arabicPeriod"/>
            </a:pPr>
            <a:r>
              <a:rPr lang="en-IN" sz="2400" dirty="0">
                <a:latin typeface="+mn-lt"/>
              </a:rPr>
              <a:t>Local replacement</a:t>
            </a:r>
          </a:p>
          <a:p>
            <a:pPr marL="0" indent="0" algn="just">
              <a:lnSpc>
                <a:spcPct val="150000"/>
              </a:lnSpc>
              <a:buNone/>
            </a:pPr>
            <a:r>
              <a:rPr lang="en-IN" sz="2400" dirty="0">
                <a:latin typeface="+mn-lt"/>
              </a:rPr>
              <a:t>This is another important factor in deciding the way frames are allocated to different processes.</a:t>
            </a:r>
          </a:p>
          <a:p>
            <a:endParaRPr lang="en-IN" sz="2400" dirty="0">
              <a:latin typeface="+mn-lt"/>
            </a:endParaRPr>
          </a:p>
        </p:txBody>
      </p:sp>
      <p:sp>
        <p:nvSpPr>
          <p:cNvPr id="2" name="Google Shape;98;g2eff20282af_0_123">
            <a:extLst>
              <a:ext uri="{FF2B5EF4-FFF2-40B4-BE49-F238E27FC236}">
                <a16:creationId xmlns:a16="http://schemas.microsoft.com/office/drawing/2014/main" id="{3AC66825-3FDC-2213-C7E3-DA7E076E5386}"/>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50205199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CA799D-786D-520B-F4AA-444261DB7ACF}"/>
              </a:ext>
            </a:extLst>
          </p:cNvPr>
          <p:cNvSpPr>
            <a:spLocks noGrp="1"/>
          </p:cNvSpPr>
          <p:nvPr>
            <p:ph idx="1"/>
          </p:nvPr>
        </p:nvSpPr>
        <p:spPr>
          <a:xfrm>
            <a:off x="2611120" y="172720"/>
            <a:ext cx="9347200" cy="6522720"/>
          </a:xfrm>
        </p:spPr>
        <p:txBody>
          <a:bodyPr>
            <a:normAutofit/>
          </a:bodyPr>
          <a:lstStyle/>
          <a:p>
            <a:pPr marL="0" indent="0" algn="ctr">
              <a:lnSpc>
                <a:spcPct val="150000"/>
              </a:lnSpc>
              <a:buNone/>
            </a:pPr>
            <a:r>
              <a:rPr lang="en-IN" sz="2400" b="1" dirty="0">
                <a:solidFill>
                  <a:srgbClr val="FF0000"/>
                </a:solidFill>
                <a:latin typeface="+mn-lt"/>
              </a:rPr>
              <a:t>Global Allocation</a:t>
            </a:r>
          </a:p>
          <a:p>
            <a:pPr marL="0" indent="0" algn="just">
              <a:lnSpc>
                <a:spcPct val="150000"/>
              </a:lnSpc>
              <a:buNone/>
            </a:pPr>
            <a:r>
              <a:rPr lang="en-IN" sz="2400" b="1" dirty="0">
                <a:latin typeface="+mn-lt"/>
              </a:rPr>
              <a:t>In global replacement:</a:t>
            </a:r>
          </a:p>
          <a:p>
            <a:pPr marL="0" indent="0" algn="just">
              <a:lnSpc>
                <a:spcPct val="150000"/>
              </a:lnSpc>
              <a:buNone/>
            </a:pPr>
            <a:r>
              <a:rPr lang="en-IN" sz="2400" b="1" dirty="0">
                <a:latin typeface="+mn-lt"/>
              </a:rPr>
              <a:t>When a page fault occurs:</a:t>
            </a:r>
          </a:p>
          <a:p>
            <a:pPr marL="0" indent="0" algn="just">
              <a:lnSpc>
                <a:spcPct val="150000"/>
              </a:lnSpc>
              <a:buNone/>
            </a:pPr>
            <a:r>
              <a:rPr lang="en-IN" sz="2400" dirty="0">
                <a:latin typeface="+mn-lt"/>
              </a:rPr>
              <a:t>Processes are allowed to select replacement frames from the set of all frames even if the frames are allocated to some other processes. </a:t>
            </a:r>
          </a:p>
          <a:p>
            <a:pPr marL="0" indent="0" algn="just">
              <a:lnSpc>
                <a:spcPct val="150000"/>
              </a:lnSpc>
              <a:buNone/>
            </a:pPr>
            <a:r>
              <a:rPr lang="en-IN" sz="2400" b="1" dirty="0">
                <a:latin typeface="+mn-lt"/>
              </a:rPr>
              <a:t>Example: </a:t>
            </a:r>
            <a:r>
              <a:rPr lang="en-IN" sz="2400" dirty="0">
                <a:latin typeface="+mn-lt"/>
              </a:rPr>
              <a:t>If process P1 is of higher priority than the process P2 and P3, and if all  frames of P1 are full and it now needs one more frame due to a page fault, it could take a frame that is allocated to either P2 or P3.</a:t>
            </a:r>
          </a:p>
          <a:p>
            <a:pPr marL="0" indent="0" algn="just">
              <a:lnSpc>
                <a:spcPct val="150000"/>
              </a:lnSpc>
              <a:buNone/>
            </a:pPr>
            <a:r>
              <a:rPr lang="en-IN" sz="2400" b="1" dirty="0">
                <a:latin typeface="+mn-lt"/>
              </a:rPr>
              <a:t>Problem</a:t>
            </a:r>
            <a:r>
              <a:rPr lang="en-IN" sz="2400" dirty="0">
                <a:latin typeface="+mn-lt"/>
              </a:rPr>
              <a:t>: Processes cannot control their own page fault rate. </a:t>
            </a:r>
          </a:p>
          <a:p>
            <a:endParaRPr lang="en-IN" sz="2400" dirty="0">
              <a:latin typeface="+mn-lt"/>
            </a:endParaRPr>
          </a:p>
          <a:p>
            <a:endParaRPr lang="en-IN" sz="2400" dirty="0">
              <a:latin typeface="+mn-lt"/>
            </a:endParaRPr>
          </a:p>
          <a:p>
            <a:endParaRPr lang="en-IN" sz="2400" dirty="0">
              <a:latin typeface="+mn-lt"/>
            </a:endParaRPr>
          </a:p>
          <a:p>
            <a:endParaRPr lang="en-IN" sz="2400" dirty="0">
              <a:latin typeface="+mn-lt"/>
            </a:endParaRPr>
          </a:p>
          <a:p>
            <a:endParaRPr lang="en-IN" sz="2400" dirty="0">
              <a:latin typeface="+mn-lt"/>
            </a:endParaRPr>
          </a:p>
        </p:txBody>
      </p:sp>
      <p:sp>
        <p:nvSpPr>
          <p:cNvPr id="2" name="Google Shape;98;g2eff20282af_0_123">
            <a:extLst>
              <a:ext uri="{FF2B5EF4-FFF2-40B4-BE49-F238E27FC236}">
                <a16:creationId xmlns:a16="http://schemas.microsoft.com/office/drawing/2014/main" id="{DAAB90F3-FD9F-A2EA-FF62-EA9C6E0A48D3}"/>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44803097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CA799D-786D-520B-F4AA-444261DB7ACF}"/>
              </a:ext>
            </a:extLst>
          </p:cNvPr>
          <p:cNvSpPr>
            <a:spLocks noGrp="1"/>
          </p:cNvSpPr>
          <p:nvPr>
            <p:ph idx="1"/>
          </p:nvPr>
        </p:nvSpPr>
        <p:spPr>
          <a:xfrm>
            <a:off x="2611120" y="172720"/>
            <a:ext cx="9347200" cy="6522720"/>
          </a:xfrm>
        </p:spPr>
        <p:txBody>
          <a:bodyPr>
            <a:normAutofit/>
          </a:bodyPr>
          <a:lstStyle/>
          <a:p>
            <a:pPr marL="0" indent="0" algn="ctr">
              <a:lnSpc>
                <a:spcPct val="150000"/>
              </a:lnSpc>
              <a:buNone/>
            </a:pPr>
            <a:r>
              <a:rPr lang="en-US" sz="2400" b="1" dirty="0">
                <a:solidFill>
                  <a:srgbClr val="FF0000"/>
                </a:solidFill>
                <a:latin typeface="+mn-lt"/>
              </a:rPr>
              <a:t>Local Allocation</a:t>
            </a:r>
          </a:p>
          <a:p>
            <a:pPr marL="0" indent="0" algn="just">
              <a:lnSpc>
                <a:spcPct val="150000"/>
              </a:lnSpc>
              <a:buNone/>
            </a:pPr>
            <a:r>
              <a:rPr lang="en-US" sz="2400" b="1" dirty="0">
                <a:latin typeface="+mn-lt"/>
              </a:rPr>
              <a:t>In local replacement:</a:t>
            </a:r>
          </a:p>
          <a:p>
            <a:pPr marL="0" indent="0" algn="just">
              <a:lnSpc>
                <a:spcPct val="150000"/>
              </a:lnSpc>
              <a:buNone/>
            </a:pPr>
            <a:r>
              <a:rPr lang="en-US" sz="2400" b="1" dirty="0">
                <a:latin typeface="+mn-lt"/>
              </a:rPr>
              <a:t>When page fault occurs:</a:t>
            </a:r>
          </a:p>
          <a:p>
            <a:pPr marL="0" indent="0" algn="just">
              <a:lnSpc>
                <a:spcPct val="150000"/>
              </a:lnSpc>
              <a:buNone/>
            </a:pPr>
            <a:r>
              <a:rPr lang="en-US" sz="2400" dirty="0">
                <a:latin typeface="+mn-lt"/>
              </a:rPr>
              <a:t>Processes are allowed to select replacement frames only from the set of frames  that is particularly allocated to them.</a:t>
            </a:r>
          </a:p>
          <a:p>
            <a:pPr marL="0" indent="0" algn="just">
              <a:lnSpc>
                <a:spcPct val="150000"/>
              </a:lnSpc>
              <a:buNone/>
            </a:pPr>
            <a:r>
              <a:rPr lang="en-US" sz="2400" b="1" dirty="0">
                <a:latin typeface="+mn-lt"/>
              </a:rPr>
              <a:t>Example: </a:t>
            </a:r>
            <a:r>
              <a:rPr lang="en-US" sz="2400" dirty="0">
                <a:latin typeface="+mn-lt"/>
              </a:rPr>
              <a:t>If all frames of P1 are full and it  now needs one more frame due to a page fault, it can perform a replacement only with one of its own frames.</a:t>
            </a:r>
          </a:p>
          <a:p>
            <a:pPr marL="0" indent="0" algn="just">
              <a:lnSpc>
                <a:spcPct val="150000"/>
              </a:lnSpc>
              <a:buNone/>
            </a:pPr>
            <a:r>
              <a:rPr lang="en-US" sz="2400" b="1" dirty="0">
                <a:latin typeface="+mn-lt"/>
              </a:rPr>
              <a:t>Problem: </a:t>
            </a:r>
            <a:r>
              <a:rPr lang="en-US" sz="2400" dirty="0">
                <a:latin typeface="+mn-lt"/>
              </a:rPr>
              <a:t>Memory utilization is not good as compared to global replacement. </a:t>
            </a:r>
          </a:p>
          <a:p>
            <a:endParaRPr lang="en-US" sz="2400" dirty="0">
              <a:latin typeface="+mn-lt"/>
            </a:endParaRPr>
          </a:p>
          <a:p>
            <a:endParaRPr lang="en-US" sz="2400" dirty="0">
              <a:latin typeface="+mn-lt"/>
            </a:endParaRPr>
          </a:p>
          <a:p>
            <a:endParaRPr lang="en-US" sz="2400" dirty="0">
              <a:latin typeface="+mn-lt"/>
            </a:endParaRPr>
          </a:p>
          <a:p>
            <a:endParaRPr lang="en-IN" sz="2400" dirty="0">
              <a:latin typeface="+mn-lt"/>
            </a:endParaRPr>
          </a:p>
        </p:txBody>
      </p:sp>
      <p:sp>
        <p:nvSpPr>
          <p:cNvPr id="2" name="Google Shape;98;g2eff20282af_0_123">
            <a:extLst>
              <a:ext uri="{FF2B5EF4-FFF2-40B4-BE49-F238E27FC236}">
                <a16:creationId xmlns:a16="http://schemas.microsoft.com/office/drawing/2014/main" id="{75D3176F-DE1A-7077-0E50-F5ED1ABB2E46}"/>
              </a:ext>
            </a:extLst>
          </p:cNvPr>
          <p:cNvSpPr txBox="1"/>
          <p:nvPr/>
        </p:nvSpPr>
        <p:spPr>
          <a:xfrm>
            <a:off x="524064" y="3883021"/>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791453864"/>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F23D-DE0B-9878-29B7-FFC96D4F4AC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852ECEC-8DDA-0B79-8FA5-B7748F943220}"/>
              </a:ext>
            </a:extLst>
          </p:cNvPr>
          <p:cNvSpPr>
            <a:spLocks noGrp="1"/>
          </p:cNvSpPr>
          <p:nvPr>
            <p:ph idx="1"/>
          </p:nvPr>
        </p:nvSpPr>
        <p:spPr>
          <a:xfrm>
            <a:off x="2708694" y="2091955"/>
            <a:ext cx="8645106" cy="2826274"/>
          </a:xfrm>
        </p:spPr>
        <p:txBody>
          <a:bodyPr anchor="ctr">
            <a:normAutofit/>
          </a:bodyPr>
          <a:lstStyle/>
          <a:p>
            <a:pPr marL="0" indent="0" algn="ctr">
              <a:buNone/>
            </a:pPr>
            <a:r>
              <a:rPr lang="en-US" sz="4800" dirty="0"/>
              <a:t>THANK YOU</a:t>
            </a:r>
          </a:p>
        </p:txBody>
      </p:sp>
      <p:sp>
        <p:nvSpPr>
          <p:cNvPr id="6" name="Google Shape;98;g2eff20282af_0_123">
            <a:extLst>
              <a:ext uri="{FF2B5EF4-FFF2-40B4-BE49-F238E27FC236}">
                <a16:creationId xmlns:a16="http://schemas.microsoft.com/office/drawing/2014/main" id="{38DEBF74-B4C8-1D95-C23E-4D33A0B71031}"/>
              </a:ext>
            </a:extLst>
          </p:cNvPr>
          <p:cNvSpPr txBox="1"/>
          <p:nvPr/>
        </p:nvSpPr>
        <p:spPr>
          <a:xfrm>
            <a:off x="524064" y="3874143"/>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ISE</a:t>
            </a:r>
            <a:endParaRPr sz="1400" i="0" u="none" strike="noStrike" cap="none" dirty="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0384431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harya PPT Template" id="{F32223B2-C3C8-F144-A857-BD2D82060C45}" vid="{F59ECE15-8611-754C-A2F3-240551081C6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Acharya PPT Template</Template>
  <TotalTime>13726</TotalTime>
  <Words>11134</Words>
  <Application>Microsoft Office PowerPoint</Application>
  <PresentationFormat>Widescreen</PresentationFormat>
  <Paragraphs>1178</Paragraphs>
  <Slides>159</Slides>
  <Notes>1</Notes>
  <HiddenSlides>4</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159</vt:i4>
      </vt:variant>
    </vt:vector>
  </HeadingPairs>
  <TitlesOfParts>
    <vt:vector size="166" baseType="lpstr">
      <vt:lpstr>Aptos Display</vt:lpstr>
      <vt:lpstr>Arial</vt:lpstr>
      <vt:lpstr>Calibri</vt:lpstr>
      <vt:lpstr>Calibri Light</vt:lpstr>
      <vt:lpstr>Cambria</vt:lpstr>
      <vt:lpstr>Times New Roman</vt:lpstr>
      <vt:lpstr>Office Theme</vt:lpstr>
      <vt:lpstr>  OPERATING SYSTEMS(BCS303) Module 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SYSTEMS(21CS44)</dc:title>
  <dc:creator>Rajeev Bilagi</dc:creator>
  <cp:lastModifiedBy>Usha venkappa</cp:lastModifiedBy>
  <cp:revision>449</cp:revision>
  <dcterms:created xsi:type="dcterms:W3CDTF">2023-04-27T06:36:45Z</dcterms:created>
  <dcterms:modified xsi:type="dcterms:W3CDTF">2025-06-13T05:27:09Z</dcterms:modified>
</cp:coreProperties>
</file>